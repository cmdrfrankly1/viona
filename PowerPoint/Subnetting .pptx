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52" r:id="rId2"/>
  </p:sldMasterIdLst>
  <p:notesMasterIdLst>
    <p:notesMasterId r:id="rId30"/>
  </p:notesMasterIdLst>
  <p:handoutMasterIdLst>
    <p:handoutMasterId r:id="rId31"/>
  </p:handoutMasterIdLst>
  <p:sldIdLst>
    <p:sldId id="256" r:id="rId3"/>
    <p:sldId id="289" r:id="rId4"/>
    <p:sldId id="257" r:id="rId5"/>
    <p:sldId id="285" r:id="rId6"/>
    <p:sldId id="258" r:id="rId7"/>
    <p:sldId id="287" r:id="rId8"/>
    <p:sldId id="259" r:id="rId9"/>
    <p:sldId id="260" r:id="rId10"/>
    <p:sldId id="261" r:id="rId11"/>
    <p:sldId id="262" r:id="rId12"/>
    <p:sldId id="263" r:id="rId13"/>
    <p:sldId id="288" r:id="rId14"/>
    <p:sldId id="273" r:id="rId15"/>
    <p:sldId id="275" r:id="rId16"/>
    <p:sldId id="276" r:id="rId17"/>
    <p:sldId id="286" r:id="rId18"/>
    <p:sldId id="274" r:id="rId19"/>
    <p:sldId id="264" r:id="rId20"/>
    <p:sldId id="265" r:id="rId21"/>
    <p:sldId id="26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FF00"/>
    <a:srgbClr val="CC3300"/>
    <a:srgbClr val="996633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8" autoAdjust="0"/>
    <p:restoredTop sz="94672" autoAdjust="0"/>
  </p:normalViewPr>
  <p:slideViewPr>
    <p:cSldViewPr>
      <p:cViewPr varScale="1">
        <p:scale>
          <a:sx n="105" d="100"/>
          <a:sy n="105" d="100"/>
        </p:scale>
        <p:origin x="103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188" y="-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9683CE8-6CC6-42E6-BB5E-FE7A38573D2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42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Hier klicken, um Master-Textformat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741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41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E8F38EC-11F4-4540-88BD-A12C0827FFE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523246-692C-4617-80C1-82BA7C52BBD8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9E149B-B3B5-456B-A974-26A8E21704B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4BEABC-7B8B-499E-8DCC-252BCF1789A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B819C6-4081-47EA-9D3B-82E6148F873D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2FACC5-1A19-42E2-834A-F5C40BFF3E52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00289B-FDC1-4E82-8E6A-4E03E74BF229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BC16DA-A15C-4370-AD2B-832234E316C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B0004-0E82-4829-87ED-B05E6DFC1B3F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D43622-8A5A-44E1-A1C7-05044F042C56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4C7417-9A8B-4531-ABD4-578AFA8E3BB3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E1F9CF-FF0C-4329-AD23-E78CFF12F06D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AD880-92B2-441C-9B85-0D1667A78D21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0E6A36-3886-476D-9406-AA98FA887EA7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744F5F-2CBE-4A28-9F34-AE74985FD7C2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517789-8EFE-4AE7-9D77-6825F533DC0F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D1A087-DDE0-4A4B-82B6-B09488C27AFD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633A3-44D5-4299-B4CD-4359EA216061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F7F1BF-BD64-4AC8-A31C-2E68B584DF7C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0C9FEB-85C8-407B-83B0-E38AF8C4D662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5DB4B8-3EBD-46E1-9BD0-D3156671E601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4AAAB7-A641-4F0D-A842-AF77E7A37562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C1400A-A412-4563-846F-E986DFFF2B8B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512113-2AEE-4D22-B2F0-F5BBE1620E9B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F0C941-2373-436F-B646-D6DA2235B94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FAC337-F186-4B1E-A8E4-29BD22FBD89F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DACEEF-7948-4E71-817B-92DE0F98B9AB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90EE0-FCB5-4BE4-9D33-CCE59E2559FC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4"/>
          <p:cNvSpPr>
            <a:spLocks/>
          </p:cNvSpPr>
          <p:nvPr/>
        </p:nvSpPr>
        <p:spPr bwMode="auto">
          <a:xfrm>
            <a:off x="-7758113" y="1463675"/>
            <a:ext cx="13452476" cy="107950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3200 w 43200"/>
              <a:gd name="T1" fmla="*/ 21600 h 43200"/>
              <a:gd name="T2" fmla="*/ 24979 w 43200"/>
              <a:gd name="T3" fmla="*/ 266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43200" y="21600"/>
                </a:move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731" y="-1"/>
                  <a:pt x="23861" y="88"/>
                  <a:pt x="24979" y="265"/>
                </a:cubicBezTo>
              </a:path>
              <a:path w="43200" h="43200" stroke="0" extrusionOk="0">
                <a:moveTo>
                  <a:pt x="43200" y="21600"/>
                </a:move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731" y="-1"/>
                  <a:pt x="23861" y="88"/>
                  <a:pt x="24979" y="265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5" name="Picture 2" descr="gwsLö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83538" y="0"/>
            <a:ext cx="1160462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358775" y="762000"/>
            <a:ext cx="7772400" cy="1371600"/>
          </a:xfrm>
        </p:spPr>
        <p:txBody>
          <a:bodyPr anchor="b"/>
          <a:lstStyle>
            <a:lvl1pPr>
              <a:defRPr/>
            </a:lvl1pPr>
          </a:lstStyle>
          <a:p>
            <a:r>
              <a:rPr lang="de-DE"/>
              <a:t>Hier klicken, um Master-</a:t>
            </a:r>
            <a:br>
              <a:rPr lang="de-DE"/>
            </a:br>
            <a:r>
              <a:rPr lang="de-DE"/>
              <a:t>Titelformat zu bearbeiten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895600" y="2286000"/>
            <a:ext cx="6248400" cy="1038225"/>
          </a:xfrm>
        </p:spPr>
        <p:txBody>
          <a:bodyPr lIns="92075" rIns="92075"/>
          <a:lstStyle>
            <a:lvl1pPr marL="0" indent="0">
              <a:lnSpc>
                <a:spcPct val="70000"/>
              </a:lnSpc>
              <a:buFont typeface="Wingdings" pitchFamily="2" charset="2"/>
              <a:buNone/>
              <a:defRPr/>
            </a:lvl1pPr>
          </a:lstStyle>
          <a:p>
            <a:r>
              <a:rPr lang="de-DE" dirty="0"/>
              <a:t>Hier </a:t>
            </a:r>
            <a:r>
              <a:rPr lang="de-DE" dirty="0" err="1"/>
              <a:t>klickem</a:t>
            </a:r>
            <a:r>
              <a:rPr lang="de-DE" dirty="0"/>
              <a:t>, um Master-</a:t>
            </a:r>
          </a:p>
          <a:p>
            <a:r>
              <a:rPr lang="de-DE" dirty="0"/>
              <a:t>Untertitelformat zu bearbeiten</a:t>
            </a:r>
          </a:p>
          <a:p>
            <a:endParaRPr lang="de-D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>
                <a:latin typeface="+mj-lt"/>
              </a:defRPr>
            </a:lvl2pPr>
          </a:lstStyle>
          <a:p>
            <a:pPr lvl="1">
              <a:defRPr/>
            </a:pPr>
            <a:fld id="{CD779C28-DAF4-4E1C-B5B7-4662AC4FEC09}" type="slidenum">
              <a:rPr lang="de-DE"/>
              <a:pPr lvl="1">
                <a:defRPr/>
              </a:pPr>
              <a:t>‹Nr.›</a:t>
            </a:fld>
            <a:endParaRPr lang="de-DE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3B45E47A-38C1-410E-998B-6A8C56DAA767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1295400" y="6313488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A9F47AB-2922-496F-890C-A541EC865630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B471441F-16F1-4C67-93EA-C52ECEA28437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8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11706BE4-E787-4B28-8AA3-85664D3D0DFF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93B32376-D57A-4F08-A642-831E68873BB5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3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C1E63AF8-2945-454E-AF08-83AB4A0FC9E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EFAD7F5-0841-4C07-A84A-85ABAACF099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AAAC2DB7-4012-4AD3-9142-75EF576B80B3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F0A0D3B2-11A2-4418-B57A-334F70B9B92F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396038" y="609600"/>
            <a:ext cx="2058987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15900" y="609600"/>
            <a:ext cx="6027738" cy="548640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4E1548D-47B4-4363-B195-ED6CF556A7F5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5900" y="609600"/>
            <a:ext cx="80803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5025" y="1981200"/>
            <a:ext cx="3810000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5025" y="4114800"/>
            <a:ext cx="3810000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B734230D-935D-45A0-A087-AF6D7B53025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A7886-CB92-4224-AD8D-5FE2156535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CE2E2-2D9B-4332-BCA6-BB7C526F26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44738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EAFAC-3C72-417D-9898-ABF1ABCBE89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D767-540C-4644-8CF2-BBED845B10A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81250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4BEEB-4F62-453A-BCE5-790EA4AC98B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24E9F-1920-419C-881C-51A26DD7F72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D3DEB-D56E-4518-8716-B1547809B5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F0D6C-3A60-4B69-A081-AD96422562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4F7CC-54DC-4C39-B00E-7947C923EDF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41776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CF488-562F-48F5-9842-4C00B8B661E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F724C-439A-42DD-A36B-30472EDABAD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053"/>
          <p:cNvSpPr>
            <a:spLocks noGrp="1" noChangeArrowheads="1"/>
          </p:cNvSpPr>
          <p:nvPr>
            <p:ph type="title"/>
          </p:nvPr>
        </p:nvSpPr>
        <p:spPr bwMode="auto">
          <a:xfrm>
            <a:off x="215900" y="609600"/>
            <a:ext cx="8080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Hier klicken, um Master-Titelformat zu bearbeiten</a:t>
            </a:r>
          </a:p>
        </p:txBody>
      </p:sp>
      <p:sp>
        <p:nvSpPr>
          <p:cNvPr id="2051" name="Rectangle 205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2625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2562" tIns="46038" rIns="182562" bIns="46038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/>
          </a:p>
        </p:txBody>
      </p:sp>
      <p:sp>
        <p:nvSpPr>
          <p:cNvPr id="19463" name="Rectangle 205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15188" y="6442075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19465" name="Rectangle 205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0" rIns="92075" bIns="0" numCol="1" anchor="b" anchorCtr="0" compatLnSpc="1">
            <a:prstTxWarp prst="textNoShape">
              <a:avLst/>
            </a:prstTxWarp>
          </a:bodyPr>
          <a:lstStyle>
            <a:lvl2pPr lvl="1" algn="r" eaLnBrk="1" hangingPunct="1">
              <a:defRPr sz="1400">
                <a:latin typeface="+mj-lt"/>
              </a:defRPr>
            </a:lvl2pPr>
          </a:lstStyle>
          <a:p>
            <a:pPr lvl="1">
              <a:defRPr/>
            </a:pPr>
            <a:fld id="{472E3D47-17EB-44D4-A156-B26163ECF289}" type="slidenum">
              <a:rPr lang="de-DE"/>
              <a:pPr lvl="1">
                <a:defRPr/>
              </a:pPr>
              <a:t>‹Nr.›</a:t>
            </a:fld>
            <a:endParaRPr lang="de-DE"/>
          </a:p>
        </p:txBody>
      </p:sp>
      <p:pic>
        <p:nvPicPr>
          <p:cNvPr id="2054" name="Picture 2" descr="gwsLöLogo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983538" y="0"/>
            <a:ext cx="1160462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1295400" y="6365875"/>
            <a:ext cx="4267200" cy="457200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/>
            </a:lvl1pPr>
          </a:lstStyle>
          <a:p>
            <a:pPr>
              <a:defRPr/>
            </a:pPr>
            <a:fld id="{C2CDBF96-95F0-4683-87EA-9B06959FBE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2198688" y="6240463"/>
            <a:ext cx="4267200" cy="457200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100" dirty="0" err="1"/>
              <a:t>Subnetting</a:t>
            </a:r>
            <a:r>
              <a:rPr lang="de-DE" sz="4100" dirty="0"/>
              <a:t> – einfach!</a:t>
            </a:r>
          </a:p>
        </p:txBody>
      </p:sp>
      <p:sp>
        <p:nvSpPr>
          <p:cNvPr id="27651" name="Text Box 12"/>
          <p:cNvSpPr txBox="1">
            <a:spLocks noChangeArrowheads="1"/>
          </p:cNvSpPr>
          <p:nvPr/>
        </p:nvSpPr>
        <p:spPr bwMode="auto">
          <a:xfrm>
            <a:off x="971550" y="2924175"/>
            <a:ext cx="6264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684213" y="2743200"/>
            <a:ext cx="7772400" cy="126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3200" dirty="0">
                <a:latin typeface="+mj-lt"/>
              </a:rPr>
              <a:t>Die Grundlagen werden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3200" dirty="0">
                <a:latin typeface="+mj-lt"/>
              </a:rPr>
              <a:t>im Folgenden noch einmal behandelt</a:t>
            </a:r>
            <a:r>
              <a:rPr lang="de-DE" sz="3200" dirty="0"/>
              <a:t>.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Wir wissen, dass dies zum Teil Geschichte ist.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de-DE" sz="3200" dirty="0"/>
          </a:p>
        </p:txBody>
      </p:sp>
    </p:spTree>
    <p:custDataLst>
      <p:tags r:id="rId1"/>
    </p:custDataLst>
  </p:cSld>
  <p:clrMapOvr>
    <a:masterClrMapping/>
  </p:clrMapOvr>
  <p:transition advTm="284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  <p:bldP spid="410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3200"/>
              <a:t>Die Klassen und deren „Standardsubnetzmasken SSM“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8210550" cy="4471988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Es gibt 5 Klassen: A, B, C, D, E wovon die Klassen A-C nur für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die Öffentlichkeit bestimmt sind!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A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0. 0. 0. 0 - 127.255.255.255    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255.0.0.0)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B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128. 0. 0. 0 - 191.255.255.255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255.255.0.0)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C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192. 0. 0. 0 - 223.255.255.255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255.255.255.0)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D ist für Multicasting E ist für Forschung und Militär reserviert</a:t>
            </a:r>
            <a:r>
              <a:rPr lang="de-DE" sz="2400" dirty="0">
                <a:latin typeface="+mj-lt"/>
              </a:rPr>
              <a:t>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 (SSM für beide Klassen: 255.255.255.0)</a:t>
            </a:r>
            <a:endParaRPr lang="de-DE" sz="24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/>
              <a:t>Warum </a:t>
            </a:r>
            <a:r>
              <a:rPr lang="de-DE" dirty="0" err="1"/>
              <a:t>Subnetze</a:t>
            </a:r>
            <a:r>
              <a:rPr lang="de-DE" dirty="0"/>
              <a:t>?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66838" y="1773238"/>
            <a:ext cx="7850187" cy="1044575"/>
          </a:xfrm>
        </p:spPr>
        <p:txBody>
          <a:bodyPr/>
          <a:lstStyle/>
          <a:p>
            <a:pPr eaLnBrk="1" hangingPunct="1">
              <a:defRPr/>
            </a:pPr>
            <a:r>
              <a:rPr lang="de-DE" sz="2400" dirty="0">
                <a:latin typeface="+mj-lt"/>
              </a:rPr>
              <a:t>Mehr Sicherheit, da </a:t>
            </a:r>
            <a:r>
              <a:rPr lang="de-DE" sz="2400" dirty="0" err="1">
                <a:latin typeface="+mj-lt"/>
              </a:rPr>
              <a:t>Subnetze</a:t>
            </a:r>
            <a:r>
              <a:rPr lang="de-DE" sz="2400" dirty="0">
                <a:latin typeface="+mj-lt"/>
              </a:rPr>
              <a:t> sich untereinander nicht sehen können.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1293813" y="2516188"/>
            <a:ext cx="7850187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Mehr Ordnung und Übersicht in der Fa. durch Aufspaltung von vielen Hostadressen in einem großen </a:t>
            </a:r>
            <a:r>
              <a:rPr lang="de-DE" sz="2400" dirty="0" err="1">
                <a:latin typeface="+mj-lt"/>
              </a:rPr>
              <a:t>Subnetz</a:t>
            </a:r>
            <a:r>
              <a:rPr lang="de-DE" sz="2400" dirty="0">
                <a:latin typeface="+mj-lt"/>
              </a:rPr>
              <a:t> in mehrere </a:t>
            </a:r>
            <a:r>
              <a:rPr lang="de-DE" sz="2400" dirty="0" err="1">
                <a:latin typeface="+mj-lt"/>
              </a:rPr>
              <a:t>Subnetze</a:t>
            </a:r>
            <a:r>
              <a:rPr lang="de-DE" sz="2400" dirty="0">
                <a:latin typeface="+mj-lt"/>
              </a:rPr>
              <a:t> mit weniger Hostadressen.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293813" y="4184650"/>
            <a:ext cx="785018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Erleichterung bei der Administration (z.B. beim Hinzufügen von IPs, bzw. Hosts für bestimmte Bereiche).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1293813" y="5338763"/>
            <a:ext cx="785018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Verkleinerung der Broadcastdomain, damit wird unnötiger „Traffic“ reduziert.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 build="p"/>
      <p:bldP spid="5128" grpId="0"/>
      <p:bldP spid="5129" grpId="0"/>
      <p:bldP spid="51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609600"/>
            <a:ext cx="8080375" cy="1990725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Warum </a:t>
            </a:r>
            <a:r>
              <a:rPr lang="de-DE" dirty="0" err="1"/>
              <a:t>Subnetze</a:t>
            </a:r>
            <a:r>
              <a:rPr lang="de-DE" dirty="0"/>
              <a:t>?</a:t>
            </a:r>
            <a:br>
              <a:rPr lang="de-DE" dirty="0"/>
            </a:br>
            <a:r>
              <a:rPr lang="de-DE" sz="3200" b="1" u="sng" dirty="0"/>
              <a:t>Zusammenfassung</a:t>
            </a:r>
            <a:r>
              <a:rPr lang="de-DE" dirty="0"/>
              <a:t>:</a:t>
            </a:r>
            <a:br>
              <a:rPr lang="de-DE" dirty="0"/>
            </a:br>
            <a:r>
              <a:rPr lang="de-DE" sz="3200" dirty="0"/>
              <a:t>Das Mehr und Weniger durch </a:t>
            </a:r>
            <a:r>
              <a:rPr lang="de-DE" sz="3200" dirty="0" err="1"/>
              <a:t>Subnetze</a:t>
            </a:r>
            <a:endParaRPr lang="de-DE" sz="3200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3357563"/>
            <a:ext cx="7850187" cy="2276475"/>
          </a:xfrm>
        </p:spPr>
        <p:txBody>
          <a:bodyPr/>
          <a:lstStyle/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Sicherheit</a:t>
            </a:r>
          </a:p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Ordnung und Übersicht</a:t>
            </a:r>
          </a:p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Erleichterung bei der Administration</a:t>
            </a:r>
          </a:p>
          <a:p>
            <a:pPr eaLnBrk="1" hangingPunct="1">
              <a:buFont typeface="Arial Unicode MS" pitchFamily="34" charset="-128"/>
              <a:buChar char="-"/>
              <a:defRPr/>
            </a:pPr>
            <a:r>
              <a:rPr lang="de-DE" dirty="0">
                <a:latin typeface="+mj-lt"/>
              </a:rPr>
              <a:t>weniger Traffic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sind „Subnetze“?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981200"/>
            <a:ext cx="8280400" cy="41148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600" dirty="0" err="1">
                <a:latin typeface="+mj-lt"/>
              </a:rPr>
              <a:t>Subnetze</a:t>
            </a:r>
            <a:r>
              <a:rPr lang="de-DE" sz="2600" dirty="0">
                <a:latin typeface="+mj-lt"/>
              </a:rPr>
              <a:t> entstehen durch die logischen UND-Verknüpfungen von IP-Adressen und zugehörigen </a:t>
            </a:r>
            <a:r>
              <a:rPr lang="de-DE" sz="2600" b="1" u="sng" dirty="0">
                <a:latin typeface="+mj-lt"/>
              </a:rPr>
              <a:t>veränderten</a:t>
            </a:r>
            <a:r>
              <a:rPr lang="de-DE" sz="2600" dirty="0">
                <a:latin typeface="+mj-lt"/>
              </a:rPr>
              <a:t> Subnetzmasken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Diese Verknüpfung wird immer auf Schicht 3 gemacht, wenn Daten ins Netz gesendet werden.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Bsp.1: Ein Rechner hat die IP 130.130.0.1 und die Subnetzmaske (SM) 255.255.252.0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So gehört er durch die Verknüpfung zum „</a:t>
            </a:r>
            <a:r>
              <a:rPr lang="de-DE" sz="2600" dirty="0" err="1">
                <a:latin typeface="+mj-lt"/>
              </a:rPr>
              <a:t>Subnetz</a:t>
            </a:r>
            <a:r>
              <a:rPr lang="de-DE" sz="2600" dirty="0">
                <a:latin typeface="+mj-lt"/>
              </a:rPr>
              <a:t>“-Netz 130.130.0.0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Bsp.2: Ein Rechner mit der IP 130.130.</a:t>
            </a:r>
            <a:r>
              <a:rPr lang="de-DE" sz="2600" dirty="0">
                <a:solidFill>
                  <a:schemeClr val="hlink"/>
                </a:solidFill>
                <a:latin typeface="+mj-lt"/>
              </a:rPr>
              <a:t>15</a:t>
            </a:r>
            <a:r>
              <a:rPr lang="de-DE" sz="2600" dirty="0">
                <a:latin typeface="+mj-lt"/>
              </a:rPr>
              <a:t>.1 und der gleichen SM 255.255.252.0 siehe vorher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gehört aber zum Netz 130.130.12.0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wurde verändert? 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736725"/>
            <a:ext cx="8461375" cy="45085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IP 130.130.0.1  und IP 130.130.15.1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sind normale IP-Adressen </a:t>
            </a:r>
            <a:r>
              <a:rPr lang="de-DE" sz="2800" dirty="0">
                <a:latin typeface="+mj-lt"/>
                <a:sym typeface="Wingdings" pitchFamily="2" charset="2"/>
              </a:rPr>
              <a:t></a:t>
            </a:r>
            <a:endParaRPr lang="de-DE" sz="28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gehören zur Klasse: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folglich hätten sie die Default oder Standard-Subnetzmaske (SSM):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255.255.0.0             Binär dargestellt:  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11111111.11111111.00000000.00000000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daraus wurde aber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255.255.252.0      gemacht. Binär betrachtet: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11111111.11111111.11111100.00000000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wurden also 6 Nullen in Einsen umgewandelt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256087" y="3931443"/>
            <a:ext cx="1180009" cy="1582738"/>
            <a:chOff x="2653" y="2659"/>
            <a:chExt cx="684" cy="975"/>
          </a:xfrm>
        </p:grpSpPr>
        <p:sp>
          <p:nvSpPr>
            <p:cNvPr id="32777" name="Rectangle 4"/>
            <p:cNvSpPr>
              <a:spLocks noChangeArrowheads="1"/>
            </p:cNvSpPr>
            <p:nvPr/>
          </p:nvSpPr>
          <p:spPr bwMode="auto">
            <a:xfrm>
              <a:off x="2653" y="2659"/>
              <a:ext cx="681" cy="249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778" name="Rectangle 5"/>
            <p:cNvSpPr>
              <a:spLocks noChangeArrowheads="1"/>
            </p:cNvSpPr>
            <p:nvPr/>
          </p:nvSpPr>
          <p:spPr bwMode="auto">
            <a:xfrm>
              <a:off x="2656" y="3385"/>
              <a:ext cx="681" cy="249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4103688" y="2384425"/>
            <a:ext cx="86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 b="1"/>
              <a:t>B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3" grpId="0" build="p"/>
      <p:bldP spid="921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13"/>
          <p:cNvSpPr>
            <a:spLocks noGrp="1" noChangeArrowheads="1"/>
          </p:cNvSpPr>
          <p:nvPr>
            <p:ph type="title"/>
          </p:nvPr>
        </p:nvSpPr>
        <p:spPr>
          <a:xfrm>
            <a:off x="215900" y="225425"/>
            <a:ext cx="8080375" cy="1527175"/>
          </a:xfrm>
        </p:spPr>
        <p:txBody>
          <a:bodyPr/>
          <a:lstStyle/>
          <a:p>
            <a:pPr eaLnBrk="1" hangingPunct="1">
              <a:defRPr/>
            </a:pPr>
            <a:r>
              <a:rPr lang="de-DE"/>
              <a:t>Die Ausgangslage </a:t>
            </a:r>
            <a:br>
              <a:rPr lang="de-DE"/>
            </a:br>
            <a:r>
              <a:rPr lang="de-DE"/>
              <a:t>nochmal übersichtlicher 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IP 130.130.0.1   UND-verknüpft mit      SM 255.255.252.0 gehört jetzt zum Netz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130.130.0.0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IP 130.130.15.1 UND-verknüpft mit      SM 255.255.252.0 gehört jetzt zum Netz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130.130.12.0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/>
      <p:bldP spid="718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Wie funktioniert das?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979488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IP 130.130.0.1 und SM 255.255.252.0 werden binär dargestellt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792163" y="303371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755650" y="3644900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10000010.10000010.00000000.00000001 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760413" y="42211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solidFill>
                  <a:srgbClr val="CC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128 + 2 .128 + 2 .   0    .   1</a:t>
            </a:r>
            <a:r>
              <a:rPr lang="de-DE" sz="2800" dirty="0">
                <a:solidFill>
                  <a:srgbClr val="CCCC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755650" y="47609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755650" y="53736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635375" y="5768975"/>
            <a:ext cx="1189038" cy="690563"/>
            <a:chOff x="2290" y="3634"/>
            <a:chExt cx="749" cy="435"/>
          </a:xfrm>
        </p:grpSpPr>
        <p:sp>
          <p:nvSpPr>
            <p:cNvPr id="34845" name="Line 12"/>
            <p:cNvSpPr>
              <a:spLocks noChangeShapeType="1"/>
            </p:cNvSpPr>
            <p:nvPr/>
          </p:nvSpPr>
          <p:spPr bwMode="auto">
            <a:xfrm flipH="1">
              <a:off x="2540" y="3634"/>
              <a:ext cx="499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846" name="Text Box 13"/>
            <p:cNvSpPr txBox="1">
              <a:spLocks noChangeArrowheads="1"/>
            </p:cNvSpPr>
            <p:nvPr/>
          </p:nvSpPr>
          <p:spPr bwMode="auto">
            <a:xfrm>
              <a:off x="2290" y="3838"/>
              <a:ext cx="36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>
                  <a:latin typeface="+mj-lt"/>
                </a:rPr>
                <a:t>128</a:t>
              </a:r>
            </a:p>
          </p:txBody>
        </p:sp>
      </p:grp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7235825" y="6092825"/>
            <a:ext cx="828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dirty="0"/>
              <a:t>= </a:t>
            </a:r>
            <a:r>
              <a:rPr lang="de-DE" dirty="0">
                <a:latin typeface="+mj-lt"/>
              </a:rPr>
              <a:t>252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4103688" y="5805488"/>
            <a:ext cx="973137" cy="647700"/>
            <a:chOff x="2585" y="3657"/>
            <a:chExt cx="613" cy="408"/>
          </a:xfrm>
        </p:grpSpPr>
        <p:sp>
          <p:nvSpPr>
            <p:cNvPr id="34843" name="Text Box 14"/>
            <p:cNvSpPr txBox="1">
              <a:spLocks noChangeArrowheads="1"/>
            </p:cNvSpPr>
            <p:nvPr/>
          </p:nvSpPr>
          <p:spPr bwMode="auto">
            <a:xfrm>
              <a:off x="2585" y="3834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64</a:t>
              </a:r>
            </a:p>
          </p:txBody>
        </p:sp>
        <p:sp>
          <p:nvSpPr>
            <p:cNvPr id="34844" name="Line 20"/>
            <p:cNvSpPr>
              <a:spLocks noChangeShapeType="1"/>
            </p:cNvSpPr>
            <p:nvPr/>
          </p:nvSpPr>
          <p:spPr bwMode="auto">
            <a:xfrm flipH="1">
              <a:off x="2903" y="3657"/>
              <a:ext cx="295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679950" y="5805488"/>
            <a:ext cx="828675" cy="647700"/>
            <a:chOff x="2948" y="3657"/>
            <a:chExt cx="522" cy="408"/>
          </a:xfrm>
        </p:grpSpPr>
        <p:sp>
          <p:nvSpPr>
            <p:cNvPr id="34841" name="Text Box 15"/>
            <p:cNvSpPr txBox="1">
              <a:spLocks noChangeArrowheads="1"/>
            </p:cNvSpPr>
            <p:nvPr/>
          </p:nvSpPr>
          <p:spPr bwMode="auto">
            <a:xfrm>
              <a:off x="2948" y="3834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32</a:t>
              </a:r>
            </a:p>
          </p:txBody>
        </p:sp>
        <p:sp>
          <p:nvSpPr>
            <p:cNvPr id="34842" name="Line 21"/>
            <p:cNvSpPr>
              <a:spLocks noChangeShapeType="1"/>
            </p:cNvSpPr>
            <p:nvPr/>
          </p:nvSpPr>
          <p:spPr bwMode="auto">
            <a:xfrm flipH="1">
              <a:off x="3243" y="3657"/>
              <a:ext cx="136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5327650" y="5805488"/>
            <a:ext cx="828675" cy="647700"/>
            <a:chOff x="3356" y="3657"/>
            <a:chExt cx="522" cy="408"/>
          </a:xfrm>
        </p:grpSpPr>
        <p:sp>
          <p:nvSpPr>
            <p:cNvPr id="34839" name="Text Box 16"/>
            <p:cNvSpPr txBox="1">
              <a:spLocks noChangeArrowheads="1"/>
            </p:cNvSpPr>
            <p:nvPr/>
          </p:nvSpPr>
          <p:spPr bwMode="auto">
            <a:xfrm>
              <a:off x="3356" y="3834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16</a:t>
              </a:r>
            </a:p>
          </p:txBody>
        </p:sp>
        <p:sp>
          <p:nvSpPr>
            <p:cNvPr id="34840" name="Line 22"/>
            <p:cNvSpPr>
              <a:spLocks noChangeShapeType="1"/>
            </p:cNvSpPr>
            <p:nvPr/>
          </p:nvSpPr>
          <p:spPr bwMode="auto">
            <a:xfrm>
              <a:off x="3515" y="3657"/>
              <a:ext cx="68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832475" y="5842000"/>
            <a:ext cx="719138" cy="617538"/>
            <a:chOff x="3674" y="3680"/>
            <a:chExt cx="453" cy="389"/>
          </a:xfrm>
        </p:grpSpPr>
        <p:sp>
          <p:nvSpPr>
            <p:cNvPr id="34837" name="Text Box 17"/>
            <p:cNvSpPr txBox="1">
              <a:spLocks noChangeArrowheads="1"/>
            </p:cNvSpPr>
            <p:nvPr/>
          </p:nvSpPr>
          <p:spPr bwMode="auto">
            <a:xfrm>
              <a:off x="3765" y="3838"/>
              <a:ext cx="3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</a:t>
              </a:r>
              <a:r>
                <a:rPr lang="de-DE" dirty="0">
                  <a:latin typeface="+mj-lt"/>
                </a:rPr>
                <a:t> 8</a:t>
              </a:r>
            </a:p>
          </p:txBody>
        </p:sp>
        <p:sp>
          <p:nvSpPr>
            <p:cNvPr id="34838" name="Line 23"/>
            <p:cNvSpPr>
              <a:spLocks noChangeShapeType="1"/>
            </p:cNvSpPr>
            <p:nvPr/>
          </p:nvSpPr>
          <p:spPr bwMode="auto">
            <a:xfrm>
              <a:off x="3674" y="3680"/>
              <a:ext cx="136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6011863" y="5805488"/>
            <a:ext cx="1368425" cy="654050"/>
            <a:chOff x="3787" y="3657"/>
            <a:chExt cx="862" cy="412"/>
          </a:xfrm>
        </p:grpSpPr>
        <p:sp>
          <p:nvSpPr>
            <p:cNvPr id="34835" name="Text Box 18"/>
            <p:cNvSpPr txBox="1">
              <a:spLocks noChangeArrowheads="1"/>
            </p:cNvSpPr>
            <p:nvPr/>
          </p:nvSpPr>
          <p:spPr bwMode="auto">
            <a:xfrm>
              <a:off x="4127" y="3838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4</a:t>
              </a:r>
            </a:p>
          </p:txBody>
        </p:sp>
        <p:sp>
          <p:nvSpPr>
            <p:cNvPr id="34836" name="Line 24"/>
            <p:cNvSpPr>
              <a:spLocks noChangeShapeType="1"/>
            </p:cNvSpPr>
            <p:nvPr/>
          </p:nvSpPr>
          <p:spPr bwMode="auto">
            <a:xfrm>
              <a:off x="3787" y="3657"/>
              <a:ext cx="363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 build="p"/>
      <p:bldP spid="8199" grpId="0"/>
      <p:bldP spid="8200" grpId="0"/>
      <p:bldP spid="8201" grpId="0"/>
      <p:bldP spid="8202" grpId="0"/>
      <p:bldP spid="8203" grpId="0"/>
      <p:bldP spid="82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" y="288925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Die UND-Verknüpfung </a:t>
            </a:r>
            <a:r>
              <a:rPr lang="de-DE" sz="1600" dirty="0"/>
              <a:t>logisch und </a:t>
            </a:r>
            <a:r>
              <a:rPr lang="de-DE" sz="1600" dirty="0" err="1"/>
              <a:t>heisst</a:t>
            </a:r>
            <a:r>
              <a:rPr lang="de-DE" sz="1600" dirty="0"/>
              <a:t> mal!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7013" y="1347788"/>
            <a:ext cx="3384550" cy="647700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dirty="0">
                <a:latin typeface="+mj-lt"/>
              </a:rPr>
              <a:t>Aus 1 * 1 wird 1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3476625" y="1347788"/>
            <a:ext cx="53276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Aus 0*1, 1*0 oder 0*0 wird 0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23875" y="5049838"/>
            <a:ext cx="5048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 </a:t>
            </a: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728663" y="5049838"/>
            <a:ext cx="71913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</a:t>
            </a: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511175" y="50498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000010.10000010.00000000.00000000 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03238" y="2492375"/>
            <a:ext cx="8137525" cy="2628900"/>
            <a:chOff x="317" y="1570"/>
            <a:chExt cx="5126" cy="1656"/>
          </a:xfrm>
        </p:grpSpPr>
        <p:sp>
          <p:nvSpPr>
            <p:cNvPr id="35859" name="Rectangle 6"/>
            <p:cNvSpPr>
              <a:spLocks noChangeArrowheads="1"/>
            </p:cNvSpPr>
            <p:nvPr/>
          </p:nvSpPr>
          <p:spPr bwMode="auto">
            <a:xfrm>
              <a:off x="317" y="1570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10000010.10000010.00000000.00000001 </a:t>
              </a:r>
            </a:p>
          </p:txBody>
        </p:sp>
        <p:sp>
          <p:nvSpPr>
            <p:cNvPr id="35860" name="Rectangle 8"/>
            <p:cNvSpPr>
              <a:spLocks noChangeArrowheads="1"/>
            </p:cNvSpPr>
            <p:nvPr/>
          </p:nvSpPr>
          <p:spPr bwMode="auto">
            <a:xfrm>
              <a:off x="2630" y="1956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5861" name="Rectangle 9"/>
            <p:cNvSpPr>
              <a:spLocks noChangeArrowheads="1"/>
            </p:cNvSpPr>
            <p:nvPr/>
          </p:nvSpPr>
          <p:spPr bwMode="auto">
            <a:xfrm>
              <a:off x="317" y="2387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11111111.11111111.11111100.00000000 </a:t>
              </a:r>
            </a:p>
          </p:txBody>
        </p:sp>
        <p:sp>
          <p:nvSpPr>
            <p:cNvPr id="35862" name="Rectangle 13"/>
            <p:cNvSpPr>
              <a:spLocks noChangeArrowheads="1"/>
            </p:cNvSpPr>
            <p:nvPr/>
          </p:nvSpPr>
          <p:spPr bwMode="auto">
            <a:xfrm>
              <a:off x="2653" y="281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1871663" y="4329113"/>
            <a:ext cx="129698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usw.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3346450" y="5481638"/>
            <a:ext cx="244951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Ergibt dezimal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44513" y="587692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661988" y="2457450"/>
            <a:ext cx="252412" cy="3059113"/>
          </a:xfrm>
          <a:prstGeom prst="rect">
            <a:avLst/>
          </a:prstGeom>
          <a:gradFill rotWithShape="1"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898525" y="2463800"/>
            <a:ext cx="252413" cy="3059113"/>
          </a:xfrm>
          <a:prstGeom prst="rect">
            <a:avLst/>
          </a:prstGeom>
          <a:gradFill rotWithShape="1"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544513" y="198913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503238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 build="p"/>
      <p:bldP spid="9223" grpId="0"/>
      <p:bldP spid="9226" grpId="0"/>
      <p:bldP spid="9227" grpId="0"/>
      <p:bldP spid="9228" grpId="0"/>
      <p:bldP spid="9231" grpId="0"/>
      <p:bldP spid="9232" grpId="0"/>
      <p:bldP spid="9233" grpId="0"/>
      <p:bldP spid="9236" grpId="0" animBg="1"/>
      <p:bldP spid="9237" grpId="0" animBg="1"/>
      <p:bldP spid="9238" grpId="0"/>
      <p:bldP spid="92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Das Ganze mit Beispiel 2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44513" y="1665288"/>
            <a:ext cx="7772400" cy="1189037"/>
            <a:chOff x="343" y="1207"/>
            <a:chExt cx="4896" cy="749"/>
          </a:xfrm>
        </p:grpSpPr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343" y="1207"/>
              <a:ext cx="489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de-DE" sz="2800">
                  <a:latin typeface="Lucida Console" pitchFamily="49" charset="0"/>
                </a:rPr>
                <a:t>   </a:t>
              </a:r>
              <a:r>
                <a:rPr lang="de-DE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Lucida Console" pitchFamily="49" charset="0"/>
                </a:rPr>
                <a:t>130  .   130  .   15   .   1</a:t>
              </a:r>
              <a:r>
                <a:rPr lang="de-DE" sz="3200">
                  <a:solidFill>
                    <a:srgbClr val="996633"/>
                  </a:solidFill>
                  <a:latin typeface="Lucida Console" pitchFamily="49" charset="0"/>
                </a:rPr>
                <a:t> </a:t>
              </a:r>
            </a:p>
          </p:txBody>
        </p:sp>
        <p:sp>
          <p:nvSpPr>
            <p:cNvPr id="36890" name="Rectangle 8"/>
            <p:cNvSpPr>
              <a:spLocks noChangeArrowheads="1"/>
            </p:cNvSpPr>
            <p:nvPr/>
          </p:nvSpPr>
          <p:spPr bwMode="auto">
            <a:xfrm>
              <a:off x="2566" y="154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590550" y="30337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10000010.10000010.00001111.00000001 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11188" y="3394075"/>
            <a:ext cx="8137525" cy="1077913"/>
            <a:chOff x="385" y="2138"/>
            <a:chExt cx="5126" cy="679"/>
          </a:xfrm>
        </p:grpSpPr>
        <p:sp>
          <p:nvSpPr>
            <p:cNvPr id="36887" name="Rectangle 16"/>
            <p:cNvSpPr>
              <a:spLocks noChangeArrowheads="1"/>
            </p:cNvSpPr>
            <p:nvPr/>
          </p:nvSpPr>
          <p:spPr bwMode="auto">
            <a:xfrm>
              <a:off x="2585" y="213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385" y="2432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   255  .   255  .  252   .   0 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11188" y="3392488"/>
            <a:ext cx="8137525" cy="1077912"/>
            <a:chOff x="385" y="2138"/>
            <a:chExt cx="5126" cy="679"/>
          </a:xfrm>
        </p:grpSpPr>
        <p:sp>
          <p:nvSpPr>
            <p:cNvPr id="36885" name="Rectangle 22"/>
            <p:cNvSpPr>
              <a:spLocks noChangeArrowheads="1"/>
            </p:cNvSpPr>
            <p:nvPr/>
          </p:nvSpPr>
          <p:spPr bwMode="auto">
            <a:xfrm>
              <a:off x="2585" y="213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385" y="2432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11111111.11111111.11111100.00000000</a:t>
              </a: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611188" y="4329113"/>
            <a:ext cx="8137525" cy="1150937"/>
            <a:chOff x="385" y="2727"/>
            <a:chExt cx="5126" cy="725"/>
          </a:xfrm>
        </p:grpSpPr>
        <p:sp>
          <p:nvSpPr>
            <p:cNvPr id="36883" name="Rectangle 19"/>
            <p:cNvSpPr>
              <a:spLocks noChangeArrowheads="1"/>
            </p:cNvSpPr>
            <p:nvPr/>
          </p:nvSpPr>
          <p:spPr bwMode="auto">
            <a:xfrm>
              <a:off x="385" y="3067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10000010.10000010.00001100.00000000 </a:t>
              </a:r>
            </a:p>
          </p:txBody>
        </p:sp>
        <p:sp>
          <p:nvSpPr>
            <p:cNvPr id="36884" name="Rectangle 25"/>
            <p:cNvSpPr>
              <a:spLocks noChangeArrowheads="1"/>
            </p:cNvSpPr>
            <p:nvPr/>
          </p:nvSpPr>
          <p:spPr bwMode="auto">
            <a:xfrm>
              <a:off x="2585" y="2727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4643438" y="3033713"/>
            <a:ext cx="1303337" cy="2339975"/>
          </a:xfrm>
          <a:prstGeom prst="rect">
            <a:avLst/>
          </a:prstGeom>
          <a:gradFill rotWithShape="1">
            <a:gsLst>
              <a:gs pos="0">
                <a:schemeClr val="tx2">
                  <a:alpha val="30000"/>
                </a:schemeClr>
              </a:gs>
              <a:gs pos="100000">
                <a:schemeClr val="tx2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3744913" y="5300663"/>
            <a:ext cx="17272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000" b="1" dirty="0">
                <a:latin typeface="+mj-lt"/>
              </a:rPr>
              <a:t>dezimal</a:t>
            </a: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611188" y="56689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130  .   130  .   12   .   0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10273" name="Text Box 33"/>
          <p:cNvSpPr txBox="1">
            <a:spLocks noChangeArrowheads="1"/>
          </p:cNvSpPr>
          <p:nvPr/>
        </p:nvSpPr>
        <p:spPr bwMode="auto">
          <a:xfrm>
            <a:off x="6011863" y="2133600"/>
            <a:ext cx="21971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Die </a:t>
            </a:r>
            <a:r>
              <a:rPr lang="de-DE" sz="1600" dirty="0" err="1">
                <a:latin typeface="+mj-lt"/>
              </a:rPr>
              <a:t>SubnetzMASKE</a:t>
            </a:r>
            <a:r>
              <a:rPr lang="de-DE" sz="1600" dirty="0">
                <a:latin typeface="+mj-lt"/>
              </a:rPr>
              <a:t> hat sich also hier darübergelegt!!!</a:t>
            </a:r>
          </a:p>
        </p:txBody>
      </p: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5508625" y="3033713"/>
            <a:ext cx="395288" cy="2339975"/>
          </a:xfrm>
          <a:prstGeom prst="rect">
            <a:avLst/>
          </a:prstGeom>
          <a:solidFill>
            <a:schemeClr val="tx2">
              <a:alpha val="30196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277" name="AutoShape 37"/>
          <p:cNvSpPr>
            <a:spLocks/>
          </p:cNvSpPr>
          <p:nvPr/>
        </p:nvSpPr>
        <p:spPr bwMode="auto">
          <a:xfrm rot="5400000">
            <a:off x="5164138" y="3194050"/>
            <a:ext cx="219075" cy="1260475"/>
          </a:xfrm>
          <a:prstGeom prst="leftBrace">
            <a:avLst>
              <a:gd name="adj1" fmla="val 47947"/>
              <a:gd name="adj2" fmla="val 47731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6084888" y="4241800"/>
            <a:ext cx="30591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Verändert hat die Verknüpfung mit der SM aber nur!!!</a:t>
            </a:r>
          </a:p>
        </p:txBody>
      </p:sp>
      <p:sp>
        <p:nvSpPr>
          <p:cNvPr id="10279" name="AutoShape 39"/>
          <p:cNvSpPr>
            <a:spLocks/>
          </p:cNvSpPr>
          <p:nvPr/>
        </p:nvSpPr>
        <p:spPr bwMode="auto">
          <a:xfrm rot="5400000">
            <a:off x="5576888" y="4648200"/>
            <a:ext cx="287338" cy="395287"/>
          </a:xfrm>
          <a:prstGeom prst="leftBrace">
            <a:avLst>
              <a:gd name="adj1" fmla="val 11464"/>
              <a:gd name="adj2" fmla="val 47731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55" grpId="0"/>
      <p:bldP spid="10267" grpId="0" animBg="1"/>
      <p:bldP spid="10269" grpId="0"/>
      <p:bldP spid="10271" grpId="0"/>
      <p:bldP spid="10273" grpId="0"/>
      <p:bldP spid="10276" grpId="0" animBg="1"/>
      <p:bldP spid="10277" grpId="0" animBg="1"/>
      <p:bldP spid="10278" grpId="0"/>
      <p:bldP spid="102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hat das für Folgen?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01675" y="3976688"/>
            <a:ext cx="7850188" cy="1946275"/>
          </a:xfrm>
        </p:spPr>
        <p:txBody>
          <a:bodyPr/>
          <a:lstStyle/>
          <a:p>
            <a:pPr marL="0" indent="0" eaLnBrk="1" hangingPunct="1">
              <a:lnSpc>
                <a:spcPct val="70000"/>
              </a:lnSpc>
              <a:defRPr/>
            </a:pPr>
            <a:r>
              <a:rPr lang="de-DE" sz="2000" dirty="0"/>
              <a:t>    </a:t>
            </a:r>
            <a:r>
              <a:rPr lang="de-DE" sz="1800" dirty="0">
                <a:latin typeface="+mj-lt"/>
              </a:rPr>
              <a:t>Pingt man jetzt von der Adresse 130.130.0.1 mit der SM 255.255.252.0 nach der Adresse 130.130.15.1 mit der gleichen SM, so bewirkt diese Subnetzmaske, dass sich die </a:t>
            </a:r>
            <a:r>
              <a:rPr lang="de-DE" sz="1800" dirty="0" err="1">
                <a:latin typeface="+mj-lt"/>
              </a:rPr>
              <a:t>IP‘s</a:t>
            </a:r>
            <a:r>
              <a:rPr lang="de-DE" sz="1800" dirty="0">
                <a:latin typeface="+mj-lt"/>
              </a:rPr>
              <a:t> in verschiedenen Netzen befinden und deshalb nicht erreichbar sind!</a:t>
            </a:r>
          </a:p>
          <a:p>
            <a:pPr marL="0" indent="0" eaLnBrk="1" hangingPunct="1">
              <a:lnSpc>
                <a:spcPct val="70000"/>
              </a:lnSpc>
              <a:defRPr/>
            </a:pPr>
            <a:endParaRPr lang="de-DE" sz="1800" dirty="0">
              <a:latin typeface="+mj-lt"/>
            </a:endParaRPr>
          </a:p>
          <a:p>
            <a:pPr marL="0" indent="0" eaLnBrk="1" hangingPunct="1">
              <a:lnSpc>
                <a:spcPct val="70000"/>
              </a:lnSpc>
              <a:defRPr/>
            </a:pPr>
            <a:r>
              <a:rPr lang="de-DE" sz="1800" dirty="0">
                <a:latin typeface="+mj-lt"/>
              </a:rPr>
              <a:t>Neben der Sicherheit ein weiterer Vorteil: Weniger Traffic im jeweiligen Netz durch weniger ARP-Anfragen!</a:t>
            </a:r>
          </a:p>
          <a:p>
            <a:pPr marL="0" indent="0" eaLnBrk="1" hangingPunct="1">
              <a:lnSpc>
                <a:spcPct val="70000"/>
              </a:lnSpc>
              <a:defRPr/>
            </a:pPr>
            <a:endParaRPr lang="de-DE" sz="1800" dirty="0">
              <a:latin typeface="+mj-lt"/>
            </a:endParaRPr>
          </a:p>
          <a:p>
            <a:pPr marL="0" indent="0" eaLnBrk="1" hangingPunct="1">
              <a:lnSpc>
                <a:spcPct val="70000"/>
              </a:lnSpc>
              <a:defRPr/>
            </a:pPr>
            <a:r>
              <a:rPr lang="de-DE" sz="1800" dirty="0">
                <a:latin typeface="+mj-lt"/>
              </a:rPr>
              <a:t>Durch Subnetzmasken wird der Netzanteil und der Hostanteil in der IP verschoben!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285875" y="1749425"/>
            <a:ext cx="5397500" cy="2220913"/>
            <a:chOff x="810" y="1102"/>
            <a:chExt cx="3400" cy="1399"/>
          </a:xfrm>
        </p:grpSpPr>
        <p:graphicFrame>
          <p:nvGraphicFramePr>
            <p:cNvPr id="1026" name="Object 14"/>
            <p:cNvGraphicFramePr>
              <a:graphicFrameLocks noChangeAspect="1"/>
            </p:cNvGraphicFramePr>
            <p:nvPr/>
          </p:nvGraphicFramePr>
          <p:xfrm>
            <a:off x="810" y="1102"/>
            <a:ext cx="99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845564" imgH="2327758" progId="Visio.Drawing.6">
                    <p:embed/>
                  </p:oleObj>
                </mc:Choice>
                <mc:Fallback>
                  <p:oleObj name="Visio" r:id="rId3" imgW="1845564" imgH="2327758" progId="Visio.Drawing.6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1102"/>
                          <a:ext cx="99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16"/>
            <p:cNvGraphicFramePr>
              <a:graphicFrameLocks noChangeAspect="1"/>
            </p:cNvGraphicFramePr>
            <p:nvPr/>
          </p:nvGraphicFramePr>
          <p:xfrm>
            <a:off x="3220" y="1253"/>
            <a:ext cx="99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845564" imgH="2327758" progId="Visio.Drawing.6">
                    <p:embed/>
                  </p:oleObj>
                </mc:Choice>
                <mc:Fallback>
                  <p:oleObj name="Visio" r:id="rId5" imgW="1845564" imgH="2327758" progId="Visio.Drawing.6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253"/>
                          <a:ext cx="99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hat das für Folgen?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de-DE" sz="2800" dirty="0"/>
              <a:t>    </a:t>
            </a:r>
            <a:r>
              <a:rPr lang="de-DE" sz="2800" dirty="0">
                <a:latin typeface="+mj-lt"/>
              </a:rPr>
              <a:t>Pingt man jetzt von der Adresse 130.130.0.1 mit der SM 255.255.252.0 nach der Adresse 130.130.15.1 mit der gleichen SM, so bewirkt diese Subnetzmaske, dass sich die </a:t>
            </a:r>
            <a:r>
              <a:rPr lang="de-DE" sz="2800" dirty="0" err="1">
                <a:latin typeface="+mj-lt"/>
              </a:rPr>
              <a:t>IP‘s</a:t>
            </a:r>
            <a:r>
              <a:rPr lang="de-DE" sz="2800" dirty="0">
                <a:latin typeface="+mj-lt"/>
              </a:rPr>
              <a:t> in verschiedenen Netzen befinden und deshalb nicht erreichbar sind!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800" dirty="0">
                <a:latin typeface="+mj-lt"/>
              </a:rPr>
              <a:t>Neben der Sicherheit ein weiterer Vorteil: Weniger Traffic im jeweiligen Netz durch weniger ARP-Anfragen!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800" dirty="0">
                <a:latin typeface="+mj-lt"/>
              </a:rPr>
              <a:t>Durch Subnetzmasken wird der Netzanteil und der Hostanteil in der IP verschoben!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942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 dirty="0"/>
              <a:t>Wie teilt die SM die </a:t>
            </a:r>
            <a:br>
              <a:rPr lang="de-DE" sz="4000" dirty="0"/>
            </a:br>
            <a:r>
              <a:rPr lang="de-DE" sz="4000" dirty="0"/>
              <a:t>IP in Netzwerkanteil und</a:t>
            </a:r>
            <a:br>
              <a:rPr lang="de-DE" sz="4000" dirty="0"/>
            </a:br>
            <a:r>
              <a:rPr lang="de-DE" sz="4000" dirty="0"/>
              <a:t>Hostanteil auf?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/>
            <a:r>
              <a:rPr lang="de-DE"/>
              <a:t>Unser Beispiel: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53641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Anzahl der Einsen in der SM bestimmt den Netzanteil in der IP-Adresse!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900113" y="3357563"/>
            <a:ext cx="5184775" cy="1763712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900113" y="5011738"/>
            <a:ext cx="53641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cs typeface="Times New Roman" pitchFamily="18" charset="0"/>
              </a:rPr>
              <a:t>↑     </a:t>
            </a:r>
            <a:r>
              <a:rPr lang="de-DE" sz="2000" b="1" dirty="0">
                <a:latin typeface="+mj-lt"/>
              </a:rPr>
              <a:t>Hier ist der Netzanteil also 22 Bit groß!    </a:t>
            </a:r>
            <a:r>
              <a:rPr lang="de-DE" sz="2000" b="1" dirty="0">
                <a:latin typeface="+mj-lt"/>
                <a:cs typeface="Times New Roman" pitchFamily="18" charset="0"/>
              </a:rPr>
              <a:t>↑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3851275" y="5589588"/>
            <a:ext cx="57959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Der Hostanteil besteht dann folglich aus 10 Bits!</a:t>
            </a:r>
            <a:endParaRPr lang="de-DE" sz="2000" b="1" dirty="0">
              <a:latin typeface="+mj-lt"/>
              <a:cs typeface="Times New Roman" pitchFamily="18" charset="0"/>
            </a:endParaRPr>
          </a:p>
        </p:txBody>
      </p:sp>
      <p:sp>
        <p:nvSpPr>
          <p:cNvPr id="61452" name="AutoShape 12"/>
          <p:cNvSpPr>
            <a:spLocks/>
          </p:cNvSpPr>
          <p:nvPr/>
        </p:nvSpPr>
        <p:spPr bwMode="auto">
          <a:xfrm rot="5400000">
            <a:off x="7057232" y="4077494"/>
            <a:ext cx="431800" cy="2376487"/>
          </a:xfrm>
          <a:prstGeom prst="rightBrace">
            <a:avLst>
              <a:gd name="adj1" fmla="val 458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3" grpId="0" build="p"/>
      <p:bldP spid="61444" grpId="0"/>
      <p:bldP spid="61445" grpId="0"/>
      <p:bldP spid="61446" grpId="0"/>
      <p:bldP spid="61447" grpId="0"/>
      <p:bldP spid="61448" grpId="0"/>
      <p:bldP spid="61449" grpId="0" animBg="1"/>
      <p:bldP spid="61450" grpId="0"/>
      <p:bldP spid="61451" grpId="0"/>
      <p:bldP spid="614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Was lässt sich durch den veränderten Hostanteil bestimmen?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b="1" dirty="0">
                <a:latin typeface="+mj-lt"/>
              </a:rPr>
              <a:t>Unser Beispiel bezogen auf die </a:t>
            </a:r>
            <a:r>
              <a:rPr lang="de-DE" sz="2800" b="1" dirty="0" err="1">
                <a:latin typeface="+mj-lt"/>
              </a:rPr>
              <a:t>Subnetze</a:t>
            </a:r>
            <a:r>
              <a:rPr lang="de-DE" sz="2800" b="1" dirty="0">
                <a:latin typeface="+mj-lt"/>
              </a:rPr>
              <a:t>: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60833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Nullen, welche zu Einsen werden ergeben die Möglichkeiten an Subnetzen, hier 2</a:t>
            </a:r>
            <a:r>
              <a:rPr lang="de-DE" sz="2000" b="1" baseline="30000" dirty="0">
                <a:latin typeface="+mj-lt"/>
              </a:rPr>
              <a:t>6</a:t>
            </a:r>
            <a:r>
              <a:rPr lang="de-DE" sz="2000" b="1" dirty="0">
                <a:latin typeface="+mj-lt"/>
              </a:rPr>
              <a:t> = 64 mögliche Subnetze!</a:t>
            </a: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4787900" y="3357563"/>
            <a:ext cx="1296988" cy="1763712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4651375" y="5121275"/>
            <a:ext cx="180022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/>
      <p:bldP spid="65539" grpId="0" build="p"/>
      <p:bldP spid="65540" grpId="0"/>
      <p:bldP spid="65541" grpId="0"/>
      <p:bldP spid="65542" grpId="0"/>
      <p:bldP spid="65543" grpId="0"/>
      <p:bldP spid="65544" grpId="0"/>
      <p:bldP spid="655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Was lässt sich durch den </a:t>
            </a:r>
            <a:r>
              <a:rPr lang="de-DE" sz="4000" b="1" u="sng"/>
              <a:t>veränderten</a:t>
            </a:r>
            <a:r>
              <a:rPr lang="de-DE" sz="4000"/>
              <a:t> Netzwerkanteil bestimmen?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Unser Beispiel bezogen auf die Hosts: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78835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 im Hostanteil geben die möglichen, für Clients zu vergebenden IP-Adressen an, hier 2</a:t>
            </a:r>
            <a:r>
              <a:rPr lang="de-DE" sz="2000" b="1" baseline="30000" dirty="0">
                <a:latin typeface="+mj-lt"/>
              </a:rPr>
              <a:t>10</a:t>
            </a:r>
            <a:r>
              <a:rPr lang="de-DE" sz="2000" b="1" dirty="0">
                <a:latin typeface="+mj-lt"/>
              </a:rPr>
              <a:t>-2 = 1022 mögliche IP-Adressen!</a:t>
            </a: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6076950" y="3321050"/>
            <a:ext cx="2376488" cy="1763713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5975350" y="5121275"/>
            <a:ext cx="2989263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 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87" grpId="0" build="p"/>
      <p:bldP spid="67588" grpId="0"/>
      <p:bldP spid="67589" grpId="0"/>
      <p:bldP spid="67590" grpId="0"/>
      <p:bldP spid="67591" grpId="0"/>
      <p:bldP spid="67592" grpId="0"/>
      <p:bldP spid="67593" grpId="0" animBg="1"/>
      <p:bldP spid="675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3600" dirty="0"/>
              <a:t>Was lässt sich durch den veränderten Netzwerkanteil und den veränderten Hostanteil noch bestimmen?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Unser Beispiel bezogen auf die Hosts: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78835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 im Hostanteil geben die möglichen, für Clients zu vergebenden IP-Adressen an, hier 2</a:t>
            </a:r>
            <a:r>
              <a:rPr lang="de-DE" sz="2000" b="1" baseline="30000" dirty="0">
                <a:latin typeface="+mj-lt"/>
              </a:rPr>
              <a:t>10</a:t>
            </a:r>
            <a:r>
              <a:rPr lang="de-DE" sz="2000" b="1" dirty="0">
                <a:latin typeface="+mj-lt"/>
              </a:rPr>
              <a:t>-2 = 1022 mögliche IP-Adressen!</a:t>
            </a:r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6076950" y="3321050"/>
            <a:ext cx="2376488" cy="1763713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5975350" y="5121275"/>
            <a:ext cx="2989263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 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 build="p"/>
      <p:bldP spid="90116" grpId="0"/>
      <p:bldP spid="90117" grpId="0"/>
      <p:bldP spid="90118" grpId="0"/>
      <p:bldP spid="90119" grpId="0"/>
      <p:bldP spid="90120" grpId="0"/>
      <p:bldP spid="90121" grpId="0" animBg="1"/>
      <p:bldP spid="90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Für diesen Anteil gibt es </a:t>
            </a:r>
            <a:br>
              <a:rPr lang="de-DE" sz="4000"/>
            </a:br>
            <a:r>
              <a:rPr lang="de-DE" sz="4000"/>
              <a:t>auch eine andere Schreibweise!</a:t>
            </a: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0/22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23850" y="3321050"/>
            <a:ext cx="8640763" cy="1284288"/>
            <a:chOff x="204" y="2092"/>
            <a:chExt cx="5443" cy="809"/>
          </a:xfrm>
        </p:grpSpPr>
        <p:sp>
          <p:nvSpPr>
            <p:cNvPr id="43018" name="Text Box 7"/>
            <p:cNvSpPr txBox="1">
              <a:spLocks noChangeArrowheads="1"/>
            </p:cNvSpPr>
            <p:nvPr/>
          </p:nvSpPr>
          <p:spPr bwMode="auto">
            <a:xfrm>
              <a:off x="204" y="2455"/>
              <a:ext cx="5443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sz="2000" b="1" dirty="0">
                  <a:latin typeface="+mj-lt"/>
                </a:rPr>
                <a:t>Bedeutet die Subnetzmaske hat links 22 Einsen und rechts folglich 10 Nullen! </a:t>
              </a:r>
            </a:p>
          </p:txBody>
        </p:sp>
        <p:sp>
          <p:nvSpPr>
            <p:cNvPr id="43019" name="Line 8"/>
            <p:cNvSpPr>
              <a:spLocks noChangeShapeType="1"/>
            </p:cNvSpPr>
            <p:nvPr/>
          </p:nvSpPr>
          <p:spPr bwMode="auto">
            <a:xfrm flipV="1">
              <a:off x="521" y="2092"/>
              <a:ext cx="4219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1008063" y="5337175"/>
            <a:ext cx="7632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400" b="1" dirty="0">
                <a:latin typeface="+mj-lt"/>
              </a:rPr>
              <a:t>Der Netzanteil hat 22 Bits, der Hostanteil hat 10 Bits!</a:t>
            </a:r>
            <a:r>
              <a:rPr lang="de-DE" sz="2000" b="1" dirty="0">
                <a:latin typeface="+mj-lt"/>
              </a:rPr>
              <a:t> </a:t>
            </a:r>
          </a:p>
        </p:txBody>
      </p:sp>
      <p:sp>
        <p:nvSpPr>
          <p:cNvPr id="63502" name="Text Box 14"/>
          <p:cNvSpPr txBox="1">
            <a:spLocks noChangeArrowheads="1"/>
          </p:cNvSpPr>
          <p:nvPr/>
        </p:nvSpPr>
        <p:spPr bwMode="auto">
          <a:xfrm>
            <a:off x="3527425" y="4473575"/>
            <a:ext cx="2268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ODER anders gesagt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3" grpId="0"/>
      <p:bldP spid="63498" grpId="0"/>
      <p:bldP spid="635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Zurück zur Vorgehensweise </a:t>
            </a:r>
            <a:br>
              <a:rPr lang="de-DE" sz="4000"/>
            </a:br>
            <a:r>
              <a:rPr lang="de-DE" sz="4000"/>
              <a:t>bei Subnetting-Aufgaben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de-DE" dirty="0">
                <a:latin typeface="+mj-lt"/>
              </a:rPr>
              <a:t>Es sind Vorkenntnisse zu den IP-Klassen bzw. zur </a:t>
            </a:r>
            <a:r>
              <a:rPr lang="de-DE" dirty="0" err="1">
                <a:latin typeface="+mj-lt"/>
              </a:rPr>
              <a:t>Suffixschreibweise</a:t>
            </a:r>
            <a:r>
              <a:rPr lang="de-DE" dirty="0">
                <a:latin typeface="+mj-lt"/>
              </a:rPr>
              <a:t> notwendig! (</a:t>
            </a:r>
            <a:r>
              <a:rPr lang="de-DE" dirty="0" err="1">
                <a:latin typeface="+mj-lt"/>
              </a:rPr>
              <a:t>Slash</a:t>
            </a:r>
            <a:r>
              <a:rPr lang="de-DE" dirty="0">
                <a:latin typeface="+mj-lt"/>
              </a:rPr>
              <a:t>-Notierung)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3988" y="25241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sz="3200" dirty="0"/>
              <a:t>Die Klassen und deren „Standardsubnetzmasken SSM“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8210550" cy="4471988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Es gibt 5 Klassen: A, B, C, D, E wovon die Klassen A-C nur für die Öffentlichkeit bestimmt sind!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A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0. 0. 0. 0 - 127.255.255.255       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255.0.0.0)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B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128. 0. 0. 0 - 191.255.255.255   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255.255.0.0)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C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192. 0. 0. 0 - 223.255.255.255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255.255.255.0)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D ist für Multicasting E ist für Forschung und Militär reserviert!</a:t>
            </a:r>
          </a:p>
          <a:p>
            <a:pPr eaLnBrk="1" hangingPunct="1">
              <a:lnSpc>
                <a:spcPct val="70000"/>
              </a:lnSpc>
              <a:defRPr/>
            </a:pPr>
            <a:endParaRPr lang="de-DE" sz="2400" dirty="0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4535488" y="3068638"/>
            <a:ext cx="504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/8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782888" y="1457325"/>
            <a:ext cx="4356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b="1" dirty="0">
                <a:latin typeface="+mj-lt"/>
              </a:rPr>
              <a:t>SUFFIXSCHREIBWEISE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4859338" y="3979863"/>
            <a:ext cx="649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/16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4824413" y="4916488"/>
            <a:ext cx="649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/24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 build="p"/>
      <p:bldP spid="35845" grpId="0"/>
      <p:bldP spid="35846" grpId="0"/>
      <p:bldP spid="35847" grpId="0"/>
      <p:bldP spid="358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Eine Aufgabe: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Gegeben 172.100.0.0/16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1. Schritt: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Bestimmung der gegebenen Subnetzmaske!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Hier: 255.255.0.0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Gesucht: </a:t>
            </a:r>
            <a:r>
              <a:rPr lang="de-DE" dirty="0" err="1">
                <a:latin typeface="+mj-lt"/>
              </a:rPr>
              <a:t>Subnetze</a:t>
            </a:r>
            <a:r>
              <a:rPr lang="de-DE" dirty="0">
                <a:latin typeface="+mj-lt"/>
              </a:rPr>
              <a:t> mit 126 möglichen Hostadressen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dirty="0">
                <a:latin typeface="+mj-lt"/>
              </a:rPr>
              <a:t>2. Schritt: </a:t>
            </a:r>
          </a:p>
          <a:p>
            <a:pPr eaLnBrk="1" hangingPunct="1">
              <a:defRPr/>
            </a:pPr>
            <a:r>
              <a:rPr lang="de-DE" sz="2800" dirty="0">
                <a:latin typeface="+mj-lt"/>
              </a:rPr>
              <a:t>Darstellen der gegebenen Subnetzmaske in binärer Schreibweise mit Bestimmung des neuen Hostanteils.</a:t>
            </a:r>
          </a:p>
          <a:p>
            <a:pPr eaLnBrk="1" hangingPunct="1">
              <a:defRPr/>
            </a:pPr>
            <a:endParaRPr lang="de-DE" dirty="0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71438" y="436562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11111111.11111111.00000000.00000000 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6113463" y="4797425"/>
            <a:ext cx="194468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684213" y="5445125"/>
            <a:ext cx="78120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Nullen, welche Nullen bleiben, ergeben die Möglichkeiten an IP-Adressen, hier 2</a:t>
            </a:r>
            <a:r>
              <a:rPr lang="de-DE" sz="2000" b="1" baseline="30000" dirty="0">
                <a:latin typeface="+mj-lt"/>
              </a:rPr>
              <a:t>7</a:t>
            </a:r>
            <a:r>
              <a:rPr lang="de-DE" sz="2000" b="1" dirty="0">
                <a:latin typeface="+mj-lt"/>
              </a:rPr>
              <a:t>-2 = 126 mögliche IP-Adressen, heißt der Rest der Subnetzmaske wird auf 1 gesetzt!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250825" y="4365625"/>
            <a:ext cx="7561263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71438" y="42941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69643" name="Rectangle 11"/>
          <p:cNvSpPr>
            <a:spLocks noChangeArrowheads="1"/>
          </p:cNvSpPr>
          <p:nvPr/>
        </p:nvSpPr>
        <p:spPr bwMode="auto">
          <a:xfrm>
            <a:off x="755650" y="5408613"/>
            <a:ext cx="7772400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Die neue Subnetzmaske lautet also: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255.255.255.128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5" grpId="0" build="p"/>
      <p:bldP spid="69636" grpId="0"/>
      <p:bldP spid="69637" grpId="0"/>
      <p:bldP spid="69638" grpId="0"/>
      <p:bldP spid="69640" grpId="0" animBg="1"/>
      <p:bldP spid="69639" grpId="0"/>
      <p:bldP spid="696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3. Schritt: Ermitteln der Anzahl der verwendbaren </a:t>
            </a:r>
            <a:r>
              <a:rPr lang="de-DE" dirty="0" err="1">
                <a:latin typeface="+mj-lt"/>
              </a:rPr>
              <a:t>Subnetze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4032250" y="4797425"/>
            <a:ext cx="2555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  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684213" y="5445125"/>
            <a:ext cx="79200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Aus der Anzahl der veränderten Bits lässt sich die Anzahl der möglichen </a:t>
            </a:r>
            <a:r>
              <a:rPr lang="de-DE" sz="2000" b="1" dirty="0" err="1">
                <a:latin typeface="+mj-lt"/>
              </a:rPr>
              <a:t>Subnetze</a:t>
            </a:r>
            <a:r>
              <a:rPr lang="de-DE" sz="2000" b="1" dirty="0">
                <a:latin typeface="+mj-lt"/>
              </a:rPr>
              <a:t> errechnen. Hier 2</a:t>
            </a:r>
            <a:r>
              <a:rPr lang="de-DE" sz="2000" b="1" baseline="30000" dirty="0">
                <a:latin typeface="+mj-lt"/>
              </a:rPr>
              <a:t>9</a:t>
            </a:r>
            <a:r>
              <a:rPr lang="de-DE" sz="2000" b="1" dirty="0">
                <a:latin typeface="+mj-lt"/>
              </a:rPr>
              <a:t> = 512 verwendbare Subnetze!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71438" y="42211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4140200" y="4149725"/>
            <a:ext cx="2124075" cy="647700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331913" y="3141663"/>
            <a:ext cx="78120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Veränderter Netzwerkanteil, bzw. „ausgeliehene Bits“ von der alten Subnetzmaske!</a:t>
            </a:r>
          </a:p>
        </p:txBody>
      </p:sp>
      <p:sp>
        <p:nvSpPr>
          <p:cNvPr id="71693" name="Line 13"/>
          <p:cNvSpPr>
            <a:spLocks noChangeShapeType="1"/>
          </p:cNvSpPr>
          <p:nvPr/>
        </p:nvSpPr>
        <p:spPr bwMode="auto">
          <a:xfrm>
            <a:off x="4356100" y="3716338"/>
            <a:ext cx="431800" cy="5048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3" grpId="0" build="p"/>
      <p:bldP spid="71685" grpId="0"/>
      <p:bldP spid="71686" grpId="0"/>
      <p:bldP spid="71688" grpId="0"/>
      <p:bldP spid="71690" grpId="0" animBg="1"/>
      <p:bldP spid="71692" grpId="0"/>
      <p:bldP spid="7169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4. Schritt: Ermitteln der Netzwerkbereiche, bzw. der Grenzen der neuen Netze.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Wir wissen, dass ausgehend vom Grundnetz pro neuem Netz 128 Adressen zur Verfügung stehen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Daraus ergibt sich der erste </a:t>
            </a:r>
            <a:r>
              <a:rPr lang="de-DE" sz="2400" dirty="0">
                <a:solidFill>
                  <a:srgbClr val="000000"/>
                </a:solidFill>
                <a:latin typeface="Arial"/>
              </a:rPr>
              <a:t>Netzwerkbereich</a:t>
            </a:r>
            <a:endParaRPr lang="de-DE" sz="2400" dirty="0">
              <a:latin typeface="+mj-lt"/>
            </a:endParaRPr>
          </a:p>
        </p:txBody>
      </p:sp>
      <p:sp>
        <p:nvSpPr>
          <p:cNvPr id="73738" name="Rectangle 10"/>
          <p:cNvSpPr>
            <a:spLocks noChangeArrowheads="1"/>
          </p:cNvSpPr>
          <p:nvPr/>
        </p:nvSpPr>
        <p:spPr bwMode="auto">
          <a:xfrm>
            <a:off x="107950" y="40052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71438" y="50847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3549650" y="4581525"/>
            <a:ext cx="9144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bis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7632700" y="4184650"/>
            <a:ext cx="158432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Dazwischen liegen 126 Hostadressen wie gefordert!</a:t>
            </a:r>
          </a:p>
        </p:txBody>
      </p:sp>
      <p:sp>
        <p:nvSpPr>
          <p:cNvPr id="73743" name="AutoShape 15"/>
          <p:cNvSpPr>
            <a:spLocks/>
          </p:cNvSpPr>
          <p:nvPr/>
        </p:nvSpPr>
        <p:spPr bwMode="auto">
          <a:xfrm>
            <a:off x="7272338" y="4113213"/>
            <a:ext cx="252412" cy="1439862"/>
          </a:xfrm>
          <a:prstGeom prst="rightBrace">
            <a:avLst>
              <a:gd name="adj1" fmla="val 4753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9163" name="Text Box 16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49164" name="Text Box 17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 build="p"/>
      <p:bldP spid="73738" grpId="0"/>
      <p:bldP spid="73739" grpId="0"/>
      <p:bldP spid="73740" grpId="0" build="p"/>
      <p:bldP spid="73742" grpId="0"/>
      <p:bldP spid="737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3" y="39846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Weiter in der Aufgabe: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2319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5. Schritt: Die neuen Netze.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2. Subnetz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07950" y="25288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172  .   100  .   0    .   128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112713" y="31765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172  .   100  .   0    .   255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3671888" y="2924175"/>
            <a:ext cx="7921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684213" y="3573463"/>
            <a:ext cx="7772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3200" dirty="0">
                <a:latin typeface="+mj-lt"/>
              </a:rPr>
              <a:t>3. Subnetz</a:t>
            </a:r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112713" y="404177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3671888" y="4437063"/>
            <a:ext cx="792162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112713" y="468947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719138" y="5049838"/>
            <a:ext cx="7772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3200" dirty="0">
                <a:latin typeface="+mj-lt"/>
              </a:rPr>
              <a:t>4. Subnetz</a:t>
            </a:r>
          </a:p>
        </p:txBody>
      </p: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112713" y="544671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172  .   100  .   1    .   128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5" name="Rectangle 19"/>
          <p:cNvSpPr>
            <a:spLocks noChangeArrowheads="1"/>
          </p:cNvSpPr>
          <p:nvPr/>
        </p:nvSpPr>
        <p:spPr bwMode="auto">
          <a:xfrm>
            <a:off x="3635375" y="5805488"/>
            <a:ext cx="792163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112713" y="6057900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172  .   100  .   1    .   255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7488238" y="6021388"/>
            <a:ext cx="140493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4000" dirty="0">
                <a:latin typeface="+mj-lt"/>
              </a:rPr>
              <a:t>usw.</a:t>
            </a:r>
            <a:endParaRPr lang="de-DE" sz="44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5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5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5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build="p"/>
      <p:bldP spid="75780" grpId="0"/>
      <p:bldP spid="75781" grpId="0"/>
      <p:bldP spid="75782" grpId="0" build="p"/>
      <p:bldP spid="75788" grpId="0" build="p"/>
      <p:bldP spid="75789" grpId="0"/>
      <p:bldP spid="75790" grpId="0" build="p"/>
      <p:bldP spid="75792" grpId="0"/>
      <p:bldP spid="75793" grpId="0" build="p"/>
      <p:bldP spid="75794" grpId="0"/>
      <p:bldP spid="75795" grpId="0" build="p"/>
      <p:bldP spid="75796" grpId="0"/>
      <p:bldP spid="7579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3" y="39846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Weitere Aufgaben: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547813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6. Schritt: Ermitteln bestimmter IP-Adressen in irgendwelchen neuen Netzen!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Es wird z.B. nach der 128. IP Adresse gefragt, die vergeben werden kann!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 Lösung: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107950" y="33575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172  .   100  .   0    .   130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7843" name="Rectangle 19"/>
          <p:cNvSpPr>
            <a:spLocks noChangeArrowheads="1"/>
          </p:cNvSpPr>
          <p:nvPr/>
        </p:nvSpPr>
        <p:spPr bwMode="auto">
          <a:xfrm>
            <a:off x="719138" y="4141788"/>
            <a:ext cx="7772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Oder: Ermitteln Sie die Broadcastadresse des 5. Subnetzes!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Lösung: </a:t>
            </a:r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112713" y="53736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172  .   100  .   2    .   127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884238" y="6021388"/>
            <a:ext cx="554990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Practice, Practice, Practice, ….!!!!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build="p"/>
      <p:bldP spid="77828" grpId="0"/>
      <p:bldP spid="77843" grpId="0" build="p"/>
      <p:bldP spid="77844" grpId="0"/>
      <p:bldP spid="7784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Ermitteln eines Broadcasts: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7637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de-DE"/>
              <a:t>Z.B.: Für die Adresse 172.100.2.5 (vorige Aufgabe)</a:t>
            </a:r>
          </a:p>
          <a:p>
            <a:pPr eaLnBrk="1" hangingPunct="1">
              <a:lnSpc>
                <a:spcPct val="80000"/>
              </a:lnSpc>
            </a:pPr>
            <a:r>
              <a:rPr lang="de-DE"/>
              <a:t>1. Schritt man invertiert die zugehörige Subnetzmaske:</a:t>
            </a:r>
          </a:p>
        </p:txBody>
      </p:sp>
      <p:sp>
        <p:nvSpPr>
          <p:cNvPr id="52230" name="Text Box 7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2231" name="Text Box 8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9891" name="Rectangle 19"/>
          <p:cNvSpPr>
            <a:spLocks noChangeArrowheads="1"/>
          </p:cNvSpPr>
          <p:nvPr/>
        </p:nvSpPr>
        <p:spPr bwMode="auto">
          <a:xfrm>
            <a:off x="755650" y="31765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255  .   255  .  255   .   128 </a:t>
            </a:r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755650" y="35734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79893" name="Rectangle 21"/>
          <p:cNvSpPr>
            <a:spLocks noChangeArrowheads="1"/>
          </p:cNvSpPr>
          <p:nvPr/>
        </p:nvSpPr>
        <p:spPr bwMode="auto">
          <a:xfrm>
            <a:off x="755650" y="45450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00000000.00000000.00000000.01111111 </a:t>
            </a:r>
          </a:p>
        </p:txBody>
      </p:sp>
      <p:sp>
        <p:nvSpPr>
          <p:cNvPr id="79894" name="Rectangle 22"/>
          <p:cNvSpPr>
            <a:spLocks noChangeArrowheads="1"/>
          </p:cNvSpPr>
          <p:nvPr/>
        </p:nvSpPr>
        <p:spPr bwMode="auto">
          <a:xfrm>
            <a:off x="3348038" y="4041775"/>
            <a:ext cx="30607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wird invertiert zu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79875" grpId="0" build="p"/>
      <p:bldP spid="79891" grpId="0"/>
      <p:bldP spid="79892" grpId="0"/>
      <p:bldP spid="79893" grpId="0"/>
      <p:bldP spid="7989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Ermitteln eines Broadcasts: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763713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de-DE" sz="2800"/>
              <a:t>2. Schritt man verknüpft die invertierte Subnetzmaske mit einer Bool‘schen „Oder“-Operation mit der IP-Adresse:</a:t>
            </a:r>
          </a:p>
          <a:p>
            <a:pPr eaLnBrk="1" hangingPunct="1">
              <a:lnSpc>
                <a:spcPct val="70000"/>
              </a:lnSpc>
            </a:pPr>
            <a:r>
              <a:rPr lang="de-DE" sz="2800"/>
              <a:t>„Oder“ heißt: Aus 0+0 wird 0, aus 1+0 wird 1; aus 0+1 wird 1 und aus 1+1 wird 1</a:t>
            </a:r>
          </a:p>
        </p:txBody>
      </p:sp>
      <p:sp>
        <p:nvSpPr>
          <p:cNvPr id="53254" name="Text Box 4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3255" name="Text Box 5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755650" y="32496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00000000.00000000.00000000.01111111 </a:t>
            </a: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3348038" y="3644900"/>
            <a:ext cx="38528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Oder-Verknüpfung mit</a:t>
            </a: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755650" y="404177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 dirty="0">
                <a:latin typeface="Lucida Console" pitchFamily="49" charset="0"/>
              </a:rPr>
              <a:t>10101100.01100100.00000010.00000101 </a:t>
            </a: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3348038" y="4365625"/>
            <a:ext cx="38528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ergibt</a:t>
            </a: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755650" y="479742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 dirty="0">
                <a:latin typeface="Lucida Console" pitchFamily="49" charset="0"/>
              </a:rPr>
              <a:t>10101100.01100100.00000010.01111111 </a:t>
            </a: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187450" y="5265738"/>
            <a:ext cx="7380288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Der Broadcast für die IP 172.100.2.5 lautet also:</a:t>
            </a: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760413" y="58054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172  .   100  .   2    .   127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/>
      <p:bldP spid="83976" grpId="0"/>
      <p:bldP spid="83978" grpId="0" build="p"/>
      <p:bldP spid="83979" grpId="0"/>
      <p:bldP spid="83980" grpId="0" build="p"/>
      <p:bldP spid="83981" grpId="0"/>
      <p:bldP spid="83982" grpId="0" build="p"/>
      <p:bldP spid="8398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TOOLS" val="&lt;WMTools ver=&quot;1.0&quot;&gt;&lt;Timings&gt;&lt;Slide id=&quot;256&quot; dur=&quot;2.844&quot; bld=&quot;|.5&quot;/&gt;&lt;/Timings&gt;&lt;/WMTool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.4|1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.4|1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7.2|3.|4.1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9|2.5|2.5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9|2.5|2.5|3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0.9|1.4"/>
</p:tagLst>
</file>

<file path=ppt/theme/theme1.xml><?xml version="1.0" encoding="utf-8"?>
<a:theme xmlns:a="http://schemas.openxmlformats.org/drawingml/2006/main" name="Schulung">
  <a:themeElements>
    <a:clrScheme name="Schulu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CCFF"/>
      </a:accent1>
      <a:accent2>
        <a:srgbClr val="FFFF00"/>
      </a:accent2>
      <a:accent3>
        <a:srgbClr val="AAAAFF"/>
      </a:accent3>
      <a:accent4>
        <a:srgbClr val="DADADA"/>
      </a:accent4>
      <a:accent5>
        <a:srgbClr val="AAE2FF"/>
      </a:accent5>
      <a:accent6>
        <a:srgbClr val="E7E700"/>
      </a:accent6>
      <a:hlink>
        <a:srgbClr val="FF0033"/>
      </a:hlink>
      <a:folHlink>
        <a:srgbClr val="3366FF"/>
      </a:folHlink>
    </a:clrScheme>
    <a:fontScheme name="Schulung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chulu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CCFF"/>
        </a:accent1>
        <a:accent2>
          <a:srgbClr val="FFFF00"/>
        </a:accent2>
        <a:accent3>
          <a:srgbClr val="AAAAFF"/>
        </a:accent3>
        <a:accent4>
          <a:srgbClr val="DADADA"/>
        </a:accent4>
        <a:accent5>
          <a:srgbClr val="AAE2FF"/>
        </a:accent5>
        <a:accent6>
          <a:srgbClr val="E7E700"/>
        </a:accent6>
        <a:hlink>
          <a:srgbClr val="FF0033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hulu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00CCCC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00B9B9"/>
        </a:accent6>
        <a:hlink>
          <a:srgbClr val="CC99FF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hulu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5F5F5F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hulu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FFFF0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E7E700"/>
        </a:accent6>
        <a:hlink>
          <a:srgbClr val="6600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hulu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FFFF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E7E700"/>
        </a:accent6>
        <a:hlink>
          <a:srgbClr val="CC0000"/>
        </a:hlink>
        <a:folHlink>
          <a:srgbClr val="CC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Benutzerdefinierte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e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enutzerdefinierte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</Template>
  <TotalTime>0</TotalTime>
  <Words>1650</Words>
  <Application>Microsoft Office PowerPoint</Application>
  <PresentationFormat>Bildschirmpräsentation (4:3)</PresentationFormat>
  <Paragraphs>252</Paragraphs>
  <Slides>27</Slides>
  <Notes>27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Arial</vt:lpstr>
      <vt:lpstr>Arial Unicode MS</vt:lpstr>
      <vt:lpstr>Lucida Console</vt:lpstr>
      <vt:lpstr>Times New Roman</vt:lpstr>
      <vt:lpstr>Wingdings</vt:lpstr>
      <vt:lpstr>Schulung</vt:lpstr>
      <vt:lpstr>Benutzerdefiniertes Design</vt:lpstr>
      <vt:lpstr>Visio</vt:lpstr>
      <vt:lpstr>Subnetting – einfach!</vt:lpstr>
      <vt:lpstr>Die Klassen und deren „Standardsubnetzmasken SSM“</vt:lpstr>
      <vt:lpstr>Warum Subnetze?</vt:lpstr>
      <vt:lpstr>Warum Subnetze? Zusammenfassung: Das Mehr und Weniger durch Subnetze</vt:lpstr>
      <vt:lpstr>Was sind „Subnetze“?</vt:lpstr>
      <vt:lpstr>Was wurde verändert? </vt:lpstr>
      <vt:lpstr>Die Ausgangslage  nochmal übersichtlicher </vt:lpstr>
      <vt:lpstr>Wie funktioniert das?</vt:lpstr>
      <vt:lpstr>Die UND-Verknüpfung logisch und heisst mal!</vt:lpstr>
      <vt:lpstr>Das Ganze mit Beispiel 2</vt:lpstr>
      <vt:lpstr>Was hat das für Folgen?</vt:lpstr>
      <vt:lpstr>Was hat das für Folgen?</vt:lpstr>
      <vt:lpstr>Wie teilt die SM die  IP in Netzwerkanteil und Hostanteil auf?</vt:lpstr>
      <vt:lpstr>Was lässt sich durch den veränderten Hostanteil bestimmen?</vt:lpstr>
      <vt:lpstr>Was lässt sich durch den veränderten Netzwerkanteil bestimmen?</vt:lpstr>
      <vt:lpstr>Was lässt sich durch den veränderten Netzwerkanteil und den veränderten Hostanteil noch bestimmen?</vt:lpstr>
      <vt:lpstr>Für diesen Anteil gibt es  auch eine andere Schreibweise!</vt:lpstr>
      <vt:lpstr>Zurück zur Vorgehensweise  bei Subnetting-Aufgaben</vt:lpstr>
      <vt:lpstr>Die Klassen und deren „Standardsubnetzmasken SSM“</vt:lpstr>
      <vt:lpstr>Eine Aufgabe:</vt:lpstr>
      <vt:lpstr>Weiter in der Aufgabe:</vt:lpstr>
      <vt:lpstr>Weiter in der Aufgabe:</vt:lpstr>
      <vt:lpstr>Weiter in der Aufgabe:</vt:lpstr>
      <vt:lpstr>Weiter in der Aufgabe:</vt:lpstr>
      <vt:lpstr>Weitere Aufgaben:</vt:lpstr>
      <vt:lpstr>Ermitteln eines Broadcasts:</vt:lpstr>
      <vt:lpstr>Ermitteln eines Broadcasts: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>fte-loerrach</dc:subject>
  <dc:creator>munz</dc:creator>
  <cp:lastModifiedBy>Specht, Sven</cp:lastModifiedBy>
  <cp:revision>51</cp:revision>
  <cp:lastPrinted>1601-01-01T00:00:00Z</cp:lastPrinted>
  <dcterms:created xsi:type="dcterms:W3CDTF">1601-01-01T00:00:00Z</dcterms:created>
  <dcterms:modified xsi:type="dcterms:W3CDTF">2025-02-17T08:21:54Z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  <property fmtid="{D5CDD505-2E9C-101B-9397-08002B2CF9AE}" pid="3" name="LCID">
    <vt:i4>1031</vt:i4>
  </property>
  <property fmtid="{D5CDD505-2E9C-101B-9397-08002B2CF9AE}" pid="4" name="Autor">
    <vt:lpwstr>Haberberger, Lehrer der Berufsschule Bayreuth</vt:lpwstr>
  </property>
</Properties>
</file>