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360" r:id="rId4"/>
    <p:sldId id="377" r:id="rId5"/>
    <p:sldId id="378" r:id="rId6"/>
    <p:sldId id="379" r:id="rId7"/>
    <p:sldId id="382" r:id="rId8"/>
    <p:sldId id="380" r:id="rId9"/>
    <p:sldId id="381" r:id="rId10"/>
    <p:sldId id="383" r:id="rId11"/>
    <p:sldId id="384" r:id="rId12"/>
    <p:sldId id="385" r:id="rId13"/>
    <p:sldId id="386" r:id="rId14"/>
    <p:sldId id="407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2: Grundsätze der Verarbeitung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rgbClr val="0070C0"/>
                </a:solidFill>
              </a:rPr>
              <a:t>Teil 2:</a:t>
            </a:r>
            <a:r>
              <a:rPr lang="de-DE" b="1" dirty="0"/>
              <a:t> Grundsätze und Rechtmäßigkeit der Verarbeitung</a:t>
            </a:r>
          </a:p>
          <a:p>
            <a:pPr marL="0" indent="0">
              <a:buNone/>
            </a:pPr>
            <a:endParaRPr lang="de-DE" b="1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2.1: </a:t>
            </a:r>
            <a:r>
              <a:rPr lang="de-DE" b="1" dirty="0"/>
              <a:t>Grundsätze der Verarbeitung (</a:t>
            </a:r>
            <a:r>
              <a:rPr lang="de-DE" b="1" dirty="0" err="1"/>
              <a:t>pbD</a:t>
            </a:r>
            <a:r>
              <a:rPr lang="de-DE" b="1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2.2: </a:t>
            </a:r>
            <a:r>
              <a:rPr lang="de-DE" b="1" dirty="0"/>
              <a:t>Rechtmäßigkeit der Verarbeitung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2.3: </a:t>
            </a:r>
            <a:r>
              <a:rPr lang="de-DE" b="1" dirty="0"/>
              <a:t>Informationspflichten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2.4: </a:t>
            </a:r>
            <a:r>
              <a:rPr lang="de-DE" b="1" dirty="0"/>
              <a:t>Rechte der Betroffenen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2.5: </a:t>
            </a:r>
            <a:r>
              <a:rPr lang="de-DE" b="1" dirty="0"/>
              <a:t>Technisch-Organisatorische Maßnahmen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2.6: </a:t>
            </a:r>
            <a:r>
              <a:rPr lang="de-DE" b="1" dirty="0"/>
              <a:t>Verzeichnis der Verarbeitungstätigkeiten (VVT)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BA3F9-171B-F8F4-A6CC-904911BC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Screenshot, Dunkelheit, Text, Schwarz enthält.&#10;&#10;KI-generierte Inhalte können fehlerhaft sein.">
            <a:extLst>
              <a:ext uri="{FF2B5EF4-FFF2-40B4-BE49-F238E27FC236}">
                <a16:creationId xmlns:a16="http://schemas.microsoft.com/office/drawing/2014/main" id="{BE42AEAD-5B04-E3B3-5775-269759AB2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 t="4154" r="37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145616-B575-FC93-7470-E7AF6FBD5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Datenschutz</a:t>
            </a:r>
            <a:r>
              <a:rPr lang="en-US" sz="4800" dirty="0"/>
              <a:t> Teil 2.3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47FB53-D8D3-BC16-9A00-6840FE963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solidFill>
                  <a:schemeClr val="tx1"/>
                </a:solidFill>
              </a:rPr>
              <a:t>Informationspflichten</a:t>
            </a:r>
            <a:r>
              <a:rPr lang="en-US" sz="2000" dirty="0">
                <a:solidFill>
                  <a:schemeClr val="tx1"/>
                </a:solidFill>
              </a:rPr>
              <a:t> des </a:t>
            </a:r>
            <a:r>
              <a:rPr lang="en-US" sz="2000">
                <a:solidFill>
                  <a:schemeClr val="tx1"/>
                </a:solidFill>
              </a:rPr>
              <a:t>Verantwortlichen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oder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Auftragsverarbeiters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39D111B-1B1F-B6E6-5F47-D8868B2A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305477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externer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Datenschutzbeauftragter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83199C-51CF-2431-672B-C9A7B2C9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38717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A54CE-A134-A1CD-11E6-7EAD027C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effectLst/>
                <a:ea typeface="Aptos" panose="020B0004020202020204" pitchFamily="34" charset="0"/>
              </a:rPr>
              <a:t>Informationspflichten des Verantwortlichen</a:t>
            </a:r>
            <a:br>
              <a:rPr lang="de-DE" dirty="0">
                <a:solidFill>
                  <a:srgbClr val="0070C0"/>
                </a:solidFill>
                <a:effectLst/>
                <a:ea typeface="Aptos" panose="020B0004020202020204" pitchFamily="34" charset="0"/>
              </a:rPr>
            </a:br>
            <a:r>
              <a:rPr lang="de-DE" sz="2400" b="1" i="1" dirty="0">
                <a:solidFill>
                  <a:srgbClr val="7030A0"/>
                </a:solidFill>
                <a:effectLst/>
                <a:ea typeface="Aptos" panose="020B0004020202020204" pitchFamily="34" charset="0"/>
              </a:rPr>
              <a:t>Art. 13 und 14 DSGVO</a:t>
            </a:r>
            <a:endParaRPr lang="de-DE" sz="24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C8F638-621A-088C-DC62-00B7F8985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verantwortliche Stelle hat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umfangreiche Informationspflichten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erfüllen</a:t>
            </a: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Geregelt durch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und 14 DSGVO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sowie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§§ 32 und 33 BDSG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 sie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unterscheiden sich durch die Datenquelle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Direkte Erhebung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DSGVO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vom Betroffenen gewollt und angefragte Informationen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Indirekte Erhebung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14 DSGVO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Informationen zum Betroffenen durch Dritte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Informationspflicht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ist im allgemeinen Sprachgebrauch auch unter den Begriffen </a:t>
            </a:r>
            <a:r>
              <a:rPr lang="de-DE" sz="20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Datenschutzhinweise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</a:t>
            </a:r>
            <a:r>
              <a:rPr lang="de-DE" sz="2000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Datenschutzerklärung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bekannt.</a:t>
            </a:r>
            <a:b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Schwerpunkt ist, den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Grundsatz der Transparenz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5 DSGVO</a:t>
            </a:r>
            <a:r>
              <a:rPr lang="de-DE" sz="20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 erfüllen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36FE76-8BAB-38C3-3E1B-CF26DC11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ABBF15-EA76-F3E3-89C1-BB79FAC5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64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704953-A443-EC1A-888C-9AFD6029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Inhalte der Informationspflichten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FB9AC9-05B7-934B-31F7-61ED6A69F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(1)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zählt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alle notwendigen Informationen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auf, die der Betroffene erhalten muss.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e-DE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a typeface="Aptos" panose="020B0004020202020204" pitchFamily="34" charset="0"/>
                <a:cs typeface="Times New Roman" panose="02020603050405020304" pitchFamily="18" charset="0"/>
              </a:rPr>
              <a:t>Eine</a:t>
            </a:r>
            <a:r>
              <a:rPr lang="de-DE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dirty="0">
                <a:solidFill>
                  <a:srgbClr val="0070C0"/>
                </a:solidFill>
                <a:effectLst/>
                <a:ea typeface="Aptos" panose="020B0004020202020204" pitchFamily="34" charset="0"/>
              </a:rPr>
              <a:t>Checkliste </a:t>
            </a:r>
            <a:r>
              <a:rPr lang="de-DE" dirty="0">
                <a:ea typeface="Aptos" panose="020B0004020202020204" pitchFamily="34" charset="0"/>
              </a:rPr>
              <a:t>als PDF-Datei gebe ich extra aus</a:t>
            </a:r>
            <a:br>
              <a:rPr lang="de-DE" dirty="0">
                <a:effectLst/>
                <a:ea typeface="Aptos" panose="020B0004020202020204" pitchFamily="34" charset="0"/>
              </a:rPr>
            </a:br>
            <a:endParaRPr lang="de-DE" dirty="0">
              <a:ea typeface="Aptos" panose="020B00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885741A-D321-4A06-2726-1497AC80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88103C-4855-7A63-7DA4-1F38AEF7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617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ECDFE7-B5E1-7DBC-80FF-A0A2255B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Automatisierte Entscheidungsfindung -</a:t>
            </a:r>
            <a:br>
              <a:rPr lang="de-DE" dirty="0"/>
            </a:br>
            <a:r>
              <a:rPr lang="de-DE" dirty="0" err="1"/>
              <a:t>Profiling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8DC9A0-33BD-9F5F-E156-D88AE8D2A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lnSpc>
                <a:spcPct val="107000"/>
              </a:lnSpc>
              <a:buNone/>
            </a:pPr>
            <a:r>
              <a:rPr lang="de-DE" b="1" i="1" dirty="0">
                <a:solidFill>
                  <a:srgbClr val="7030A0"/>
                </a:solidFill>
                <a:effectLst/>
                <a:ea typeface="Aptos" panose="020B0004020202020204" pitchFamily="34" charset="0"/>
              </a:rPr>
              <a:t>Art. 22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Anhand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festgelegter Kriterien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trifft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 System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eigenständige Entscheidung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Anhand von Profildaten wird das z.B. in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Partnerportalen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Bewerbungsportalen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angewendet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Pflicht zur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Aufklärung, wenn automatisierte Entscheidungsfindung und ein </a:t>
            </a:r>
            <a:r>
              <a:rPr lang="de-DE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Profiling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stattfindet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Dazu gehören die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Funktionsweise und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möglichen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Auswirkungen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23CEC5-60E7-E178-C763-156BFA1C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A056DE-9C19-3DA9-915C-9B38B908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844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005D3D-B280-A531-879F-A52488C5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Ausnahmen bei Informationspflichten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639AA8-8B91-7C49-7F9C-7E6EFE67A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 für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(4) DSGVO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Dem Betroffenen liegen diese Informationen schon vor, dann besteht für den Verantwortlichen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keine Informationspflicht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Zusätzliche Informationspflicht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bei Erhebung </a:t>
            </a:r>
            <a:r>
              <a:rPr lang="de-DE" sz="2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gem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14 (d, f) DSGVO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 hier müssen zusätzlich die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Quelle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die </a:t>
            </a:r>
            <a:r>
              <a:rPr lang="de-DE" sz="2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Kategorien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mitgeteilt werden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C4B0F4-84A4-076A-07A4-0EFA46BF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339882-BDB5-9AA6-066C-D72885F4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73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0D82C4-929F-0948-526E-DBC83AF7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Ausnahmen bei Informationspflichten</a:t>
            </a:r>
            <a:endParaRPr lang="de-DE" sz="24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E62591-5388-6A39-11EE-DF70A5ACE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18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 für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14 DSGVO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0215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1. Dem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liegen diese Informationen schon vor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dann besteht für den Verantwortlichen keine Informationspflicht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14 (5) DSGVO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2. Die Bereitstellung von Informationen ist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unmöglich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stellt einen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unverhältnismäßigen Aufwand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dar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3. falls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Rechtsvorschriften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dem entgegenstehen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4. bei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Pflicht zur Geheimhaltung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5. bei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Gefährdung der Aufgabenerfüllung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(gilt für öffentliche Stelle)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33 BDSG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6. bei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Gefährdung der öffentlichen Sicherheit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Ordnung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(gilt für öffentliche Stelle)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33 BDSG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7. zur Verfolgung und Geltendmachung von zivilrechtlichen Ansprüchen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33 BDSG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8. bei Übermittlungen an Sicherheitsbehörden (gilt für öffentliche Stellen) </a:t>
            </a:r>
            <a:r>
              <a:rPr lang="de-DE" sz="18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§ 33 BDSG</a:t>
            </a:r>
            <a:endParaRPr lang="de-DE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180AC1-ACCA-FBA9-23FF-5DB544744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5C65E-857E-BA7A-171E-8C6F4173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0856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C81DFC-FE88-3218-FEE5-CD7D2CD0B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sind Datenschutzhinweise?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5F11EE-9AD8-66F6-A59F-15806909A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Informationspflichten werden häufig über sogenannte Datenschutzhinweise umgesetzt. Diese Datenschutzhinweise müssen nicht von den Betroffenen unterschrieben werden.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indent="0">
              <a:lnSpc>
                <a:spcPct val="107000"/>
              </a:lnSpc>
              <a:buNone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Pflichtangaben zu den Informationspflichten sind in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und 14 DSGVO </a:t>
            </a:r>
            <a:r>
              <a:rPr lang="de-DE" b="1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geregelt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939527-69F9-6676-188B-81C8D5901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96B5758-872E-84EC-0BBF-6796E1370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13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1EF275-C1A7-E0AF-5327-618A4C5F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Unterschiedliche Datenschutzhinweise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68CEF9-BF07-7E9E-B22C-1976A1F56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Jeder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Verarbeitungsprozess bedarf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eigenen Abfassung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Informationspflicht, sobald sich </a:t>
            </a: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Kriterien in Datenkategorie, Zweck, Rechtsgrundlage, Löschfristen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unterscheiden.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Mögliche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Prozesse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wären Informationspflichten für: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Neukundenprozess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Bewerbungsprozess / Bewerberpool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Gehaltsabrechnungsprozess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DV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firmeneigenen Website (Kontaktformular, Newsletter, Cookie-Banner)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u.v.m.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B60949-32F9-4F62-316B-4059EBF5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84E753-B72A-88B1-5BBC-BF90C6BD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0417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6D0AA3-6118-7228-0C01-48E8ADD4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Form der Umsetzung von Informationen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16B02E-DFF1-8231-32C5-FF95163FC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0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Gem. </a:t>
            </a:r>
            <a:r>
              <a:rPr lang="de-DE" sz="2000" b="1" i="1" u="sng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 DSGVO</a:t>
            </a:r>
            <a:r>
              <a:rPr lang="de-DE" sz="2000" u="sng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die zulässige Form: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schriftlich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elektronisch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in einer anderen Form 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Merkblatt oder Flyer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E-Mail,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z.B. mit PDF-Anhang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Hinweise auf 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Website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+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Link in der Signatur 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E-Mail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SMS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Aufsteller oder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Aushang</a:t>
            </a: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Telefonansage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…</a:t>
            </a:r>
          </a:p>
          <a:p>
            <a:endParaRPr lang="de-DE" sz="20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F83DE1-8041-DC44-7C00-224835C9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246184C-14E3-8CBB-AAE9-3D1FB03F7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646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9A1B98-3857-61D2-20CF-DFC44006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Form der Umsetzung </a:t>
            </a:r>
            <a:r>
              <a:rPr lang="de-DE"/>
              <a:t>von Informationen (2)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722CB9-38DF-2E97-7DD8-2A938A726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bequemste Art ist die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Link-Lösung, </a:t>
            </a:r>
            <a:r>
              <a:rPr lang="de-DE" sz="2400" kern="100" dirty="0">
                <a:ea typeface="Aptos" panose="020B0004020202020204" pitchFamily="34" charset="0"/>
                <a:cs typeface="Times New Roman" panose="02020603050405020304" pitchFamily="18" charset="0"/>
              </a:rPr>
              <a:t>z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.B. als Deep Link auf einer versteckten Unterseite der Website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indent="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Für Ärzte kann 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Aushang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/ Aufsteller als Lösung besser funktionieren. Hier muss im Einzelfall die praktikabelste Variante gewählt werden.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de-DE" sz="2400" b="1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Datenschutzhinweise</a:t>
            </a:r>
            <a:r>
              <a:rPr lang="de-DE" sz="2400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 müssen </a:t>
            </a:r>
            <a:r>
              <a:rPr lang="de-DE" sz="2400" b="1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nicht unterschrieben, akzeptiert oder angenommen</a:t>
            </a:r>
            <a:r>
              <a:rPr lang="de-DE" sz="2400" kern="100" dirty="0">
                <a:effectLst/>
                <a:highlight>
                  <a:srgbClr val="FFFF00"/>
                </a:highlight>
                <a:ea typeface="Aptos" panose="020B0004020202020204" pitchFamily="34" charset="0"/>
                <a:cs typeface="Times New Roman" panose="02020603050405020304" pitchFamily="18" charset="0"/>
              </a:rPr>
              <a:t> werden!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D04B99-98F8-ABEF-F9DC-8BF2B2D2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30DA87F-B972-81B1-F652-35BCFB97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1389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961804-AB79-83A8-E702-804DF1D5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Zeitpunkt der Information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061EA3-B0F3-46BE-4966-E25B779EA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>
              <a:lnSpc>
                <a:spcPct val="107000"/>
              </a:lnSpc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direkter Erhebung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13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(gewollt, angefragt)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SOFORT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571500" indent="-342900">
              <a:lnSpc>
                <a:spcPct val="107000"/>
              </a:lnSpc>
            </a:pP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Information muss</a:t>
            </a:r>
            <a:r>
              <a:rPr lang="de-DE" sz="24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zum Zeitpunkt der Datenerhebung </a:t>
            </a: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erfolgen!</a:t>
            </a:r>
            <a:b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Um das </a:t>
            </a:r>
            <a:r>
              <a:rPr lang="de-DE" sz="2400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praktikabel umsetzen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können,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erlauben die Aufsichtsbehörden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zeitnahe Zustellung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Informationen, sowie einen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Medienbruch</a:t>
            </a:r>
            <a:r>
              <a:rPr lang="de-DE" sz="2400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>
              <a:lnSpc>
                <a:spcPct val="107000"/>
              </a:lnSpc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indirekter Erhebung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14 DSGVO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(über Dritte)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zeitnah, spätestens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innerhalb eines Monats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7931F44-48F5-67DF-B897-0A941F82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A07C3F-A041-F31E-92FA-6CB011D7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3428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1DAC5-D9D3-48FF-91D1-34332204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/>
          <a:lstStyle/>
          <a:p>
            <a:r>
              <a:rPr lang="de-DE" dirty="0"/>
              <a:t>Datenschutzerklärung (DSE) der Website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54313C-761D-6073-FA3B-442CF39A0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966"/>
            <a:ext cx="10515600" cy="4746997"/>
          </a:xfrm>
        </p:spPr>
        <p:txBody>
          <a:bodyPr>
            <a:normAutofit/>
          </a:bodyPr>
          <a:lstStyle/>
          <a:p>
            <a:r>
              <a:rPr lang="de-DE" dirty="0"/>
              <a:t>Die DSE der Website ist </a:t>
            </a:r>
            <a:r>
              <a:rPr lang="de-DE" b="1" dirty="0"/>
              <a:t>keine Allroundlösung</a:t>
            </a:r>
            <a:r>
              <a:rPr lang="de-DE" dirty="0"/>
              <a:t>, sondern eine von diversen Datenschutzhinweisen</a:t>
            </a:r>
          </a:p>
          <a:p>
            <a:r>
              <a:rPr lang="de-DE" dirty="0"/>
              <a:t>Eine DSE der Website </a:t>
            </a:r>
            <a:r>
              <a:rPr lang="de-DE" b="1" dirty="0"/>
              <a:t>informiert</a:t>
            </a:r>
            <a:r>
              <a:rPr lang="de-DE" dirty="0"/>
              <a:t> über die DV der Website und der damit verbundenen Dienstanbieter wie Hosting, API-Tool, Cookie-Banner-DL, Zahlungsdienste, Cloud-DL, etc.</a:t>
            </a:r>
          </a:p>
          <a:p>
            <a:r>
              <a:rPr lang="de-DE" dirty="0"/>
              <a:t>Der </a:t>
            </a:r>
            <a:r>
              <a:rPr lang="de-DE" b="1" dirty="0"/>
              <a:t>Verantwortliche und </a:t>
            </a:r>
            <a:r>
              <a:rPr lang="de-DE" dirty="0"/>
              <a:t>der </a:t>
            </a:r>
            <a:r>
              <a:rPr lang="de-DE" b="1" dirty="0"/>
              <a:t>DSB</a:t>
            </a:r>
            <a:r>
              <a:rPr lang="de-DE" dirty="0"/>
              <a:t> (wenn vorhanden) müssen dort als Kontakte </a:t>
            </a:r>
            <a:r>
              <a:rPr lang="de-DE" b="1" dirty="0"/>
              <a:t>angegeben werden</a:t>
            </a:r>
          </a:p>
          <a:p>
            <a:r>
              <a:rPr lang="de-DE" dirty="0"/>
              <a:t>Eine </a:t>
            </a:r>
            <a:r>
              <a:rPr lang="de-DE" b="1" dirty="0"/>
              <a:t>klare Beschreibung </a:t>
            </a:r>
            <a:r>
              <a:rPr lang="de-DE" dirty="0"/>
              <a:t>der DV, Übertragung, Speicherung und die </a:t>
            </a:r>
            <a:r>
              <a:rPr lang="de-DE" b="1" dirty="0"/>
              <a:t>Rechte der Betroffenen </a:t>
            </a:r>
            <a:r>
              <a:rPr lang="de-DE" dirty="0"/>
              <a:t>müssen darin aufgezählt werden</a:t>
            </a:r>
          </a:p>
          <a:p>
            <a:r>
              <a:rPr lang="de-DE" dirty="0"/>
              <a:t>In der Regel </a:t>
            </a:r>
            <a:r>
              <a:rPr lang="de-DE" b="1" dirty="0"/>
              <a:t>prüft der DSB </a:t>
            </a:r>
            <a:r>
              <a:rPr lang="de-DE" dirty="0"/>
              <a:t>eine DSE.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828990-5E4E-8BA5-2490-72571AEB0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82BD42-5049-FDB9-D9BA-74E39264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340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3" ma:contentTypeDescription="Ein neues Dokument erstellen." ma:contentTypeScope="" ma:versionID="ec0a0d248e550b94956dce53109198e0">
  <xsd:schema xmlns:xsd="http://www.w3.org/2001/XMLSchema" xmlns:xs="http://www.w3.org/2001/XMLSchema" xmlns:p="http://schemas.microsoft.com/office/2006/metadata/properties" xmlns:ns2="b2bcf77a-db99-4c6d-8596-ee1fc4b01288" targetNamespace="http://schemas.microsoft.com/office/2006/metadata/properties" ma:root="true" ma:fieldsID="9caef3849036097daf4185f877cc1448" ns2:_="">
    <xsd:import namespace="b2bcf77a-db99-4c6d-8596-ee1fc4b012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2CDC4EE-19E9-49A8-9C1C-1C2FF739C778}"/>
</file>

<file path=customXml/itemProps2.xml><?xml version="1.0" encoding="utf-8"?>
<ds:datastoreItem xmlns:ds="http://schemas.openxmlformats.org/officeDocument/2006/customXml" ds:itemID="{3FFDA052-08C0-49E8-B15E-3C0917805F40}"/>
</file>

<file path=customXml/itemProps3.xml><?xml version="1.0" encoding="utf-8"?>
<ds:datastoreItem xmlns:ds="http://schemas.openxmlformats.org/officeDocument/2006/customXml" ds:itemID="{83264DDC-EDF6-4C49-93B8-823BF6A5A43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Office PowerPoint</Application>
  <PresentationFormat>Breitbild</PresentationFormat>
  <Paragraphs>108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Symbol</vt:lpstr>
      <vt:lpstr>Wingdings</vt:lpstr>
      <vt:lpstr>Office</vt:lpstr>
      <vt:lpstr>DATENSCHUTZ-SCHULUNG Teil 2: Grundsätze der Verarbeitung</vt:lpstr>
      <vt:lpstr>Inhalte der Datenschutz-Themen</vt:lpstr>
      <vt:lpstr>Datenschutz Teil 2.3</vt:lpstr>
      <vt:lpstr>Informationspflichten des Verantwortlichen Art. 13 und 14 DSGVO</vt:lpstr>
      <vt:lpstr>Inhalte der Informationspflichten</vt:lpstr>
      <vt:lpstr>Automatisierte Entscheidungsfindung - Profiling </vt:lpstr>
      <vt:lpstr>Ausnahmen bei Informationspflichten</vt:lpstr>
      <vt:lpstr>Ausnahmen bei Informationspflichten</vt:lpstr>
      <vt:lpstr>Was sind Datenschutzhinweise?</vt:lpstr>
      <vt:lpstr>Unterschiedliche Datenschutzhinweise</vt:lpstr>
      <vt:lpstr>Form der Umsetzung von Informationen</vt:lpstr>
      <vt:lpstr>Form der Umsetzung von Informationen (2)</vt:lpstr>
      <vt:lpstr>Zeitpunkt der Information</vt:lpstr>
      <vt:lpstr>Datenschutzerklärung (DSE) der Website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89</cp:revision>
  <dcterms:created xsi:type="dcterms:W3CDTF">2025-05-19T19:06:41Z</dcterms:created>
  <dcterms:modified xsi:type="dcterms:W3CDTF">2025-09-16T12:00:18Z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