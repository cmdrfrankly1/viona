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layout1.xml" ContentType="application/vnd.openxmlformats-officedocument.drawingml.diagramLayout+xml"/>
  <Override PartName="/ppt/diagrams/colors2.xml" ContentType="application/vnd.openxmlformats-officedocument.drawingml.diagramColors+xml"/>
  <Override PartName="/ppt/diagrams/drawing2.xml" ContentType="application/vnd.ms-office.drawingml.diagramDrawing+xml"/>
  <Override PartName="/ppt/diagrams/quickStyle1.xml" ContentType="application/vnd.openxmlformats-officedocument.drawingml.diagramStyle+xml"/>
  <Override PartName="/ppt/diagrams/colors1.xml" ContentType="application/vnd.openxmlformats-officedocument.drawingml.diagramColors+xml"/>
  <Override PartName="/ppt/diagrams/layout2.xml" ContentType="application/vnd.openxmlformats-officedocument.drawingml.diagramLayout+xml"/>
  <Override PartName="/ppt/diagrams/drawing1.xml" ContentType="application/vnd.ms-office.drawingml.diagramDrawing+xml"/>
  <Override PartName="/ppt/diagrams/quickStyle2.xml" ContentType="application/vnd.openxmlformats-officedocument.drawingml.diagramStyl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8" r:id="rId3"/>
    <p:sldId id="257" r:id="rId4"/>
    <p:sldId id="278" r:id="rId5"/>
    <p:sldId id="277" r:id="rId6"/>
    <p:sldId id="279" r:id="rId7"/>
    <p:sldId id="259" r:id="rId8"/>
    <p:sldId id="262" r:id="rId9"/>
    <p:sldId id="276" r:id="rId10"/>
    <p:sldId id="281" r:id="rId11"/>
    <p:sldId id="282" r:id="rId12"/>
    <p:sldId id="263" r:id="rId13"/>
    <p:sldId id="260" r:id="rId14"/>
    <p:sldId id="284" r:id="rId15"/>
    <p:sldId id="283" r:id="rId16"/>
    <p:sldId id="280" r:id="rId17"/>
    <p:sldId id="344"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85" r:id="rId3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31" autoAdjust="0"/>
    <p:restoredTop sz="94660"/>
  </p:normalViewPr>
  <p:slideViewPr>
    <p:cSldViewPr snapToGrid="0">
      <p:cViewPr varScale="1">
        <p:scale>
          <a:sx n="79" d="100"/>
          <a:sy n="79" d="100"/>
        </p:scale>
        <p:origin x="7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3.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9ABABE-DB11-4539-A061-6FACA6440006}" type="doc">
      <dgm:prSet loTypeId="urn:microsoft.com/office/officeart/2005/8/layout/pyramid1" loCatId="pyramid" qsTypeId="urn:microsoft.com/office/officeart/2005/8/quickstyle/simple1" qsCatId="simple" csTypeId="urn:microsoft.com/office/officeart/2005/8/colors/colorful1" csCatId="colorful" phldr="1"/>
      <dgm:spPr/>
      <dgm:t>
        <a:bodyPr/>
        <a:lstStyle/>
        <a:p>
          <a:endParaRPr lang="de-DE"/>
        </a:p>
      </dgm:t>
    </dgm:pt>
    <dgm:pt modelId="{F92BCDF2-75EF-4F6B-B714-4245A60A079E}">
      <dgm:prSet phldrT="[Text]" custT="1"/>
      <dgm:spPr/>
      <dgm:t>
        <a:bodyPr/>
        <a:lstStyle/>
        <a:p>
          <a:br>
            <a:rPr lang="de-DE" sz="2400" dirty="0"/>
          </a:br>
          <a:r>
            <a:rPr lang="de-DE" sz="2400" b="1" dirty="0">
              <a:solidFill>
                <a:schemeClr val="bg1"/>
              </a:solidFill>
            </a:rPr>
            <a:t>GG</a:t>
          </a:r>
        </a:p>
      </dgm:t>
    </dgm:pt>
    <dgm:pt modelId="{8D55696B-69AB-4AE0-BF65-CCAB4F76A9DA}" type="parTrans" cxnId="{EAE878F5-7D19-4712-82AC-3FE4A0615A15}">
      <dgm:prSet/>
      <dgm:spPr/>
      <dgm:t>
        <a:bodyPr/>
        <a:lstStyle/>
        <a:p>
          <a:endParaRPr lang="de-DE"/>
        </a:p>
      </dgm:t>
    </dgm:pt>
    <dgm:pt modelId="{31BFD3E9-21C9-45D5-962F-A7537E25FE17}" type="sibTrans" cxnId="{EAE878F5-7D19-4712-82AC-3FE4A0615A15}">
      <dgm:prSet/>
      <dgm:spPr/>
      <dgm:t>
        <a:bodyPr/>
        <a:lstStyle/>
        <a:p>
          <a:endParaRPr lang="de-DE"/>
        </a:p>
      </dgm:t>
    </dgm:pt>
    <dgm:pt modelId="{9EBDAA04-DAB1-413E-9492-A1B4DBDF7C33}">
      <dgm:prSet phldrT="[Text]"/>
      <dgm:spPr/>
      <dgm:t>
        <a:bodyPr/>
        <a:lstStyle/>
        <a:p>
          <a:r>
            <a:rPr lang="de-DE" dirty="0">
              <a:solidFill>
                <a:schemeClr val="bg1"/>
              </a:solidFill>
            </a:rPr>
            <a:t>DSGVO</a:t>
          </a:r>
        </a:p>
      </dgm:t>
    </dgm:pt>
    <dgm:pt modelId="{F67C188C-0883-4D33-AFF6-36C86D349689}" type="parTrans" cxnId="{F7772E5B-D34F-47A2-A3A8-9B5228BEAC16}">
      <dgm:prSet/>
      <dgm:spPr/>
      <dgm:t>
        <a:bodyPr/>
        <a:lstStyle/>
        <a:p>
          <a:endParaRPr lang="de-DE"/>
        </a:p>
      </dgm:t>
    </dgm:pt>
    <dgm:pt modelId="{8A8E624B-64E2-4A77-89BC-385360C4B37F}" type="sibTrans" cxnId="{F7772E5B-D34F-47A2-A3A8-9B5228BEAC16}">
      <dgm:prSet/>
      <dgm:spPr/>
      <dgm:t>
        <a:bodyPr/>
        <a:lstStyle/>
        <a:p>
          <a:endParaRPr lang="de-DE"/>
        </a:p>
      </dgm:t>
    </dgm:pt>
    <dgm:pt modelId="{733666EB-489F-4BE4-A0C5-702A40C0F677}">
      <dgm:prSet phldrT="[Text]"/>
      <dgm:spPr/>
      <dgm:t>
        <a:bodyPr/>
        <a:lstStyle/>
        <a:p>
          <a:r>
            <a:rPr lang="de-DE" dirty="0">
              <a:solidFill>
                <a:schemeClr val="bg1"/>
              </a:solidFill>
            </a:rPr>
            <a:t>BDSG</a:t>
          </a:r>
        </a:p>
      </dgm:t>
    </dgm:pt>
    <dgm:pt modelId="{DEEE6338-C649-4DC3-BFCB-FA9107A0A23F}" type="parTrans" cxnId="{4BB985C3-BA7E-47CD-B633-4A03606F152F}">
      <dgm:prSet/>
      <dgm:spPr/>
      <dgm:t>
        <a:bodyPr/>
        <a:lstStyle/>
        <a:p>
          <a:endParaRPr lang="de-DE"/>
        </a:p>
      </dgm:t>
    </dgm:pt>
    <dgm:pt modelId="{A85186F6-4BB9-406B-8D13-986F6A1CCC6F}" type="sibTrans" cxnId="{4BB985C3-BA7E-47CD-B633-4A03606F152F}">
      <dgm:prSet/>
      <dgm:spPr/>
      <dgm:t>
        <a:bodyPr/>
        <a:lstStyle/>
        <a:p>
          <a:endParaRPr lang="de-DE"/>
        </a:p>
      </dgm:t>
    </dgm:pt>
    <dgm:pt modelId="{31CAC2B0-15B5-442F-AF65-F3E27DE0F9E0}">
      <dgm:prSet/>
      <dgm:spPr/>
      <dgm:t>
        <a:bodyPr/>
        <a:lstStyle/>
        <a:p>
          <a:r>
            <a:rPr lang="de-DE" dirty="0">
              <a:solidFill>
                <a:schemeClr val="bg1"/>
              </a:solidFill>
            </a:rPr>
            <a:t>LDSG, DDG, TDDDG, TKG</a:t>
          </a:r>
        </a:p>
      </dgm:t>
    </dgm:pt>
    <dgm:pt modelId="{92A79F3F-2E80-44BB-8573-696DB7BF0F48}" type="parTrans" cxnId="{16B6C109-832B-4110-BB0C-29D23C8695DB}">
      <dgm:prSet/>
      <dgm:spPr/>
      <dgm:t>
        <a:bodyPr/>
        <a:lstStyle/>
        <a:p>
          <a:endParaRPr lang="de-DE"/>
        </a:p>
      </dgm:t>
    </dgm:pt>
    <dgm:pt modelId="{0E692377-9FF0-45EA-8566-8CFE044DC9AB}" type="sibTrans" cxnId="{16B6C109-832B-4110-BB0C-29D23C8695DB}">
      <dgm:prSet/>
      <dgm:spPr/>
      <dgm:t>
        <a:bodyPr/>
        <a:lstStyle/>
        <a:p>
          <a:endParaRPr lang="de-DE"/>
        </a:p>
      </dgm:t>
    </dgm:pt>
    <dgm:pt modelId="{FDB68760-E5CF-46B8-911D-655390FA3C13}" type="pres">
      <dgm:prSet presAssocID="{599ABABE-DB11-4539-A061-6FACA6440006}" presName="Name0" presStyleCnt="0">
        <dgm:presLayoutVars>
          <dgm:dir/>
          <dgm:animLvl val="lvl"/>
          <dgm:resizeHandles val="exact"/>
        </dgm:presLayoutVars>
      </dgm:prSet>
      <dgm:spPr/>
    </dgm:pt>
    <dgm:pt modelId="{13EE80DC-7E96-4086-8E86-3ADFD0F597B1}" type="pres">
      <dgm:prSet presAssocID="{F92BCDF2-75EF-4F6B-B714-4245A60A079E}" presName="Name8" presStyleCnt="0"/>
      <dgm:spPr/>
    </dgm:pt>
    <dgm:pt modelId="{1D929588-FE62-4CD5-89D1-955E80FB111D}" type="pres">
      <dgm:prSet presAssocID="{F92BCDF2-75EF-4F6B-B714-4245A60A079E}" presName="level" presStyleLbl="node1" presStyleIdx="0" presStyleCnt="4" custLinFactNeighborX="921" custLinFactNeighborY="1060">
        <dgm:presLayoutVars>
          <dgm:chMax val="1"/>
          <dgm:bulletEnabled val="1"/>
        </dgm:presLayoutVars>
      </dgm:prSet>
      <dgm:spPr/>
    </dgm:pt>
    <dgm:pt modelId="{1570A979-F72E-4AE6-BF26-2ED7CB2775CF}" type="pres">
      <dgm:prSet presAssocID="{F92BCDF2-75EF-4F6B-B714-4245A60A079E}" presName="levelTx" presStyleLbl="revTx" presStyleIdx="0" presStyleCnt="0">
        <dgm:presLayoutVars>
          <dgm:chMax val="1"/>
          <dgm:bulletEnabled val="1"/>
        </dgm:presLayoutVars>
      </dgm:prSet>
      <dgm:spPr/>
    </dgm:pt>
    <dgm:pt modelId="{5F0C835D-8350-4C7E-901F-3B05D019CB62}" type="pres">
      <dgm:prSet presAssocID="{9EBDAA04-DAB1-413E-9492-A1B4DBDF7C33}" presName="Name8" presStyleCnt="0"/>
      <dgm:spPr/>
    </dgm:pt>
    <dgm:pt modelId="{245F5214-261C-4BB8-AA97-5BF41893892C}" type="pres">
      <dgm:prSet presAssocID="{9EBDAA04-DAB1-413E-9492-A1B4DBDF7C33}" presName="level" presStyleLbl="node1" presStyleIdx="1" presStyleCnt="4">
        <dgm:presLayoutVars>
          <dgm:chMax val="1"/>
          <dgm:bulletEnabled val="1"/>
        </dgm:presLayoutVars>
      </dgm:prSet>
      <dgm:spPr/>
    </dgm:pt>
    <dgm:pt modelId="{03D9C921-6B37-413D-97A9-D69ACB014DA4}" type="pres">
      <dgm:prSet presAssocID="{9EBDAA04-DAB1-413E-9492-A1B4DBDF7C33}" presName="levelTx" presStyleLbl="revTx" presStyleIdx="0" presStyleCnt="0">
        <dgm:presLayoutVars>
          <dgm:chMax val="1"/>
          <dgm:bulletEnabled val="1"/>
        </dgm:presLayoutVars>
      </dgm:prSet>
      <dgm:spPr/>
    </dgm:pt>
    <dgm:pt modelId="{567ACAF8-B3CD-4CF1-BC7D-FF40AD310EF2}" type="pres">
      <dgm:prSet presAssocID="{733666EB-489F-4BE4-A0C5-702A40C0F677}" presName="Name8" presStyleCnt="0"/>
      <dgm:spPr/>
    </dgm:pt>
    <dgm:pt modelId="{BA157B92-C282-4B21-BFB0-48B562293310}" type="pres">
      <dgm:prSet presAssocID="{733666EB-489F-4BE4-A0C5-702A40C0F677}" presName="level" presStyleLbl="node1" presStyleIdx="2" presStyleCnt="4" custLinFactNeighborX="255" custLinFactNeighborY="-3247">
        <dgm:presLayoutVars>
          <dgm:chMax val="1"/>
          <dgm:bulletEnabled val="1"/>
        </dgm:presLayoutVars>
      </dgm:prSet>
      <dgm:spPr/>
    </dgm:pt>
    <dgm:pt modelId="{64D3E02F-0457-4DD2-B793-BB243B4A4688}" type="pres">
      <dgm:prSet presAssocID="{733666EB-489F-4BE4-A0C5-702A40C0F677}" presName="levelTx" presStyleLbl="revTx" presStyleIdx="0" presStyleCnt="0">
        <dgm:presLayoutVars>
          <dgm:chMax val="1"/>
          <dgm:bulletEnabled val="1"/>
        </dgm:presLayoutVars>
      </dgm:prSet>
      <dgm:spPr/>
    </dgm:pt>
    <dgm:pt modelId="{07013294-F8D9-48B9-8814-F63016F72FB0}" type="pres">
      <dgm:prSet presAssocID="{31CAC2B0-15B5-442F-AF65-F3E27DE0F9E0}" presName="Name8" presStyleCnt="0"/>
      <dgm:spPr/>
    </dgm:pt>
    <dgm:pt modelId="{6CAD40D6-EDE1-4840-9BF3-DE53D606A2FE}" type="pres">
      <dgm:prSet presAssocID="{31CAC2B0-15B5-442F-AF65-F3E27DE0F9E0}" presName="level" presStyleLbl="node1" presStyleIdx="3" presStyleCnt="4" custLinFactNeighborX="230" custLinFactNeighborY="-3181">
        <dgm:presLayoutVars>
          <dgm:chMax val="1"/>
          <dgm:bulletEnabled val="1"/>
        </dgm:presLayoutVars>
      </dgm:prSet>
      <dgm:spPr/>
    </dgm:pt>
    <dgm:pt modelId="{9D61483F-85C3-4CA6-ABD1-A5C7CF1BF886}" type="pres">
      <dgm:prSet presAssocID="{31CAC2B0-15B5-442F-AF65-F3E27DE0F9E0}" presName="levelTx" presStyleLbl="revTx" presStyleIdx="0" presStyleCnt="0">
        <dgm:presLayoutVars>
          <dgm:chMax val="1"/>
          <dgm:bulletEnabled val="1"/>
        </dgm:presLayoutVars>
      </dgm:prSet>
      <dgm:spPr/>
    </dgm:pt>
  </dgm:ptLst>
  <dgm:cxnLst>
    <dgm:cxn modelId="{16B6C109-832B-4110-BB0C-29D23C8695DB}" srcId="{599ABABE-DB11-4539-A061-6FACA6440006}" destId="{31CAC2B0-15B5-442F-AF65-F3E27DE0F9E0}" srcOrd="3" destOrd="0" parTransId="{92A79F3F-2E80-44BB-8573-696DB7BF0F48}" sibTransId="{0E692377-9FF0-45EA-8566-8CFE044DC9AB}"/>
    <dgm:cxn modelId="{B8FDF831-68FE-40C6-B10C-F2304CEED480}" type="presOf" srcId="{F92BCDF2-75EF-4F6B-B714-4245A60A079E}" destId="{1D929588-FE62-4CD5-89D1-955E80FB111D}" srcOrd="0" destOrd="0" presId="urn:microsoft.com/office/officeart/2005/8/layout/pyramid1"/>
    <dgm:cxn modelId="{F7772E5B-D34F-47A2-A3A8-9B5228BEAC16}" srcId="{599ABABE-DB11-4539-A061-6FACA6440006}" destId="{9EBDAA04-DAB1-413E-9492-A1B4DBDF7C33}" srcOrd="1" destOrd="0" parTransId="{F67C188C-0883-4D33-AFF6-36C86D349689}" sibTransId="{8A8E624B-64E2-4A77-89BC-385360C4B37F}"/>
    <dgm:cxn modelId="{8E524A5D-AFC7-4A47-A6ED-8CEF0C031ED0}" type="presOf" srcId="{9EBDAA04-DAB1-413E-9492-A1B4DBDF7C33}" destId="{245F5214-261C-4BB8-AA97-5BF41893892C}" srcOrd="0" destOrd="0" presId="urn:microsoft.com/office/officeart/2005/8/layout/pyramid1"/>
    <dgm:cxn modelId="{0E5DCC4F-3B4B-468B-BEF7-15A5B0BFD7E7}" type="presOf" srcId="{9EBDAA04-DAB1-413E-9492-A1B4DBDF7C33}" destId="{03D9C921-6B37-413D-97A9-D69ACB014DA4}" srcOrd="1" destOrd="0" presId="urn:microsoft.com/office/officeart/2005/8/layout/pyramid1"/>
    <dgm:cxn modelId="{52E9CD70-0863-428A-8E7C-EEE0A1AE8B0A}" type="presOf" srcId="{599ABABE-DB11-4539-A061-6FACA6440006}" destId="{FDB68760-E5CF-46B8-911D-655390FA3C13}" srcOrd="0" destOrd="0" presId="urn:microsoft.com/office/officeart/2005/8/layout/pyramid1"/>
    <dgm:cxn modelId="{81A76D56-5677-4BAB-8F56-8663AA05F443}" type="presOf" srcId="{F92BCDF2-75EF-4F6B-B714-4245A60A079E}" destId="{1570A979-F72E-4AE6-BF26-2ED7CB2775CF}" srcOrd="1" destOrd="0" presId="urn:microsoft.com/office/officeart/2005/8/layout/pyramid1"/>
    <dgm:cxn modelId="{561D627C-1691-4F6E-98CB-1D4C9902D065}" type="presOf" srcId="{31CAC2B0-15B5-442F-AF65-F3E27DE0F9E0}" destId="{6CAD40D6-EDE1-4840-9BF3-DE53D606A2FE}" srcOrd="0" destOrd="0" presId="urn:microsoft.com/office/officeart/2005/8/layout/pyramid1"/>
    <dgm:cxn modelId="{C343D288-EE99-4226-98F7-0CA466FEEB68}" type="presOf" srcId="{31CAC2B0-15B5-442F-AF65-F3E27DE0F9E0}" destId="{9D61483F-85C3-4CA6-ABD1-A5C7CF1BF886}" srcOrd="1" destOrd="0" presId="urn:microsoft.com/office/officeart/2005/8/layout/pyramid1"/>
    <dgm:cxn modelId="{AFAA1892-51E9-4038-9BA6-D56E4FE89834}" type="presOf" srcId="{733666EB-489F-4BE4-A0C5-702A40C0F677}" destId="{BA157B92-C282-4B21-BFB0-48B562293310}" srcOrd="0" destOrd="0" presId="urn:microsoft.com/office/officeart/2005/8/layout/pyramid1"/>
    <dgm:cxn modelId="{4BB985C3-BA7E-47CD-B633-4A03606F152F}" srcId="{599ABABE-DB11-4539-A061-6FACA6440006}" destId="{733666EB-489F-4BE4-A0C5-702A40C0F677}" srcOrd="2" destOrd="0" parTransId="{DEEE6338-C649-4DC3-BFCB-FA9107A0A23F}" sibTransId="{A85186F6-4BB9-406B-8D13-986F6A1CCC6F}"/>
    <dgm:cxn modelId="{14F30DEC-1D26-4168-931B-4CD4A106D8CC}" type="presOf" srcId="{733666EB-489F-4BE4-A0C5-702A40C0F677}" destId="{64D3E02F-0457-4DD2-B793-BB243B4A4688}" srcOrd="1" destOrd="0" presId="urn:microsoft.com/office/officeart/2005/8/layout/pyramid1"/>
    <dgm:cxn modelId="{EAE878F5-7D19-4712-82AC-3FE4A0615A15}" srcId="{599ABABE-DB11-4539-A061-6FACA6440006}" destId="{F92BCDF2-75EF-4F6B-B714-4245A60A079E}" srcOrd="0" destOrd="0" parTransId="{8D55696B-69AB-4AE0-BF65-CCAB4F76A9DA}" sibTransId="{31BFD3E9-21C9-45D5-962F-A7537E25FE17}"/>
    <dgm:cxn modelId="{1606D782-EF52-4F9B-BC05-DFF9AEBF4DE5}" type="presParOf" srcId="{FDB68760-E5CF-46B8-911D-655390FA3C13}" destId="{13EE80DC-7E96-4086-8E86-3ADFD0F597B1}" srcOrd="0" destOrd="0" presId="urn:microsoft.com/office/officeart/2005/8/layout/pyramid1"/>
    <dgm:cxn modelId="{E9F0E153-0099-4289-84D3-3194FAC1DA22}" type="presParOf" srcId="{13EE80DC-7E96-4086-8E86-3ADFD0F597B1}" destId="{1D929588-FE62-4CD5-89D1-955E80FB111D}" srcOrd="0" destOrd="0" presId="urn:microsoft.com/office/officeart/2005/8/layout/pyramid1"/>
    <dgm:cxn modelId="{C56EEE86-7571-4164-8900-F87079419D37}" type="presParOf" srcId="{13EE80DC-7E96-4086-8E86-3ADFD0F597B1}" destId="{1570A979-F72E-4AE6-BF26-2ED7CB2775CF}" srcOrd="1" destOrd="0" presId="urn:microsoft.com/office/officeart/2005/8/layout/pyramid1"/>
    <dgm:cxn modelId="{2DA2CA6D-0D1C-4C35-8237-906D4CCB8B20}" type="presParOf" srcId="{FDB68760-E5CF-46B8-911D-655390FA3C13}" destId="{5F0C835D-8350-4C7E-901F-3B05D019CB62}" srcOrd="1" destOrd="0" presId="urn:microsoft.com/office/officeart/2005/8/layout/pyramid1"/>
    <dgm:cxn modelId="{01696A81-443D-4B7F-A918-E125F7475C83}" type="presParOf" srcId="{5F0C835D-8350-4C7E-901F-3B05D019CB62}" destId="{245F5214-261C-4BB8-AA97-5BF41893892C}" srcOrd="0" destOrd="0" presId="urn:microsoft.com/office/officeart/2005/8/layout/pyramid1"/>
    <dgm:cxn modelId="{F21C0FFF-B887-417B-B479-2B6CDD3EC4C8}" type="presParOf" srcId="{5F0C835D-8350-4C7E-901F-3B05D019CB62}" destId="{03D9C921-6B37-413D-97A9-D69ACB014DA4}" srcOrd="1" destOrd="0" presId="urn:microsoft.com/office/officeart/2005/8/layout/pyramid1"/>
    <dgm:cxn modelId="{8889F1DC-B85E-4F25-8037-752CE82FA0E7}" type="presParOf" srcId="{FDB68760-E5CF-46B8-911D-655390FA3C13}" destId="{567ACAF8-B3CD-4CF1-BC7D-FF40AD310EF2}" srcOrd="2" destOrd="0" presId="urn:microsoft.com/office/officeart/2005/8/layout/pyramid1"/>
    <dgm:cxn modelId="{A0C9C462-2776-447C-9CEE-D58BF4A7E0D5}" type="presParOf" srcId="{567ACAF8-B3CD-4CF1-BC7D-FF40AD310EF2}" destId="{BA157B92-C282-4B21-BFB0-48B562293310}" srcOrd="0" destOrd="0" presId="urn:microsoft.com/office/officeart/2005/8/layout/pyramid1"/>
    <dgm:cxn modelId="{1D82F735-35B5-42EE-A8E5-9EA348C119FA}" type="presParOf" srcId="{567ACAF8-B3CD-4CF1-BC7D-FF40AD310EF2}" destId="{64D3E02F-0457-4DD2-B793-BB243B4A4688}" srcOrd="1" destOrd="0" presId="urn:microsoft.com/office/officeart/2005/8/layout/pyramid1"/>
    <dgm:cxn modelId="{99AE2924-F31C-4B7C-B5F9-03593B83F8A1}" type="presParOf" srcId="{FDB68760-E5CF-46B8-911D-655390FA3C13}" destId="{07013294-F8D9-48B9-8814-F63016F72FB0}" srcOrd="3" destOrd="0" presId="urn:microsoft.com/office/officeart/2005/8/layout/pyramid1"/>
    <dgm:cxn modelId="{CF0CA64D-6618-40C6-8853-9BB3F46F44C0}" type="presParOf" srcId="{07013294-F8D9-48B9-8814-F63016F72FB0}" destId="{6CAD40D6-EDE1-4840-9BF3-DE53D606A2FE}" srcOrd="0" destOrd="0" presId="urn:microsoft.com/office/officeart/2005/8/layout/pyramid1"/>
    <dgm:cxn modelId="{C0C94507-B052-4275-85A5-20E7D0891E16}" type="presParOf" srcId="{07013294-F8D9-48B9-8814-F63016F72FB0}" destId="{9D61483F-85C3-4CA6-ABD1-A5C7CF1BF886}"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3F2A631-E0F9-41E7-A021-4074225B38AB}" type="doc">
      <dgm:prSet loTypeId="urn:microsoft.com/office/officeart/2005/8/layout/pyramid1" loCatId="pyramid" qsTypeId="urn:microsoft.com/office/officeart/2005/8/quickstyle/simple1" qsCatId="simple" csTypeId="urn:microsoft.com/office/officeart/2005/8/colors/colorful2" csCatId="colorful" phldr="1"/>
      <dgm:spPr/>
      <dgm:t>
        <a:bodyPr/>
        <a:lstStyle/>
        <a:p>
          <a:endParaRPr lang="de-DE"/>
        </a:p>
      </dgm:t>
    </dgm:pt>
    <dgm:pt modelId="{8F60F7C9-FDE4-4AA2-BDC8-8454CBFE3ADF}">
      <dgm:prSet phldrT="[Text]" custT="1"/>
      <dgm:spPr/>
      <dgm:t>
        <a:bodyPr/>
        <a:lstStyle/>
        <a:p>
          <a:endParaRPr lang="de-DE" sz="2400" dirty="0"/>
        </a:p>
        <a:p>
          <a:r>
            <a:rPr lang="de-DE" sz="2400" b="1" dirty="0"/>
            <a:t>EU</a:t>
          </a:r>
        </a:p>
      </dgm:t>
    </dgm:pt>
    <dgm:pt modelId="{8D7C016C-A5F0-438E-A1ED-7518CF5BD980}" type="parTrans" cxnId="{B753188D-8489-4FCC-B549-E2CB8F72DFC8}">
      <dgm:prSet/>
      <dgm:spPr/>
      <dgm:t>
        <a:bodyPr/>
        <a:lstStyle/>
        <a:p>
          <a:endParaRPr lang="de-DE"/>
        </a:p>
      </dgm:t>
    </dgm:pt>
    <dgm:pt modelId="{1883A682-4B63-4061-87DE-D151051E780D}" type="sibTrans" cxnId="{B753188D-8489-4FCC-B549-E2CB8F72DFC8}">
      <dgm:prSet/>
      <dgm:spPr/>
      <dgm:t>
        <a:bodyPr/>
        <a:lstStyle/>
        <a:p>
          <a:endParaRPr lang="de-DE"/>
        </a:p>
      </dgm:t>
    </dgm:pt>
    <dgm:pt modelId="{2C4AB118-745D-4F20-A8A3-F2B91E161ABC}">
      <dgm:prSet phldrT="[Text]"/>
      <dgm:spPr/>
      <dgm:t>
        <a:bodyPr/>
        <a:lstStyle/>
        <a:p>
          <a:r>
            <a:rPr lang="de-DE" dirty="0"/>
            <a:t>Bund</a:t>
          </a:r>
        </a:p>
      </dgm:t>
    </dgm:pt>
    <dgm:pt modelId="{4270004A-8414-475A-AFF3-601FCCD323F7}" type="parTrans" cxnId="{F7CFF29C-F7F8-45AA-A170-A381DE032785}">
      <dgm:prSet/>
      <dgm:spPr/>
      <dgm:t>
        <a:bodyPr/>
        <a:lstStyle/>
        <a:p>
          <a:endParaRPr lang="de-DE"/>
        </a:p>
      </dgm:t>
    </dgm:pt>
    <dgm:pt modelId="{1A44855B-B252-4A32-A4A1-D83D3DD1B5D8}" type="sibTrans" cxnId="{F7CFF29C-F7F8-45AA-A170-A381DE032785}">
      <dgm:prSet/>
      <dgm:spPr/>
      <dgm:t>
        <a:bodyPr/>
        <a:lstStyle/>
        <a:p>
          <a:endParaRPr lang="de-DE"/>
        </a:p>
      </dgm:t>
    </dgm:pt>
    <dgm:pt modelId="{E78D8A5B-DEDF-4740-9C51-A883F417CF41}">
      <dgm:prSet phldrT="[Text]"/>
      <dgm:spPr/>
      <dgm:t>
        <a:bodyPr/>
        <a:lstStyle/>
        <a:p>
          <a:r>
            <a:rPr lang="de-DE" dirty="0"/>
            <a:t>Land</a:t>
          </a:r>
        </a:p>
      </dgm:t>
    </dgm:pt>
    <dgm:pt modelId="{6E9CDECD-E121-4E1E-A90A-471AEDD6E7F4}" type="parTrans" cxnId="{922CCEB3-DC28-4E76-B1B3-AB5C9FEE697B}">
      <dgm:prSet/>
      <dgm:spPr/>
      <dgm:t>
        <a:bodyPr/>
        <a:lstStyle/>
        <a:p>
          <a:endParaRPr lang="de-DE"/>
        </a:p>
      </dgm:t>
    </dgm:pt>
    <dgm:pt modelId="{2E10E9E7-0CB7-41A0-8157-1575FD9400C4}" type="sibTrans" cxnId="{922CCEB3-DC28-4E76-B1B3-AB5C9FEE697B}">
      <dgm:prSet/>
      <dgm:spPr/>
      <dgm:t>
        <a:bodyPr/>
        <a:lstStyle/>
        <a:p>
          <a:endParaRPr lang="de-DE"/>
        </a:p>
      </dgm:t>
    </dgm:pt>
    <dgm:pt modelId="{F0A7117E-48F5-466C-BBDC-59BC64773019}">
      <dgm:prSet/>
      <dgm:spPr/>
      <dgm:t>
        <a:bodyPr/>
        <a:lstStyle/>
        <a:p>
          <a:r>
            <a:rPr lang="de-DE" dirty="0">
              <a:solidFill>
                <a:schemeClr val="bg1"/>
              </a:solidFill>
            </a:rPr>
            <a:t>Nat. VO</a:t>
          </a:r>
        </a:p>
      </dgm:t>
    </dgm:pt>
    <dgm:pt modelId="{D4328484-A7C8-45F8-A5F5-F4677DC3A089}" type="parTrans" cxnId="{217CB22C-3B2E-4842-99F4-65652AB954A1}">
      <dgm:prSet/>
      <dgm:spPr/>
      <dgm:t>
        <a:bodyPr/>
        <a:lstStyle/>
        <a:p>
          <a:endParaRPr lang="de-DE"/>
        </a:p>
      </dgm:t>
    </dgm:pt>
    <dgm:pt modelId="{1E630415-C09D-45BE-9800-DEBD6F27FE86}" type="sibTrans" cxnId="{217CB22C-3B2E-4842-99F4-65652AB954A1}">
      <dgm:prSet/>
      <dgm:spPr/>
      <dgm:t>
        <a:bodyPr/>
        <a:lstStyle/>
        <a:p>
          <a:endParaRPr lang="de-DE"/>
        </a:p>
      </dgm:t>
    </dgm:pt>
    <dgm:pt modelId="{18789A6C-2CDB-4A62-B467-814A97020900}" type="pres">
      <dgm:prSet presAssocID="{93F2A631-E0F9-41E7-A021-4074225B38AB}" presName="Name0" presStyleCnt="0">
        <dgm:presLayoutVars>
          <dgm:dir/>
          <dgm:animLvl val="lvl"/>
          <dgm:resizeHandles val="exact"/>
        </dgm:presLayoutVars>
      </dgm:prSet>
      <dgm:spPr/>
    </dgm:pt>
    <dgm:pt modelId="{4A34921A-F4D2-4BC0-9898-967B5843083E}" type="pres">
      <dgm:prSet presAssocID="{8F60F7C9-FDE4-4AA2-BDC8-8454CBFE3ADF}" presName="Name8" presStyleCnt="0"/>
      <dgm:spPr/>
    </dgm:pt>
    <dgm:pt modelId="{19702D14-8D58-4573-8369-F9A8BBF556F3}" type="pres">
      <dgm:prSet presAssocID="{8F60F7C9-FDE4-4AA2-BDC8-8454CBFE3ADF}" presName="level" presStyleLbl="node1" presStyleIdx="0" presStyleCnt="4">
        <dgm:presLayoutVars>
          <dgm:chMax val="1"/>
          <dgm:bulletEnabled val="1"/>
        </dgm:presLayoutVars>
      </dgm:prSet>
      <dgm:spPr/>
    </dgm:pt>
    <dgm:pt modelId="{F9B35006-F4DA-46B1-8107-040D6B57768E}" type="pres">
      <dgm:prSet presAssocID="{8F60F7C9-FDE4-4AA2-BDC8-8454CBFE3ADF}" presName="levelTx" presStyleLbl="revTx" presStyleIdx="0" presStyleCnt="0">
        <dgm:presLayoutVars>
          <dgm:chMax val="1"/>
          <dgm:bulletEnabled val="1"/>
        </dgm:presLayoutVars>
      </dgm:prSet>
      <dgm:spPr/>
    </dgm:pt>
    <dgm:pt modelId="{06FCB15B-10B9-4748-AF72-96B12F541F75}" type="pres">
      <dgm:prSet presAssocID="{2C4AB118-745D-4F20-A8A3-F2B91E161ABC}" presName="Name8" presStyleCnt="0"/>
      <dgm:spPr/>
    </dgm:pt>
    <dgm:pt modelId="{76A0203F-26F4-470F-AC09-C6329BD4364B}" type="pres">
      <dgm:prSet presAssocID="{2C4AB118-745D-4F20-A8A3-F2B91E161ABC}" presName="level" presStyleLbl="node1" presStyleIdx="1" presStyleCnt="4">
        <dgm:presLayoutVars>
          <dgm:chMax val="1"/>
          <dgm:bulletEnabled val="1"/>
        </dgm:presLayoutVars>
      </dgm:prSet>
      <dgm:spPr/>
    </dgm:pt>
    <dgm:pt modelId="{A8D95BCE-72C4-4071-8AC9-9CEAF542C6F4}" type="pres">
      <dgm:prSet presAssocID="{2C4AB118-745D-4F20-A8A3-F2B91E161ABC}" presName="levelTx" presStyleLbl="revTx" presStyleIdx="0" presStyleCnt="0">
        <dgm:presLayoutVars>
          <dgm:chMax val="1"/>
          <dgm:bulletEnabled val="1"/>
        </dgm:presLayoutVars>
      </dgm:prSet>
      <dgm:spPr/>
    </dgm:pt>
    <dgm:pt modelId="{7707F950-8EE2-4182-AE6B-7D32ADFDC903}" type="pres">
      <dgm:prSet presAssocID="{E78D8A5B-DEDF-4740-9C51-A883F417CF41}" presName="Name8" presStyleCnt="0"/>
      <dgm:spPr/>
    </dgm:pt>
    <dgm:pt modelId="{14B83E3D-AA55-490B-82AD-085687F532A2}" type="pres">
      <dgm:prSet presAssocID="{E78D8A5B-DEDF-4740-9C51-A883F417CF41}" presName="level" presStyleLbl="node1" presStyleIdx="2" presStyleCnt="4">
        <dgm:presLayoutVars>
          <dgm:chMax val="1"/>
          <dgm:bulletEnabled val="1"/>
        </dgm:presLayoutVars>
      </dgm:prSet>
      <dgm:spPr/>
    </dgm:pt>
    <dgm:pt modelId="{4EEC5C98-C5B9-4138-838D-816F4535BB5D}" type="pres">
      <dgm:prSet presAssocID="{E78D8A5B-DEDF-4740-9C51-A883F417CF41}" presName="levelTx" presStyleLbl="revTx" presStyleIdx="0" presStyleCnt="0">
        <dgm:presLayoutVars>
          <dgm:chMax val="1"/>
          <dgm:bulletEnabled val="1"/>
        </dgm:presLayoutVars>
      </dgm:prSet>
      <dgm:spPr/>
    </dgm:pt>
    <dgm:pt modelId="{51B1F2A2-6264-417B-8FB8-AB390624A424}" type="pres">
      <dgm:prSet presAssocID="{F0A7117E-48F5-466C-BBDC-59BC64773019}" presName="Name8" presStyleCnt="0"/>
      <dgm:spPr/>
    </dgm:pt>
    <dgm:pt modelId="{21731531-C7BD-4037-86BF-6DBECCDB7AE3}" type="pres">
      <dgm:prSet presAssocID="{F0A7117E-48F5-466C-BBDC-59BC64773019}" presName="level" presStyleLbl="node1" presStyleIdx="3" presStyleCnt="4">
        <dgm:presLayoutVars>
          <dgm:chMax val="1"/>
          <dgm:bulletEnabled val="1"/>
        </dgm:presLayoutVars>
      </dgm:prSet>
      <dgm:spPr/>
    </dgm:pt>
    <dgm:pt modelId="{DE5E2354-0EEB-4C04-946A-DBFAF300E170}" type="pres">
      <dgm:prSet presAssocID="{F0A7117E-48F5-466C-BBDC-59BC64773019}" presName="levelTx" presStyleLbl="revTx" presStyleIdx="0" presStyleCnt="0">
        <dgm:presLayoutVars>
          <dgm:chMax val="1"/>
          <dgm:bulletEnabled val="1"/>
        </dgm:presLayoutVars>
      </dgm:prSet>
      <dgm:spPr/>
    </dgm:pt>
  </dgm:ptLst>
  <dgm:cxnLst>
    <dgm:cxn modelId="{3812C905-957B-4641-AB6F-9FEF5B6C76E2}" type="presOf" srcId="{8F60F7C9-FDE4-4AA2-BDC8-8454CBFE3ADF}" destId="{F9B35006-F4DA-46B1-8107-040D6B57768E}" srcOrd="1" destOrd="0" presId="urn:microsoft.com/office/officeart/2005/8/layout/pyramid1"/>
    <dgm:cxn modelId="{6094050F-5C0D-4AD5-80D6-F99FE166AD3E}" type="presOf" srcId="{2C4AB118-745D-4F20-A8A3-F2B91E161ABC}" destId="{76A0203F-26F4-470F-AC09-C6329BD4364B}" srcOrd="0" destOrd="0" presId="urn:microsoft.com/office/officeart/2005/8/layout/pyramid1"/>
    <dgm:cxn modelId="{95851611-9E48-4CB0-A344-473D42C492A7}" type="presOf" srcId="{8F60F7C9-FDE4-4AA2-BDC8-8454CBFE3ADF}" destId="{19702D14-8D58-4573-8369-F9A8BBF556F3}" srcOrd="0" destOrd="0" presId="urn:microsoft.com/office/officeart/2005/8/layout/pyramid1"/>
    <dgm:cxn modelId="{217CB22C-3B2E-4842-99F4-65652AB954A1}" srcId="{93F2A631-E0F9-41E7-A021-4074225B38AB}" destId="{F0A7117E-48F5-466C-BBDC-59BC64773019}" srcOrd="3" destOrd="0" parTransId="{D4328484-A7C8-45F8-A5F5-F4677DC3A089}" sibTransId="{1E630415-C09D-45BE-9800-DEBD6F27FE86}"/>
    <dgm:cxn modelId="{F00F7C34-B5AF-43A2-9FA1-DB3C0CA505A7}" type="presOf" srcId="{2C4AB118-745D-4F20-A8A3-F2B91E161ABC}" destId="{A8D95BCE-72C4-4071-8AC9-9CEAF542C6F4}" srcOrd="1" destOrd="0" presId="urn:microsoft.com/office/officeart/2005/8/layout/pyramid1"/>
    <dgm:cxn modelId="{947D1941-F7DF-4D86-8F20-1BA63190A81C}" type="presOf" srcId="{E78D8A5B-DEDF-4740-9C51-A883F417CF41}" destId="{4EEC5C98-C5B9-4138-838D-816F4535BB5D}" srcOrd="1" destOrd="0" presId="urn:microsoft.com/office/officeart/2005/8/layout/pyramid1"/>
    <dgm:cxn modelId="{A72DDB7D-D3BF-4331-AB95-6B04F05CA89D}" type="presOf" srcId="{93F2A631-E0F9-41E7-A021-4074225B38AB}" destId="{18789A6C-2CDB-4A62-B467-814A97020900}" srcOrd="0" destOrd="0" presId="urn:microsoft.com/office/officeart/2005/8/layout/pyramid1"/>
    <dgm:cxn modelId="{B753188D-8489-4FCC-B549-E2CB8F72DFC8}" srcId="{93F2A631-E0F9-41E7-A021-4074225B38AB}" destId="{8F60F7C9-FDE4-4AA2-BDC8-8454CBFE3ADF}" srcOrd="0" destOrd="0" parTransId="{8D7C016C-A5F0-438E-A1ED-7518CF5BD980}" sibTransId="{1883A682-4B63-4061-87DE-D151051E780D}"/>
    <dgm:cxn modelId="{F7CFF29C-F7F8-45AA-A170-A381DE032785}" srcId="{93F2A631-E0F9-41E7-A021-4074225B38AB}" destId="{2C4AB118-745D-4F20-A8A3-F2B91E161ABC}" srcOrd="1" destOrd="0" parTransId="{4270004A-8414-475A-AFF3-601FCCD323F7}" sibTransId="{1A44855B-B252-4A32-A4A1-D83D3DD1B5D8}"/>
    <dgm:cxn modelId="{922CCEB3-DC28-4E76-B1B3-AB5C9FEE697B}" srcId="{93F2A631-E0F9-41E7-A021-4074225B38AB}" destId="{E78D8A5B-DEDF-4740-9C51-A883F417CF41}" srcOrd="2" destOrd="0" parTransId="{6E9CDECD-E121-4E1E-A90A-471AEDD6E7F4}" sibTransId="{2E10E9E7-0CB7-41A0-8157-1575FD9400C4}"/>
    <dgm:cxn modelId="{F10161C3-9633-4428-9CBB-E53DB55401A5}" type="presOf" srcId="{E78D8A5B-DEDF-4740-9C51-A883F417CF41}" destId="{14B83E3D-AA55-490B-82AD-085687F532A2}" srcOrd="0" destOrd="0" presId="urn:microsoft.com/office/officeart/2005/8/layout/pyramid1"/>
    <dgm:cxn modelId="{AD8335CA-C990-48F1-8B1D-0C960CF3731C}" type="presOf" srcId="{F0A7117E-48F5-466C-BBDC-59BC64773019}" destId="{DE5E2354-0EEB-4C04-946A-DBFAF300E170}" srcOrd="1" destOrd="0" presId="urn:microsoft.com/office/officeart/2005/8/layout/pyramid1"/>
    <dgm:cxn modelId="{E8DCB8E6-618A-46EA-9341-328DC21DCD6F}" type="presOf" srcId="{F0A7117E-48F5-466C-BBDC-59BC64773019}" destId="{21731531-C7BD-4037-86BF-6DBECCDB7AE3}" srcOrd="0" destOrd="0" presId="urn:microsoft.com/office/officeart/2005/8/layout/pyramid1"/>
    <dgm:cxn modelId="{D4AB440B-CC14-48D3-9934-8E661CFE153B}" type="presParOf" srcId="{18789A6C-2CDB-4A62-B467-814A97020900}" destId="{4A34921A-F4D2-4BC0-9898-967B5843083E}" srcOrd="0" destOrd="0" presId="urn:microsoft.com/office/officeart/2005/8/layout/pyramid1"/>
    <dgm:cxn modelId="{12A6EA9A-A7A6-4D54-B399-F955EDD3B53A}" type="presParOf" srcId="{4A34921A-F4D2-4BC0-9898-967B5843083E}" destId="{19702D14-8D58-4573-8369-F9A8BBF556F3}" srcOrd="0" destOrd="0" presId="urn:microsoft.com/office/officeart/2005/8/layout/pyramid1"/>
    <dgm:cxn modelId="{2673C6EB-663B-4D06-8599-BB7DB6394333}" type="presParOf" srcId="{4A34921A-F4D2-4BC0-9898-967B5843083E}" destId="{F9B35006-F4DA-46B1-8107-040D6B57768E}" srcOrd="1" destOrd="0" presId="urn:microsoft.com/office/officeart/2005/8/layout/pyramid1"/>
    <dgm:cxn modelId="{DA3B0457-1403-4D82-80AA-DA14FB6E532C}" type="presParOf" srcId="{18789A6C-2CDB-4A62-B467-814A97020900}" destId="{06FCB15B-10B9-4748-AF72-96B12F541F75}" srcOrd="1" destOrd="0" presId="urn:microsoft.com/office/officeart/2005/8/layout/pyramid1"/>
    <dgm:cxn modelId="{B252F31D-7E71-4EC8-8551-AE1788A623EE}" type="presParOf" srcId="{06FCB15B-10B9-4748-AF72-96B12F541F75}" destId="{76A0203F-26F4-470F-AC09-C6329BD4364B}" srcOrd="0" destOrd="0" presId="urn:microsoft.com/office/officeart/2005/8/layout/pyramid1"/>
    <dgm:cxn modelId="{AEA5D06B-4765-4249-BB49-8660053A0C33}" type="presParOf" srcId="{06FCB15B-10B9-4748-AF72-96B12F541F75}" destId="{A8D95BCE-72C4-4071-8AC9-9CEAF542C6F4}" srcOrd="1" destOrd="0" presId="urn:microsoft.com/office/officeart/2005/8/layout/pyramid1"/>
    <dgm:cxn modelId="{F6029529-2D37-4F8A-8012-432132FC7730}" type="presParOf" srcId="{18789A6C-2CDB-4A62-B467-814A97020900}" destId="{7707F950-8EE2-4182-AE6B-7D32ADFDC903}" srcOrd="2" destOrd="0" presId="urn:microsoft.com/office/officeart/2005/8/layout/pyramid1"/>
    <dgm:cxn modelId="{12CE9AD4-8D78-4E91-BF31-ED03636B7C2C}" type="presParOf" srcId="{7707F950-8EE2-4182-AE6B-7D32ADFDC903}" destId="{14B83E3D-AA55-490B-82AD-085687F532A2}" srcOrd="0" destOrd="0" presId="urn:microsoft.com/office/officeart/2005/8/layout/pyramid1"/>
    <dgm:cxn modelId="{BF5ECE66-A3EB-4FC5-BCBF-C2DF72FE7242}" type="presParOf" srcId="{7707F950-8EE2-4182-AE6B-7D32ADFDC903}" destId="{4EEC5C98-C5B9-4138-838D-816F4535BB5D}" srcOrd="1" destOrd="0" presId="urn:microsoft.com/office/officeart/2005/8/layout/pyramid1"/>
    <dgm:cxn modelId="{B9EFD19B-F615-491B-AF08-1FC9D11D1568}" type="presParOf" srcId="{18789A6C-2CDB-4A62-B467-814A97020900}" destId="{51B1F2A2-6264-417B-8FB8-AB390624A424}" srcOrd="3" destOrd="0" presId="urn:microsoft.com/office/officeart/2005/8/layout/pyramid1"/>
    <dgm:cxn modelId="{DA79F9A8-AAFF-4684-AFFF-3B59968F49A6}" type="presParOf" srcId="{51B1F2A2-6264-417B-8FB8-AB390624A424}" destId="{21731531-C7BD-4037-86BF-6DBECCDB7AE3}" srcOrd="0" destOrd="0" presId="urn:microsoft.com/office/officeart/2005/8/layout/pyramid1"/>
    <dgm:cxn modelId="{48EAE26D-4ADB-41D8-A3A3-0304DA98F14E}" type="presParOf" srcId="{51B1F2A2-6264-417B-8FB8-AB390624A424}" destId="{DE5E2354-0EEB-4C04-946A-DBFAF300E170}" srcOrd="1" destOrd="0" presId="urn:microsoft.com/office/officeart/2005/8/layout/pyramid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929588-FE62-4CD5-89D1-955E80FB111D}">
      <dsp:nvSpPr>
        <dsp:cNvPr id="0" name=""/>
        <dsp:cNvSpPr/>
      </dsp:nvSpPr>
      <dsp:spPr>
        <a:xfrm>
          <a:off x="1593916" y="9725"/>
          <a:ext cx="1056126" cy="917468"/>
        </a:xfrm>
        <a:prstGeom prst="trapezoid">
          <a:avLst>
            <a:gd name="adj" fmla="val 57557"/>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br>
            <a:rPr lang="de-DE" sz="2400" kern="1200" dirty="0"/>
          </a:br>
          <a:r>
            <a:rPr lang="de-DE" sz="2400" b="1" kern="1200" dirty="0">
              <a:solidFill>
                <a:schemeClr val="bg1"/>
              </a:solidFill>
            </a:rPr>
            <a:t>GG</a:t>
          </a:r>
        </a:p>
      </dsp:txBody>
      <dsp:txXfrm>
        <a:off x="1593916" y="9725"/>
        <a:ext cx="1056126" cy="917468"/>
      </dsp:txXfrm>
    </dsp:sp>
    <dsp:sp modelId="{245F5214-261C-4BB8-AA97-5BF41893892C}">
      <dsp:nvSpPr>
        <dsp:cNvPr id="0" name=""/>
        <dsp:cNvSpPr/>
      </dsp:nvSpPr>
      <dsp:spPr>
        <a:xfrm>
          <a:off x="1056126" y="917468"/>
          <a:ext cx="2112253" cy="917468"/>
        </a:xfrm>
        <a:prstGeom prst="trapezoid">
          <a:avLst>
            <a:gd name="adj" fmla="val 57557"/>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de-DE" sz="3000" kern="1200" dirty="0">
              <a:solidFill>
                <a:schemeClr val="bg1"/>
              </a:solidFill>
            </a:rPr>
            <a:t>DSGVO</a:t>
          </a:r>
        </a:p>
      </dsp:txBody>
      <dsp:txXfrm>
        <a:off x="1425770" y="917468"/>
        <a:ext cx="1372964" cy="917468"/>
      </dsp:txXfrm>
    </dsp:sp>
    <dsp:sp modelId="{BA157B92-C282-4B21-BFB0-48B562293310}">
      <dsp:nvSpPr>
        <dsp:cNvPr id="0" name=""/>
        <dsp:cNvSpPr/>
      </dsp:nvSpPr>
      <dsp:spPr>
        <a:xfrm>
          <a:off x="536142" y="1805146"/>
          <a:ext cx="3168379" cy="917468"/>
        </a:xfrm>
        <a:prstGeom prst="trapezoid">
          <a:avLst>
            <a:gd name="adj" fmla="val 57557"/>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de-DE" sz="3000" kern="1200" dirty="0">
              <a:solidFill>
                <a:schemeClr val="bg1"/>
              </a:solidFill>
            </a:rPr>
            <a:t>BDSG</a:t>
          </a:r>
        </a:p>
      </dsp:txBody>
      <dsp:txXfrm>
        <a:off x="1090609" y="1805146"/>
        <a:ext cx="2059446" cy="917468"/>
      </dsp:txXfrm>
    </dsp:sp>
    <dsp:sp modelId="{6CAD40D6-EDE1-4840-9BF3-DE53D606A2FE}">
      <dsp:nvSpPr>
        <dsp:cNvPr id="0" name=""/>
        <dsp:cNvSpPr/>
      </dsp:nvSpPr>
      <dsp:spPr>
        <a:xfrm>
          <a:off x="0" y="2723220"/>
          <a:ext cx="4224506" cy="917468"/>
        </a:xfrm>
        <a:prstGeom prst="trapezoid">
          <a:avLst>
            <a:gd name="adj" fmla="val 57557"/>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de-DE" sz="3000" kern="1200" dirty="0">
              <a:solidFill>
                <a:schemeClr val="bg1"/>
              </a:solidFill>
            </a:rPr>
            <a:t>LDSG, DDG, TDDDG, TKG</a:t>
          </a:r>
        </a:p>
      </dsp:txBody>
      <dsp:txXfrm>
        <a:off x="739288" y="2723220"/>
        <a:ext cx="2745928" cy="9174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702D14-8D58-4573-8369-F9A8BBF556F3}">
      <dsp:nvSpPr>
        <dsp:cNvPr id="0" name=""/>
        <dsp:cNvSpPr/>
      </dsp:nvSpPr>
      <dsp:spPr>
        <a:xfrm>
          <a:off x="1459554" y="0"/>
          <a:ext cx="973036" cy="907409"/>
        </a:xfrm>
        <a:prstGeom prst="trapezoid">
          <a:avLst>
            <a:gd name="adj" fmla="val 53616"/>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de-DE" sz="2400" kern="1200" dirty="0"/>
        </a:p>
        <a:p>
          <a:pPr marL="0" lvl="0" indent="0" algn="ctr" defTabSz="1066800">
            <a:lnSpc>
              <a:spcPct val="90000"/>
            </a:lnSpc>
            <a:spcBef>
              <a:spcPct val="0"/>
            </a:spcBef>
            <a:spcAft>
              <a:spcPct val="35000"/>
            </a:spcAft>
            <a:buNone/>
          </a:pPr>
          <a:r>
            <a:rPr lang="de-DE" sz="2400" b="1" kern="1200" dirty="0"/>
            <a:t>EU</a:t>
          </a:r>
        </a:p>
      </dsp:txBody>
      <dsp:txXfrm>
        <a:off x="1459554" y="0"/>
        <a:ext cx="973036" cy="907409"/>
      </dsp:txXfrm>
    </dsp:sp>
    <dsp:sp modelId="{76A0203F-26F4-470F-AC09-C6329BD4364B}">
      <dsp:nvSpPr>
        <dsp:cNvPr id="0" name=""/>
        <dsp:cNvSpPr/>
      </dsp:nvSpPr>
      <dsp:spPr>
        <a:xfrm>
          <a:off x="973036" y="907409"/>
          <a:ext cx="1946072" cy="907409"/>
        </a:xfrm>
        <a:prstGeom prst="trapezoid">
          <a:avLst>
            <a:gd name="adj" fmla="val 53616"/>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de-DE" sz="4000" kern="1200" dirty="0"/>
            <a:t>Bund</a:t>
          </a:r>
        </a:p>
      </dsp:txBody>
      <dsp:txXfrm>
        <a:off x="1313598" y="907409"/>
        <a:ext cx="1264947" cy="907409"/>
      </dsp:txXfrm>
    </dsp:sp>
    <dsp:sp modelId="{14B83E3D-AA55-490B-82AD-085687F532A2}">
      <dsp:nvSpPr>
        <dsp:cNvPr id="0" name=""/>
        <dsp:cNvSpPr/>
      </dsp:nvSpPr>
      <dsp:spPr>
        <a:xfrm>
          <a:off x="486518" y="1814819"/>
          <a:ext cx="2919108" cy="907409"/>
        </a:xfrm>
        <a:prstGeom prst="trapezoid">
          <a:avLst>
            <a:gd name="adj" fmla="val 53616"/>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de-DE" sz="4000" kern="1200" dirty="0"/>
            <a:t>Land</a:t>
          </a:r>
        </a:p>
      </dsp:txBody>
      <dsp:txXfrm>
        <a:off x="997362" y="1814819"/>
        <a:ext cx="1897420" cy="907409"/>
      </dsp:txXfrm>
    </dsp:sp>
    <dsp:sp modelId="{21731531-C7BD-4037-86BF-6DBECCDB7AE3}">
      <dsp:nvSpPr>
        <dsp:cNvPr id="0" name=""/>
        <dsp:cNvSpPr/>
      </dsp:nvSpPr>
      <dsp:spPr>
        <a:xfrm>
          <a:off x="0" y="2722228"/>
          <a:ext cx="3892145" cy="907409"/>
        </a:xfrm>
        <a:prstGeom prst="trapezoid">
          <a:avLst>
            <a:gd name="adj" fmla="val 53616"/>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de-DE" sz="4000" kern="1200" dirty="0">
              <a:solidFill>
                <a:schemeClr val="bg1"/>
              </a:solidFill>
            </a:rPr>
            <a:t>Nat. VO</a:t>
          </a:r>
        </a:p>
      </dsp:txBody>
      <dsp:txXfrm>
        <a:off x="681125" y="2722228"/>
        <a:ext cx="2529894" cy="907409"/>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2C052-91DF-4DB3-B342-3CD8D6AF7C71}" type="datetimeFigureOut">
              <a:rPr lang="de-DE" smtClean="0"/>
              <a:t>01.09.2025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4710CE-1ECF-4525-BFCD-FD2D0B83985D}" type="slidenum">
              <a:rPr lang="de-DE" smtClean="0"/>
              <a:t>‹Nr.›</a:t>
            </a:fld>
            <a:endParaRPr lang="de-DE"/>
          </a:p>
        </p:txBody>
      </p:sp>
    </p:spTree>
    <p:extLst>
      <p:ext uri="{BB962C8B-B14F-4D97-AF65-F5344CB8AC3E}">
        <p14:creationId xmlns:p14="http://schemas.microsoft.com/office/powerpoint/2010/main" val="902725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6B4CA0-0D9B-2397-636C-95227E6D191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8A6CBF7D-844C-C3E8-4791-B467FDCC44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936ED5D8-D21B-2991-AD91-EF8776526101}"/>
              </a:ext>
            </a:extLst>
          </p:cNvPr>
          <p:cNvSpPr>
            <a:spLocks noGrp="1"/>
          </p:cNvSpPr>
          <p:nvPr>
            <p:ph type="dt" sz="half" idx="10"/>
          </p:nvPr>
        </p:nvSpPr>
        <p:spPr/>
        <p:txBody>
          <a:bodyPr/>
          <a:lstStyle/>
          <a:p>
            <a:fld id="{C672DB5E-9D2D-453F-9BAF-14F389B2B6FD}" type="datetime1">
              <a:rPr lang="de-DE" smtClean="0"/>
              <a:t>01.09.2025</a:t>
            </a:fld>
            <a:endParaRPr lang="de-DE"/>
          </a:p>
        </p:txBody>
      </p:sp>
      <p:sp>
        <p:nvSpPr>
          <p:cNvPr id="5" name="Fußzeilenplatzhalter 4">
            <a:extLst>
              <a:ext uri="{FF2B5EF4-FFF2-40B4-BE49-F238E27FC236}">
                <a16:creationId xmlns:a16="http://schemas.microsoft.com/office/drawing/2014/main" id="{A6662200-947A-F1EA-2C52-A9ED73D7D776}"/>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A72F66E2-E057-AD36-C3DA-CE84D739FCD5}"/>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12674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21CDB6-2205-C649-0EFF-4AF9C88089C7}"/>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02738B8-DFE1-053C-8D14-65BDC42204EA}"/>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9443B26-B36D-01B6-8CB3-EBCCB41DBBFE}"/>
              </a:ext>
            </a:extLst>
          </p:cNvPr>
          <p:cNvSpPr>
            <a:spLocks noGrp="1"/>
          </p:cNvSpPr>
          <p:nvPr>
            <p:ph type="dt" sz="half" idx="10"/>
          </p:nvPr>
        </p:nvSpPr>
        <p:spPr/>
        <p:txBody>
          <a:bodyPr/>
          <a:lstStyle/>
          <a:p>
            <a:fld id="{B42EE8E6-ED59-4859-B0C3-225166F39F4E}" type="datetime1">
              <a:rPr lang="de-DE" smtClean="0"/>
              <a:t>01.09.2025</a:t>
            </a:fld>
            <a:endParaRPr lang="de-DE"/>
          </a:p>
        </p:txBody>
      </p:sp>
      <p:sp>
        <p:nvSpPr>
          <p:cNvPr id="5" name="Fußzeilenplatzhalter 4">
            <a:extLst>
              <a:ext uri="{FF2B5EF4-FFF2-40B4-BE49-F238E27FC236}">
                <a16:creationId xmlns:a16="http://schemas.microsoft.com/office/drawing/2014/main" id="{257B0E11-7309-8334-C745-4B8891F30ECE}"/>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DB474E42-1956-41CB-85EE-1D92BD077AA7}"/>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748882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AE3BDF-74CF-D836-BDF6-1A9E5CD1A8AC}"/>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8218F682-74D0-260C-C0FA-67608DE59C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9126DB74-0B12-4E55-DFE8-11C848ADC5FF}"/>
              </a:ext>
            </a:extLst>
          </p:cNvPr>
          <p:cNvSpPr>
            <a:spLocks noGrp="1"/>
          </p:cNvSpPr>
          <p:nvPr>
            <p:ph type="dt" sz="half" idx="10"/>
          </p:nvPr>
        </p:nvSpPr>
        <p:spPr/>
        <p:txBody>
          <a:bodyPr/>
          <a:lstStyle/>
          <a:p>
            <a:fld id="{21AF14BD-9277-4F74-8DB6-09E47A4EDF52}" type="datetime1">
              <a:rPr lang="de-DE" smtClean="0"/>
              <a:t>01.09.2025</a:t>
            </a:fld>
            <a:endParaRPr lang="de-DE"/>
          </a:p>
        </p:txBody>
      </p:sp>
      <p:sp>
        <p:nvSpPr>
          <p:cNvPr id="5" name="Fußzeilenplatzhalter 4">
            <a:extLst>
              <a:ext uri="{FF2B5EF4-FFF2-40B4-BE49-F238E27FC236}">
                <a16:creationId xmlns:a16="http://schemas.microsoft.com/office/drawing/2014/main" id="{B1BD3D0A-2DD9-A6B1-1489-6F90254082FA}"/>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9040CFB5-98C2-84E4-BDD3-F4C750AF4EB4}"/>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816828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EA83CA-15C6-89A0-FEDA-18437CD00BEF}"/>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D6B2365-8E78-D10D-2C7A-CFA338DFD86E}"/>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09A9C519-780B-C21A-8A0F-FF13E8BA2330}"/>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C3BD13EC-EB69-D436-B6B3-336B02A7E1E9}"/>
              </a:ext>
            </a:extLst>
          </p:cNvPr>
          <p:cNvSpPr>
            <a:spLocks noGrp="1"/>
          </p:cNvSpPr>
          <p:nvPr>
            <p:ph type="dt" sz="half" idx="10"/>
          </p:nvPr>
        </p:nvSpPr>
        <p:spPr/>
        <p:txBody>
          <a:bodyPr/>
          <a:lstStyle/>
          <a:p>
            <a:fld id="{CA11EA98-5F69-4205-B62B-A9D2FE44DC9A}" type="datetime1">
              <a:rPr lang="de-DE" smtClean="0"/>
              <a:t>01.09.2025</a:t>
            </a:fld>
            <a:endParaRPr lang="de-DE"/>
          </a:p>
        </p:txBody>
      </p:sp>
      <p:sp>
        <p:nvSpPr>
          <p:cNvPr id="6" name="Fußzeilenplatzhalter 5">
            <a:extLst>
              <a:ext uri="{FF2B5EF4-FFF2-40B4-BE49-F238E27FC236}">
                <a16:creationId xmlns:a16="http://schemas.microsoft.com/office/drawing/2014/main" id="{3F54854A-5BCA-AA61-4794-C845E8410B0B}"/>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E1D920B8-0BB6-DC20-C44A-6FE1799AC842}"/>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989295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E7B4D7-5073-8EE2-C713-A9807BC24203}"/>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4515CB72-967C-1FE1-7266-4C90A820AE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2F2685B6-6BF1-51FC-0CC5-E6B83E0349D3}"/>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25C1FDDC-7DF7-F143-DB9D-5224023A29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8E1C4E95-7462-FA80-84AD-9D823B3D09FF}"/>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BDC635FA-7C5E-7A65-D6EA-6B07AE444101}"/>
              </a:ext>
            </a:extLst>
          </p:cNvPr>
          <p:cNvSpPr>
            <a:spLocks noGrp="1"/>
          </p:cNvSpPr>
          <p:nvPr>
            <p:ph type="dt" sz="half" idx="10"/>
          </p:nvPr>
        </p:nvSpPr>
        <p:spPr/>
        <p:txBody>
          <a:bodyPr/>
          <a:lstStyle/>
          <a:p>
            <a:fld id="{C8B5DD1B-5A4B-4D66-A112-730D2E7C9367}" type="datetime1">
              <a:rPr lang="de-DE" smtClean="0"/>
              <a:t>01.09.2025</a:t>
            </a:fld>
            <a:endParaRPr lang="de-DE"/>
          </a:p>
        </p:txBody>
      </p:sp>
      <p:sp>
        <p:nvSpPr>
          <p:cNvPr id="8" name="Fußzeilenplatzhalter 7">
            <a:extLst>
              <a:ext uri="{FF2B5EF4-FFF2-40B4-BE49-F238E27FC236}">
                <a16:creationId xmlns:a16="http://schemas.microsoft.com/office/drawing/2014/main" id="{D53E3795-8351-EACE-5649-C8A6261CFB9F}"/>
              </a:ext>
            </a:extLst>
          </p:cNvPr>
          <p:cNvSpPr>
            <a:spLocks noGrp="1"/>
          </p:cNvSpPr>
          <p:nvPr>
            <p:ph type="ftr" sz="quarter" idx="11"/>
          </p:nvPr>
        </p:nvSpPr>
        <p:spPr/>
        <p:txBody>
          <a:bodyPr/>
          <a:lstStyle/>
          <a:p>
            <a:r>
              <a:rPr lang="de-DE"/>
              <a:t>Dirk Moltzen - externer Datenschutzbeauftragter TÜV® CERT</a:t>
            </a:r>
          </a:p>
        </p:txBody>
      </p:sp>
      <p:sp>
        <p:nvSpPr>
          <p:cNvPr id="9" name="Foliennummernplatzhalter 8">
            <a:extLst>
              <a:ext uri="{FF2B5EF4-FFF2-40B4-BE49-F238E27FC236}">
                <a16:creationId xmlns:a16="http://schemas.microsoft.com/office/drawing/2014/main" id="{75980057-3041-8E66-F05F-0C6DAD687D7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02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AB809C-717E-0BE3-A852-7D6ED08D1B60}"/>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CABDE474-BB62-A15B-AF69-1F53A895DCAB}"/>
              </a:ext>
            </a:extLst>
          </p:cNvPr>
          <p:cNvSpPr>
            <a:spLocks noGrp="1"/>
          </p:cNvSpPr>
          <p:nvPr>
            <p:ph type="dt" sz="half" idx="10"/>
          </p:nvPr>
        </p:nvSpPr>
        <p:spPr/>
        <p:txBody>
          <a:bodyPr/>
          <a:lstStyle/>
          <a:p>
            <a:fld id="{78260CA9-080E-495A-8A5A-989AC8DFCC2C}" type="datetime1">
              <a:rPr lang="de-DE" smtClean="0"/>
              <a:t>01.09.2025</a:t>
            </a:fld>
            <a:endParaRPr lang="de-DE"/>
          </a:p>
        </p:txBody>
      </p:sp>
      <p:sp>
        <p:nvSpPr>
          <p:cNvPr id="4" name="Fußzeilenplatzhalter 3">
            <a:extLst>
              <a:ext uri="{FF2B5EF4-FFF2-40B4-BE49-F238E27FC236}">
                <a16:creationId xmlns:a16="http://schemas.microsoft.com/office/drawing/2014/main" id="{3F009B64-7486-6B03-109F-0A1DB878FD8A}"/>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84E269A4-2AFB-0581-906E-331F89EFE6A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526675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BB4EF03-31AB-6045-F997-30142EC62E78}"/>
              </a:ext>
            </a:extLst>
          </p:cNvPr>
          <p:cNvSpPr>
            <a:spLocks noGrp="1"/>
          </p:cNvSpPr>
          <p:nvPr>
            <p:ph type="dt" sz="half" idx="10"/>
          </p:nvPr>
        </p:nvSpPr>
        <p:spPr/>
        <p:txBody>
          <a:bodyPr/>
          <a:lstStyle/>
          <a:p>
            <a:fld id="{8A7D2418-5A2A-4D67-823F-EC4266F86929}" type="datetime1">
              <a:rPr lang="de-DE" smtClean="0"/>
              <a:t>01.09.2025</a:t>
            </a:fld>
            <a:endParaRPr lang="de-DE"/>
          </a:p>
        </p:txBody>
      </p:sp>
      <p:sp>
        <p:nvSpPr>
          <p:cNvPr id="3" name="Fußzeilenplatzhalter 2">
            <a:extLst>
              <a:ext uri="{FF2B5EF4-FFF2-40B4-BE49-F238E27FC236}">
                <a16:creationId xmlns:a16="http://schemas.microsoft.com/office/drawing/2014/main" id="{4BECFB2D-8F62-0045-E978-BE3C6015B8F9}"/>
              </a:ext>
            </a:extLst>
          </p:cNvPr>
          <p:cNvSpPr>
            <a:spLocks noGrp="1"/>
          </p:cNvSpPr>
          <p:nvPr>
            <p:ph type="ftr" sz="quarter" idx="11"/>
          </p:nvPr>
        </p:nvSpPr>
        <p:spPr/>
        <p:txBody>
          <a:bodyPr/>
          <a:lstStyle/>
          <a:p>
            <a:r>
              <a:rPr lang="de-DE"/>
              <a:t>Dirk Moltzen - externer Datenschutzbeauftragter TÜV® CERT</a:t>
            </a:r>
          </a:p>
        </p:txBody>
      </p:sp>
      <p:sp>
        <p:nvSpPr>
          <p:cNvPr id="4" name="Foliennummernplatzhalter 3">
            <a:extLst>
              <a:ext uri="{FF2B5EF4-FFF2-40B4-BE49-F238E27FC236}">
                <a16:creationId xmlns:a16="http://schemas.microsoft.com/office/drawing/2014/main" id="{A81E2D0D-FB5B-18D9-CA46-B17F6D7D89C3}"/>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4337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14205B-67C0-3C72-1270-AB3F648C00E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B82FF748-A088-071E-017D-99500D75BF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B9A7AC7C-492C-90F4-8A67-7CBC818A01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13A1AFB3-C22B-78C8-5ABA-FE62DEB62C80}"/>
              </a:ext>
            </a:extLst>
          </p:cNvPr>
          <p:cNvSpPr>
            <a:spLocks noGrp="1"/>
          </p:cNvSpPr>
          <p:nvPr>
            <p:ph type="dt" sz="half" idx="10"/>
          </p:nvPr>
        </p:nvSpPr>
        <p:spPr/>
        <p:txBody>
          <a:bodyPr/>
          <a:lstStyle/>
          <a:p>
            <a:fld id="{BEA624FE-15BC-48DE-8943-3F775C222EF7}" type="datetime1">
              <a:rPr lang="de-DE" smtClean="0"/>
              <a:t>01.09.2025</a:t>
            </a:fld>
            <a:endParaRPr lang="de-DE"/>
          </a:p>
        </p:txBody>
      </p:sp>
      <p:sp>
        <p:nvSpPr>
          <p:cNvPr id="6" name="Fußzeilenplatzhalter 5">
            <a:extLst>
              <a:ext uri="{FF2B5EF4-FFF2-40B4-BE49-F238E27FC236}">
                <a16:creationId xmlns:a16="http://schemas.microsoft.com/office/drawing/2014/main" id="{70F01998-1EAE-F808-4FBE-68B2F851F599}"/>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C508FCF0-9A89-4F9E-90AA-7B6050B81313}"/>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733478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A74FCB-7070-9042-F162-D3957EF7F7CD}"/>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F661D97A-92D7-1999-21A5-2E494FE401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7CF8D34-1DA2-DB73-54B3-DE9EF87E2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3F5C852-F89D-BA31-F1F1-5908F9499CA8}"/>
              </a:ext>
            </a:extLst>
          </p:cNvPr>
          <p:cNvSpPr>
            <a:spLocks noGrp="1"/>
          </p:cNvSpPr>
          <p:nvPr>
            <p:ph type="dt" sz="half" idx="10"/>
          </p:nvPr>
        </p:nvSpPr>
        <p:spPr/>
        <p:txBody>
          <a:bodyPr/>
          <a:lstStyle/>
          <a:p>
            <a:fld id="{F1E1FB9E-692E-48A8-84C5-9952D749F23A}" type="datetime1">
              <a:rPr lang="de-DE" smtClean="0"/>
              <a:t>01.09.2025</a:t>
            </a:fld>
            <a:endParaRPr lang="de-DE"/>
          </a:p>
        </p:txBody>
      </p:sp>
      <p:sp>
        <p:nvSpPr>
          <p:cNvPr id="6" name="Fußzeilenplatzhalter 5">
            <a:extLst>
              <a:ext uri="{FF2B5EF4-FFF2-40B4-BE49-F238E27FC236}">
                <a16:creationId xmlns:a16="http://schemas.microsoft.com/office/drawing/2014/main" id="{B8837075-A10E-3C14-F3C3-2E9BE88FB3A1}"/>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734A5AF6-1125-19E3-786E-CE22A0A7447A}"/>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271625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D3F011-39E4-FEA4-5D0F-FD25397B8C7F}"/>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DB6A2C3D-19CA-3847-73C8-76EFE13A156C}"/>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660374A-9259-29AD-05FF-F3A635147932}"/>
              </a:ext>
            </a:extLst>
          </p:cNvPr>
          <p:cNvSpPr>
            <a:spLocks noGrp="1"/>
          </p:cNvSpPr>
          <p:nvPr>
            <p:ph type="dt" sz="half" idx="10"/>
          </p:nvPr>
        </p:nvSpPr>
        <p:spPr/>
        <p:txBody>
          <a:bodyPr/>
          <a:lstStyle/>
          <a:p>
            <a:fld id="{3D55D161-017C-4308-B022-23EEBD4A53E7}" type="datetime1">
              <a:rPr lang="de-DE" smtClean="0"/>
              <a:t>01.09.2025</a:t>
            </a:fld>
            <a:endParaRPr lang="de-DE"/>
          </a:p>
        </p:txBody>
      </p:sp>
      <p:sp>
        <p:nvSpPr>
          <p:cNvPr id="5" name="Fußzeilenplatzhalter 4">
            <a:extLst>
              <a:ext uri="{FF2B5EF4-FFF2-40B4-BE49-F238E27FC236}">
                <a16:creationId xmlns:a16="http://schemas.microsoft.com/office/drawing/2014/main" id="{6D3CA8E5-3D50-1482-5EA3-0AE0CCD1C7D3}"/>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9D3B4CD6-D217-6A5A-C835-ABBF8EA87231}"/>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21701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3FAC6231-501D-5B6C-07CA-78E57495AD79}"/>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8A6AA6BA-E9E2-41B1-CDFA-CBD87B43E1E8}"/>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9405D0A-77D6-1022-E33C-FCFCDC61AC86}"/>
              </a:ext>
            </a:extLst>
          </p:cNvPr>
          <p:cNvSpPr>
            <a:spLocks noGrp="1"/>
          </p:cNvSpPr>
          <p:nvPr>
            <p:ph type="dt" sz="half" idx="10"/>
          </p:nvPr>
        </p:nvSpPr>
        <p:spPr/>
        <p:txBody>
          <a:bodyPr/>
          <a:lstStyle/>
          <a:p>
            <a:fld id="{685B6E2E-C33C-4093-9AD7-A0DDBAC742A6}" type="datetime1">
              <a:rPr lang="de-DE" smtClean="0"/>
              <a:t>01.09.2025</a:t>
            </a:fld>
            <a:endParaRPr lang="de-DE"/>
          </a:p>
        </p:txBody>
      </p:sp>
      <p:sp>
        <p:nvSpPr>
          <p:cNvPr id="5" name="Fußzeilenplatzhalter 4">
            <a:extLst>
              <a:ext uri="{FF2B5EF4-FFF2-40B4-BE49-F238E27FC236}">
                <a16:creationId xmlns:a16="http://schemas.microsoft.com/office/drawing/2014/main" id="{4BF6FBA2-0D4D-BABB-8A8B-7D96CF0C617D}"/>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814DBF3D-401F-3741-7E93-32CDCAC84CC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38326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DE23AD2-A997-A50A-7B9B-51EFA4D8E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20E3F0D2-6FEC-0D1F-2B92-081695429A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4BFB01D-569E-09F5-F922-327089C50D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E4FBDE-3156-405F-8033-5D2AF69D6F32}" type="datetime1">
              <a:rPr lang="de-DE" smtClean="0"/>
              <a:t>01.09.2025</a:t>
            </a:fld>
            <a:endParaRPr lang="de-DE"/>
          </a:p>
        </p:txBody>
      </p:sp>
      <p:sp>
        <p:nvSpPr>
          <p:cNvPr id="5" name="Fußzeilenplatzhalter 4">
            <a:extLst>
              <a:ext uri="{FF2B5EF4-FFF2-40B4-BE49-F238E27FC236}">
                <a16:creationId xmlns:a16="http://schemas.microsoft.com/office/drawing/2014/main" id="{798C7273-F537-2E2B-2AA5-800EFD209D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044149FB-4F02-55E2-A3FF-E64D0BD50A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CE166D-2D50-44F1-A818-BFD238545C9D}" type="slidenum">
              <a:rPr lang="de-DE" smtClean="0"/>
              <a:t>‹Nr.›</a:t>
            </a:fld>
            <a:endParaRPr lang="de-DE"/>
          </a:p>
        </p:txBody>
      </p:sp>
    </p:spTree>
    <p:extLst>
      <p:ext uri="{BB962C8B-B14F-4D97-AF65-F5344CB8AC3E}">
        <p14:creationId xmlns:p14="http://schemas.microsoft.com/office/powerpoint/2010/main" val="1999417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hyperlink" Target="https://www.bfdi.bund.d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el 3">
            <a:extLst>
              <a:ext uri="{FF2B5EF4-FFF2-40B4-BE49-F238E27FC236}">
                <a16:creationId xmlns:a16="http://schemas.microsoft.com/office/drawing/2014/main" id="{2CA4602F-1958-AB10-C35C-5E47C9E0BE01}"/>
              </a:ext>
            </a:extLst>
          </p:cNvPr>
          <p:cNvSpPr>
            <a:spLocks noGrp="1"/>
          </p:cNvSpPr>
          <p:nvPr>
            <p:ph type="ctrTitle"/>
          </p:nvPr>
        </p:nvSpPr>
        <p:spPr>
          <a:xfrm>
            <a:off x="804672" y="5065159"/>
            <a:ext cx="10592174" cy="1052025"/>
          </a:xfrm>
        </p:spPr>
        <p:txBody>
          <a:bodyPr anchor="t">
            <a:normAutofit fontScale="90000"/>
          </a:bodyPr>
          <a:lstStyle/>
          <a:p>
            <a:pPr algn="l"/>
            <a:r>
              <a:rPr lang="de-DE" sz="4000" dirty="0">
                <a:solidFill>
                  <a:schemeClr val="tx2"/>
                </a:solidFill>
              </a:rPr>
              <a:t>DATENSCHUTZ-SCHULUNG</a:t>
            </a:r>
            <a:br>
              <a:rPr lang="de-DE" sz="4000" dirty="0">
                <a:solidFill>
                  <a:schemeClr val="tx2"/>
                </a:solidFill>
              </a:rPr>
            </a:br>
            <a:r>
              <a:rPr lang="de-DE" sz="4000" dirty="0"/>
              <a:t>Teil 1 </a:t>
            </a:r>
            <a:r>
              <a:rPr lang="de-DE" sz="4000" b="1" dirty="0">
                <a:solidFill>
                  <a:srgbClr val="0070C0"/>
                </a:solidFill>
              </a:rPr>
              <a:t>Datenschutz und Datensicherheit</a:t>
            </a:r>
            <a:br>
              <a:rPr lang="de-DE" sz="4000" dirty="0">
                <a:solidFill>
                  <a:schemeClr val="tx2"/>
                </a:solidFill>
              </a:rPr>
            </a:br>
            <a:endParaRPr lang="de-DE" sz="4000" dirty="0">
              <a:solidFill>
                <a:schemeClr val="tx2"/>
              </a:solidFill>
            </a:endParaRPr>
          </a:p>
        </p:txBody>
      </p:sp>
      <p:pic>
        <p:nvPicPr>
          <p:cNvPr id="7" name="Grafik 6" descr="Ein Bild, das Person, Raum, Hand enthält.&#10;&#10;KI-generierte Inhalte können fehlerhaft sein.">
            <a:extLst>
              <a:ext uri="{FF2B5EF4-FFF2-40B4-BE49-F238E27FC236}">
                <a16:creationId xmlns:a16="http://schemas.microsoft.com/office/drawing/2014/main" id="{A1489AE2-F9B8-F8ED-00E3-14646775A932}"/>
              </a:ext>
            </a:extLst>
          </p:cNvPr>
          <p:cNvPicPr>
            <a:picLocks noChangeAspect="1"/>
          </p:cNvPicPr>
          <p:nvPr/>
        </p:nvPicPr>
        <p:blipFill>
          <a:blip r:embed="rId2">
            <a:extLst>
              <a:ext uri="{28A0092B-C50C-407E-A947-70E740481C1C}">
                <a14:useLocalDpi xmlns:a14="http://schemas.microsoft.com/office/drawing/2010/main" val="0"/>
              </a:ext>
            </a:extLst>
          </a:blip>
          <a:srcRect t="21567" b="33968"/>
          <a:stretch>
            <a:fillRect/>
          </a:stretch>
        </p:blipFill>
        <p:spPr>
          <a:xfrm>
            <a:off x="-1" y="10"/>
            <a:ext cx="12192001" cy="4201449"/>
          </a:xfrm>
          <a:prstGeom prst="rect">
            <a:avLst/>
          </a:prstGeom>
        </p:spPr>
      </p:pic>
      <p:grpSp>
        <p:nvGrpSpPr>
          <p:cNvPr id="14" name="Group 13">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15" name="Freeform: Shape 14">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5" name="Untertitel 4">
            <a:extLst>
              <a:ext uri="{FF2B5EF4-FFF2-40B4-BE49-F238E27FC236}">
                <a16:creationId xmlns:a16="http://schemas.microsoft.com/office/drawing/2014/main" id="{F80A9AF6-4E73-62A3-65EE-D5681D90E29C}"/>
              </a:ext>
            </a:extLst>
          </p:cNvPr>
          <p:cNvSpPr>
            <a:spLocks noGrp="1"/>
          </p:cNvSpPr>
          <p:nvPr>
            <p:ph type="subTitle" idx="1"/>
          </p:nvPr>
        </p:nvSpPr>
        <p:spPr>
          <a:xfrm>
            <a:off x="804672" y="4580785"/>
            <a:ext cx="9416898" cy="484374"/>
          </a:xfrm>
        </p:spPr>
        <p:txBody>
          <a:bodyPr anchor="b">
            <a:normAutofit/>
          </a:bodyPr>
          <a:lstStyle/>
          <a:p>
            <a:pPr algn="l"/>
            <a:r>
              <a:rPr lang="de-DE" sz="2000" dirty="0">
                <a:solidFill>
                  <a:schemeClr val="tx2"/>
                </a:solidFill>
              </a:rPr>
              <a:t>Fachinformatiker </a:t>
            </a:r>
            <a:r>
              <a:rPr lang="de-DE" sz="2000" dirty="0" err="1">
                <a:solidFill>
                  <a:schemeClr val="tx2"/>
                </a:solidFill>
              </a:rPr>
              <a:t>by</a:t>
            </a:r>
            <a:r>
              <a:rPr lang="de-DE" sz="2000" dirty="0">
                <a:solidFill>
                  <a:schemeClr val="tx2"/>
                </a:solidFill>
              </a:rPr>
              <a:t> IBB</a:t>
            </a:r>
          </a:p>
        </p:txBody>
      </p:sp>
      <p:sp>
        <p:nvSpPr>
          <p:cNvPr id="2" name="Fußzeilenplatzhalter 1">
            <a:extLst>
              <a:ext uri="{FF2B5EF4-FFF2-40B4-BE49-F238E27FC236}">
                <a16:creationId xmlns:a16="http://schemas.microsoft.com/office/drawing/2014/main" id="{B335ED99-E2A6-072A-014D-0A8A58CD67B0}"/>
              </a:ext>
            </a:extLst>
          </p:cNvPr>
          <p:cNvSpPr>
            <a:spLocks noGrp="1"/>
          </p:cNvSpPr>
          <p:nvPr>
            <p:ph type="ftr" sz="quarter" idx="11"/>
          </p:nvPr>
        </p:nvSpPr>
        <p:spPr/>
        <p:txBody>
          <a:bodyPr/>
          <a:lstStyle/>
          <a:p>
            <a:r>
              <a:rPr lang="de-DE"/>
              <a:t>Dirk Moltzen - externer Datenschutzbeauftragter TÜV® CERT</a:t>
            </a:r>
          </a:p>
        </p:txBody>
      </p:sp>
      <p:sp>
        <p:nvSpPr>
          <p:cNvPr id="3" name="Foliennummernplatzhalter 2">
            <a:extLst>
              <a:ext uri="{FF2B5EF4-FFF2-40B4-BE49-F238E27FC236}">
                <a16:creationId xmlns:a16="http://schemas.microsoft.com/office/drawing/2014/main" id="{3DDA28E4-EC39-8437-806C-94417B853BCB}"/>
              </a:ext>
            </a:extLst>
          </p:cNvPr>
          <p:cNvSpPr>
            <a:spLocks noGrp="1"/>
          </p:cNvSpPr>
          <p:nvPr>
            <p:ph type="sldNum" sz="quarter" idx="12"/>
          </p:nvPr>
        </p:nvSpPr>
        <p:spPr/>
        <p:txBody>
          <a:bodyPr/>
          <a:lstStyle/>
          <a:p>
            <a:fld id="{B4CE166D-2D50-44F1-A818-BFD238545C9D}" type="slidenum">
              <a:rPr lang="de-DE" smtClean="0"/>
              <a:t>1</a:t>
            </a:fld>
            <a:endParaRPr lang="de-DE"/>
          </a:p>
        </p:txBody>
      </p:sp>
    </p:spTree>
    <p:extLst>
      <p:ext uri="{BB962C8B-B14F-4D97-AF65-F5344CB8AC3E}">
        <p14:creationId xmlns:p14="http://schemas.microsoft.com/office/powerpoint/2010/main" val="744624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929679-42D7-2E29-310F-FE4FD4DA6B1D}"/>
              </a:ext>
            </a:extLst>
          </p:cNvPr>
          <p:cNvSpPr>
            <a:spLocks noGrp="1"/>
          </p:cNvSpPr>
          <p:nvPr>
            <p:ph type="title"/>
          </p:nvPr>
        </p:nvSpPr>
        <p:spPr/>
        <p:txBody>
          <a:bodyPr/>
          <a:lstStyle/>
          <a:p>
            <a:r>
              <a:rPr lang="de-DE" dirty="0"/>
              <a:t>Inhalte der Datenschutz-Themen</a:t>
            </a:r>
          </a:p>
        </p:txBody>
      </p:sp>
      <p:sp>
        <p:nvSpPr>
          <p:cNvPr id="3" name="Inhaltsplatzhalter 2">
            <a:extLst>
              <a:ext uri="{FF2B5EF4-FFF2-40B4-BE49-F238E27FC236}">
                <a16:creationId xmlns:a16="http://schemas.microsoft.com/office/drawing/2014/main" id="{CD2D697B-EB54-E541-DE6C-A8AE0056CECB}"/>
              </a:ext>
            </a:extLst>
          </p:cNvPr>
          <p:cNvSpPr>
            <a:spLocks noGrp="1"/>
          </p:cNvSpPr>
          <p:nvPr>
            <p:ph idx="1"/>
          </p:nvPr>
        </p:nvSpPr>
        <p:spPr>
          <a:xfrm>
            <a:off x="838200" y="1984443"/>
            <a:ext cx="10515600" cy="4192519"/>
          </a:xfrm>
        </p:spPr>
        <p:txBody>
          <a:bodyPr>
            <a:normAutofit fontScale="85000" lnSpcReduction="20000"/>
          </a:bodyPr>
          <a:lstStyle/>
          <a:p>
            <a:pPr marL="0" indent="0">
              <a:buNone/>
            </a:pPr>
            <a:r>
              <a:rPr lang="de-DE" b="1" dirty="0">
                <a:solidFill>
                  <a:srgbClr val="0070C0"/>
                </a:solidFill>
              </a:rPr>
              <a:t>Teil 1: </a:t>
            </a:r>
            <a:r>
              <a:rPr lang="de-DE" b="1" dirty="0"/>
              <a:t>Datenschutz und Datensicherheit</a:t>
            </a:r>
            <a:br>
              <a:rPr lang="de-DE" b="1" dirty="0"/>
            </a:br>
            <a:endParaRPr lang="de-DE" b="1" dirty="0"/>
          </a:p>
          <a:p>
            <a:pPr>
              <a:buFont typeface="Wingdings" panose="05000000000000000000" pitchFamily="2" charset="2"/>
              <a:buChar char="Ø"/>
            </a:pPr>
            <a:r>
              <a:rPr lang="de-DE" b="1" dirty="0">
                <a:solidFill>
                  <a:srgbClr val="0070C0"/>
                </a:solidFill>
              </a:rPr>
              <a:t>Teil 1.1: </a:t>
            </a:r>
            <a:r>
              <a:rPr lang="de-DE" b="1" dirty="0"/>
              <a:t>Einführung in den Datenschutz</a:t>
            </a:r>
            <a:br>
              <a:rPr lang="de-DE" b="1" dirty="0"/>
            </a:br>
            <a:r>
              <a:rPr lang="de-DE" dirty="0"/>
              <a:t>DSGVO, BDSG, Begriffsbestimmungen</a:t>
            </a:r>
          </a:p>
          <a:p>
            <a:pPr>
              <a:buFont typeface="Wingdings" panose="05000000000000000000" pitchFamily="2" charset="2"/>
              <a:buChar char="Ø"/>
            </a:pPr>
            <a:r>
              <a:rPr lang="de-DE" b="1" dirty="0">
                <a:solidFill>
                  <a:srgbClr val="0070C0"/>
                </a:solidFill>
              </a:rPr>
              <a:t>Teil 1.2: </a:t>
            </a:r>
            <a:r>
              <a:rPr lang="de-DE" b="1" dirty="0"/>
              <a:t>Schutzziele / Schutzobjekte</a:t>
            </a:r>
            <a:br>
              <a:rPr lang="de-DE" b="1" dirty="0"/>
            </a:br>
            <a:r>
              <a:rPr lang="de-DE" dirty="0"/>
              <a:t>Informationssicherheit, Abgrenzung BSI zu SDM, TOMs, </a:t>
            </a:r>
          </a:p>
          <a:p>
            <a:pPr>
              <a:buFont typeface="Wingdings" panose="05000000000000000000" pitchFamily="2" charset="2"/>
              <a:buChar char="Ø"/>
            </a:pPr>
            <a:r>
              <a:rPr lang="de-DE" b="1" dirty="0">
                <a:solidFill>
                  <a:srgbClr val="0070C0"/>
                </a:solidFill>
              </a:rPr>
              <a:t>Teil 1.3: </a:t>
            </a:r>
            <a:r>
              <a:rPr lang="de-DE" b="1" dirty="0"/>
              <a:t>Verantwortlichkeiten im Unternehmen</a:t>
            </a:r>
          </a:p>
          <a:p>
            <a:pPr>
              <a:buFont typeface="Wingdings" panose="05000000000000000000" pitchFamily="2" charset="2"/>
              <a:buChar char="Ø"/>
            </a:pPr>
            <a:r>
              <a:rPr lang="de-DE" b="1" dirty="0">
                <a:solidFill>
                  <a:srgbClr val="0070C0"/>
                </a:solidFill>
              </a:rPr>
              <a:t>Teil 1.4: </a:t>
            </a:r>
            <a:r>
              <a:rPr lang="de-DE" b="1" dirty="0"/>
              <a:t>Lebenszyklus </a:t>
            </a:r>
            <a:r>
              <a:rPr lang="de-DE" b="1" dirty="0" err="1"/>
              <a:t>pb</a:t>
            </a:r>
            <a:r>
              <a:rPr lang="de-DE" b="1" dirty="0"/>
              <a:t> Daten</a:t>
            </a:r>
          </a:p>
          <a:p>
            <a:pPr>
              <a:buFont typeface="Wingdings" panose="05000000000000000000" pitchFamily="2" charset="2"/>
              <a:buChar char="Ø"/>
            </a:pPr>
            <a:r>
              <a:rPr lang="de-DE" b="1" dirty="0">
                <a:solidFill>
                  <a:srgbClr val="0070C0"/>
                </a:solidFill>
              </a:rPr>
              <a:t>Teil 1.5: </a:t>
            </a:r>
            <a:r>
              <a:rPr lang="de-DE" b="1" dirty="0"/>
              <a:t>Fragen, Beispiele &amp; Übungen</a:t>
            </a:r>
          </a:p>
          <a:p>
            <a:endParaRPr lang="de-DE" b="1" dirty="0"/>
          </a:p>
          <a:p>
            <a:pPr>
              <a:buFont typeface="Wingdings" panose="05000000000000000000" pitchFamily="2" charset="2"/>
              <a:buChar char="Ø"/>
            </a:pPr>
            <a:r>
              <a:rPr lang="de-DE" dirty="0">
                <a:solidFill>
                  <a:schemeClr val="tx1">
                    <a:lumMod val="65000"/>
                    <a:lumOff val="35000"/>
                  </a:schemeClr>
                </a:solidFill>
              </a:rPr>
              <a:t>4 Stunden Theorie </a:t>
            </a:r>
          </a:p>
          <a:p>
            <a:pPr>
              <a:buFont typeface="Wingdings" panose="05000000000000000000" pitchFamily="2" charset="2"/>
              <a:buChar char="Ø"/>
            </a:pPr>
            <a:r>
              <a:rPr lang="de-DE" dirty="0">
                <a:solidFill>
                  <a:schemeClr val="tx1">
                    <a:lumMod val="65000"/>
                    <a:lumOff val="35000"/>
                  </a:schemeClr>
                </a:solidFill>
              </a:rPr>
              <a:t>2 Stunden Praxis</a:t>
            </a:r>
          </a:p>
          <a:p>
            <a:endParaRPr lang="de-DE" b="1" dirty="0"/>
          </a:p>
        </p:txBody>
      </p:sp>
      <p:sp>
        <p:nvSpPr>
          <p:cNvPr id="4" name="Fußzeilenplatzhalter 3">
            <a:extLst>
              <a:ext uri="{FF2B5EF4-FFF2-40B4-BE49-F238E27FC236}">
                <a16:creationId xmlns:a16="http://schemas.microsoft.com/office/drawing/2014/main" id="{F170A954-FCE7-117B-EFBF-DF9AE6259215}"/>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68C962AE-1470-67E5-A01D-2BFAC3ED24FA}"/>
              </a:ext>
            </a:extLst>
          </p:cNvPr>
          <p:cNvSpPr>
            <a:spLocks noGrp="1"/>
          </p:cNvSpPr>
          <p:nvPr>
            <p:ph type="sldNum" sz="quarter" idx="12"/>
          </p:nvPr>
        </p:nvSpPr>
        <p:spPr/>
        <p:txBody>
          <a:bodyPr/>
          <a:lstStyle/>
          <a:p>
            <a:fld id="{B4CE166D-2D50-44F1-A818-BFD238545C9D}" type="slidenum">
              <a:rPr lang="de-DE" smtClean="0"/>
              <a:t>2</a:t>
            </a:fld>
            <a:endParaRPr lang="de-DE"/>
          </a:p>
        </p:txBody>
      </p:sp>
    </p:spTree>
    <p:extLst>
      <p:ext uri="{BB962C8B-B14F-4D97-AF65-F5344CB8AC3E}">
        <p14:creationId xmlns:p14="http://schemas.microsoft.com/office/powerpoint/2010/main" val="2518218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fik 4" descr="Ein Bild, das Screenshot, Dunkelheit, Text, Schwarz enthält.&#10;&#10;KI-generierte Inhalte können fehlerhaft sein.">
            <a:extLst>
              <a:ext uri="{FF2B5EF4-FFF2-40B4-BE49-F238E27FC236}">
                <a16:creationId xmlns:a16="http://schemas.microsoft.com/office/drawing/2014/main" id="{C4CFE99B-B3F2-883C-C908-2C201DA2732E}"/>
              </a:ext>
            </a:extLst>
          </p:cNvPr>
          <p:cNvPicPr>
            <a:picLocks noChangeAspect="1"/>
          </p:cNvPicPr>
          <p:nvPr/>
        </p:nvPicPr>
        <p:blipFill>
          <a:blip r:embed="rId2">
            <a:extLst>
              <a:ext uri="{28A0092B-C50C-407E-A947-70E740481C1C}">
                <a14:useLocalDpi xmlns:a14="http://schemas.microsoft.com/office/drawing/2010/main" val="0"/>
              </a:ext>
            </a:extLst>
          </a:blip>
          <a:srcRect l="51169" t="4154" r="371"/>
          <a:stretch>
            <a:fillRect/>
          </a:stretch>
        </p:blipFill>
        <p:spPr>
          <a:xfrm>
            <a:off x="3523488" y="10"/>
            <a:ext cx="8668512" cy="6857990"/>
          </a:xfrm>
          <a:prstGeom prst="rect">
            <a:avLst/>
          </a:prstGeom>
        </p:spPr>
      </p:pic>
      <p:sp>
        <p:nvSpPr>
          <p:cNvPr id="23" name="Rectangle 2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63729824-C53C-43A0-50C1-A986461C1021}"/>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err="1"/>
              <a:t>Datenschutz</a:t>
            </a:r>
            <a:r>
              <a:rPr lang="en-US" sz="4800" dirty="0"/>
              <a:t> Teil 1.1 </a:t>
            </a:r>
          </a:p>
        </p:txBody>
      </p:sp>
      <p:sp>
        <p:nvSpPr>
          <p:cNvPr id="3" name="Textplatzhalter 2">
            <a:extLst>
              <a:ext uri="{FF2B5EF4-FFF2-40B4-BE49-F238E27FC236}">
                <a16:creationId xmlns:a16="http://schemas.microsoft.com/office/drawing/2014/main" id="{7A4C32D4-7C65-7249-61F0-B75CCBCD5CDA}"/>
              </a:ext>
            </a:extLst>
          </p:cNvPr>
          <p:cNvSpPr>
            <a:spLocks noGrp="1"/>
          </p:cNvSpPr>
          <p:nvPr>
            <p:ph type="body" idx="1"/>
          </p:nvPr>
        </p:nvSpPr>
        <p:spPr>
          <a:xfrm>
            <a:off x="477980" y="4872922"/>
            <a:ext cx="4023359" cy="1208141"/>
          </a:xfrm>
        </p:spPr>
        <p:txBody>
          <a:bodyPr vert="horz" lIns="91440" tIns="45720" rIns="91440" bIns="45720" rtlCol="0">
            <a:normAutofit/>
          </a:bodyPr>
          <a:lstStyle/>
          <a:p>
            <a:r>
              <a:rPr lang="en-US" sz="2000" dirty="0" err="1">
                <a:solidFill>
                  <a:schemeClr val="tx1"/>
                </a:solidFill>
              </a:rPr>
              <a:t>Allgemeines</a:t>
            </a:r>
            <a:r>
              <a:rPr lang="en-US" sz="2000" dirty="0">
                <a:solidFill>
                  <a:schemeClr val="tx1"/>
                </a:solidFill>
              </a:rPr>
              <a:t> </a:t>
            </a:r>
            <a:r>
              <a:rPr lang="en-US" sz="2000" dirty="0" err="1">
                <a:solidFill>
                  <a:schemeClr val="tx1"/>
                </a:solidFill>
              </a:rPr>
              <a:t>zum</a:t>
            </a:r>
            <a:r>
              <a:rPr lang="en-US" sz="2000" dirty="0">
                <a:solidFill>
                  <a:schemeClr val="tx1"/>
                </a:solidFill>
              </a:rPr>
              <a:t> </a:t>
            </a:r>
            <a:r>
              <a:rPr lang="en-US" sz="2000" b="1" dirty="0" err="1">
                <a:solidFill>
                  <a:schemeClr val="tx1"/>
                </a:solidFill>
              </a:rPr>
              <a:t>Datenschutz</a:t>
            </a:r>
            <a:r>
              <a:rPr lang="en-US" sz="2000" dirty="0">
                <a:solidFill>
                  <a:schemeClr val="tx1"/>
                </a:solidFill>
              </a:rPr>
              <a:t> </a:t>
            </a:r>
            <a:br>
              <a:rPr lang="en-US" sz="2000" dirty="0">
                <a:solidFill>
                  <a:schemeClr val="tx1"/>
                </a:solidFill>
              </a:rPr>
            </a:br>
            <a:r>
              <a:rPr lang="en-US" sz="2000" dirty="0">
                <a:solidFill>
                  <a:schemeClr val="tx1"/>
                </a:solidFill>
              </a:rPr>
              <a:t>und </a:t>
            </a:r>
            <a:r>
              <a:rPr lang="en-US" sz="2000" dirty="0" err="1">
                <a:solidFill>
                  <a:schemeClr val="tx1"/>
                </a:solidFill>
              </a:rPr>
              <a:t>zur</a:t>
            </a:r>
            <a:r>
              <a:rPr lang="en-US" sz="2000" dirty="0">
                <a:solidFill>
                  <a:schemeClr val="tx1"/>
                </a:solidFill>
              </a:rPr>
              <a:t> </a:t>
            </a:r>
            <a:r>
              <a:rPr lang="en-US" sz="2000" b="1" dirty="0" err="1">
                <a:solidFill>
                  <a:schemeClr val="tx1"/>
                </a:solidFill>
              </a:rPr>
              <a:t>Datensicherheit</a:t>
            </a:r>
            <a:endParaRPr lang="en-US" sz="2000" dirty="0">
              <a:solidFill>
                <a:schemeClr val="tx1"/>
              </a:solidFill>
            </a:endParaRPr>
          </a:p>
        </p:txBody>
      </p:sp>
      <p:sp>
        <p:nvSpPr>
          <p:cNvPr id="25" name="Rectangle 2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ußzeilenplatzhalter 3">
            <a:extLst>
              <a:ext uri="{FF2B5EF4-FFF2-40B4-BE49-F238E27FC236}">
                <a16:creationId xmlns:a16="http://schemas.microsoft.com/office/drawing/2014/main" id="{106D4F72-D4F9-06A0-A35B-C51C66B1251A}"/>
              </a:ext>
            </a:extLst>
          </p:cNvPr>
          <p:cNvSpPr>
            <a:spLocks noGrp="1"/>
          </p:cNvSpPr>
          <p:nvPr>
            <p:ph type="ftr" sz="quarter" idx="11"/>
          </p:nvPr>
        </p:nvSpPr>
        <p:spPr/>
        <p:txBody>
          <a:bodyPr/>
          <a:lstStyle/>
          <a:p>
            <a:r>
              <a:rPr lang="de-DE"/>
              <a:t>Dirk Moltzen - externer Datenschutzbeauftragter TÜV® CERT</a:t>
            </a:r>
            <a:endParaRPr lang="de-DE" dirty="0"/>
          </a:p>
        </p:txBody>
      </p:sp>
      <p:sp>
        <p:nvSpPr>
          <p:cNvPr id="6" name="Foliennummernplatzhalter 5">
            <a:extLst>
              <a:ext uri="{FF2B5EF4-FFF2-40B4-BE49-F238E27FC236}">
                <a16:creationId xmlns:a16="http://schemas.microsoft.com/office/drawing/2014/main" id="{02B1EEFF-BB94-B594-116B-44CDD559DDFE}"/>
              </a:ext>
            </a:extLst>
          </p:cNvPr>
          <p:cNvSpPr>
            <a:spLocks noGrp="1"/>
          </p:cNvSpPr>
          <p:nvPr>
            <p:ph type="sldNum" sz="quarter" idx="12"/>
          </p:nvPr>
        </p:nvSpPr>
        <p:spPr/>
        <p:txBody>
          <a:bodyPr/>
          <a:lstStyle/>
          <a:p>
            <a:fld id="{B4CE166D-2D50-44F1-A818-BFD238545C9D}" type="slidenum">
              <a:rPr lang="de-DE" smtClean="0"/>
              <a:t>3</a:t>
            </a:fld>
            <a:endParaRPr lang="de-DE"/>
          </a:p>
        </p:txBody>
      </p:sp>
    </p:spTree>
    <p:extLst>
      <p:ext uri="{BB962C8B-B14F-4D97-AF65-F5344CB8AC3E}">
        <p14:creationId xmlns:p14="http://schemas.microsoft.com/office/powerpoint/2010/main" val="312500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6ED088B-63C6-2BFD-179B-69D84C0D2F71}"/>
              </a:ext>
            </a:extLst>
          </p:cNvPr>
          <p:cNvSpPr>
            <a:spLocks noGrp="1"/>
          </p:cNvSpPr>
          <p:nvPr>
            <p:ph type="title"/>
          </p:nvPr>
        </p:nvSpPr>
        <p:spPr>
          <a:xfrm>
            <a:off x="838200" y="365125"/>
            <a:ext cx="10515600" cy="763283"/>
          </a:xfrm>
        </p:spPr>
        <p:txBody>
          <a:bodyPr>
            <a:normAutofit/>
          </a:bodyPr>
          <a:lstStyle/>
          <a:p>
            <a:r>
              <a:rPr lang="de-DE" dirty="0"/>
              <a:t>Der Weg des Datenschutzes</a:t>
            </a:r>
          </a:p>
        </p:txBody>
      </p:sp>
      <p:sp>
        <p:nvSpPr>
          <p:cNvPr id="8" name="Inhaltsplatzhalter 7">
            <a:extLst>
              <a:ext uri="{FF2B5EF4-FFF2-40B4-BE49-F238E27FC236}">
                <a16:creationId xmlns:a16="http://schemas.microsoft.com/office/drawing/2014/main" id="{4A079EC6-A65D-7629-7218-D25CEE40C519}"/>
              </a:ext>
            </a:extLst>
          </p:cNvPr>
          <p:cNvSpPr>
            <a:spLocks noGrp="1"/>
          </p:cNvSpPr>
          <p:nvPr>
            <p:ph idx="1"/>
          </p:nvPr>
        </p:nvSpPr>
        <p:spPr>
          <a:xfrm>
            <a:off x="838200" y="1254868"/>
            <a:ext cx="10515600" cy="5101482"/>
          </a:xfrm>
        </p:spPr>
        <p:txBody>
          <a:bodyPr>
            <a:noAutofit/>
          </a:bodyPr>
          <a:lstStyle/>
          <a:p>
            <a:pPr marL="342900" lvl="0" indent="-342900">
              <a:lnSpc>
                <a:spcPct val="107000"/>
              </a:lnSpc>
              <a:buFont typeface="Symbol" panose="05050102010706020507" pitchFamily="18" charset="2"/>
              <a:buChar char=""/>
            </a:pPr>
            <a:r>
              <a:rPr lang="de-DE" sz="1800" b="1" kern="100" dirty="0">
                <a:solidFill>
                  <a:srgbClr val="7030A0"/>
                </a:solidFill>
                <a:effectLst/>
                <a:ea typeface="Aptos" panose="020B0004020202020204" pitchFamily="34" charset="0"/>
                <a:cs typeface="Times New Roman" panose="02020603050405020304" pitchFamily="18" charset="0"/>
              </a:rPr>
              <a:t>Art. 1 Abs. 1 GG: </a:t>
            </a:r>
            <a:r>
              <a:rPr lang="de-DE" sz="1800" kern="100" dirty="0">
                <a:effectLst/>
                <a:ea typeface="Aptos" panose="020B0004020202020204" pitchFamily="34" charset="0"/>
                <a:cs typeface="Times New Roman" panose="02020603050405020304" pitchFamily="18" charset="0"/>
              </a:rPr>
              <a:t>Die Würde des Menschen ist unantastbar.</a:t>
            </a:r>
          </a:p>
          <a:p>
            <a:pPr marL="342900" lvl="0" indent="-342900">
              <a:lnSpc>
                <a:spcPct val="107000"/>
              </a:lnSpc>
              <a:buFont typeface="Symbol" panose="05050102010706020507" pitchFamily="18" charset="2"/>
              <a:buChar char=""/>
            </a:pPr>
            <a:r>
              <a:rPr lang="de-DE" sz="1800" b="1" kern="100" dirty="0">
                <a:solidFill>
                  <a:srgbClr val="7030A0"/>
                </a:solidFill>
                <a:effectLst/>
                <a:ea typeface="Aptos" panose="020B0004020202020204" pitchFamily="34" charset="0"/>
                <a:cs typeface="Times New Roman" panose="02020603050405020304" pitchFamily="18" charset="0"/>
              </a:rPr>
              <a:t>Art. 2 Abs: 1 GG:</a:t>
            </a:r>
            <a:r>
              <a:rPr lang="de-DE" sz="1800" kern="100" dirty="0">
                <a:solidFill>
                  <a:srgbClr val="7030A0"/>
                </a:solidFill>
                <a:effectLst/>
                <a:ea typeface="Aptos" panose="020B0004020202020204" pitchFamily="34" charset="0"/>
                <a:cs typeface="Times New Roman" panose="02020603050405020304" pitchFamily="18" charset="0"/>
              </a:rPr>
              <a:t> </a:t>
            </a:r>
            <a:r>
              <a:rPr lang="de-DE" sz="1800" kern="100" dirty="0">
                <a:effectLst/>
                <a:ea typeface="Aptos" panose="020B0004020202020204" pitchFamily="34" charset="0"/>
                <a:cs typeface="Times New Roman" panose="02020603050405020304" pitchFamily="18" charset="0"/>
              </a:rPr>
              <a:t>Jeder Mensch hat das Recht auf die freie Entfaltung seiner Persönlichkeit…</a:t>
            </a:r>
          </a:p>
          <a:p>
            <a:pPr marL="342900" lvl="0" indent="-342900">
              <a:lnSpc>
                <a:spcPct val="107000"/>
              </a:lnSpc>
              <a:buFont typeface="Symbol" panose="05050102010706020507" pitchFamily="18" charset="2"/>
              <a:buChar char=""/>
            </a:pPr>
            <a:r>
              <a:rPr lang="de-DE" sz="1800" kern="100" dirty="0">
                <a:effectLst/>
                <a:ea typeface="Aptos" panose="020B0004020202020204" pitchFamily="34" charset="0"/>
                <a:cs typeface="Times New Roman" panose="02020603050405020304" pitchFamily="18" charset="0"/>
              </a:rPr>
              <a:t>Das</a:t>
            </a:r>
            <a:r>
              <a:rPr lang="de-DE" sz="1800" b="1" kern="100" dirty="0">
                <a:effectLst/>
                <a:ea typeface="Aptos" panose="020B0004020202020204" pitchFamily="34" charset="0"/>
                <a:cs typeface="Times New Roman" panose="02020603050405020304" pitchFamily="18" charset="0"/>
              </a:rPr>
              <a:t> informationelle Selbstbestimmungsrecht </a:t>
            </a:r>
            <a:r>
              <a:rPr lang="de-DE" sz="1800" kern="100" dirty="0">
                <a:effectLst/>
                <a:ea typeface="Aptos" panose="020B0004020202020204" pitchFamily="34" charset="0"/>
                <a:cs typeface="Times New Roman" panose="02020603050405020304" pitchFamily="18" charset="0"/>
              </a:rPr>
              <a:t>besagt, dass jeder Bürger über die Preisgabe ihn betreffender persönlicher Informationen grundsätzlich frei entscheiden darf.</a:t>
            </a:r>
          </a:p>
          <a:p>
            <a:pPr marL="342900" lvl="0" indent="-342900">
              <a:lnSpc>
                <a:spcPct val="107000"/>
              </a:lnSpc>
              <a:buFont typeface="Symbol" panose="05050102010706020507" pitchFamily="18" charset="2"/>
              <a:buChar char=""/>
            </a:pPr>
            <a:r>
              <a:rPr lang="de-DE" sz="1800" b="1" kern="100" dirty="0">
                <a:effectLst/>
                <a:ea typeface="Aptos" panose="020B0004020202020204" pitchFamily="34" charset="0"/>
                <a:cs typeface="Times New Roman" panose="02020603050405020304" pitchFamily="18" charset="0"/>
              </a:rPr>
              <a:t>DSGVO </a:t>
            </a:r>
            <a:r>
              <a:rPr lang="de-DE" sz="1800" kern="100" dirty="0">
                <a:effectLst/>
                <a:ea typeface="Aptos" panose="020B0004020202020204" pitchFamily="34" charset="0"/>
                <a:cs typeface="Times New Roman" panose="02020603050405020304" pitchFamily="18" charset="0"/>
              </a:rPr>
              <a:t>wird 2018 in Kraft gesetz</a:t>
            </a:r>
            <a:r>
              <a:rPr lang="de-DE" sz="1800" kern="100" dirty="0">
                <a:ea typeface="Aptos" panose="020B0004020202020204" pitchFamily="34" charset="0"/>
                <a:cs typeface="Times New Roman" panose="02020603050405020304" pitchFamily="18" charset="0"/>
              </a:rPr>
              <a:t>t</a:t>
            </a:r>
            <a:r>
              <a:rPr lang="de-DE" sz="1800" b="1" kern="100" dirty="0">
                <a:ea typeface="Aptos" panose="020B0004020202020204" pitchFamily="34" charset="0"/>
                <a:cs typeface="Times New Roman" panose="02020603050405020304" pitchFamily="18" charset="0"/>
              </a:rPr>
              <a:t>, regelt den Datenschutz innerhalb der EU</a:t>
            </a:r>
            <a:endParaRPr lang="de-DE" sz="1800" b="1"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1800" b="1" kern="100" dirty="0">
                <a:effectLst/>
                <a:ea typeface="Aptos" panose="020B0004020202020204" pitchFamily="34" charset="0"/>
                <a:cs typeface="Times New Roman" panose="02020603050405020304" pitchFamily="18" charset="0"/>
              </a:rPr>
              <a:t>BDSG</a:t>
            </a:r>
            <a:r>
              <a:rPr lang="de-DE" sz="1800" kern="100" dirty="0">
                <a:effectLst/>
                <a:ea typeface="Aptos" panose="020B0004020202020204" pitchFamily="34" charset="0"/>
                <a:cs typeface="Times New Roman" panose="02020603050405020304" pitchFamily="18" charset="0"/>
              </a:rPr>
              <a:t> regelt den </a:t>
            </a:r>
            <a:r>
              <a:rPr lang="de-DE" sz="1800" b="1" kern="100" dirty="0">
                <a:effectLst/>
                <a:ea typeface="Aptos" panose="020B0004020202020204" pitchFamily="34" charset="0"/>
                <a:cs typeface="Times New Roman" panose="02020603050405020304" pitchFamily="18" charset="0"/>
              </a:rPr>
              <a:t>Datenschutz innerhalb Deutschlands und für Bundesbehörden</a:t>
            </a:r>
            <a:r>
              <a:rPr lang="de-DE" sz="1800" kern="100" dirty="0">
                <a:effectLst/>
                <a:ea typeface="Aptos" panose="020B0004020202020204" pitchFamily="34" charset="0"/>
                <a:cs typeface="Times New Roman" panose="02020603050405020304" pitchFamily="18" charset="0"/>
              </a:rPr>
              <a:t>.</a:t>
            </a:r>
          </a:p>
          <a:p>
            <a:pPr marL="342900" lvl="0" indent="-342900">
              <a:lnSpc>
                <a:spcPct val="107000"/>
              </a:lnSpc>
              <a:spcAft>
                <a:spcPts val="800"/>
              </a:spcAft>
              <a:buFont typeface="Symbol" panose="05050102010706020507" pitchFamily="18" charset="2"/>
              <a:buChar char=""/>
            </a:pPr>
            <a:r>
              <a:rPr lang="de-DE" sz="1800" b="1" kern="100" dirty="0">
                <a:effectLst/>
                <a:ea typeface="Aptos" panose="020B0004020202020204" pitchFamily="34" charset="0"/>
                <a:cs typeface="Times New Roman" panose="02020603050405020304" pitchFamily="18" charset="0"/>
              </a:rPr>
              <a:t>LDSG</a:t>
            </a:r>
            <a:r>
              <a:rPr lang="de-DE" sz="1800" kern="100" dirty="0">
                <a:effectLst/>
                <a:ea typeface="Aptos" panose="020B0004020202020204" pitchFamily="34" charset="0"/>
                <a:cs typeface="Times New Roman" panose="02020603050405020304" pitchFamily="18" charset="0"/>
              </a:rPr>
              <a:t> regeln den Datenschutz für </a:t>
            </a:r>
            <a:r>
              <a:rPr lang="de-DE" sz="1800" b="1" kern="100" dirty="0">
                <a:effectLst/>
                <a:ea typeface="Aptos" panose="020B0004020202020204" pitchFamily="34" charset="0"/>
                <a:cs typeface="Times New Roman" panose="02020603050405020304" pitchFamily="18" charset="0"/>
              </a:rPr>
              <a:t>öffentliche Stellen</a:t>
            </a:r>
            <a:r>
              <a:rPr lang="de-DE" sz="1800" kern="100" dirty="0">
                <a:effectLst/>
                <a:ea typeface="Aptos" panose="020B0004020202020204" pitchFamily="34" charset="0"/>
                <a:cs typeface="Times New Roman" panose="02020603050405020304" pitchFamily="18" charset="0"/>
              </a:rPr>
              <a:t> innerhalb </a:t>
            </a:r>
            <a:r>
              <a:rPr lang="de-DE" sz="1800" b="1" kern="100" dirty="0">
                <a:effectLst/>
                <a:ea typeface="Aptos" panose="020B0004020202020204" pitchFamily="34" charset="0"/>
                <a:cs typeface="Times New Roman" panose="02020603050405020304" pitchFamily="18" charset="0"/>
              </a:rPr>
              <a:t>Deutschlands.</a:t>
            </a:r>
            <a:endParaRPr lang="de-DE" sz="1800" kern="100" dirty="0">
              <a:effectLst/>
              <a:ea typeface="Aptos" panose="020B0004020202020204" pitchFamily="34" charset="0"/>
              <a:cs typeface="Times New Roman" panose="02020603050405020304" pitchFamily="18" charset="0"/>
            </a:endParaRPr>
          </a:p>
          <a:p>
            <a:pPr>
              <a:lnSpc>
                <a:spcPct val="107000"/>
              </a:lnSpc>
              <a:spcAft>
                <a:spcPts val="800"/>
              </a:spcAft>
              <a:buNone/>
            </a:pPr>
            <a:r>
              <a:rPr lang="de-DE" sz="1800" b="1" kern="100" dirty="0">
                <a:effectLst/>
                <a:ea typeface="Aptos" panose="020B0004020202020204" pitchFamily="34" charset="0"/>
                <a:cs typeface="Times New Roman" panose="02020603050405020304" pitchFamily="18" charset="0"/>
              </a:rPr>
              <a:t>	</a:t>
            </a:r>
            <a:r>
              <a:rPr lang="de-DE" sz="1800" b="1" u="sng" kern="100" dirty="0">
                <a:effectLst/>
                <a:ea typeface="Aptos" panose="020B0004020202020204" pitchFamily="34" charset="0"/>
                <a:cs typeface="Times New Roman" panose="02020603050405020304" pitchFamily="18" charset="0"/>
              </a:rPr>
              <a:t>Digital Service Act (DSA)</a:t>
            </a:r>
            <a:br>
              <a:rPr lang="de-DE" sz="1800" kern="100" dirty="0">
                <a:effectLst/>
                <a:ea typeface="Aptos" panose="020B0004020202020204" pitchFamily="34" charset="0"/>
                <a:cs typeface="Times New Roman" panose="02020603050405020304" pitchFamily="18" charset="0"/>
              </a:rPr>
            </a:br>
            <a:r>
              <a:rPr lang="de-DE" sz="1800" kern="100" dirty="0">
                <a:effectLst/>
                <a:ea typeface="Aptos" panose="020B0004020202020204" pitchFamily="34" charset="0"/>
                <a:cs typeface="Times New Roman" panose="02020603050405020304" pitchFamily="18" charset="0"/>
              </a:rPr>
              <a:t>Die EU hatte 2022 beschlossen eine zusätzliche Verordnung zu erlassen. </a:t>
            </a:r>
            <a:br>
              <a:rPr lang="de-DE" sz="1800" kern="100" dirty="0">
                <a:effectLst/>
                <a:ea typeface="Aptos" panose="020B0004020202020204" pitchFamily="34" charset="0"/>
                <a:cs typeface="Times New Roman" panose="02020603050405020304" pitchFamily="18" charset="0"/>
              </a:rPr>
            </a:br>
            <a:r>
              <a:rPr lang="de-DE" sz="1800" i="1" kern="100" dirty="0">
                <a:effectLst/>
                <a:ea typeface="Aptos" panose="020B0004020202020204" pitchFamily="34" charset="0"/>
                <a:cs typeface="Times New Roman" panose="02020603050405020304" pitchFamily="18" charset="0"/>
              </a:rPr>
              <a:t>Gesetz über digitale Dienste</a:t>
            </a:r>
            <a:r>
              <a:rPr lang="de-DE" sz="1800" kern="100" dirty="0">
                <a:effectLst/>
                <a:ea typeface="Aptos" panose="020B0004020202020204" pitchFamily="34" charset="0"/>
                <a:cs typeface="Times New Roman" panose="02020603050405020304" pitchFamily="18" charset="0"/>
              </a:rPr>
              <a:t>. Ziel ist es einen Binnenmarkt für Daten zu schaffen. </a:t>
            </a:r>
          </a:p>
          <a:p>
            <a:pPr>
              <a:lnSpc>
                <a:spcPct val="107000"/>
              </a:lnSpc>
              <a:spcAft>
                <a:spcPts val="800"/>
              </a:spcAft>
              <a:buNone/>
            </a:pPr>
            <a:r>
              <a:rPr lang="de-DE" sz="1800" b="1" kern="100" dirty="0">
                <a:effectLst/>
                <a:ea typeface="Aptos" panose="020B0004020202020204" pitchFamily="34" charset="0"/>
                <a:cs typeface="Times New Roman" panose="02020603050405020304" pitchFamily="18" charset="0"/>
              </a:rPr>
              <a:t>	TDDDG</a:t>
            </a:r>
            <a:r>
              <a:rPr lang="de-DE" sz="1800" kern="100" dirty="0">
                <a:effectLst/>
                <a:ea typeface="Aptos" panose="020B0004020202020204" pitchFamily="34" charset="0"/>
                <a:cs typeface="Times New Roman" panose="02020603050405020304" pitchFamily="18" charset="0"/>
              </a:rPr>
              <a:t> (Telekommunikation-Digitale-Dienste-Datenschutz-Gesetz) ehemals TTDSG</a:t>
            </a:r>
            <a:br>
              <a:rPr lang="de-DE" sz="1800" kern="100" dirty="0">
                <a:effectLst/>
                <a:ea typeface="Aptos" panose="020B0004020202020204" pitchFamily="34" charset="0"/>
                <a:cs typeface="Times New Roman" panose="02020603050405020304" pitchFamily="18" charset="0"/>
              </a:rPr>
            </a:br>
            <a:r>
              <a:rPr lang="de-DE" sz="1800" kern="100" dirty="0">
                <a:effectLst/>
                <a:ea typeface="Aptos" panose="020B0004020202020204" pitchFamily="34" charset="0"/>
                <a:cs typeface="Times New Roman" panose="02020603050405020304" pitchFamily="18" charset="0"/>
              </a:rPr>
              <a:t>und das </a:t>
            </a:r>
            <a:br>
              <a:rPr lang="de-DE" sz="1800" kern="100" dirty="0">
                <a:effectLst/>
                <a:ea typeface="Aptos" panose="020B0004020202020204" pitchFamily="34" charset="0"/>
                <a:cs typeface="Times New Roman" panose="02020603050405020304" pitchFamily="18" charset="0"/>
              </a:rPr>
            </a:br>
            <a:r>
              <a:rPr lang="de-DE" sz="1800" b="1" kern="100" dirty="0">
                <a:effectLst/>
                <a:ea typeface="Aptos" panose="020B0004020202020204" pitchFamily="34" charset="0"/>
                <a:cs typeface="Times New Roman" panose="02020603050405020304" pitchFamily="18" charset="0"/>
              </a:rPr>
              <a:t>DDG</a:t>
            </a:r>
            <a:r>
              <a:rPr lang="de-DE" sz="1800" kern="100" dirty="0">
                <a:effectLst/>
                <a:ea typeface="Aptos" panose="020B0004020202020204" pitchFamily="34" charset="0"/>
                <a:cs typeface="Times New Roman" panose="02020603050405020304" pitchFamily="18" charset="0"/>
              </a:rPr>
              <a:t> (Digitale-Dienste-Gesetz) ehemals TMG </a:t>
            </a:r>
            <a:r>
              <a:rPr lang="de-DE" sz="1800" i="1" kern="100" dirty="0">
                <a:effectLst/>
                <a:ea typeface="Aptos" panose="020B0004020202020204" pitchFamily="34" charset="0"/>
                <a:cs typeface="Times New Roman" panose="02020603050405020304" pitchFamily="18" charset="0"/>
              </a:rPr>
              <a:t>[Impressum </a:t>
            </a:r>
            <a:r>
              <a:rPr lang="de-DE" sz="1800" b="1" i="1" kern="100" dirty="0">
                <a:solidFill>
                  <a:srgbClr val="7030A0"/>
                </a:solidFill>
                <a:effectLst/>
                <a:ea typeface="Aptos" panose="020B0004020202020204" pitchFamily="34" charset="0"/>
                <a:cs typeface="Times New Roman" panose="02020603050405020304" pitchFamily="18" charset="0"/>
              </a:rPr>
              <a:t>§5 DDG</a:t>
            </a:r>
            <a:r>
              <a:rPr lang="de-DE" sz="1800" i="1" kern="100" dirty="0">
                <a:effectLst/>
                <a:ea typeface="Aptos" panose="020B0004020202020204" pitchFamily="34" charset="0"/>
                <a:cs typeface="Times New Roman" panose="02020603050405020304" pitchFamily="18" charset="0"/>
              </a:rPr>
              <a:t>] </a:t>
            </a:r>
            <a:r>
              <a:rPr lang="de-DE" sz="1800" kern="100" dirty="0">
                <a:effectLst/>
                <a:ea typeface="Aptos" panose="020B0004020202020204" pitchFamily="34" charset="0"/>
                <a:cs typeface="Times New Roman" panose="02020603050405020304" pitchFamily="18" charset="0"/>
              </a:rPr>
              <a:t>treten im Mai 2024 in Kraft</a:t>
            </a:r>
          </a:p>
          <a:p>
            <a:endParaRPr lang="de-DE" sz="1800" dirty="0"/>
          </a:p>
        </p:txBody>
      </p:sp>
      <p:sp>
        <p:nvSpPr>
          <p:cNvPr id="5" name="Fußzeilenplatzhalter 4">
            <a:extLst>
              <a:ext uri="{FF2B5EF4-FFF2-40B4-BE49-F238E27FC236}">
                <a16:creationId xmlns:a16="http://schemas.microsoft.com/office/drawing/2014/main" id="{C6C38FA3-9E23-047A-789A-A0A72EAA7111}"/>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6719C1C9-64CB-659C-18AD-E9B415681B66}"/>
              </a:ext>
            </a:extLst>
          </p:cNvPr>
          <p:cNvSpPr>
            <a:spLocks noGrp="1"/>
          </p:cNvSpPr>
          <p:nvPr>
            <p:ph type="sldNum" sz="quarter" idx="12"/>
          </p:nvPr>
        </p:nvSpPr>
        <p:spPr/>
        <p:txBody>
          <a:bodyPr/>
          <a:lstStyle/>
          <a:p>
            <a:fld id="{B4CE166D-2D50-44F1-A818-BFD238545C9D}" type="slidenum">
              <a:rPr lang="de-DE" smtClean="0"/>
              <a:t>4</a:t>
            </a:fld>
            <a:endParaRPr lang="de-DE"/>
          </a:p>
        </p:txBody>
      </p:sp>
    </p:spTree>
    <p:extLst>
      <p:ext uri="{BB962C8B-B14F-4D97-AF65-F5344CB8AC3E}">
        <p14:creationId xmlns:p14="http://schemas.microsoft.com/office/powerpoint/2010/main" val="3478555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3A403-616B-E781-3E5C-553455933B6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2A4F72D-E4EB-480F-FC3D-F5B8A6570E54}"/>
              </a:ext>
            </a:extLst>
          </p:cNvPr>
          <p:cNvSpPr>
            <a:spLocks noGrp="1"/>
          </p:cNvSpPr>
          <p:nvPr>
            <p:ph type="title"/>
          </p:nvPr>
        </p:nvSpPr>
        <p:spPr/>
        <p:txBody>
          <a:bodyPr/>
          <a:lstStyle/>
          <a:p>
            <a:r>
              <a:rPr lang="en-US" sz="4400" dirty="0"/>
              <a:t>Die Rechte, </a:t>
            </a:r>
            <a:r>
              <a:rPr lang="en-US" sz="4400" dirty="0" err="1"/>
              <a:t>Gesetze</a:t>
            </a:r>
            <a:r>
              <a:rPr lang="en-US" sz="4400" dirty="0"/>
              <a:t> und </a:t>
            </a:r>
            <a:r>
              <a:rPr lang="en-US" sz="4400" dirty="0" err="1"/>
              <a:t>Verordnungen</a:t>
            </a:r>
            <a:endParaRPr lang="de-DE" dirty="0"/>
          </a:p>
        </p:txBody>
      </p:sp>
      <p:sp>
        <p:nvSpPr>
          <p:cNvPr id="3" name="Inhaltsplatzhalter 2">
            <a:extLst>
              <a:ext uri="{FF2B5EF4-FFF2-40B4-BE49-F238E27FC236}">
                <a16:creationId xmlns:a16="http://schemas.microsoft.com/office/drawing/2014/main" id="{803ECEFA-9528-93C9-3804-B34ACF4358E7}"/>
              </a:ext>
            </a:extLst>
          </p:cNvPr>
          <p:cNvSpPr>
            <a:spLocks noGrp="1"/>
          </p:cNvSpPr>
          <p:nvPr>
            <p:ph sz="half" idx="1"/>
          </p:nvPr>
        </p:nvSpPr>
        <p:spPr/>
        <p:txBody>
          <a:bodyPr/>
          <a:lstStyle/>
          <a:p>
            <a:pPr marL="0" indent="0">
              <a:buNone/>
            </a:pPr>
            <a:r>
              <a:rPr lang="de-DE" b="1" dirty="0">
                <a:solidFill>
                  <a:srgbClr val="0070C0"/>
                </a:solidFill>
              </a:rPr>
              <a:t>         Rechte-Pyramide </a:t>
            </a:r>
            <a:endParaRPr lang="de-DE" dirty="0"/>
          </a:p>
          <a:p>
            <a:pPr marL="0" indent="0">
              <a:buNone/>
            </a:pPr>
            <a:endParaRPr lang="de-DE" dirty="0"/>
          </a:p>
          <a:p>
            <a:endParaRPr lang="de-DE" dirty="0"/>
          </a:p>
          <a:p>
            <a:endParaRPr lang="de-DE" dirty="0"/>
          </a:p>
          <a:p>
            <a:pPr marL="0" indent="0">
              <a:buNone/>
            </a:pPr>
            <a:endParaRPr lang="de-DE" dirty="0"/>
          </a:p>
        </p:txBody>
      </p:sp>
      <p:sp>
        <p:nvSpPr>
          <p:cNvPr id="6" name="Inhaltsplatzhalter 5">
            <a:extLst>
              <a:ext uri="{FF2B5EF4-FFF2-40B4-BE49-F238E27FC236}">
                <a16:creationId xmlns:a16="http://schemas.microsoft.com/office/drawing/2014/main" id="{3810A35B-79BD-AC47-D243-1A31CD6CCD2A}"/>
              </a:ext>
            </a:extLst>
          </p:cNvPr>
          <p:cNvSpPr>
            <a:spLocks noGrp="1"/>
          </p:cNvSpPr>
          <p:nvPr>
            <p:ph sz="half" idx="2"/>
          </p:nvPr>
        </p:nvSpPr>
        <p:spPr/>
        <p:txBody>
          <a:bodyPr/>
          <a:lstStyle/>
          <a:p>
            <a:pPr marL="0" indent="0">
              <a:buNone/>
            </a:pPr>
            <a:r>
              <a:rPr lang="de-DE" b="1" dirty="0">
                <a:solidFill>
                  <a:srgbClr val="0070C0"/>
                </a:solidFill>
              </a:rPr>
              <a:t>Datenschutz-Pyramide</a:t>
            </a:r>
          </a:p>
        </p:txBody>
      </p:sp>
      <p:sp>
        <p:nvSpPr>
          <p:cNvPr id="4" name="Fußzeilenplatzhalter 3">
            <a:extLst>
              <a:ext uri="{FF2B5EF4-FFF2-40B4-BE49-F238E27FC236}">
                <a16:creationId xmlns:a16="http://schemas.microsoft.com/office/drawing/2014/main" id="{CF9B4B26-FE95-A512-9482-9CCDEA8A228C}"/>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5D4202E0-9D2F-1708-0DB0-AAC10EDB38F8}"/>
              </a:ext>
            </a:extLst>
          </p:cNvPr>
          <p:cNvSpPr>
            <a:spLocks noGrp="1"/>
          </p:cNvSpPr>
          <p:nvPr>
            <p:ph type="sldNum" sz="quarter" idx="12"/>
          </p:nvPr>
        </p:nvSpPr>
        <p:spPr/>
        <p:txBody>
          <a:bodyPr/>
          <a:lstStyle/>
          <a:p>
            <a:fld id="{B4CE166D-2D50-44F1-A818-BFD238545C9D}" type="slidenum">
              <a:rPr lang="de-DE" smtClean="0"/>
              <a:t>5</a:t>
            </a:fld>
            <a:endParaRPr lang="de-DE"/>
          </a:p>
        </p:txBody>
      </p:sp>
      <p:graphicFrame>
        <p:nvGraphicFramePr>
          <p:cNvPr id="7" name="Diagramm 6">
            <a:extLst>
              <a:ext uri="{FF2B5EF4-FFF2-40B4-BE49-F238E27FC236}">
                <a16:creationId xmlns:a16="http://schemas.microsoft.com/office/drawing/2014/main" id="{E6261164-A818-0C2B-354F-F5219AA8CC54}"/>
              </a:ext>
            </a:extLst>
          </p:cNvPr>
          <p:cNvGraphicFramePr/>
          <p:nvPr>
            <p:extLst>
              <p:ext uri="{D42A27DB-BD31-4B8C-83A1-F6EECF244321}">
                <p14:modId xmlns:p14="http://schemas.microsoft.com/office/powerpoint/2010/main" val="3530733603"/>
              </p:ext>
            </p:extLst>
          </p:nvPr>
        </p:nvGraphicFramePr>
        <p:xfrm>
          <a:off x="6172200" y="2373547"/>
          <a:ext cx="4224506" cy="36698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m 8">
            <a:extLst>
              <a:ext uri="{FF2B5EF4-FFF2-40B4-BE49-F238E27FC236}">
                <a16:creationId xmlns:a16="http://schemas.microsoft.com/office/drawing/2014/main" id="{AC9F48E5-B3F7-B659-D7AD-2DDAACA3F436}"/>
              </a:ext>
            </a:extLst>
          </p:cNvPr>
          <p:cNvGraphicFramePr/>
          <p:nvPr>
            <p:extLst>
              <p:ext uri="{D42A27DB-BD31-4B8C-83A1-F6EECF244321}">
                <p14:modId xmlns:p14="http://schemas.microsoft.com/office/powerpoint/2010/main" val="857637744"/>
              </p:ext>
            </p:extLst>
          </p:nvPr>
        </p:nvGraphicFramePr>
        <p:xfrm>
          <a:off x="977630" y="2373547"/>
          <a:ext cx="3892145" cy="36296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009427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F63854B6-7FBA-ABA7-D88B-1380EE8F5E37}"/>
              </a:ext>
            </a:extLst>
          </p:cNvPr>
          <p:cNvSpPr>
            <a:spLocks noGrp="1"/>
          </p:cNvSpPr>
          <p:nvPr>
            <p:ph type="title"/>
          </p:nvPr>
        </p:nvSpPr>
        <p:spPr/>
        <p:txBody>
          <a:bodyPr/>
          <a:lstStyle/>
          <a:p>
            <a:r>
              <a:rPr lang="de-DE" dirty="0"/>
              <a:t>Datenschutz &amp; Datensicherheit</a:t>
            </a:r>
          </a:p>
        </p:txBody>
      </p:sp>
      <p:sp>
        <p:nvSpPr>
          <p:cNvPr id="8" name="Inhaltsplatzhalter 7">
            <a:extLst>
              <a:ext uri="{FF2B5EF4-FFF2-40B4-BE49-F238E27FC236}">
                <a16:creationId xmlns:a16="http://schemas.microsoft.com/office/drawing/2014/main" id="{2C0C8A9A-EDC1-EB52-1792-20DD38736ACF}"/>
              </a:ext>
            </a:extLst>
          </p:cNvPr>
          <p:cNvSpPr>
            <a:spLocks noGrp="1"/>
          </p:cNvSpPr>
          <p:nvPr>
            <p:ph idx="1"/>
          </p:nvPr>
        </p:nvSpPr>
        <p:spPr>
          <a:xfrm>
            <a:off x="838200" y="1439694"/>
            <a:ext cx="10515600" cy="4737269"/>
          </a:xfrm>
        </p:spPr>
        <p:txBody>
          <a:bodyPr>
            <a:normAutofit/>
          </a:bodyPr>
          <a:lstStyle/>
          <a:p>
            <a:pPr>
              <a:lnSpc>
                <a:spcPct val="107000"/>
              </a:lnSpc>
              <a:spcAft>
                <a:spcPts val="800"/>
              </a:spcAft>
              <a:buNone/>
            </a:pPr>
            <a:r>
              <a:rPr lang="de-DE" sz="2000" b="1" kern="100" dirty="0">
                <a:effectLst/>
                <a:ea typeface="Aptos" panose="020B0004020202020204" pitchFamily="34" charset="0"/>
                <a:cs typeface="Times New Roman" panose="02020603050405020304" pitchFamily="18" charset="0"/>
              </a:rPr>
              <a:t>Datenschutz ist kein Selbstzweck</a:t>
            </a:r>
            <a:r>
              <a:rPr lang="de-DE" sz="2000" kern="100" dirty="0">
                <a:effectLst/>
                <a:ea typeface="Aptos" panose="020B0004020202020204" pitchFamily="34" charset="0"/>
                <a:cs typeface="Times New Roman" panose="02020603050405020304" pitchFamily="18" charset="0"/>
              </a:rPr>
              <a:t>, sondern er soll das Recht der Bürger auf informationelle Selbstbestimmung wahren. Datenschutz behindert auch keine Arbeitsprozesse, sondern </a:t>
            </a:r>
            <a:r>
              <a:rPr lang="de-DE" sz="2000" b="1" kern="100" dirty="0">
                <a:effectLst/>
                <a:ea typeface="Aptos" panose="020B0004020202020204" pitchFamily="34" charset="0"/>
                <a:cs typeface="Times New Roman" panose="02020603050405020304" pitchFamily="18" charset="0"/>
              </a:rPr>
              <a:t>macht</a:t>
            </a:r>
            <a:r>
              <a:rPr lang="de-DE" sz="2000" kern="100" dirty="0">
                <a:effectLst/>
                <a:ea typeface="Aptos" panose="020B0004020202020204" pitchFamily="34" charset="0"/>
                <a:cs typeface="Times New Roman" panose="02020603050405020304" pitchFamily="18" charset="0"/>
              </a:rPr>
              <a:t> diese </a:t>
            </a:r>
            <a:r>
              <a:rPr lang="de-DE" sz="2000" b="1" kern="100" dirty="0">
                <a:ea typeface="Aptos" panose="020B0004020202020204" pitchFamily="34" charset="0"/>
                <a:cs typeface="Times New Roman" panose="02020603050405020304" pitchFamily="18" charset="0"/>
              </a:rPr>
              <a:t>r</a:t>
            </a:r>
            <a:r>
              <a:rPr lang="de-DE" sz="2000" b="1" kern="100" dirty="0">
                <a:effectLst/>
                <a:ea typeface="Aptos" panose="020B0004020202020204" pitchFamily="34" charset="0"/>
                <a:cs typeface="Times New Roman" panose="02020603050405020304" pitchFamily="18" charset="0"/>
              </a:rPr>
              <a:t>echtssicher</a:t>
            </a:r>
            <a:r>
              <a:rPr lang="de-DE" sz="2000" kern="100" dirty="0">
                <a:effectLst/>
                <a:ea typeface="Aptos" panose="020B0004020202020204" pitchFamily="34" charset="0"/>
                <a:cs typeface="Times New Roman" panose="02020603050405020304" pitchFamily="18" charset="0"/>
              </a:rPr>
              <a:t>.</a:t>
            </a:r>
          </a:p>
          <a:p>
            <a:pPr>
              <a:lnSpc>
                <a:spcPct val="107000"/>
              </a:lnSpc>
              <a:spcAft>
                <a:spcPts val="800"/>
              </a:spcAft>
              <a:buNone/>
            </a:pPr>
            <a:r>
              <a:rPr lang="de-DE" sz="2000" b="1" u="sng" kern="100" dirty="0">
                <a:effectLst/>
                <a:ea typeface="Aptos" panose="020B0004020202020204" pitchFamily="34" charset="0"/>
                <a:cs typeface="Times New Roman" panose="02020603050405020304" pitchFamily="18" charset="0"/>
              </a:rPr>
              <a:t>Liste aller Datenschutzbehörden:</a:t>
            </a:r>
            <a:br>
              <a:rPr lang="de-DE" sz="2000" b="1" u="sng" kern="100" dirty="0">
                <a:effectLst/>
                <a:ea typeface="Aptos" panose="020B0004020202020204" pitchFamily="34" charset="0"/>
                <a:cs typeface="Times New Roman" panose="02020603050405020304" pitchFamily="18" charset="0"/>
              </a:rPr>
            </a:br>
            <a:r>
              <a:rPr lang="de-DE" sz="2000" u="sng" kern="100" dirty="0">
                <a:solidFill>
                  <a:srgbClr val="7030A0"/>
                </a:solidFill>
                <a:effectLst/>
                <a:ea typeface="Aptos" panose="020B0004020202020204" pitchFamily="34" charset="0"/>
                <a:cs typeface="Times New Roman" panose="02020603050405020304" pitchFamily="18" charset="0"/>
                <a:hlinkClick r:id="rId2"/>
              </a:rPr>
              <a:t>https://www.bfdi.bund.de</a:t>
            </a:r>
            <a:endParaRPr lang="de-DE" sz="2000" kern="100" dirty="0">
              <a:effectLst/>
              <a:ea typeface="Aptos" panose="020B0004020202020204" pitchFamily="34" charset="0"/>
              <a:cs typeface="Times New Roman" panose="02020603050405020304" pitchFamily="18" charset="0"/>
            </a:endParaRPr>
          </a:p>
          <a:p>
            <a:pPr>
              <a:lnSpc>
                <a:spcPct val="107000"/>
              </a:lnSpc>
              <a:spcAft>
                <a:spcPts val="800"/>
              </a:spcAft>
            </a:pPr>
            <a:r>
              <a:rPr lang="de-DE" sz="2000" kern="100" dirty="0">
                <a:effectLst/>
                <a:ea typeface="Aptos" panose="020B0004020202020204" pitchFamily="34" charset="0"/>
                <a:cs typeface="Times New Roman" panose="02020603050405020304" pitchFamily="18" charset="0"/>
              </a:rPr>
              <a:t> </a:t>
            </a:r>
            <a:r>
              <a:rPr lang="de-DE" sz="2000" b="1" u="sng" kern="100" dirty="0">
                <a:effectLst/>
                <a:ea typeface="Aptos" panose="020B0004020202020204" pitchFamily="34" charset="0"/>
                <a:cs typeface="Times New Roman" panose="02020603050405020304" pitchFamily="18" charset="0"/>
              </a:rPr>
              <a:t>Datenschutz:</a:t>
            </a:r>
            <a:br>
              <a:rPr lang="de-DE" sz="2000" b="1" u="sng" kern="100" dirty="0">
                <a:effectLst/>
                <a:ea typeface="Aptos" panose="020B0004020202020204" pitchFamily="34" charset="0"/>
                <a:cs typeface="Times New Roman" panose="02020603050405020304" pitchFamily="18" charset="0"/>
              </a:rPr>
            </a:br>
            <a:r>
              <a:rPr lang="de-DE" sz="2000" kern="100" dirty="0">
                <a:effectLst/>
                <a:ea typeface="Aptos" panose="020B0004020202020204" pitchFamily="34" charset="0"/>
                <a:cs typeface="Times New Roman" panose="02020603050405020304" pitchFamily="18" charset="0"/>
              </a:rPr>
              <a:t>Schutz der Privatsphäre eines jeden Menschen vor Missbrauch der persönlichen Daten.</a:t>
            </a:r>
            <a:br>
              <a:rPr lang="de-DE" sz="2000" kern="100" dirty="0">
                <a:effectLst/>
                <a:ea typeface="Aptos" panose="020B0004020202020204" pitchFamily="34" charset="0"/>
                <a:cs typeface="Times New Roman" panose="02020603050405020304" pitchFamily="18" charset="0"/>
              </a:rPr>
            </a:br>
            <a:r>
              <a:rPr lang="de-DE" sz="2000" u="sng" kern="100" dirty="0">
                <a:effectLst/>
                <a:ea typeface="Aptos" panose="020B0004020202020204" pitchFamily="34" charset="0"/>
                <a:cs typeface="Times New Roman" panose="02020603050405020304" pitchFamily="18" charset="0"/>
              </a:rPr>
              <a:t>Durch Einhaltung der Regelungen der DSGVO und BDSG.</a:t>
            </a:r>
          </a:p>
          <a:p>
            <a:pPr>
              <a:lnSpc>
                <a:spcPct val="107000"/>
              </a:lnSpc>
              <a:spcAft>
                <a:spcPts val="800"/>
              </a:spcAft>
            </a:pPr>
            <a:r>
              <a:rPr lang="de-DE" sz="2000" b="1" u="sng" kern="100" dirty="0">
                <a:effectLst/>
                <a:ea typeface="Aptos" panose="020B0004020202020204" pitchFamily="34" charset="0"/>
                <a:cs typeface="Times New Roman" panose="02020603050405020304" pitchFamily="18" charset="0"/>
              </a:rPr>
              <a:t>Datensicherheit:</a:t>
            </a:r>
            <a:br>
              <a:rPr lang="de-DE" sz="2000" b="1" u="sng" kern="100" dirty="0">
                <a:effectLst/>
                <a:ea typeface="Aptos" panose="020B0004020202020204" pitchFamily="34" charset="0"/>
                <a:cs typeface="Times New Roman" panose="02020603050405020304" pitchFamily="18" charset="0"/>
              </a:rPr>
            </a:br>
            <a:r>
              <a:rPr lang="de-DE" sz="2000" kern="100" dirty="0">
                <a:effectLst/>
                <a:ea typeface="Aptos" panose="020B0004020202020204" pitchFamily="34" charset="0"/>
                <a:cs typeface="Times New Roman" panose="02020603050405020304" pitchFamily="18" charset="0"/>
              </a:rPr>
              <a:t>Schutz aller Daten vor Manipulation, Verlust oder unberechtigter Kenntnisnahme.</a:t>
            </a:r>
            <a:br>
              <a:rPr lang="de-DE" sz="2000" kern="100" dirty="0">
                <a:effectLst/>
                <a:ea typeface="Aptos" panose="020B0004020202020204" pitchFamily="34" charset="0"/>
                <a:cs typeface="Times New Roman" panose="02020603050405020304" pitchFamily="18" charset="0"/>
              </a:rPr>
            </a:br>
            <a:r>
              <a:rPr lang="de-DE" sz="2000" u="sng" kern="100" dirty="0">
                <a:effectLst/>
                <a:ea typeface="Aptos" panose="020B0004020202020204" pitchFamily="34" charset="0"/>
                <a:cs typeface="Times New Roman" panose="02020603050405020304" pitchFamily="18" charset="0"/>
              </a:rPr>
              <a:t>Durch Umsetzung und Einhaltung der TOMs. </a:t>
            </a:r>
            <a:r>
              <a:rPr lang="de-DE" sz="2000" b="1" kern="100" dirty="0">
                <a:solidFill>
                  <a:srgbClr val="7030A0"/>
                </a:solidFill>
                <a:effectLst/>
                <a:ea typeface="Aptos" panose="020B0004020202020204" pitchFamily="34" charset="0"/>
                <a:cs typeface="Times New Roman" panose="02020603050405020304" pitchFamily="18" charset="0"/>
              </a:rPr>
              <a:t>[</a:t>
            </a:r>
            <a:r>
              <a:rPr lang="de-DE" sz="2000" b="1" i="1" kern="100" dirty="0">
                <a:solidFill>
                  <a:srgbClr val="7030A0"/>
                </a:solidFill>
                <a:effectLst/>
                <a:ea typeface="Aptos" panose="020B0004020202020204" pitchFamily="34" charset="0"/>
                <a:cs typeface="Times New Roman" panose="02020603050405020304" pitchFamily="18" charset="0"/>
              </a:rPr>
              <a:t>Art. 24 +32 DSGVO</a:t>
            </a:r>
            <a:r>
              <a:rPr lang="de-DE" sz="2000" b="1" kern="100" dirty="0">
                <a:solidFill>
                  <a:srgbClr val="7030A0"/>
                </a:solidFill>
                <a:effectLst/>
                <a:ea typeface="Aptos" panose="020B0004020202020204" pitchFamily="34" charset="0"/>
                <a:cs typeface="Times New Roman" panose="02020603050405020304" pitchFamily="18" charset="0"/>
              </a:rPr>
              <a:t>]</a:t>
            </a:r>
          </a:p>
          <a:p>
            <a:endParaRPr lang="de-DE" dirty="0"/>
          </a:p>
        </p:txBody>
      </p:sp>
      <p:sp>
        <p:nvSpPr>
          <p:cNvPr id="5" name="Fußzeilenplatzhalter 4">
            <a:extLst>
              <a:ext uri="{FF2B5EF4-FFF2-40B4-BE49-F238E27FC236}">
                <a16:creationId xmlns:a16="http://schemas.microsoft.com/office/drawing/2014/main" id="{32EF0585-4F19-6ABC-2742-82DE73B7EA8D}"/>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337A892A-6D98-2B26-4A90-5ACCD8C0C9C7}"/>
              </a:ext>
            </a:extLst>
          </p:cNvPr>
          <p:cNvSpPr>
            <a:spLocks noGrp="1"/>
          </p:cNvSpPr>
          <p:nvPr>
            <p:ph type="sldNum" sz="quarter" idx="12"/>
          </p:nvPr>
        </p:nvSpPr>
        <p:spPr/>
        <p:txBody>
          <a:bodyPr/>
          <a:lstStyle/>
          <a:p>
            <a:fld id="{B4CE166D-2D50-44F1-A818-BFD238545C9D}" type="slidenum">
              <a:rPr lang="de-DE" smtClean="0"/>
              <a:t>6</a:t>
            </a:fld>
            <a:endParaRPr lang="de-DE"/>
          </a:p>
        </p:txBody>
      </p:sp>
    </p:spTree>
    <p:extLst>
      <p:ext uri="{BB962C8B-B14F-4D97-AF65-F5344CB8AC3E}">
        <p14:creationId xmlns:p14="http://schemas.microsoft.com/office/powerpoint/2010/main" val="4099411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57DF4D-023C-561C-25D4-146D67364E61}"/>
              </a:ext>
            </a:extLst>
          </p:cNvPr>
          <p:cNvSpPr>
            <a:spLocks noGrp="1"/>
          </p:cNvSpPr>
          <p:nvPr>
            <p:ph type="title"/>
          </p:nvPr>
        </p:nvSpPr>
        <p:spPr>
          <a:xfrm>
            <a:off x="762001" y="4811517"/>
            <a:ext cx="10109199" cy="1544817"/>
          </a:xfrm>
        </p:spPr>
        <p:txBody>
          <a:bodyPr vert="horz" lIns="91440" tIns="45720" rIns="91440" bIns="45720" rtlCol="0" anchor="ctr">
            <a:normAutofit/>
          </a:bodyPr>
          <a:lstStyle/>
          <a:p>
            <a:r>
              <a:rPr lang="en-US" sz="3600" b="1" dirty="0" err="1">
                <a:solidFill>
                  <a:srgbClr val="0070C0"/>
                </a:solidFill>
              </a:rPr>
              <a:t>Allgemeines</a:t>
            </a:r>
            <a:r>
              <a:rPr lang="en-US" sz="3600" dirty="0"/>
              <a:t> </a:t>
            </a:r>
            <a:r>
              <a:rPr lang="en-US" sz="3600" dirty="0" err="1"/>
              <a:t>zur</a:t>
            </a:r>
            <a:r>
              <a:rPr lang="en-US" sz="3600" dirty="0"/>
              <a:t> </a:t>
            </a:r>
            <a:r>
              <a:rPr lang="en-US" sz="3600" dirty="0" err="1"/>
              <a:t>Datenschutzgrundverordnung</a:t>
            </a:r>
            <a:r>
              <a:rPr lang="en-US" sz="3600" dirty="0"/>
              <a:t> (DSGVO) und dem </a:t>
            </a:r>
            <a:r>
              <a:rPr lang="en-US" sz="3600" dirty="0" err="1"/>
              <a:t>Bundesdatenschutzgesetz</a:t>
            </a:r>
            <a:r>
              <a:rPr lang="en-US" sz="3600" dirty="0"/>
              <a:t> (BDSG)</a:t>
            </a:r>
          </a:p>
        </p:txBody>
      </p:sp>
      <p:pic>
        <p:nvPicPr>
          <p:cNvPr id="5" name="Inhaltsplatzhalter 4" descr="Ein Bild, das Text, Schrift, Design, Typografie enthält.&#10;&#10;KI-generierte Inhalte können fehlerhaft sein.">
            <a:extLst>
              <a:ext uri="{FF2B5EF4-FFF2-40B4-BE49-F238E27FC236}">
                <a16:creationId xmlns:a16="http://schemas.microsoft.com/office/drawing/2014/main" id="{F519BBB9-F69C-D521-F881-E838CB9753A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6232"/>
          <a:stretch>
            <a:fillRect/>
          </a:stretch>
        </p:blipFill>
        <p:spPr>
          <a:xfrm>
            <a:off x="20" y="-39"/>
            <a:ext cx="12191980" cy="4172740"/>
          </a:xfrm>
          <a:prstGeom prst="rect">
            <a:avLst/>
          </a:prstGeom>
        </p:spPr>
      </p:pic>
      <p:cxnSp>
        <p:nvCxnSpPr>
          <p:cNvPr id="10" name="Straight Connector 9">
            <a:extLst>
              <a:ext uri="{FF2B5EF4-FFF2-40B4-BE49-F238E27FC236}">
                <a16:creationId xmlns:a16="http://schemas.microsoft.com/office/drawing/2014/main" id="{7667AA61-5C27-F30F-D229-06CBE5709F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Fußzeilenplatzhalter 2">
            <a:extLst>
              <a:ext uri="{FF2B5EF4-FFF2-40B4-BE49-F238E27FC236}">
                <a16:creationId xmlns:a16="http://schemas.microsoft.com/office/drawing/2014/main" id="{BFF75192-F0BA-BB52-6EA2-21ECE7788C24}"/>
              </a:ext>
            </a:extLst>
          </p:cNvPr>
          <p:cNvSpPr>
            <a:spLocks noGrp="1"/>
          </p:cNvSpPr>
          <p:nvPr>
            <p:ph type="ftr" sz="quarter" idx="11"/>
          </p:nvPr>
        </p:nvSpPr>
        <p:spPr/>
        <p:txBody>
          <a:bodyPr/>
          <a:lstStyle/>
          <a:p>
            <a:r>
              <a:rPr lang="de-DE"/>
              <a:t>Dirk Moltzen - externer Datenschutzbeauftragter TÜV® CERT</a:t>
            </a:r>
          </a:p>
        </p:txBody>
      </p:sp>
      <p:sp>
        <p:nvSpPr>
          <p:cNvPr id="4" name="Foliennummernplatzhalter 3">
            <a:extLst>
              <a:ext uri="{FF2B5EF4-FFF2-40B4-BE49-F238E27FC236}">
                <a16:creationId xmlns:a16="http://schemas.microsoft.com/office/drawing/2014/main" id="{0FFF85B8-4326-874D-8D11-924F826D28AE}"/>
              </a:ext>
            </a:extLst>
          </p:cNvPr>
          <p:cNvSpPr>
            <a:spLocks noGrp="1"/>
          </p:cNvSpPr>
          <p:nvPr>
            <p:ph type="sldNum" sz="quarter" idx="12"/>
          </p:nvPr>
        </p:nvSpPr>
        <p:spPr/>
        <p:txBody>
          <a:bodyPr/>
          <a:lstStyle/>
          <a:p>
            <a:fld id="{B4CE166D-2D50-44F1-A818-BFD238545C9D}" type="slidenum">
              <a:rPr lang="de-DE" smtClean="0"/>
              <a:t>7</a:t>
            </a:fld>
            <a:endParaRPr lang="de-DE"/>
          </a:p>
        </p:txBody>
      </p:sp>
      <p:sp>
        <p:nvSpPr>
          <p:cNvPr id="6" name="Textfeld 5">
            <a:extLst>
              <a:ext uri="{FF2B5EF4-FFF2-40B4-BE49-F238E27FC236}">
                <a16:creationId xmlns:a16="http://schemas.microsoft.com/office/drawing/2014/main" id="{C4F55413-F304-F7EA-2B46-CDEF0D091962}"/>
              </a:ext>
            </a:extLst>
          </p:cNvPr>
          <p:cNvSpPr txBox="1"/>
          <p:nvPr/>
        </p:nvSpPr>
        <p:spPr>
          <a:xfrm>
            <a:off x="2811293" y="262647"/>
            <a:ext cx="4951379" cy="1200329"/>
          </a:xfrm>
          <a:prstGeom prst="rect">
            <a:avLst/>
          </a:prstGeom>
          <a:noFill/>
        </p:spPr>
        <p:txBody>
          <a:bodyPr wrap="square" rtlCol="0">
            <a:spAutoFit/>
          </a:bodyPr>
          <a:lstStyle/>
          <a:p>
            <a:r>
              <a:rPr lang="de-DE" sz="7200" dirty="0">
                <a:solidFill>
                  <a:schemeClr val="bg1"/>
                </a:solidFill>
              </a:rPr>
              <a:t>BDSG &amp;</a:t>
            </a:r>
          </a:p>
        </p:txBody>
      </p:sp>
    </p:spTree>
    <p:extLst>
      <p:ext uri="{BB962C8B-B14F-4D97-AF65-F5344CB8AC3E}">
        <p14:creationId xmlns:p14="http://schemas.microsoft.com/office/powerpoint/2010/main" val="882560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D46439-2D41-2259-E4F8-3CB0FAE89A0E}"/>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76B3CFBC-D7D5-975B-5954-35D8EAFAB467}"/>
              </a:ext>
            </a:extLst>
          </p:cNvPr>
          <p:cNvSpPr>
            <a:spLocks noGrp="1"/>
          </p:cNvSpPr>
          <p:nvPr>
            <p:ph idx="1"/>
          </p:nvPr>
        </p:nvSpPr>
        <p:spPr/>
        <p:txBody>
          <a:bodyPr>
            <a:normAutofit fontScale="55000" lnSpcReduction="20000"/>
          </a:bodyPr>
          <a:lstStyle/>
          <a:p>
            <a:pPr>
              <a:lnSpc>
                <a:spcPct val="107000"/>
              </a:lnSpc>
              <a:spcAft>
                <a:spcPts val="800"/>
              </a:spcAft>
              <a:buNone/>
            </a:pPr>
            <a:r>
              <a:rPr lang="de-DE" sz="5100" b="1" kern="100" dirty="0">
                <a:solidFill>
                  <a:srgbClr val="0070C0"/>
                </a:solidFill>
                <a:effectLst/>
                <a:ea typeface="Aptos" panose="020B0004020202020204" pitchFamily="34" charset="0"/>
                <a:cs typeface="Times New Roman" panose="02020603050405020304" pitchFamily="18" charset="0"/>
              </a:rPr>
              <a:t>Die DSGVO umfasst:</a:t>
            </a:r>
            <a:endParaRPr lang="de-DE" sz="51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4000" kern="100" dirty="0">
                <a:effectLst/>
                <a:ea typeface="Aptos" panose="020B0004020202020204" pitchFamily="34" charset="0"/>
                <a:cs typeface="Times New Roman" panose="02020603050405020304" pitchFamily="18" charset="0"/>
              </a:rPr>
              <a:t>11 </a:t>
            </a:r>
            <a:r>
              <a:rPr lang="de-DE" sz="4000" b="1" kern="100" dirty="0">
                <a:effectLst/>
                <a:ea typeface="Aptos" panose="020B0004020202020204" pitchFamily="34" charset="0"/>
                <a:cs typeface="Times New Roman" panose="02020603050405020304" pitchFamily="18" charset="0"/>
              </a:rPr>
              <a:t>Kapitel</a:t>
            </a:r>
          </a:p>
          <a:p>
            <a:pPr marL="342900" lvl="0" indent="-342900">
              <a:lnSpc>
                <a:spcPct val="107000"/>
              </a:lnSpc>
              <a:buFont typeface="Symbol" panose="05050102010706020507" pitchFamily="18" charset="2"/>
              <a:buChar char=""/>
            </a:pPr>
            <a:r>
              <a:rPr lang="de-DE" sz="4000" kern="100" dirty="0">
                <a:effectLst/>
                <a:ea typeface="Aptos" panose="020B0004020202020204" pitchFamily="34" charset="0"/>
                <a:cs typeface="Times New Roman" panose="02020603050405020304" pitchFamily="18" charset="0"/>
              </a:rPr>
              <a:t>173 Erwägungsgründe (</a:t>
            </a:r>
            <a:r>
              <a:rPr lang="de-DE" sz="4000" b="1" kern="100" dirty="0">
                <a:effectLst/>
                <a:ea typeface="Aptos" panose="020B0004020202020204" pitchFamily="34" charset="0"/>
                <a:cs typeface="Times New Roman" panose="02020603050405020304" pitchFamily="18" charset="0"/>
              </a:rPr>
              <a:t>EG</a:t>
            </a:r>
            <a:r>
              <a:rPr lang="de-DE" sz="4000" kern="100" dirty="0">
                <a:effectLst/>
                <a:ea typeface="Aptos" panose="020B0004020202020204" pitchFamily="34" charset="0"/>
                <a:cs typeface="Times New Roman" panose="02020603050405020304" pitchFamily="18" charset="0"/>
              </a:rPr>
              <a:t>)</a:t>
            </a:r>
          </a:p>
          <a:p>
            <a:pPr marL="342900" lvl="0" indent="-342900">
              <a:lnSpc>
                <a:spcPct val="107000"/>
              </a:lnSpc>
              <a:spcAft>
                <a:spcPts val="800"/>
              </a:spcAft>
              <a:buFont typeface="Symbol" panose="05050102010706020507" pitchFamily="18" charset="2"/>
              <a:buChar char=""/>
            </a:pPr>
            <a:r>
              <a:rPr lang="de-DE" sz="4000" kern="100" dirty="0">
                <a:effectLst/>
                <a:ea typeface="Aptos" panose="020B0004020202020204" pitchFamily="34" charset="0"/>
                <a:cs typeface="Times New Roman" panose="02020603050405020304" pitchFamily="18" charset="0"/>
              </a:rPr>
              <a:t>99 </a:t>
            </a:r>
            <a:r>
              <a:rPr lang="de-DE" sz="4000" b="1" kern="100" dirty="0">
                <a:effectLst/>
                <a:ea typeface="Aptos" panose="020B0004020202020204" pitchFamily="34" charset="0"/>
                <a:cs typeface="Times New Roman" panose="02020603050405020304" pitchFamily="18" charset="0"/>
              </a:rPr>
              <a:t>Artikel</a:t>
            </a:r>
            <a:r>
              <a:rPr lang="de-DE" sz="4000" kern="100" dirty="0">
                <a:effectLst/>
                <a:ea typeface="Aptos" panose="020B0004020202020204" pitchFamily="34" charset="0"/>
                <a:cs typeface="Times New Roman" panose="02020603050405020304" pitchFamily="18" charset="0"/>
              </a:rPr>
              <a:t> mit 69 </a:t>
            </a:r>
            <a:r>
              <a:rPr lang="de-DE" sz="4000" b="1" kern="100" dirty="0">
                <a:effectLst/>
                <a:ea typeface="Aptos" panose="020B0004020202020204" pitchFamily="34" charset="0"/>
                <a:cs typeface="Times New Roman" panose="02020603050405020304" pitchFamily="18" charset="0"/>
              </a:rPr>
              <a:t>Öffnungsklauseln</a:t>
            </a:r>
            <a:r>
              <a:rPr lang="de-DE" sz="4000" kern="100" dirty="0">
                <a:effectLst/>
                <a:ea typeface="Aptos" panose="020B0004020202020204" pitchFamily="34" charset="0"/>
                <a:cs typeface="Times New Roman" panose="02020603050405020304" pitchFamily="18" charset="0"/>
              </a:rPr>
              <a:t> (siehe Thema </a:t>
            </a:r>
            <a:r>
              <a:rPr lang="de-DE" sz="4000" i="1" kern="100" dirty="0">
                <a:effectLst/>
                <a:ea typeface="Aptos" panose="020B0004020202020204" pitchFamily="34" charset="0"/>
                <a:cs typeface="Times New Roman" panose="02020603050405020304" pitchFamily="18" charset="0"/>
              </a:rPr>
              <a:t>BDSG</a:t>
            </a:r>
            <a:r>
              <a:rPr lang="de-DE" sz="4000" kern="100" dirty="0">
                <a:effectLst/>
                <a:ea typeface="Aptos" panose="020B0004020202020204" pitchFamily="34" charset="0"/>
                <a:cs typeface="Times New Roman" panose="02020603050405020304" pitchFamily="18" charset="0"/>
              </a:rPr>
              <a:t>)</a:t>
            </a:r>
          </a:p>
          <a:p>
            <a:pPr marL="342900" lvl="0" indent="-342900">
              <a:lnSpc>
                <a:spcPct val="107000"/>
              </a:lnSpc>
              <a:spcAft>
                <a:spcPts val="800"/>
              </a:spcAft>
              <a:buFont typeface="Symbol" panose="05050102010706020507" pitchFamily="18" charset="2"/>
              <a:buChar char=""/>
            </a:pPr>
            <a:r>
              <a:rPr lang="de-DE" sz="4000" dirty="0"/>
              <a:t>EU-Richtlinie, um einen </a:t>
            </a:r>
            <a:r>
              <a:rPr lang="de-DE" sz="4000" b="1" dirty="0"/>
              <a:t>freien Datenverkehr innerhalb der EU </a:t>
            </a:r>
            <a:r>
              <a:rPr lang="de-DE" sz="4000" dirty="0"/>
              <a:t>zu ermöglichen und die Rechte der EU-Bürger zu gewährleisten</a:t>
            </a:r>
          </a:p>
          <a:p>
            <a:pPr marL="342900" lvl="0" indent="-342900">
              <a:lnSpc>
                <a:spcPct val="107000"/>
              </a:lnSpc>
              <a:spcAft>
                <a:spcPts val="800"/>
              </a:spcAft>
              <a:buFont typeface="Symbol" panose="05050102010706020507" pitchFamily="18" charset="2"/>
              <a:buChar char=""/>
            </a:pPr>
            <a:r>
              <a:rPr lang="de-DE" sz="4000" b="1" u="sng" kern="100" dirty="0">
                <a:effectLst/>
                <a:ea typeface="Aptos" panose="020B0004020202020204" pitchFamily="34" charset="0"/>
                <a:cs typeface="Times New Roman" panose="02020603050405020304" pitchFamily="18" charset="0"/>
              </a:rPr>
              <a:t>EG 27:</a:t>
            </a:r>
            <a:r>
              <a:rPr lang="de-DE" sz="4000" b="1" kern="100" dirty="0">
                <a:effectLst/>
                <a:ea typeface="Aptos" panose="020B0004020202020204" pitchFamily="34" charset="0"/>
                <a:cs typeface="Times New Roman" panose="02020603050405020304" pitchFamily="18" charset="0"/>
              </a:rPr>
              <a:t> </a:t>
            </a:r>
            <a:r>
              <a:rPr lang="de-DE" sz="4000" kern="100" dirty="0">
                <a:effectLst/>
                <a:ea typeface="Aptos" panose="020B0004020202020204" pitchFamily="34" charset="0"/>
                <a:cs typeface="Times New Roman" panose="02020603050405020304" pitchFamily="18" charset="0"/>
              </a:rPr>
              <a:t>Die Verordnung </a:t>
            </a:r>
            <a:r>
              <a:rPr lang="de-DE" sz="4000" b="1" u="sng" kern="100" dirty="0">
                <a:effectLst/>
                <a:ea typeface="Aptos" panose="020B0004020202020204" pitchFamily="34" charset="0"/>
                <a:cs typeface="Times New Roman" panose="02020603050405020304" pitchFamily="18" charset="0"/>
              </a:rPr>
              <a:t>gilt nicht</a:t>
            </a:r>
            <a:r>
              <a:rPr lang="de-DE" sz="4000" kern="100" dirty="0">
                <a:effectLst/>
                <a:ea typeface="Aptos" panose="020B0004020202020204" pitchFamily="34" charset="0"/>
                <a:cs typeface="Times New Roman" panose="02020603050405020304" pitchFamily="18" charset="0"/>
              </a:rPr>
              <a:t> für </a:t>
            </a:r>
            <a:r>
              <a:rPr lang="de-DE" sz="4000" kern="100" dirty="0" err="1">
                <a:effectLst/>
                <a:ea typeface="Aptos" panose="020B0004020202020204" pitchFamily="34" charset="0"/>
                <a:cs typeface="Times New Roman" panose="02020603050405020304" pitchFamily="18" charset="0"/>
              </a:rPr>
              <a:t>für</a:t>
            </a:r>
            <a:r>
              <a:rPr lang="de-DE" sz="4000" kern="100" dirty="0">
                <a:effectLst/>
                <a:ea typeface="Aptos" panose="020B0004020202020204" pitchFamily="34" charset="0"/>
                <a:cs typeface="Times New Roman" panose="02020603050405020304" pitchFamily="18" charset="0"/>
              </a:rPr>
              <a:t> die </a:t>
            </a:r>
            <a:r>
              <a:rPr lang="de-DE" sz="4000" kern="100" dirty="0" err="1">
                <a:effectLst/>
                <a:ea typeface="Aptos" panose="020B0004020202020204" pitchFamily="34" charset="0"/>
                <a:cs typeface="Times New Roman" panose="02020603050405020304" pitchFamily="18" charset="0"/>
              </a:rPr>
              <a:t>pbD</a:t>
            </a:r>
            <a:r>
              <a:rPr lang="de-DE" sz="4000" b="1" kern="100" dirty="0">
                <a:effectLst/>
                <a:ea typeface="Aptos" panose="020B0004020202020204" pitchFamily="34" charset="0"/>
                <a:cs typeface="Times New Roman" panose="02020603050405020304" pitchFamily="18" charset="0"/>
              </a:rPr>
              <a:t> </a:t>
            </a:r>
            <a:r>
              <a:rPr lang="de-DE" sz="4000" b="1" u="sng" kern="100" dirty="0">
                <a:effectLst/>
                <a:ea typeface="Aptos" panose="020B0004020202020204" pitchFamily="34" charset="0"/>
                <a:cs typeface="Times New Roman" panose="02020603050405020304" pitchFamily="18" charset="0"/>
              </a:rPr>
              <a:t>Verstorbener</a:t>
            </a:r>
          </a:p>
          <a:p>
            <a:pPr marL="342900" lvl="0" indent="-342900">
              <a:lnSpc>
                <a:spcPct val="107000"/>
              </a:lnSpc>
              <a:spcAft>
                <a:spcPts val="800"/>
              </a:spcAft>
              <a:buFont typeface="Symbol" panose="05050102010706020507" pitchFamily="18" charset="2"/>
              <a:buChar char=""/>
            </a:pPr>
            <a:r>
              <a:rPr lang="de-DE" sz="4000" b="1" u="sng" dirty="0">
                <a:effectLst/>
                <a:ea typeface="Aptos" panose="020B0004020202020204" pitchFamily="34" charset="0"/>
              </a:rPr>
              <a:t>DSGVO:</a:t>
            </a:r>
            <a:r>
              <a:rPr lang="de-DE" sz="4000" dirty="0">
                <a:effectLst/>
                <a:ea typeface="Aptos" panose="020B0004020202020204" pitchFamily="34" charset="0"/>
              </a:rPr>
              <a:t> gilt für Unternehmen </a:t>
            </a:r>
            <a:r>
              <a:rPr lang="de-DE" sz="4000" b="1" u="sng" dirty="0">
                <a:effectLst/>
                <a:ea typeface="Aptos" panose="020B0004020202020204" pitchFamily="34" charset="0"/>
              </a:rPr>
              <a:t>und</a:t>
            </a:r>
            <a:r>
              <a:rPr lang="de-DE" sz="4000" dirty="0">
                <a:effectLst/>
                <a:ea typeface="Aptos" panose="020B0004020202020204" pitchFamily="34" charset="0"/>
              </a:rPr>
              <a:t> Einrichtungen </a:t>
            </a:r>
            <a:br>
              <a:rPr lang="de-DE" sz="4000" dirty="0">
                <a:effectLst/>
                <a:ea typeface="Aptos" panose="020B0004020202020204" pitchFamily="34" charset="0"/>
              </a:rPr>
            </a:br>
            <a:r>
              <a:rPr lang="de-DE" sz="4000" dirty="0">
                <a:effectLst/>
                <a:ea typeface="Aptos" panose="020B0004020202020204" pitchFamily="34" charset="0"/>
              </a:rPr>
              <a:t>(öffentliche und nicht-öffentliche Stellen)</a:t>
            </a:r>
            <a:r>
              <a:rPr lang="de-DE" sz="4000" dirty="0">
                <a:effectLst/>
                <a:latin typeface="Times New Roman" panose="02020603050405020304" pitchFamily="18" charset="0"/>
                <a:ea typeface="Aptos" panose="020B0004020202020204" pitchFamily="34" charset="0"/>
              </a:rPr>
              <a:t>. </a:t>
            </a:r>
            <a:br>
              <a:rPr lang="de-DE" sz="1800" dirty="0">
                <a:effectLst/>
                <a:latin typeface="Times New Roman" panose="02020603050405020304" pitchFamily="18" charset="0"/>
                <a:ea typeface="Aptos" panose="020B0004020202020204" pitchFamily="34" charset="0"/>
              </a:rPr>
            </a:br>
            <a:endParaRPr lang="de-DE" dirty="0"/>
          </a:p>
          <a:p>
            <a:endParaRPr lang="de-DE" dirty="0"/>
          </a:p>
          <a:p>
            <a:endParaRPr lang="de-DE" dirty="0"/>
          </a:p>
          <a:p>
            <a:pPr marL="0" indent="0">
              <a:buNone/>
            </a:pPr>
            <a:endParaRPr lang="de-DE" dirty="0"/>
          </a:p>
        </p:txBody>
      </p:sp>
      <p:sp>
        <p:nvSpPr>
          <p:cNvPr id="4" name="Fußzeilenplatzhalter 3">
            <a:extLst>
              <a:ext uri="{FF2B5EF4-FFF2-40B4-BE49-F238E27FC236}">
                <a16:creationId xmlns:a16="http://schemas.microsoft.com/office/drawing/2014/main" id="{52D21D40-6BD6-5663-F7E6-11668A122F72}"/>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AE3A2A72-8829-59B7-EB21-EB8ACFF0E86C}"/>
              </a:ext>
            </a:extLst>
          </p:cNvPr>
          <p:cNvSpPr>
            <a:spLocks noGrp="1"/>
          </p:cNvSpPr>
          <p:nvPr>
            <p:ph type="sldNum" sz="quarter" idx="12"/>
          </p:nvPr>
        </p:nvSpPr>
        <p:spPr/>
        <p:txBody>
          <a:bodyPr/>
          <a:lstStyle/>
          <a:p>
            <a:fld id="{B4CE166D-2D50-44F1-A818-BFD238545C9D}" type="slidenum">
              <a:rPr lang="de-DE" smtClean="0"/>
              <a:t>8</a:t>
            </a:fld>
            <a:endParaRPr lang="de-DE"/>
          </a:p>
        </p:txBody>
      </p:sp>
    </p:spTree>
    <p:extLst>
      <p:ext uri="{BB962C8B-B14F-4D97-AF65-F5344CB8AC3E}">
        <p14:creationId xmlns:p14="http://schemas.microsoft.com/office/powerpoint/2010/main" val="2407490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7833A-F6B3-984A-AC51-096AE1CEF3A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F57CD0A-7228-A33E-B630-26DE13D9941B}"/>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B7A92F54-2F2C-0924-CA1C-0E0434A29EAB}"/>
              </a:ext>
            </a:extLst>
          </p:cNvPr>
          <p:cNvSpPr>
            <a:spLocks noGrp="1"/>
          </p:cNvSpPr>
          <p:nvPr>
            <p:ph idx="1"/>
          </p:nvPr>
        </p:nvSpPr>
        <p:spPr/>
        <p:txBody>
          <a:bodyPr>
            <a:normAutofit/>
          </a:bodyPr>
          <a:lstStyle/>
          <a:p>
            <a:pPr marL="0" indent="0">
              <a:buNone/>
            </a:pPr>
            <a:r>
              <a:rPr lang="de-DE" b="1" dirty="0">
                <a:solidFill>
                  <a:srgbClr val="0070C0"/>
                </a:solidFill>
              </a:rPr>
              <a:t>Sachlicher Anwendungsbereich </a:t>
            </a:r>
            <a:r>
              <a:rPr lang="de-DE" b="1" dirty="0">
                <a:solidFill>
                  <a:srgbClr val="7030A0"/>
                </a:solidFill>
                <a:sym typeface="Wingdings" panose="05000000000000000000" pitchFamily="2" charset="2"/>
              </a:rPr>
              <a:t></a:t>
            </a:r>
            <a:r>
              <a:rPr lang="de-DE" b="1" dirty="0">
                <a:solidFill>
                  <a:srgbClr val="7030A0"/>
                </a:solidFill>
              </a:rPr>
              <a:t>Art. 2 (1) DSGVO</a:t>
            </a:r>
            <a:br>
              <a:rPr lang="de-DE" dirty="0"/>
            </a:br>
            <a:endParaRPr lang="de-DE" dirty="0"/>
          </a:p>
          <a:p>
            <a:pPr>
              <a:lnSpc>
                <a:spcPct val="107000"/>
              </a:lnSpc>
              <a:spcAft>
                <a:spcPts val="800"/>
              </a:spcAft>
            </a:pPr>
            <a:r>
              <a:rPr lang="de-DE" sz="2400" kern="100" dirty="0">
                <a:solidFill>
                  <a:srgbClr val="000000"/>
                </a:solidFill>
                <a:effectLst/>
                <a:ea typeface="Aptos" panose="020B0004020202020204" pitchFamily="34" charset="0"/>
                <a:cs typeface="Times New Roman" panose="02020603050405020304" pitchFamily="18" charset="0"/>
              </a:rPr>
              <a:t>Diese Verordnung gilt für die </a:t>
            </a:r>
            <a:r>
              <a:rPr lang="de-DE" sz="2400" u="sng" kern="100" dirty="0">
                <a:solidFill>
                  <a:srgbClr val="000000"/>
                </a:solidFill>
                <a:effectLst/>
                <a:ea typeface="Aptos" panose="020B0004020202020204" pitchFamily="34" charset="0"/>
                <a:cs typeface="Times New Roman" panose="02020603050405020304" pitchFamily="18" charset="0"/>
              </a:rPr>
              <a:t>ganz</a:t>
            </a:r>
            <a:r>
              <a:rPr lang="de-DE" sz="2400" kern="100" dirty="0">
                <a:solidFill>
                  <a:srgbClr val="000000"/>
                </a:solidFill>
                <a:effectLst/>
                <a:ea typeface="Aptos" panose="020B0004020202020204" pitchFamily="34" charset="0"/>
                <a:cs typeface="Times New Roman" panose="02020603050405020304" pitchFamily="18" charset="0"/>
              </a:rPr>
              <a:t> oder </a:t>
            </a:r>
            <a:r>
              <a:rPr lang="de-DE" sz="2400" u="sng" kern="100" dirty="0">
                <a:solidFill>
                  <a:srgbClr val="000000"/>
                </a:solidFill>
                <a:effectLst/>
                <a:ea typeface="Aptos" panose="020B0004020202020204" pitchFamily="34" charset="0"/>
                <a:cs typeface="Times New Roman" panose="02020603050405020304" pitchFamily="18" charset="0"/>
              </a:rPr>
              <a:t>teilweise automatisierte</a:t>
            </a:r>
            <a:r>
              <a:rPr lang="de-DE" sz="2400" kern="100" dirty="0">
                <a:solidFill>
                  <a:srgbClr val="000000"/>
                </a:solidFill>
                <a:effectLst/>
                <a:ea typeface="Aptos" panose="020B0004020202020204" pitchFamily="34" charset="0"/>
                <a:cs typeface="Times New Roman" panose="02020603050405020304" pitchFamily="18" charset="0"/>
              </a:rPr>
              <a:t> Verarbeitung personenbezogener Daten, sowie für die </a:t>
            </a:r>
            <a:r>
              <a:rPr lang="de-DE" sz="2400" u="sng" kern="100" dirty="0">
                <a:solidFill>
                  <a:srgbClr val="000000"/>
                </a:solidFill>
                <a:effectLst/>
                <a:ea typeface="Aptos" panose="020B0004020202020204" pitchFamily="34" charset="0"/>
                <a:cs typeface="Times New Roman" panose="02020603050405020304" pitchFamily="18" charset="0"/>
              </a:rPr>
              <a:t>nichtautomatisierte</a:t>
            </a:r>
            <a:r>
              <a:rPr lang="de-DE" sz="2400" kern="100" dirty="0">
                <a:solidFill>
                  <a:srgbClr val="000000"/>
                </a:solidFill>
                <a:effectLst/>
                <a:ea typeface="Aptos" panose="020B0004020202020204" pitchFamily="34" charset="0"/>
                <a:cs typeface="Times New Roman" panose="02020603050405020304" pitchFamily="18" charset="0"/>
              </a:rPr>
              <a:t> Verarbeitung personenbezogener Daten, die in einem </a:t>
            </a:r>
            <a:r>
              <a:rPr lang="de-DE" sz="2400" u="sng" kern="100" dirty="0">
                <a:solidFill>
                  <a:srgbClr val="000000"/>
                </a:solidFill>
                <a:effectLst/>
                <a:ea typeface="Aptos" panose="020B0004020202020204" pitchFamily="34" charset="0"/>
                <a:cs typeface="Times New Roman" panose="02020603050405020304" pitchFamily="18" charset="0"/>
              </a:rPr>
              <a:t>Dateisystem</a:t>
            </a:r>
            <a:r>
              <a:rPr lang="de-DE" sz="2400" kern="100" dirty="0">
                <a:solidFill>
                  <a:srgbClr val="000000"/>
                </a:solidFill>
                <a:effectLst/>
                <a:ea typeface="Aptos" panose="020B0004020202020204" pitchFamily="34" charset="0"/>
                <a:cs typeface="Times New Roman" panose="02020603050405020304" pitchFamily="18" charset="0"/>
              </a:rPr>
              <a:t> gespeichert sind oder gespeichert werden sollen.</a:t>
            </a:r>
          </a:p>
          <a:p>
            <a:pPr>
              <a:lnSpc>
                <a:spcPct val="107000"/>
              </a:lnSpc>
              <a:spcAft>
                <a:spcPts val="800"/>
              </a:spcAft>
            </a:pPr>
            <a:r>
              <a:rPr lang="de-DE" sz="2400" b="1" kern="100" dirty="0">
                <a:solidFill>
                  <a:srgbClr val="000000"/>
                </a:solidFill>
                <a:effectLst/>
                <a:ea typeface="Aptos" panose="020B0004020202020204" pitchFamily="34" charset="0"/>
                <a:cs typeface="Times New Roman" panose="02020603050405020304" pitchFamily="18" charset="0"/>
              </a:rPr>
              <a:t>Automatisiert:</a:t>
            </a:r>
            <a:r>
              <a:rPr lang="de-DE" sz="2400" kern="100" dirty="0">
                <a:solidFill>
                  <a:srgbClr val="000000"/>
                </a:solidFill>
                <a:effectLst/>
                <a:ea typeface="Aptos" panose="020B0004020202020204" pitchFamily="34" charset="0"/>
                <a:cs typeface="Times New Roman" panose="02020603050405020304" pitchFamily="18" charset="0"/>
              </a:rPr>
              <a:t> DV mit einem technischen Hilfsmittel (auch teilautomatisiert)</a:t>
            </a:r>
          </a:p>
          <a:p>
            <a:pPr>
              <a:lnSpc>
                <a:spcPct val="107000"/>
              </a:lnSpc>
              <a:spcAft>
                <a:spcPts val="800"/>
              </a:spcAft>
            </a:pPr>
            <a:r>
              <a:rPr lang="de-DE" sz="2400" b="1" kern="100" dirty="0">
                <a:solidFill>
                  <a:srgbClr val="000000"/>
                </a:solidFill>
                <a:effectLst/>
                <a:ea typeface="Aptos" panose="020B0004020202020204" pitchFamily="34" charset="0"/>
                <a:cs typeface="Times New Roman" panose="02020603050405020304" pitchFamily="18" charset="0"/>
              </a:rPr>
              <a:t>Nichtautomatisiert:</a:t>
            </a:r>
            <a:r>
              <a:rPr lang="de-DE" sz="2400" kern="100" dirty="0">
                <a:solidFill>
                  <a:srgbClr val="000000"/>
                </a:solidFill>
                <a:effectLst/>
                <a:ea typeface="Aptos" panose="020B0004020202020204" pitchFamily="34" charset="0"/>
                <a:cs typeface="Times New Roman" panose="02020603050405020304" pitchFamily="18" charset="0"/>
              </a:rPr>
              <a:t> ohne technisches Hilfsmittel (Papierformular)</a:t>
            </a:r>
            <a:endParaRPr lang="de-DE" sz="2400" kern="100" dirty="0">
              <a:effectLst/>
              <a:ea typeface="Aptos" panose="020B0004020202020204" pitchFamily="34" charset="0"/>
              <a:cs typeface="Times New Roman" panose="02020603050405020304" pitchFamily="18" charset="0"/>
            </a:endParaRPr>
          </a:p>
          <a:p>
            <a:pPr marL="0" indent="0">
              <a:buNone/>
            </a:pPr>
            <a:endParaRPr lang="de-DE" dirty="0"/>
          </a:p>
        </p:txBody>
      </p:sp>
      <p:sp>
        <p:nvSpPr>
          <p:cNvPr id="4" name="Fußzeilenplatzhalter 3">
            <a:extLst>
              <a:ext uri="{FF2B5EF4-FFF2-40B4-BE49-F238E27FC236}">
                <a16:creationId xmlns:a16="http://schemas.microsoft.com/office/drawing/2014/main" id="{6CBA1699-799F-A708-CD9C-416069AD5C20}"/>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0A77F4D4-714D-C501-11FF-32C6BB368F0C}"/>
              </a:ext>
            </a:extLst>
          </p:cNvPr>
          <p:cNvSpPr>
            <a:spLocks noGrp="1"/>
          </p:cNvSpPr>
          <p:nvPr>
            <p:ph type="sldNum" sz="quarter" idx="12"/>
          </p:nvPr>
        </p:nvSpPr>
        <p:spPr/>
        <p:txBody>
          <a:bodyPr/>
          <a:lstStyle/>
          <a:p>
            <a:fld id="{B4CE166D-2D50-44F1-A818-BFD238545C9D}" type="slidenum">
              <a:rPr lang="de-DE" smtClean="0"/>
              <a:t>9</a:t>
            </a:fld>
            <a:endParaRPr lang="de-DE"/>
          </a:p>
        </p:txBody>
      </p:sp>
    </p:spTree>
    <p:extLst>
      <p:ext uri="{BB962C8B-B14F-4D97-AF65-F5344CB8AC3E}">
        <p14:creationId xmlns:p14="http://schemas.microsoft.com/office/powerpoint/2010/main" val="1432178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EA0B2-B59D-BF7E-70BE-A301712E0AC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8A7F765-9C96-057B-19FE-FDC099FA575B}"/>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A9B077F8-1D29-33E1-87B8-F70A166FE612}"/>
              </a:ext>
            </a:extLst>
          </p:cNvPr>
          <p:cNvSpPr>
            <a:spLocks noGrp="1"/>
          </p:cNvSpPr>
          <p:nvPr>
            <p:ph idx="1"/>
          </p:nvPr>
        </p:nvSpPr>
        <p:spPr/>
        <p:txBody>
          <a:bodyPr>
            <a:normAutofit fontScale="92500" lnSpcReduction="20000"/>
          </a:bodyPr>
          <a:lstStyle/>
          <a:p>
            <a:pPr>
              <a:lnSpc>
                <a:spcPct val="107000"/>
              </a:lnSpc>
              <a:spcAft>
                <a:spcPts val="800"/>
              </a:spcAft>
              <a:buNone/>
            </a:pPr>
            <a:r>
              <a:rPr lang="de-DE" b="1" dirty="0">
                <a:solidFill>
                  <a:srgbClr val="0070C0"/>
                </a:solidFill>
              </a:rPr>
              <a:t>Sachlicher Anwendungsbereich </a:t>
            </a:r>
            <a:r>
              <a:rPr lang="de-DE" b="1" dirty="0">
                <a:solidFill>
                  <a:srgbClr val="7030A0"/>
                </a:solidFill>
                <a:sym typeface="Wingdings" panose="05000000000000000000" pitchFamily="2" charset="2"/>
              </a:rPr>
              <a:t></a:t>
            </a:r>
            <a:r>
              <a:rPr lang="de-DE" b="1" dirty="0">
                <a:solidFill>
                  <a:srgbClr val="7030A0"/>
                </a:solidFill>
              </a:rPr>
              <a:t>Art. 2 (1) DSGVO</a:t>
            </a:r>
            <a:br>
              <a:rPr lang="de-DE" dirty="0"/>
            </a:br>
            <a:r>
              <a:rPr lang="de-DE" sz="2400" b="1" u="sng" kern="100" dirty="0">
                <a:effectLst/>
                <a:ea typeface="Aptos" panose="020B0004020202020204" pitchFamily="34" charset="0"/>
                <a:cs typeface="Times New Roman" panose="02020603050405020304" pitchFamily="18" charset="0"/>
              </a:rPr>
              <a:t>Die DSGVO gilt also bei:</a:t>
            </a:r>
          </a:p>
          <a:p>
            <a:pPr>
              <a:lnSpc>
                <a:spcPct val="107000"/>
              </a:lnSpc>
              <a:spcAft>
                <a:spcPts val="800"/>
              </a:spcAft>
            </a:pPr>
            <a:r>
              <a:rPr lang="de-DE" sz="2400" b="1" kern="100" dirty="0">
                <a:effectLst/>
                <a:ea typeface="Aptos" panose="020B0004020202020204" pitchFamily="34" charset="0"/>
                <a:cs typeface="Times New Roman" panose="02020603050405020304" pitchFamily="18" charset="0"/>
              </a:rPr>
              <a:t>Automatisierter / teilautomatisierter</a:t>
            </a:r>
            <a:r>
              <a:rPr lang="de-DE" sz="2400" kern="100" dirty="0">
                <a:effectLst/>
                <a:ea typeface="Aptos" panose="020B0004020202020204" pitchFamily="34" charset="0"/>
                <a:cs typeface="Times New Roman" panose="02020603050405020304" pitchFamily="18" charset="0"/>
              </a:rPr>
              <a:t> DV von </a:t>
            </a:r>
            <a:r>
              <a:rPr lang="de-DE" sz="2400" kern="100" dirty="0" err="1">
                <a:effectLst/>
                <a:ea typeface="Aptos" panose="020B0004020202020204" pitchFamily="34" charset="0"/>
                <a:cs typeface="Times New Roman" panose="02020603050405020304" pitchFamily="18" charset="0"/>
              </a:rPr>
              <a:t>pbD</a:t>
            </a:r>
            <a:r>
              <a:rPr lang="de-DE" sz="2400" kern="100" dirty="0">
                <a:effectLst/>
                <a:ea typeface="Aptos" panose="020B0004020202020204" pitchFamily="34" charset="0"/>
                <a:cs typeface="Times New Roman" panose="02020603050405020304" pitchFamily="18" charset="0"/>
              </a:rPr>
              <a:t> mit </a:t>
            </a:r>
            <a:r>
              <a:rPr lang="de-DE" sz="2400" b="1" kern="100" dirty="0">
                <a:effectLst/>
                <a:ea typeface="Aptos" panose="020B0004020202020204" pitchFamily="34" charset="0"/>
                <a:cs typeface="Times New Roman" panose="02020603050405020304" pitchFamily="18" charset="0"/>
              </a:rPr>
              <a:t>technischen Hilfsmitteln</a:t>
            </a:r>
            <a:r>
              <a:rPr lang="de-DE" sz="2400" kern="100" dirty="0">
                <a:effectLst/>
                <a:ea typeface="Aptos" panose="020B0004020202020204" pitchFamily="34" charset="0"/>
                <a:cs typeface="Times New Roman" panose="02020603050405020304" pitchFamily="18" charset="0"/>
              </a:rPr>
              <a:t> (PC, Smartphone, Scanner, Smarthome-Gerät)</a:t>
            </a:r>
          </a:p>
          <a:p>
            <a:pPr>
              <a:lnSpc>
                <a:spcPct val="107000"/>
              </a:lnSpc>
              <a:spcAft>
                <a:spcPts val="800"/>
              </a:spcAft>
            </a:pPr>
            <a:r>
              <a:rPr lang="de-DE" sz="2400" kern="100" dirty="0">
                <a:effectLst/>
                <a:ea typeface="Aptos" panose="020B0004020202020204" pitchFamily="34" charset="0"/>
                <a:cs typeface="Times New Roman" panose="02020603050405020304" pitchFamily="18" charset="0"/>
              </a:rPr>
              <a:t>Werden </a:t>
            </a:r>
            <a:r>
              <a:rPr lang="de-DE" sz="2400" kern="100" dirty="0" err="1">
                <a:effectLst/>
                <a:ea typeface="Aptos" panose="020B0004020202020204" pitchFamily="34" charset="0"/>
                <a:cs typeface="Times New Roman" panose="02020603050405020304" pitchFamily="18" charset="0"/>
              </a:rPr>
              <a:t>pbD</a:t>
            </a:r>
            <a:r>
              <a:rPr lang="de-DE" sz="2400" kern="100" dirty="0">
                <a:effectLst/>
                <a:ea typeface="Aptos" panose="020B0004020202020204" pitchFamily="34" charset="0"/>
                <a:cs typeface="Times New Roman" panose="02020603050405020304" pitchFamily="18" charset="0"/>
              </a:rPr>
              <a:t> </a:t>
            </a:r>
            <a:r>
              <a:rPr lang="de-DE" sz="2400" b="1" kern="100" dirty="0">
                <a:effectLst/>
                <a:ea typeface="Aptos" panose="020B0004020202020204" pitchFamily="34" charset="0"/>
                <a:cs typeface="Times New Roman" panose="02020603050405020304" pitchFamily="18" charset="0"/>
              </a:rPr>
              <a:t>nichtautomatisiert</a:t>
            </a:r>
            <a:r>
              <a:rPr lang="de-DE" sz="2400" kern="100" dirty="0">
                <a:effectLst/>
                <a:ea typeface="Aptos" panose="020B0004020202020204" pitchFamily="34" charset="0"/>
                <a:cs typeface="Times New Roman" panose="02020603050405020304" pitchFamily="18" charset="0"/>
              </a:rPr>
              <a:t> verarbeitet unterliegen diese </a:t>
            </a:r>
            <a:r>
              <a:rPr lang="de-DE" sz="2400" u="sng" kern="100" dirty="0">
                <a:effectLst/>
                <a:ea typeface="Aptos" panose="020B0004020202020204" pitchFamily="34" charset="0"/>
                <a:cs typeface="Times New Roman" panose="02020603050405020304" pitchFamily="18" charset="0"/>
              </a:rPr>
              <a:t>nur der DSGVO</a:t>
            </a:r>
            <a:r>
              <a:rPr lang="de-DE" sz="2400" kern="100" dirty="0">
                <a:effectLst/>
                <a:ea typeface="Aptos" panose="020B0004020202020204" pitchFamily="34" charset="0"/>
                <a:cs typeface="Times New Roman" panose="02020603050405020304" pitchFamily="18" charset="0"/>
              </a:rPr>
              <a:t>, wenn sie in einem </a:t>
            </a:r>
            <a:r>
              <a:rPr lang="de-DE" sz="2400" b="1" kern="100" dirty="0">
                <a:effectLst/>
                <a:ea typeface="Aptos" panose="020B0004020202020204" pitchFamily="34" charset="0"/>
                <a:cs typeface="Times New Roman" panose="02020603050405020304" pitchFamily="18" charset="0"/>
              </a:rPr>
              <a:t>Dateisystem gespeichert</a:t>
            </a:r>
            <a:r>
              <a:rPr lang="de-DE" sz="2400" kern="100" dirty="0">
                <a:effectLst/>
                <a:ea typeface="Aptos" panose="020B0004020202020204" pitchFamily="34" charset="0"/>
                <a:cs typeface="Times New Roman" panose="02020603050405020304" pitchFamily="18" charset="0"/>
              </a:rPr>
              <a:t> werden oder sollen. </a:t>
            </a:r>
            <a:br>
              <a:rPr lang="de-DE" sz="2400" kern="100" dirty="0">
                <a:effectLst/>
                <a:ea typeface="Aptos" panose="020B0004020202020204" pitchFamily="34" charset="0"/>
                <a:cs typeface="Times New Roman" panose="02020603050405020304" pitchFamily="18" charset="0"/>
              </a:rPr>
            </a:br>
            <a:r>
              <a:rPr lang="de-DE" sz="2400" i="1" kern="100" dirty="0">
                <a:effectLst/>
                <a:ea typeface="Aptos" panose="020B0004020202020204" pitchFamily="34" charset="0"/>
                <a:cs typeface="Times New Roman" panose="02020603050405020304" pitchFamily="18" charset="0"/>
              </a:rPr>
              <a:t>(</a:t>
            </a:r>
            <a:r>
              <a:rPr lang="de-DE" sz="2400" i="1" u="sng" kern="100" dirty="0">
                <a:effectLst/>
                <a:ea typeface="Aptos" panose="020B0004020202020204" pitchFamily="34" charset="0"/>
                <a:cs typeface="Times New Roman" panose="02020603050405020304" pitchFamily="18" charset="0"/>
              </a:rPr>
              <a:t>Dateisystem:</a:t>
            </a:r>
            <a:r>
              <a:rPr lang="de-DE" sz="2400" i="1" kern="100" dirty="0">
                <a:effectLst/>
                <a:ea typeface="Aptos" panose="020B0004020202020204" pitchFamily="34" charset="0"/>
                <a:cs typeface="Times New Roman" panose="02020603050405020304" pitchFamily="18" charset="0"/>
              </a:rPr>
              <a:t> Personalakte, Hängeregister, Patientenkartei, dass nach Namen, Abteilung, Zugehörigkeit o.ä. sortiert werden kann)</a:t>
            </a:r>
            <a:br>
              <a:rPr lang="de-DE" sz="2400" i="1" kern="100" dirty="0">
                <a:effectLst/>
                <a:ea typeface="Aptos" panose="020B0004020202020204" pitchFamily="34" charset="0"/>
                <a:cs typeface="Times New Roman" panose="02020603050405020304" pitchFamily="18" charset="0"/>
              </a:rPr>
            </a:br>
            <a:r>
              <a:rPr lang="de-DE" sz="2400" i="1" kern="100" dirty="0">
                <a:effectLst/>
                <a:ea typeface="Aptos" panose="020B0004020202020204" pitchFamily="34" charset="0"/>
                <a:cs typeface="Times New Roman" panose="02020603050405020304" pitchFamily="18" charset="0"/>
              </a:rPr>
              <a:t>Wahllose Blattsammlungen und Notizzettel sind keine Dateisysteme!</a:t>
            </a:r>
          </a:p>
          <a:p>
            <a:pPr>
              <a:lnSpc>
                <a:spcPct val="107000"/>
              </a:lnSpc>
              <a:spcAft>
                <a:spcPts val="800"/>
              </a:spcAft>
            </a:pPr>
            <a:r>
              <a:rPr lang="de-DE" sz="2400" b="1" kern="100" dirty="0">
                <a:solidFill>
                  <a:srgbClr val="000000"/>
                </a:solidFill>
                <a:effectLst/>
                <a:ea typeface="Aptos" panose="020B0004020202020204" pitchFamily="34" charset="0"/>
                <a:cs typeface="Times New Roman" panose="02020603050405020304" pitchFamily="18" charset="0"/>
              </a:rPr>
              <a:t>Personenbezogene Daten auf Papierdokumenten können somit auch der DSGVO unterliegen.</a:t>
            </a:r>
            <a:endParaRPr lang="de-DE" sz="2400" kern="100" dirty="0">
              <a:effectLst/>
              <a:ea typeface="Aptos" panose="020B0004020202020204" pitchFamily="34" charset="0"/>
              <a:cs typeface="Times New Roman" panose="02020603050405020304" pitchFamily="18" charset="0"/>
            </a:endParaRPr>
          </a:p>
          <a:p>
            <a:pPr marL="0" indent="0">
              <a:buNone/>
            </a:pPr>
            <a:endParaRPr lang="de-DE" dirty="0"/>
          </a:p>
        </p:txBody>
      </p:sp>
      <p:sp>
        <p:nvSpPr>
          <p:cNvPr id="4" name="Fußzeilenplatzhalter 3">
            <a:extLst>
              <a:ext uri="{FF2B5EF4-FFF2-40B4-BE49-F238E27FC236}">
                <a16:creationId xmlns:a16="http://schemas.microsoft.com/office/drawing/2014/main" id="{DCBB172E-D75E-A219-F439-DF3A87ACDE30}"/>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CD5613EE-5FBD-B18B-AAD4-EDEDDA08C358}"/>
              </a:ext>
            </a:extLst>
          </p:cNvPr>
          <p:cNvSpPr>
            <a:spLocks noGrp="1"/>
          </p:cNvSpPr>
          <p:nvPr>
            <p:ph type="sldNum" sz="quarter" idx="12"/>
          </p:nvPr>
        </p:nvSpPr>
        <p:spPr/>
        <p:txBody>
          <a:bodyPr/>
          <a:lstStyle/>
          <a:p>
            <a:fld id="{B4CE166D-2D50-44F1-A818-BFD238545C9D}" type="slidenum">
              <a:rPr lang="de-DE" smtClean="0"/>
              <a:t>10</a:t>
            </a:fld>
            <a:endParaRPr lang="de-DE"/>
          </a:p>
        </p:txBody>
      </p:sp>
    </p:spTree>
    <p:extLst>
      <p:ext uri="{BB962C8B-B14F-4D97-AF65-F5344CB8AC3E}">
        <p14:creationId xmlns:p14="http://schemas.microsoft.com/office/powerpoint/2010/main" val="3598977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020DA-1DAA-C501-8F66-BBDE31966FF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207D483-0143-015A-7F54-D329D27FDD93}"/>
              </a:ext>
            </a:extLst>
          </p:cNvPr>
          <p:cNvSpPr>
            <a:spLocks noGrp="1"/>
          </p:cNvSpPr>
          <p:nvPr>
            <p:ph type="title"/>
          </p:nvPr>
        </p:nvSpPr>
        <p:spPr>
          <a:xfrm>
            <a:off x="838200" y="365126"/>
            <a:ext cx="10515600" cy="967564"/>
          </a:xfrm>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3414F658-CB1D-B40A-DA70-51E4900E77E7}"/>
              </a:ext>
            </a:extLst>
          </p:cNvPr>
          <p:cNvSpPr>
            <a:spLocks noGrp="1"/>
          </p:cNvSpPr>
          <p:nvPr>
            <p:ph idx="1"/>
          </p:nvPr>
        </p:nvSpPr>
        <p:spPr>
          <a:xfrm>
            <a:off x="838200" y="1332690"/>
            <a:ext cx="10515600" cy="4844273"/>
          </a:xfrm>
        </p:spPr>
        <p:txBody>
          <a:bodyPr>
            <a:normAutofit fontScale="92500" lnSpcReduction="10000"/>
          </a:bodyPr>
          <a:lstStyle/>
          <a:p>
            <a:pPr>
              <a:lnSpc>
                <a:spcPct val="107000"/>
              </a:lnSpc>
              <a:spcAft>
                <a:spcPts val="800"/>
              </a:spcAft>
              <a:buNone/>
            </a:pPr>
            <a:r>
              <a:rPr lang="de-DE" b="1" dirty="0">
                <a:solidFill>
                  <a:srgbClr val="0070C0"/>
                </a:solidFill>
              </a:rPr>
              <a:t>Sachlicher Anwendungsbereich </a:t>
            </a:r>
            <a:r>
              <a:rPr lang="de-DE" b="1" dirty="0">
                <a:solidFill>
                  <a:srgbClr val="7030A0"/>
                </a:solidFill>
                <a:sym typeface="Wingdings" panose="05000000000000000000" pitchFamily="2" charset="2"/>
              </a:rPr>
              <a:t></a:t>
            </a:r>
            <a:r>
              <a:rPr lang="de-DE" b="1" dirty="0">
                <a:solidFill>
                  <a:srgbClr val="7030A0"/>
                </a:solidFill>
              </a:rPr>
              <a:t>Art. 2 (2) DSGVO</a:t>
            </a:r>
          </a:p>
          <a:p>
            <a:pPr marL="457200">
              <a:lnSpc>
                <a:spcPct val="107000"/>
              </a:lnSpc>
              <a:buNone/>
            </a:pPr>
            <a:r>
              <a:rPr lang="de-DE" sz="2200" b="1" u="sng" kern="100" dirty="0">
                <a:solidFill>
                  <a:srgbClr val="000000"/>
                </a:solidFill>
                <a:effectLst/>
                <a:ea typeface="Aptos" panose="020B0004020202020204" pitchFamily="34" charset="0"/>
                <a:cs typeface="Times New Roman" panose="02020603050405020304" pitchFamily="18" charset="0"/>
              </a:rPr>
              <a:t>Für welche Fälle gilt die DSGVO nicht?</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Im Rahmen einer Tätigkeit, die </a:t>
            </a:r>
            <a:r>
              <a:rPr lang="de-DE" sz="2200" b="1" kern="100" dirty="0">
                <a:solidFill>
                  <a:srgbClr val="000000"/>
                </a:solidFill>
                <a:effectLst/>
                <a:ea typeface="Aptos" panose="020B0004020202020204" pitchFamily="34" charset="0"/>
                <a:cs typeface="Times New Roman" panose="02020603050405020304" pitchFamily="18" charset="0"/>
              </a:rPr>
              <a:t>nicht</a:t>
            </a:r>
            <a:r>
              <a:rPr lang="de-DE" sz="2200" kern="100" dirty="0">
                <a:solidFill>
                  <a:srgbClr val="000000"/>
                </a:solidFill>
                <a:effectLst/>
                <a:ea typeface="Aptos" panose="020B0004020202020204" pitchFamily="34" charset="0"/>
                <a:cs typeface="Times New Roman" panose="02020603050405020304" pitchFamily="18" charset="0"/>
              </a:rPr>
              <a:t> in den Anwendungsbereich des Unionsrechts fällt</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In Fällen gemeinsamer Außen- und </a:t>
            </a:r>
            <a:r>
              <a:rPr lang="de-DE" sz="2200" b="1" kern="100" dirty="0">
                <a:solidFill>
                  <a:srgbClr val="000000"/>
                </a:solidFill>
                <a:effectLst/>
                <a:ea typeface="Aptos" panose="020B0004020202020204" pitchFamily="34" charset="0"/>
                <a:cs typeface="Times New Roman" panose="02020603050405020304" pitchFamily="18" charset="0"/>
              </a:rPr>
              <a:t>Sicherheitspolitik</a:t>
            </a:r>
            <a:r>
              <a:rPr lang="de-DE" sz="2200" kern="100" dirty="0">
                <a:solidFill>
                  <a:srgbClr val="000000"/>
                </a:solidFill>
                <a:effectLst/>
                <a:ea typeface="Aptos" panose="020B0004020202020204" pitchFamily="34" charset="0"/>
                <a:cs typeface="Times New Roman" panose="02020603050405020304" pitchFamily="18" charset="0"/>
              </a:rPr>
              <a:t> (</a:t>
            </a:r>
            <a:r>
              <a:rPr lang="de-DE" sz="2200" b="1" i="1" kern="100" dirty="0">
                <a:solidFill>
                  <a:srgbClr val="7030A0"/>
                </a:solidFill>
                <a:effectLst/>
                <a:ea typeface="Aptos" panose="020B0004020202020204" pitchFamily="34" charset="0"/>
                <a:cs typeface="Times New Roman" panose="02020603050405020304" pitchFamily="18" charset="0"/>
              </a:rPr>
              <a:t>Teil V Kap. 2 EUV</a:t>
            </a:r>
            <a:r>
              <a:rPr lang="de-DE" sz="2200" kern="100" dirty="0">
                <a:solidFill>
                  <a:srgbClr val="000000"/>
                </a:solidFill>
                <a:effectLst/>
                <a:ea typeface="Aptos" panose="020B0004020202020204" pitchFamily="34" charset="0"/>
                <a:cs typeface="Times New Roman" panose="02020603050405020304" pitchFamily="18" charset="0"/>
              </a:rPr>
              <a:t>)</a:t>
            </a:r>
            <a:endParaRPr lang="de-DE" sz="2200" kern="100" dirty="0">
              <a:effectLst/>
              <a:ea typeface="Aptos" panose="020B0004020202020204" pitchFamily="34" charset="0"/>
              <a:cs typeface="Times New Roman" panose="02020603050405020304" pitchFamily="18" charset="0"/>
            </a:endParaRPr>
          </a:p>
          <a:p>
            <a:pPr marL="34290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durch natürliche Personen, die </a:t>
            </a:r>
            <a:r>
              <a:rPr lang="de-DE" sz="2200" b="1" kern="100" dirty="0">
                <a:solidFill>
                  <a:srgbClr val="000000"/>
                </a:solidFill>
                <a:effectLst/>
                <a:ea typeface="Aptos" panose="020B0004020202020204" pitchFamily="34" charset="0"/>
                <a:cs typeface="Times New Roman" panose="02020603050405020304" pitchFamily="18" charset="0"/>
              </a:rPr>
              <a:t>ausschließlich persönliche oder familiäre Tätigkeiten </a:t>
            </a:r>
            <a:r>
              <a:rPr lang="de-DE" sz="2200" kern="100" dirty="0">
                <a:solidFill>
                  <a:srgbClr val="000000"/>
                </a:solidFill>
                <a:effectLst/>
                <a:ea typeface="Aptos" panose="020B0004020202020204" pitchFamily="34" charset="0"/>
                <a:cs typeface="Times New Roman" panose="02020603050405020304" pitchFamily="18" charset="0"/>
              </a:rPr>
              <a:t>ausüben. Sobald Daten für persönliche Zwecke verarbeitet werden, sind die strengen Vorschriften der DSGVO nicht zu beachten.</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Bei zuständigen Behörden zum Zwecke der </a:t>
            </a:r>
            <a:r>
              <a:rPr lang="de-DE" sz="2200" b="1" kern="100" dirty="0">
                <a:solidFill>
                  <a:srgbClr val="000000"/>
                </a:solidFill>
                <a:effectLst/>
                <a:ea typeface="Aptos" panose="020B0004020202020204" pitchFamily="34" charset="0"/>
                <a:cs typeface="Times New Roman" panose="02020603050405020304" pitchFamily="18" charset="0"/>
              </a:rPr>
              <a:t>Verhütung, Ermittlung, Aufdeckung </a:t>
            </a:r>
            <a:r>
              <a:rPr lang="de-DE" sz="2200" kern="100" dirty="0">
                <a:solidFill>
                  <a:srgbClr val="000000"/>
                </a:solidFill>
                <a:effectLst/>
                <a:ea typeface="Aptos" panose="020B0004020202020204" pitchFamily="34" charset="0"/>
                <a:cs typeface="Times New Roman" panose="02020603050405020304" pitchFamily="18" charset="0"/>
              </a:rPr>
              <a:t>oder </a:t>
            </a:r>
            <a:r>
              <a:rPr lang="de-DE" sz="2200" b="1" kern="100" dirty="0">
                <a:solidFill>
                  <a:srgbClr val="000000"/>
                </a:solidFill>
                <a:effectLst/>
                <a:ea typeface="Aptos" panose="020B0004020202020204" pitchFamily="34" charset="0"/>
                <a:cs typeface="Times New Roman" panose="02020603050405020304" pitchFamily="18" charset="0"/>
              </a:rPr>
              <a:t>Verfolgung von Straftaten </a:t>
            </a:r>
            <a:r>
              <a:rPr lang="de-DE" sz="2200" kern="100" dirty="0">
                <a:solidFill>
                  <a:srgbClr val="000000"/>
                </a:solidFill>
                <a:effectLst/>
                <a:ea typeface="Aptos" panose="020B0004020202020204" pitchFamily="34" charset="0"/>
                <a:cs typeface="Times New Roman" panose="02020603050405020304" pitchFamily="18" charset="0"/>
              </a:rPr>
              <a:t>oder der Strafvollstreckung, einschließlich des Schutzes vor und der Abwehr von Gefahren für die öffentliche Sicherheit</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Bei </a:t>
            </a:r>
            <a:r>
              <a:rPr lang="de-DE" sz="2200" b="1" kern="100" dirty="0">
                <a:solidFill>
                  <a:srgbClr val="000000"/>
                </a:solidFill>
                <a:effectLst/>
                <a:ea typeface="Aptos" panose="020B0004020202020204" pitchFamily="34" charset="0"/>
                <a:cs typeface="Times New Roman" panose="02020603050405020304" pitchFamily="18" charset="0"/>
              </a:rPr>
              <a:t>juristischen Personen </a:t>
            </a:r>
            <a:r>
              <a:rPr lang="de-DE" sz="2200" kern="100" dirty="0">
                <a:solidFill>
                  <a:srgbClr val="000000"/>
                </a:solidFill>
                <a:effectLst/>
                <a:ea typeface="Aptos" panose="020B0004020202020204" pitchFamily="34" charset="0"/>
                <a:cs typeface="Times New Roman" panose="02020603050405020304" pitchFamily="18" charset="0"/>
              </a:rPr>
              <a:t>(Name, Rechtsform, Kontaktdaten) (</a:t>
            </a:r>
            <a:r>
              <a:rPr lang="de-DE" sz="2200" b="1" i="1" kern="100" dirty="0">
                <a:solidFill>
                  <a:srgbClr val="7030A0"/>
                </a:solidFill>
                <a:effectLst/>
                <a:ea typeface="Aptos" panose="020B0004020202020204" pitchFamily="34" charset="0"/>
                <a:cs typeface="Times New Roman" panose="02020603050405020304" pitchFamily="18" charset="0"/>
              </a:rPr>
              <a:t>EG 14</a:t>
            </a:r>
            <a:r>
              <a:rPr lang="de-DE" sz="2200" kern="100" dirty="0">
                <a:solidFill>
                  <a:srgbClr val="000000"/>
                </a:solidFill>
                <a:effectLst/>
                <a:ea typeface="Aptos" panose="020B0004020202020204" pitchFamily="34" charset="0"/>
                <a:cs typeface="Times New Roman" panose="02020603050405020304" pitchFamily="18" charset="0"/>
              </a:rPr>
              <a:t>)</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Bei personenbezogenen Daten </a:t>
            </a:r>
            <a:r>
              <a:rPr lang="de-DE" sz="2200" b="1" kern="100" dirty="0">
                <a:solidFill>
                  <a:srgbClr val="000000"/>
                </a:solidFill>
                <a:effectLst/>
                <a:ea typeface="Aptos" panose="020B0004020202020204" pitchFamily="34" charset="0"/>
                <a:cs typeface="Times New Roman" panose="02020603050405020304" pitchFamily="18" charset="0"/>
              </a:rPr>
              <a:t>Verstorbener</a:t>
            </a:r>
            <a:r>
              <a:rPr lang="de-DE" sz="2200" kern="100" dirty="0">
                <a:solidFill>
                  <a:srgbClr val="000000"/>
                </a:solidFill>
                <a:effectLst/>
                <a:ea typeface="Aptos" panose="020B0004020202020204" pitchFamily="34" charset="0"/>
                <a:cs typeface="Times New Roman" panose="02020603050405020304" pitchFamily="18" charset="0"/>
              </a:rPr>
              <a:t> (</a:t>
            </a:r>
            <a:r>
              <a:rPr lang="de-DE" sz="2200" b="1" i="1" kern="100" dirty="0">
                <a:solidFill>
                  <a:srgbClr val="7030A0"/>
                </a:solidFill>
                <a:effectLst/>
                <a:ea typeface="Aptos" panose="020B0004020202020204" pitchFamily="34" charset="0"/>
                <a:cs typeface="Times New Roman" panose="02020603050405020304" pitchFamily="18" charset="0"/>
              </a:rPr>
              <a:t>EG 27</a:t>
            </a:r>
            <a:r>
              <a:rPr lang="de-DE" sz="2200" kern="100" dirty="0">
                <a:solidFill>
                  <a:srgbClr val="000000"/>
                </a:solidFill>
                <a:effectLst/>
                <a:ea typeface="Aptos" panose="020B0004020202020204" pitchFamily="34" charset="0"/>
                <a:cs typeface="Times New Roman" panose="02020603050405020304" pitchFamily="18" charset="0"/>
              </a:rPr>
              <a:t>)</a:t>
            </a:r>
            <a:endParaRPr lang="de-DE" sz="2200" kern="100" dirty="0">
              <a:effectLst/>
              <a:ea typeface="Aptos" panose="020B0004020202020204" pitchFamily="34" charset="0"/>
              <a:cs typeface="Times New Roman" panose="02020603050405020304" pitchFamily="18" charset="0"/>
            </a:endParaRPr>
          </a:p>
          <a:p>
            <a:pPr>
              <a:lnSpc>
                <a:spcPct val="107000"/>
              </a:lnSpc>
              <a:spcAft>
                <a:spcPts val="800"/>
              </a:spcAft>
              <a:buNone/>
            </a:pPr>
            <a:endParaRPr lang="de-DE" dirty="0"/>
          </a:p>
        </p:txBody>
      </p:sp>
      <p:sp>
        <p:nvSpPr>
          <p:cNvPr id="4" name="Fußzeilenplatzhalter 3">
            <a:extLst>
              <a:ext uri="{FF2B5EF4-FFF2-40B4-BE49-F238E27FC236}">
                <a16:creationId xmlns:a16="http://schemas.microsoft.com/office/drawing/2014/main" id="{AC85458A-09CC-3D3D-EB96-9FB72A679CDE}"/>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4EFADC17-E4A5-EC11-8015-269BC7AE75FF}"/>
              </a:ext>
            </a:extLst>
          </p:cNvPr>
          <p:cNvSpPr>
            <a:spLocks noGrp="1"/>
          </p:cNvSpPr>
          <p:nvPr>
            <p:ph type="sldNum" sz="quarter" idx="12"/>
          </p:nvPr>
        </p:nvSpPr>
        <p:spPr/>
        <p:txBody>
          <a:bodyPr/>
          <a:lstStyle/>
          <a:p>
            <a:fld id="{B4CE166D-2D50-44F1-A818-BFD238545C9D}" type="slidenum">
              <a:rPr lang="de-DE" smtClean="0"/>
              <a:t>11</a:t>
            </a:fld>
            <a:endParaRPr lang="de-DE"/>
          </a:p>
        </p:txBody>
      </p:sp>
    </p:spTree>
    <p:extLst>
      <p:ext uri="{BB962C8B-B14F-4D97-AF65-F5344CB8AC3E}">
        <p14:creationId xmlns:p14="http://schemas.microsoft.com/office/powerpoint/2010/main" val="2592692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760E8-A3ED-C933-31F1-435B6F2BF8E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9A6AE0D-DC61-E2B7-EE47-AD7C2E8DEC84}"/>
              </a:ext>
            </a:extLst>
          </p:cNvPr>
          <p:cNvSpPr>
            <a:spLocks noGrp="1"/>
          </p:cNvSpPr>
          <p:nvPr>
            <p:ph type="title"/>
          </p:nvPr>
        </p:nvSpPr>
        <p:spPr>
          <a:xfrm>
            <a:off x="838200" y="365126"/>
            <a:ext cx="10515600" cy="928654"/>
          </a:xfrm>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770F531C-1E80-B379-7CF6-8AFFD2F0616F}"/>
              </a:ext>
            </a:extLst>
          </p:cNvPr>
          <p:cNvSpPr>
            <a:spLocks noGrp="1"/>
          </p:cNvSpPr>
          <p:nvPr>
            <p:ph idx="1"/>
          </p:nvPr>
        </p:nvSpPr>
        <p:spPr>
          <a:xfrm>
            <a:off x="838200" y="1536970"/>
            <a:ext cx="10515600" cy="4639993"/>
          </a:xfrm>
        </p:spPr>
        <p:txBody>
          <a:bodyPr>
            <a:normAutofit fontScale="85000" lnSpcReduction="10000"/>
          </a:bodyPr>
          <a:lstStyle/>
          <a:p>
            <a:pPr marL="457200">
              <a:lnSpc>
                <a:spcPct val="107000"/>
              </a:lnSpc>
              <a:buNone/>
            </a:pPr>
            <a:r>
              <a:rPr lang="de-DE" b="1" dirty="0">
                <a:solidFill>
                  <a:srgbClr val="0070C0"/>
                </a:solidFill>
              </a:rPr>
              <a:t>Räumlicher Anwendungsbereich </a:t>
            </a:r>
            <a:r>
              <a:rPr lang="de-DE" b="1" dirty="0">
                <a:solidFill>
                  <a:srgbClr val="7030A0"/>
                </a:solidFill>
                <a:sym typeface="Wingdings" panose="05000000000000000000" pitchFamily="2" charset="2"/>
              </a:rPr>
              <a:t> </a:t>
            </a:r>
            <a:r>
              <a:rPr lang="de-DE" b="1" dirty="0">
                <a:solidFill>
                  <a:srgbClr val="7030A0"/>
                </a:solidFill>
              </a:rPr>
              <a:t>Art. 3 DSGVO</a:t>
            </a:r>
            <a:r>
              <a:rPr lang="de-DE" dirty="0"/>
              <a:t>:</a:t>
            </a:r>
            <a:br>
              <a:rPr lang="de-DE" dirty="0"/>
            </a:br>
            <a:r>
              <a:rPr lang="de-DE" sz="2200" u="sng" kern="100" dirty="0">
                <a:solidFill>
                  <a:srgbClr val="000000"/>
                </a:solidFill>
                <a:effectLst/>
                <a:ea typeface="Aptos" panose="020B0004020202020204" pitchFamily="34" charset="0"/>
                <a:cs typeface="Times New Roman" panose="02020603050405020304" pitchFamily="18" charset="0"/>
              </a:rPr>
              <a:t>Die DSGVO findet Anwendung:</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Der </a:t>
            </a:r>
            <a:r>
              <a:rPr lang="de-DE" sz="2200" b="1" kern="100" dirty="0">
                <a:solidFill>
                  <a:srgbClr val="000000"/>
                </a:solidFill>
                <a:effectLst/>
                <a:ea typeface="Aptos" panose="020B0004020202020204" pitchFamily="34" charset="0"/>
                <a:cs typeface="Times New Roman" panose="02020603050405020304" pitchFamily="18" charset="0"/>
              </a:rPr>
              <a:t>Verantwortliche</a:t>
            </a:r>
            <a:r>
              <a:rPr lang="de-DE" sz="2200" kern="100" dirty="0">
                <a:solidFill>
                  <a:srgbClr val="000000"/>
                </a:solidFill>
                <a:effectLst/>
                <a:ea typeface="Aptos" panose="020B0004020202020204" pitchFamily="34" charset="0"/>
                <a:cs typeface="Times New Roman" panose="02020603050405020304" pitchFamily="18" charset="0"/>
              </a:rPr>
              <a:t> (oder </a:t>
            </a:r>
            <a:r>
              <a:rPr lang="de-DE" sz="2200" b="1" kern="100" dirty="0">
                <a:solidFill>
                  <a:srgbClr val="000000"/>
                </a:solidFill>
                <a:effectLst/>
                <a:ea typeface="Aptos" panose="020B0004020202020204" pitchFamily="34" charset="0"/>
                <a:cs typeface="Times New Roman" panose="02020603050405020304" pitchFamily="18" charset="0"/>
              </a:rPr>
              <a:t>Auftragsverarbeiter</a:t>
            </a:r>
            <a:r>
              <a:rPr lang="de-DE" sz="2200" kern="100" dirty="0">
                <a:solidFill>
                  <a:srgbClr val="000000"/>
                </a:solidFill>
                <a:effectLst/>
                <a:ea typeface="Aptos" panose="020B0004020202020204" pitchFamily="34" charset="0"/>
                <a:cs typeface="Times New Roman" panose="02020603050405020304" pitchFamily="18" charset="0"/>
              </a:rPr>
              <a:t>) hat eine </a:t>
            </a:r>
            <a:r>
              <a:rPr lang="de-DE" sz="2200" b="1" kern="100" dirty="0">
                <a:solidFill>
                  <a:srgbClr val="000000"/>
                </a:solidFill>
                <a:effectLst/>
                <a:ea typeface="Aptos" panose="020B0004020202020204" pitchFamily="34" charset="0"/>
                <a:cs typeface="Times New Roman" panose="02020603050405020304" pitchFamily="18" charset="0"/>
              </a:rPr>
              <a:t>Niederlassung in der EU</a:t>
            </a:r>
            <a:r>
              <a:rPr lang="de-DE" sz="2200" kern="100" dirty="0">
                <a:solidFill>
                  <a:srgbClr val="000000"/>
                </a:solidFill>
                <a:effectLst/>
                <a:ea typeface="Aptos" panose="020B0004020202020204" pitchFamily="34" charset="0"/>
                <a:cs typeface="Times New Roman" panose="02020603050405020304" pitchFamily="18" charset="0"/>
              </a:rPr>
              <a:t> </a:t>
            </a:r>
            <a:br>
              <a:rPr lang="de-DE" sz="2200" kern="100" dirty="0">
                <a:solidFill>
                  <a:srgbClr val="000000"/>
                </a:solidFill>
                <a:effectLst/>
                <a:ea typeface="Aptos" panose="020B0004020202020204" pitchFamily="34" charset="0"/>
                <a:cs typeface="Times New Roman" panose="02020603050405020304" pitchFamily="18" charset="0"/>
              </a:rPr>
            </a:br>
            <a:r>
              <a:rPr lang="de-DE" sz="2200" b="1" i="1" kern="100" dirty="0">
                <a:solidFill>
                  <a:srgbClr val="7030A0"/>
                </a:solidFill>
                <a:effectLst/>
                <a:ea typeface="Aptos" panose="020B0004020202020204" pitchFamily="34" charset="0"/>
                <a:cs typeface="Times New Roman" panose="02020603050405020304" pitchFamily="18" charset="0"/>
              </a:rPr>
              <a:t>Art. 3 (1) DSGVO</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Es werden personenbezogene Daten </a:t>
            </a:r>
            <a:r>
              <a:rPr lang="de-DE" sz="2200" b="1" kern="100" dirty="0">
                <a:solidFill>
                  <a:srgbClr val="000000"/>
                </a:solidFill>
                <a:effectLst/>
                <a:ea typeface="Aptos" panose="020B0004020202020204" pitchFamily="34" charset="0"/>
                <a:cs typeface="Times New Roman" panose="02020603050405020304" pitchFamily="18" charset="0"/>
              </a:rPr>
              <a:t>von</a:t>
            </a:r>
            <a:r>
              <a:rPr lang="de-DE" sz="2200" kern="100" dirty="0">
                <a:solidFill>
                  <a:srgbClr val="000000"/>
                </a:solidFill>
                <a:effectLst/>
                <a:ea typeface="Aptos" panose="020B0004020202020204" pitchFamily="34" charset="0"/>
                <a:cs typeface="Times New Roman" panose="02020603050405020304" pitchFamily="18" charset="0"/>
              </a:rPr>
              <a:t> </a:t>
            </a:r>
            <a:r>
              <a:rPr lang="de-DE" sz="2200" b="1" kern="100" dirty="0">
                <a:solidFill>
                  <a:srgbClr val="000000"/>
                </a:solidFill>
                <a:effectLst/>
                <a:ea typeface="Aptos" panose="020B0004020202020204" pitchFamily="34" charset="0"/>
                <a:cs typeface="Times New Roman" panose="02020603050405020304" pitchFamily="18" charset="0"/>
              </a:rPr>
              <a:t>Betroffenen</a:t>
            </a:r>
            <a:r>
              <a:rPr lang="de-DE" sz="2200" kern="100" dirty="0">
                <a:solidFill>
                  <a:srgbClr val="000000"/>
                </a:solidFill>
                <a:effectLst/>
                <a:ea typeface="Aptos" panose="020B0004020202020204" pitchFamily="34" charset="0"/>
                <a:cs typeface="Times New Roman" panose="02020603050405020304" pitchFamily="18" charset="0"/>
              </a:rPr>
              <a:t> verarbeitet, </a:t>
            </a:r>
            <a:r>
              <a:rPr lang="de-DE" sz="2200" b="1" kern="100" dirty="0">
                <a:solidFill>
                  <a:srgbClr val="000000"/>
                </a:solidFill>
                <a:effectLst/>
                <a:ea typeface="Aptos" panose="020B0004020202020204" pitchFamily="34" charset="0"/>
                <a:cs typeface="Times New Roman" panose="02020603050405020304" pitchFamily="18" charset="0"/>
              </a:rPr>
              <a:t>die sich gerade in der EU befinden</a:t>
            </a:r>
            <a:r>
              <a:rPr lang="de-DE" sz="2200" kern="100" dirty="0">
                <a:solidFill>
                  <a:srgbClr val="000000"/>
                </a:solidFill>
                <a:effectLst/>
                <a:ea typeface="Aptos" panose="020B0004020202020204" pitchFamily="34" charset="0"/>
                <a:cs typeface="Times New Roman" panose="02020603050405020304" pitchFamily="18" charset="0"/>
              </a:rPr>
              <a:t> (im Zusammenhang mit dem Handel von Waren oder Dienstleistungen) </a:t>
            </a:r>
            <a:r>
              <a:rPr lang="de-DE" sz="2200" i="1" kern="100" dirty="0">
                <a:solidFill>
                  <a:srgbClr val="000000"/>
                </a:solidFill>
                <a:effectLst/>
                <a:ea typeface="Aptos" panose="020B0004020202020204" pitchFamily="34" charset="0"/>
                <a:cs typeface="Times New Roman" panose="02020603050405020304" pitchFamily="18" charset="0"/>
              </a:rPr>
              <a:t>Art. 3 (2a) DSGVO</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Es werden </a:t>
            </a:r>
            <a:r>
              <a:rPr lang="de-DE" sz="2200" b="1" kern="100" dirty="0">
                <a:solidFill>
                  <a:srgbClr val="000000"/>
                </a:solidFill>
                <a:effectLst/>
                <a:ea typeface="Aptos" panose="020B0004020202020204" pitchFamily="34" charset="0"/>
                <a:cs typeface="Times New Roman" panose="02020603050405020304" pitchFamily="18" charset="0"/>
              </a:rPr>
              <a:t>Verhaltensdaten von Betroffenen</a:t>
            </a:r>
            <a:r>
              <a:rPr lang="de-DE" sz="2200" kern="100" dirty="0">
                <a:solidFill>
                  <a:srgbClr val="000000"/>
                </a:solidFill>
                <a:effectLst/>
                <a:ea typeface="Aptos" panose="020B0004020202020204" pitchFamily="34" charset="0"/>
                <a:cs typeface="Times New Roman" panose="02020603050405020304" pitchFamily="18" charset="0"/>
              </a:rPr>
              <a:t> verarbeitet, </a:t>
            </a:r>
            <a:r>
              <a:rPr lang="de-DE" sz="2200" b="1" kern="100" dirty="0">
                <a:solidFill>
                  <a:srgbClr val="000000"/>
                </a:solidFill>
                <a:effectLst/>
                <a:ea typeface="Aptos" panose="020B0004020202020204" pitchFamily="34" charset="0"/>
                <a:cs typeface="Times New Roman" panose="02020603050405020304" pitchFamily="18" charset="0"/>
              </a:rPr>
              <a:t>die sich gerade in der Union befinden</a:t>
            </a:r>
            <a:r>
              <a:rPr lang="de-DE" sz="2200" kern="100" dirty="0">
                <a:solidFill>
                  <a:srgbClr val="000000"/>
                </a:solidFill>
                <a:effectLst/>
                <a:ea typeface="Aptos" panose="020B0004020202020204" pitchFamily="34" charset="0"/>
                <a:cs typeface="Times New Roman" panose="02020603050405020304" pitchFamily="18" charset="0"/>
              </a:rPr>
              <a:t> </a:t>
            </a:r>
            <a:r>
              <a:rPr lang="de-DE" sz="2200" b="1" i="1" kern="100" dirty="0">
                <a:solidFill>
                  <a:srgbClr val="7030A0"/>
                </a:solidFill>
                <a:effectLst/>
                <a:ea typeface="Aptos" panose="020B0004020202020204" pitchFamily="34" charset="0"/>
                <a:cs typeface="Times New Roman" panose="02020603050405020304" pitchFamily="18" charset="0"/>
              </a:rPr>
              <a:t>Art. 3 (2b) DSGVO</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b="1" i="1" kern="100" dirty="0">
                <a:solidFill>
                  <a:srgbClr val="7030A0"/>
                </a:solidFill>
                <a:effectLst/>
                <a:ea typeface="Aptos" panose="020B0004020202020204" pitchFamily="34" charset="0"/>
                <a:cs typeface="Times New Roman" panose="02020603050405020304" pitchFamily="18" charset="0"/>
              </a:rPr>
              <a:t>EG 22</a:t>
            </a:r>
            <a:r>
              <a:rPr lang="de-DE" sz="2200" b="1" kern="100" dirty="0">
                <a:solidFill>
                  <a:srgbClr val="7030A0"/>
                </a:solidFill>
                <a:effectLst/>
                <a:ea typeface="Aptos" panose="020B0004020202020204" pitchFamily="34" charset="0"/>
                <a:cs typeface="Times New Roman" panose="02020603050405020304" pitchFamily="18" charset="0"/>
              </a:rPr>
              <a:t> </a:t>
            </a:r>
            <a:r>
              <a:rPr lang="de-DE" sz="2200" b="1" kern="100" dirty="0">
                <a:solidFill>
                  <a:srgbClr val="000000"/>
                </a:solidFill>
                <a:effectLst/>
                <a:ea typeface="Aptos" panose="020B0004020202020204" pitchFamily="34" charset="0"/>
                <a:cs typeface="Times New Roman" panose="02020603050405020304" pitchFamily="18" charset="0"/>
              </a:rPr>
              <a:t>– Niederlassung</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Im Endeffekt</a:t>
            </a:r>
            <a:r>
              <a:rPr lang="de-DE" sz="2200" b="1" kern="100" dirty="0">
                <a:solidFill>
                  <a:srgbClr val="000000"/>
                </a:solidFill>
                <a:effectLst/>
                <a:ea typeface="Aptos" panose="020B0004020202020204" pitchFamily="34" charset="0"/>
                <a:cs typeface="Times New Roman" panose="02020603050405020304" pitchFamily="18" charset="0"/>
              </a:rPr>
              <a:t> gilt die DSGVO weltweit </a:t>
            </a:r>
            <a:r>
              <a:rPr lang="de-DE" sz="2200" kern="100" dirty="0">
                <a:solidFill>
                  <a:srgbClr val="000000"/>
                </a:solidFill>
                <a:effectLst/>
                <a:ea typeface="Aptos" panose="020B0004020202020204" pitchFamily="34" charset="0"/>
                <a:cs typeface="Times New Roman" panose="02020603050405020304" pitchFamily="18" charset="0"/>
              </a:rPr>
              <a:t>unter den Voraussetzungen des </a:t>
            </a:r>
            <a:r>
              <a:rPr lang="de-DE" sz="2200" b="1" i="1" kern="100" dirty="0">
                <a:solidFill>
                  <a:srgbClr val="7030A0"/>
                </a:solidFill>
                <a:effectLst/>
                <a:ea typeface="Aptos" panose="020B0004020202020204" pitchFamily="34" charset="0"/>
                <a:cs typeface="Times New Roman" panose="02020603050405020304" pitchFamily="18" charset="0"/>
              </a:rPr>
              <a:t>Artikels 2 + 3 DSGVO</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Somit ist vorher immer zu </a:t>
            </a:r>
            <a:r>
              <a:rPr lang="de-DE" sz="2200" b="1" kern="100" dirty="0">
                <a:solidFill>
                  <a:srgbClr val="000000"/>
                </a:solidFill>
                <a:effectLst/>
                <a:ea typeface="Aptos" panose="020B0004020202020204" pitchFamily="34" charset="0"/>
                <a:cs typeface="Times New Roman" panose="02020603050405020304" pitchFamily="18" charset="0"/>
              </a:rPr>
              <a:t>prüfen, ob der sachliche, </a:t>
            </a:r>
            <a:r>
              <a:rPr lang="de-DE" sz="2200" kern="100" dirty="0">
                <a:solidFill>
                  <a:srgbClr val="000000"/>
                </a:solidFill>
                <a:effectLst/>
                <a:ea typeface="Aptos" panose="020B0004020202020204" pitchFamily="34" charset="0"/>
                <a:cs typeface="Times New Roman" panose="02020603050405020304" pitchFamily="18" charset="0"/>
              </a:rPr>
              <a:t>als auch</a:t>
            </a:r>
            <a:r>
              <a:rPr lang="de-DE" sz="2200" b="1" kern="100" dirty="0">
                <a:solidFill>
                  <a:srgbClr val="000000"/>
                </a:solidFill>
                <a:effectLst/>
                <a:ea typeface="Aptos" panose="020B0004020202020204" pitchFamily="34" charset="0"/>
                <a:cs typeface="Times New Roman" panose="02020603050405020304" pitchFamily="18" charset="0"/>
              </a:rPr>
              <a:t> der räumliche Anwendungsbereich</a:t>
            </a:r>
            <a:r>
              <a:rPr lang="de-DE" sz="2200" kern="100" dirty="0">
                <a:solidFill>
                  <a:srgbClr val="000000"/>
                </a:solidFill>
                <a:effectLst/>
                <a:ea typeface="Aptos" panose="020B0004020202020204" pitchFamily="34" charset="0"/>
                <a:cs typeface="Times New Roman" panose="02020603050405020304" pitchFamily="18" charset="0"/>
              </a:rPr>
              <a:t> der DSGVO </a:t>
            </a:r>
            <a:r>
              <a:rPr lang="de-DE" sz="2200" b="1" kern="100" dirty="0">
                <a:solidFill>
                  <a:srgbClr val="000000"/>
                </a:solidFill>
                <a:effectLst/>
                <a:ea typeface="Aptos" panose="020B0004020202020204" pitchFamily="34" charset="0"/>
                <a:cs typeface="Times New Roman" panose="02020603050405020304" pitchFamily="18" charset="0"/>
              </a:rPr>
              <a:t>zutrifft</a:t>
            </a:r>
            <a:r>
              <a:rPr lang="de-DE" sz="2200" kern="100" dirty="0">
                <a:solidFill>
                  <a:srgbClr val="000000"/>
                </a:solidFill>
                <a:effectLst/>
                <a:ea typeface="Aptos" panose="020B0004020202020204" pitchFamily="34" charset="0"/>
                <a:cs typeface="Times New Roman" panose="02020603050405020304" pitchFamily="18" charset="0"/>
              </a:rPr>
              <a:t>.</a:t>
            </a:r>
            <a:endParaRPr lang="de-DE" sz="2200" kern="100" dirty="0">
              <a:effectLst/>
              <a:ea typeface="Aptos" panose="020B0004020202020204" pitchFamily="34" charset="0"/>
              <a:cs typeface="Times New Roman" panose="02020603050405020304" pitchFamily="18" charset="0"/>
            </a:endParaRPr>
          </a:p>
        </p:txBody>
      </p:sp>
      <p:sp>
        <p:nvSpPr>
          <p:cNvPr id="4" name="Fußzeilenplatzhalter 3">
            <a:extLst>
              <a:ext uri="{FF2B5EF4-FFF2-40B4-BE49-F238E27FC236}">
                <a16:creationId xmlns:a16="http://schemas.microsoft.com/office/drawing/2014/main" id="{9C9B8329-548D-0E5C-44F7-EFA4F452085E}"/>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26518657-0F69-0F32-EDAA-6BF8E1A0676E}"/>
              </a:ext>
            </a:extLst>
          </p:cNvPr>
          <p:cNvSpPr>
            <a:spLocks noGrp="1"/>
          </p:cNvSpPr>
          <p:nvPr>
            <p:ph type="sldNum" sz="quarter" idx="12"/>
          </p:nvPr>
        </p:nvSpPr>
        <p:spPr/>
        <p:txBody>
          <a:bodyPr/>
          <a:lstStyle/>
          <a:p>
            <a:fld id="{B4CE166D-2D50-44F1-A818-BFD238545C9D}" type="slidenum">
              <a:rPr lang="de-DE" smtClean="0"/>
              <a:t>12</a:t>
            </a:fld>
            <a:endParaRPr lang="de-DE"/>
          </a:p>
        </p:txBody>
      </p:sp>
    </p:spTree>
    <p:extLst>
      <p:ext uri="{BB962C8B-B14F-4D97-AF65-F5344CB8AC3E}">
        <p14:creationId xmlns:p14="http://schemas.microsoft.com/office/powerpoint/2010/main" val="570186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53B7F9-FCA7-8B78-66AE-25E6AEA37B73}"/>
              </a:ext>
            </a:extLst>
          </p:cNvPr>
          <p:cNvSpPr>
            <a:spLocks noGrp="1"/>
          </p:cNvSpPr>
          <p:nvPr>
            <p:ph type="title"/>
          </p:nvPr>
        </p:nvSpPr>
        <p:spPr/>
        <p:txBody>
          <a:bodyPr/>
          <a:lstStyle/>
          <a:p>
            <a:r>
              <a:rPr lang="de-DE" dirty="0"/>
              <a:t>Das Bundesdatenschutzgesetz (BDSG)</a:t>
            </a:r>
          </a:p>
        </p:txBody>
      </p:sp>
      <p:sp>
        <p:nvSpPr>
          <p:cNvPr id="3" name="Inhaltsplatzhalter 2">
            <a:extLst>
              <a:ext uri="{FF2B5EF4-FFF2-40B4-BE49-F238E27FC236}">
                <a16:creationId xmlns:a16="http://schemas.microsoft.com/office/drawing/2014/main" id="{42733D25-3857-CBE0-36E4-E4F8B48E1DD3}"/>
              </a:ext>
            </a:extLst>
          </p:cNvPr>
          <p:cNvSpPr>
            <a:spLocks noGrp="1"/>
          </p:cNvSpPr>
          <p:nvPr>
            <p:ph idx="1"/>
          </p:nvPr>
        </p:nvSpPr>
        <p:spPr>
          <a:xfrm>
            <a:off x="838200" y="1536970"/>
            <a:ext cx="10515600" cy="4639993"/>
          </a:xfrm>
        </p:spPr>
        <p:txBody>
          <a:bodyPr>
            <a:noAutofit/>
          </a:bodyPr>
          <a:lstStyle/>
          <a:p>
            <a:pPr marL="0" lvl="0" indent="0">
              <a:lnSpc>
                <a:spcPct val="107000"/>
              </a:lnSpc>
              <a:buNone/>
            </a:pPr>
            <a:r>
              <a:rPr lang="de-DE" b="1" kern="100" dirty="0">
                <a:solidFill>
                  <a:srgbClr val="0070C0"/>
                </a:solidFill>
                <a:effectLst/>
                <a:ea typeface="Aptos" panose="020B0004020202020204" pitchFamily="34" charset="0"/>
                <a:cs typeface="Times New Roman" panose="02020603050405020304" pitchFamily="18" charset="0"/>
              </a:rPr>
              <a:t>Sachlicher Anwendungsbereich</a:t>
            </a:r>
            <a:r>
              <a:rPr lang="de-DE" kern="100" dirty="0">
                <a:solidFill>
                  <a:srgbClr val="000000"/>
                </a:solidFill>
                <a:effectLst/>
                <a:ea typeface="Aptos" panose="020B0004020202020204" pitchFamily="34" charset="0"/>
                <a:cs typeface="Times New Roman" panose="02020603050405020304" pitchFamily="18" charset="0"/>
              </a:rPr>
              <a:t>:</a:t>
            </a:r>
            <a:br>
              <a:rPr lang="de-DE" kern="100" dirty="0">
                <a:solidFill>
                  <a:srgbClr val="000000"/>
                </a:solidFill>
                <a:effectLst/>
                <a:ea typeface="Aptos" panose="020B0004020202020204" pitchFamily="34" charset="0"/>
                <a:cs typeface="Times New Roman" panose="02020603050405020304" pitchFamily="18" charset="0"/>
              </a:rPr>
            </a:br>
            <a:endParaRPr lang="de-DE" kern="100" dirty="0">
              <a:solidFill>
                <a:srgbClr val="000000"/>
              </a:solidFill>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kern="100" dirty="0">
                <a:solidFill>
                  <a:srgbClr val="000000"/>
                </a:solidFill>
                <a:effectLst/>
                <a:ea typeface="Aptos" panose="020B0004020202020204" pitchFamily="34" charset="0"/>
                <a:cs typeface="Times New Roman" panose="02020603050405020304" pitchFamily="18" charset="0"/>
              </a:rPr>
              <a:t>Das BDSG gilt für </a:t>
            </a:r>
            <a:r>
              <a:rPr lang="de-DE" u="sng" kern="100" dirty="0">
                <a:solidFill>
                  <a:srgbClr val="000000"/>
                </a:solidFill>
                <a:effectLst/>
                <a:ea typeface="Aptos" panose="020B0004020202020204" pitchFamily="34" charset="0"/>
                <a:cs typeface="Times New Roman" panose="02020603050405020304" pitchFamily="18" charset="0"/>
              </a:rPr>
              <a:t>alle öffentlichen Stellen</a:t>
            </a:r>
            <a:r>
              <a:rPr lang="de-DE" kern="100" dirty="0">
                <a:solidFill>
                  <a:srgbClr val="000000"/>
                </a:solidFill>
                <a:effectLst/>
                <a:ea typeface="Aptos" panose="020B0004020202020204" pitchFamily="34" charset="0"/>
                <a:cs typeface="Times New Roman" panose="02020603050405020304" pitchFamily="18" charset="0"/>
              </a:rPr>
              <a:t> </a:t>
            </a:r>
            <a:r>
              <a:rPr lang="de-DE" b="1" i="1" kern="100" dirty="0">
                <a:solidFill>
                  <a:srgbClr val="7030A0"/>
                </a:solidFill>
                <a:effectLst/>
                <a:ea typeface="Aptos" panose="020B0004020202020204" pitchFamily="34" charset="0"/>
                <a:cs typeface="Times New Roman" panose="02020603050405020304" pitchFamily="18" charset="0"/>
              </a:rPr>
              <a:t>§1 (1) Satz 1 BDSG</a:t>
            </a:r>
            <a:br>
              <a:rPr lang="de-DE" b="1" i="1" kern="100" dirty="0">
                <a:solidFill>
                  <a:srgbClr val="7030A0"/>
                </a:solidFill>
                <a:effectLst/>
                <a:ea typeface="Aptos" panose="020B0004020202020204" pitchFamily="34" charset="0"/>
                <a:cs typeface="Times New Roman" panose="02020603050405020304" pitchFamily="18" charset="0"/>
              </a:rPr>
            </a:br>
            <a:endParaRPr lang="de-DE" kern="100" dirty="0">
              <a:effectLst/>
              <a:ea typeface="Aptos" panose="020B000402020202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de-DE" kern="100" dirty="0">
                <a:solidFill>
                  <a:srgbClr val="000000"/>
                </a:solidFill>
                <a:effectLst/>
                <a:ea typeface="Aptos" panose="020B0004020202020204" pitchFamily="34" charset="0"/>
                <a:cs typeface="Times New Roman" panose="02020603050405020304" pitchFamily="18" charset="0"/>
              </a:rPr>
              <a:t>Das BDSG gilt für </a:t>
            </a:r>
            <a:r>
              <a:rPr lang="de-DE" u="sng" kern="100" dirty="0">
                <a:solidFill>
                  <a:srgbClr val="000000"/>
                </a:solidFill>
                <a:effectLst/>
                <a:ea typeface="Aptos" panose="020B0004020202020204" pitchFamily="34" charset="0"/>
                <a:cs typeface="Times New Roman" panose="02020603050405020304" pitchFamily="18" charset="0"/>
              </a:rPr>
              <a:t>alle nicht-öffentlichen Stellen</a:t>
            </a:r>
            <a:r>
              <a:rPr lang="de-DE" kern="100" dirty="0">
                <a:solidFill>
                  <a:srgbClr val="000000"/>
                </a:solidFill>
                <a:effectLst/>
                <a:ea typeface="Aptos" panose="020B0004020202020204" pitchFamily="34" charset="0"/>
                <a:cs typeface="Times New Roman" panose="02020603050405020304" pitchFamily="18" charset="0"/>
              </a:rPr>
              <a:t>, außer bei nicht automatisierter Verarbeitung </a:t>
            </a:r>
            <a:r>
              <a:rPr lang="de-DE" u="sng" kern="100" dirty="0">
                <a:solidFill>
                  <a:srgbClr val="000000"/>
                </a:solidFill>
                <a:effectLst/>
                <a:ea typeface="Aptos" panose="020B0004020202020204" pitchFamily="34" charset="0"/>
                <a:cs typeface="Times New Roman" panose="02020603050405020304" pitchFamily="18" charset="0"/>
              </a:rPr>
              <a:t>ohne</a:t>
            </a:r>
            <a:r>
              <a:rPr lang="de-DE" kern="100" dirty="0">
                <a:solidFill>
                  <a:srgbClr val="000000"/>
                </a:solidFill>
                <a:effectLst/>
                <a:ea typeface="Aptos" panose="020B0004020202020204" pitchFamily="34" charset="0"/>
                <a:cs typeface="Times New Roman" panose="02020603050405020304" pitchFamily="18" charset="0"/>
              </a:rPr>
              <a:t> Dateisystem</a:t>
            </a:r>
            <a:endParaRPr lang="de-DE" kern="100" dirty="0">
              <a:effectLst/>
              <a:ea typeface="Aptos" panose="020B0004020202020204" pitchFamily="34" charset="0"/>
              <a:cs typeface="Times New Roman" panose="02020603050405020304" pitchFamily="18" charset="0"/>
            </a:endParaRPr>
          </a:p>
          <a:p>
            <a:pPr indent="0">
              <a:lnSpc>
                <a:spcPct val="107000"/>
              </a:lnSpc>
              <a:spcAft>
                <a:spcPts val="800"/>
              </a:spcAft>
              <a:buNone/>
            </a:pPr>
            <a:r>
              <a:rPr lang="de-DE" sz="24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de-DE" sz="2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de-DE" sz="2400" dirty="0"/>
          </a:p>
        </p:txBody>
      </p:sp>
      <p:sp>
        <p:nvSpPr>
          <p:cNvPr id="4" name="Fußzeilenplatzhalter 3">
            <a:extLst>
              <a:ext uri="{FF2B5EF4-FFF2-40B4-BE49-F238E27FC236}">
                <a16:creationId xmlns:a16="http://schemas.microsoft.com/office/drawing/2014/main" id="{D7A1C291-6309-F14D-2DCC-A0505F450DC1}"/>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93312DFE-016A-DD7B-7547-121343072B4B}"/>
              </a:ext>
            </a:extLst>
          </p:cNvPr>
          <p:cNvSpPr>
            <a:spLocks noGrp="1"/>
          </p:cNvSpPr>
          <p:nvPr>
            <p:ph type="sldNum" sz="quarter" idx="12"/>
          </p:nvPr>
        </p:nvSpPr>
        <p:spPr/>
        <p:txBody>
          <a:bodyPr/>
          <a:lstStyle/>
          <a:p>
            <a:fld id="{B4CE166D-2D50-44F1-A818-BFD238545C9D}" type="slidenum">
              <a:rPr lang="de-DE" smtClean="0"/>
              <a:t>13</a:t>
            </a:fld>
            <a:endParaRPr lang="de-DE"/>
          </a:p>
        </p:txBody>
      </p:sp>
    </p:spTree>
    <p:extLst>
      <p:ext uri="{BB962C8B-B14F-4D97-AF65-F5344CB8AC3E}">
        <p14:creationId xmlns:p14="http://schemas.microsoft.com/office/powerpoint/2010/main" val="180917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4E15F-6553-3883-E62E-4D27E04B273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8DF1F67-C239-F8D7-9FA9-C2899113511E}"/>
              </a:ext>
            </a:extLst>
          </p:cNvPr>
          <p:cNvSpPr>
            <a:spLocks noGrp="1"/>
          </p:cNvSpPr>
          <p:nvPr>
            <p:ph type="title"/>
          </p:nvPr>
        </p:nvSpPr>
        <p:spPr/>
        <p:txBody>
          <a:bodyPr/>
          <a:lstStyle/>
          <a:p>
            <a:r>
              <a:rPr lang="de-DE" dirty="0"/>
              <a:t>Das Bundesdatenschutzgesetz (BDSG)</a:t>
            </a:r>
          </a:p>
        </p:txBody>
      </p:sp>
      <p:sp>
        <p:nvSpPr>
          <p:cNvPr id="3" name="Inhaltsplatzhalter 2">
            <a:extLst>
              <a:ext uri="{FF2B5EF4-FFF2-40B4-BE49-F238E27FC236}">
                <a16:creationId xmlns:a16="http://schemas.microsoft.com/office/drawing/2014/main" id="{732A799D-EADF-286E-90E3-00F04DDD5FF4}"/>
              </a:ext>
            </a:extLst>
          </p:cNvPr>
          <p:cNvSpPr>
            <a:spLocks noGrp="1"/>
          </p:cNvSpPr>
          <p:nvPr>
            <p:ph idx="1"/>
          </p:nvPr>
        </p:nvSpPr>
        <p:spPr>
          <a:xfrm>
            <a:off x="838200" y="1536970"/>
            <a:ext cx="10515600" cy="4639993"/>
          </a:xfrm>
        </p:spPr>
        <p:txBody>
          <a:bodyPr>
            <a:noAutofit/>
          </a:bodyPr>
          <a:lstStyle/>
          <a:p>
            <a:pPr>
              <a:lnSpc>
                <a:spcPct val="107000"/>
              </a:lnSpc>
              <a:spcAft>
                <a:spcPts val="800"/>
              </a:spcAft>
              <a:buNone/>
            </a:pPr>
            <a:r>
              <a:rPr lang="de-DE" b="1" kern="100" dirty="0">
                <a:solidFill>
                  <a:srgbClr val="0070C0"/>
                </a:solidFill>
                <a:ea typeface="Aptos" panose="020B0004020202020204" pitchFamily="34" charset="0"/>
                <a:cs typeface="Times New Roman" panose="02020603050405020304" pitchFamily="18" charset="0"/>
              </a:rPr>
              <a:t>Räumlicher</a:t>
            </a:r>
            <a:r>
              <a:rPr lang="de-DE" b="1" kern="100" dirty="0">
                <a:solidFill>
                  <a:srgbClr val="0070C0"/>
                </a:solidFill>
                <a:effectLst/>
                <a:ea typeface="Aptos" panose="020B0004020202020204" pitchFamily="34" charset="0"/>
                <a:cs typeface="Times New Roman" panose="02020603050405020304" pitchFamily="18" charset="0"/>
              </a:rPr>
              <a:t> Anwendungsbereich</a:t>
            </a:r>
            <a:r>
              <a:rPr lang="de-DE" kern="100" dirty="0">
                <a:solidFill>
                  <a:srgbClr val="000000"/>
                </a:solidFill>
                <a:effectLst/>
                <a:ea typeface="Aptos" panose="020B0004020202020204" pitchFamily="34" charset="0"/>
                <a:cs typeface="Times New Roman" panose="02020603050405020304" pitchFamily="18" charset="0"/>
              </a:rPr>
              <a:t>:</a:t>
            </a:r>
            <a:br>
              <a:rPr lang="de-DE" kern="100" dirty="0">
                <a:solidFill>
                  <a:srgbClr val="000000"/>
                </a:solidFill>
                <a:effectLst/>
                <a:ea typeface="Aptos" panose="020B0004020202020204" pitchFamily="34" charset="0"/>
                <a:cs typeface="Times New Roman" panose="02020603050405020304" pitchFamily="18" charset="0"/>
              </a:rPr>
            </a:br>
            <a:r>
              <a:rPr lang="de-DE" sz="2400" kern="100" dirty="0">
                <a:solidFill>
                  <a:srgbClr val="000000"/>
                </a:solidFill>
                <a:effectLst/>
                <a:ea typeface="Aptos" panose="020B0004020202020204" pitchFamily="34" charset="0"/>
                <a:cs typeface="Times New Roman" panose="02020603050405020304" pitchFamily="18" charset="0"/>
              </a:rPr>
              <a:t>Jede Verarbeitung die im Inland (Deutschland) stattfindet </a:t>
            </a:r>
            <a:r>
              <a:rPr lang="de-DE" sz="2400" kern="100" dirty="0">
                <a:solidFill>
                  <a:srgbClr val="7030A0"/>
                </a:solidFill>
                <a:effectLst/>
                <a:ea typeface="Aptos" panose="020B0004020202020204" pitchFamily="34" charset="0"/>
                <a:cs typeface="Times New Roman" panose="02020603050405020304" pitchFamily="18" charset="0"/>
              </a:rPr>
              <a:t>[</a:t>
            </a:r>
            <a:r>
              <a:rPr lang="de-DE" sz="2400" b="1" kern="100" dirty="0">
                <a:solidFill>
                  <a:srgbClr val="7030A0"/>
                </a:solidFill>
                <a:effectLst/>
                <a:ea typeface="Aptos" panose="020B0004020202020204" pitchFamily="34" charset="0"/>
                <a:cs typeface="Times New Roman" panose="02020603050405020304" pitchFamily="18" charset="0"/>
              </a:rPr>
              <a:t>Territorialprinzip</a:t>
            </a:r>
            <a:r>
              <a:rPr lang="de-DE" sz="2400" kern="100" dirty="0">
                <a:solidFill>
                  <a:srgbClr val="7030A0"/>
                </a:solidFill>
                <a:effectLst/>
                <a:ea typeface="Aptos" panose="020B0004020202020204" pitchFamily="34" charset="0"/>
                <a:cs typeface="Times New Roman" panose="02020603050405020304" pitchFamily="18" charset="0"/>
              </a:rPr>
              <a:t>] </a:t>
            </a:r>
            <a:r>
              <a:rPr lang="de-DE" sz="2400" kern="100" dirty="0">
                <a:effectLst/>
                <a:ea typeface="Aptos" panose="020B0004020202020204" pitchFamily="34" charset="0"/>
                <a:cs typeface="Times New Roman" panose="02020603050405020304" pitchFamily="18" charset="0"/>
              </a:rPr>
              <a:t>und alle Unternehmen / Einrichtungen mit einer Niederlassung im Inland </a:t>
            </a:r>
            <a:r>
              <a:rPr lang="de-DE" sz="2400" kern="100" dirty="0">
                <a:solidFill>
                  <a:srgbClr val="7030A0"/>
                </a:solidFill>
                <a:effectLst/>
                <a:ea typeface="Aptos" panose="020B0004020202020204" pitchFamily="34" charset="0"/>
                <a:cs typeface="Times New Roman" panose="02020603050405020304" pitchFamily="18" charset="0"/>
              </a:rPr>
              <a:t>[</a:t>
            </a:r>
            <a:r>
              <a:rPr lang="de-DE" sz="2400" b="1" kern="100" dirty="0">
                <a:solidFill>
                  <a:srgbClr val="7030A0"/>
                </a:solidFill>
                <a:effectLst/>
                <a:ea typeface="Aptos" panose="020B0004020202020204" pitchFamily="34" charset="0"/>
                <a:cs typeface="Times New Roman" panose="02020603050405020304" pitchFamily="18" charset="0"/>
              </a:rPr>
              <a:t>Niederlassungsprinzip</a:t>
            </a:r>
            <a:r>
              <a:rPr lang="de-DE" sz="2400" kern="100" dirty="0">
                <a:solidFill>
                  <a:srgbClr val="7030A0"/>
                </a:solidFill>
                <a:effectLst/>
                <a:ea typeface="Aptos" panose="020B0004020202020204" pitchFamily="34" charset="0"/>
                <a:cs typeface="Times New Roman" panose="02020603050405020304" pitchFamily="18" charset="0"/>
              </a:rPr>
              <a:t>] </a:t>
            </a:r>
            <a:r>
              <a:rPr lang="de-DE" sz="2400" kern="100" dirty="0">
                <a:effectLst/>
                <a:ea typeface="Aptos" panose="020B0004020202020204" pitchFamily="34" charset="0"/>
                <a:cs typeface="Times New Roman" panose="02020603050405020304" pitchFamily="18" charset="0"/>
              </a:rPr>
              <a:t>unterliegen dem BDSG.</a:t>
            </a:r>
          </a:p>
          <a:p>
            <a:pPr marL="342900" lvl="0" indent="-342900">
              <a:lnSpc>
                <a:spcPct val="107000"/>
              </a:lnSpc>
              <a:buFont typeface="Symbol" panose="05050102010706020507" pitchFamily="18" charset="2"/>
              <a:buChar char=""/>
            </a:pPr>
            <a:r>
              <a:rPr lang="de-DE" sz="2400" b="1" i="1" kern="100" dirty="0">
                <a:effectLst/>
                <a:ea typeface="Aptos" panose="020B0004020202020204" pitchFamily="34" charset="0"/>
                <a:cs typeface="Times New Roman" panose="02020603050405020304" pitchFamily="18" charset="0"/>
              </a:rPr>
              <a:t>Territorialprinzip 	</a:t>
            </a:r>
            <a:r>
              <a:rPr lang="de-DE" sz="2400" kern="100" dirty="0">
                <a:effectLst/>
                <a:ea typeface="Aptos" panose="020B0004020202020204" pitchFamily="34" charset="0"/>
                <a:cs typeface="Times New Roman" panose="02020603050405020304" pitchFamily="18" charset="0"/>
              </a:rPr>
              <a:t>=&gt; Verarbeitung in Deutschland</a:t>
            </a:r>
          </a:p>
          <a:p>
            <a:pPr marL="342900" lvl="0" indent="-342900">
              <a:lnSpc>
                <a:spcPct val="107000"/>
              </a:lnSpc>
              <a:buFont typeface="Symbol" panose="05050102010706020507" pitchFamily="18" charset="2"/>
              <a:buChar char=""/>
            </a:pPr>
            <a:r>
              <a:rPr lang="de-DE" sz="2400" b="1" i="1" kern="100" dirty="0">
                <a:effectLst/>
                <a:ea typeface="Aptos" panose="020B0004020202020204" pitchFamily="34" charset="0"/>
                <a:cs typeface="Times New Roman" panose="02020603050405020304" pitchFamily="18" charset="0"/>
              </a:rPr>
              <a:t>Niederlassungsprinzip </a:t>
            </a:r>
            <a:r>
              <a:rPr lang="de-DE" sz="2400" kern="100" dirty="0">
                <a:effectLst/>
                <a:ea typeface="Aptos" panose="020B0004020202020204" pitchFamily="34" charset="0"/>
                <a:cs typeface="Times New Roman" panose="02020603050405020304" pitchFamily="18" charset="0"/>
              </a:rPr>
              <a:t>=&gt; Niederlassung in Deutschland</a:t>
            </a:r>
          </a:p>
          <a:p>
            <a:pPr marL="342900" lvl="0" indent="-342900">
              <a:lnSpc>
                <a:spcPct val="107000"/>
              </a:lnSpc>
              <a:buFont typeface="Symbol" panose="05050102010706020507" pitchFamily="18" charset="2"/>
              <a:buChar char=""/>
            </a:pPr>
            <a:r>
              <a:rPr lang="de-DE" sz="2400" b="1" i="1" kern="100" dirty="0">
                <a:effectLst/>
                <a:ea typeface="Aptos" panose="020B0004020202020204" pitchFamily="34" charset="0"/>
                <a:cs typeface="Times New Roman" panose="02020603050405020304" pitchFamily="18" charset="0"/>
              </a:rPr>
              <a:t>Marktortprinzip </a:t>
            </a:r>
            <a:r>
              <a:rPr lang="de-DE" sz="2400" kern="100" dirty="0">
                <a:effectLst/>
                <a:ea typeface="Aptos" panose="020B0004020202020204" pitchFamily="34" charset="0"/>
                <a:cs typeface="Times New Roman" panose="02020603050405020304" pitchFamily="18" charset="0"/>
              </a:rPr>
              <a:t>=&gt; gilt für Verantwortliche und Auftragsverarbeiter</a:t>
            </a:r>
          </a:p>
          <a:p>
            <a:pPr marL="342900" lvl="0" indent="-342900">
              <a:lnSpc>
                <a:spcPct val="107000"/>
              </a:lnSpc>
              <a:spcAft>
                <a:spcPts val="800"/>
              </a:spcAft>
              <a:buFont typeface="Symbol" panose="05050102010706020507" pitchFamily="18" charset="2"/>
              <a:buChar char=""/>
            </a:pPr>
            <a:r>
              <a:rPr lang="de-DE" sz="2400" i="1" kern="100" dirty="0">
                <a:effectLst/>
                <a:ea typeface="Aptos" panose="020B0004020202020204" pitchFamily="34" charset="0"/>
                <a:cs typeface="Times New Roman" panose="02020603050405020304" pitchFamily="18" charset="0"/>
              </a:rPr>
              <a:t>Marktortprinzip </a:t>
            </a:r>
            <a:r>
              <a:rPr lang="de-DE" sz="2400" kern="100" dirty="0">
                <a:effectLst/>
                <a:ea typeface="Aptos" panose="020B0004020202020204" pitchFamily="34" charset="0"/>
                <a:cs typeface="Times New Roman" panose="02020603050405020304" pitchFamily="18" charset="0"/>
              </a:rPr>
              <a:t>siehe </a:t>
            </a:r>
            <a:r>
              <a:rPr lang="de-DE" sz="2400" b="1" i="1" kern="100" dirty="0">
                <a:solidFill>
                  <a:srgbClr val="7030A0"/>
                </a:solidFill>
                <a:effectLst/>
                <a:ea typeface="Aptos" panose="020B0004020202020204" pitchFamily="34" charset="0"/>
                <a:cs typeface="Times New Roman" panose="02020603050405020304" pitchFamily="18" charset="0"/>
              </a:rPr>
              <a:t>§ 1 (4) Nr. 3 BDSG</a:t>
            </a:r>
            <a:endParaRPr lang="de-DE" sz="2400" kern="100" dirty="0">
              <a:effectLst/>
              <a:ea typeface="Aptos" panose="020B0004020202020204" pitchFamily="34" charset="0"/>
              <a:cs typeface="Times New Roman" panose="02020603050405020304" pitchFamily="18" charset="0"/>
            </a:endParaRPr>
          </a:p>
          <a:p>
            <a:pPr marL="0" lvl="0" indent="0">
              <a:lnSpc>
                <a:spcPct val="107000"/>
              </a:lnSpc>
              <a:buNone/>
            </a:pPr>
            <a:endParaRPr lang="de-DE" kern="100" dirty="0">
              <a:solidFill>
                <a:srgbClr val="000000"/>
              </a:solidFill>
              <a:effectLst/>
              <a:ea typeface="Aptos" panose="020B0004020202020204" pitchFamily="34" charset="0"/>
              <a:cs typeface="Times New Roman" panose="02020603050405020304" pitchFamily="18" charset="0"/>
            </a:endParaRPr>
          </a:p>
          <a:p>
            <a:pPr indent="0">
              <a:lnSpc>
                <a:spcPct val="107000"/>
              </a:lnSpc>
              <a:spcAft>
                <a:spcPts val="800"/>
              </a:spcAft>
              <a:buNone/>
            </a:pPr>
            <a:r>
              <a:rPr lang="de-DE" sz="24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de-DE" sz="2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de-DE" sz="2400" dirty="0"/>
          </a:p>
        </p:txBody>
      </p:sp>
      <p:sp>
        <p:nvSpPr>
          <p:cNvPr id="4" name="Fußzeilenplatzhalter 3">
            <a:extLst>
              <a:ext uri="{FF2B5EF4-FFF2-40B4-BE49-F238E27FC236}">
                <a16:creationId xmlns:a16="http://schemas.microsoft.com/office/drawing/2014/main" id="{BBB65F41-6576-C121-2B12-642802069B0D}"/>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97885710-4A05-018F-6ACF-FB6EFAF6D654}"/>
              </a:ext>
            </a:extLst>
          </p:cNvPr>
          <p:cNvSpPr>
            <a:spLocks noGrp="1"/>
          </p:cNvSpPr>
          <p:nvPr>
            <p:ph type="sldNum" sz="quarter" idx="12"/>
          </p:nvPr>
        </p:nvSpPr>
        <p:spPr/>
        <p:txBody>
          <a:bodyPr/>
          <a:lstStyle/>
          <a:p>
            <a:fld id="{B4CE166D-2D50-44F1-A818-BFD238545C9D}" type="slidenum">
              <a:rPr lang="de-DE" smtClean="0"/>
              <a:t>14</a:t>
            </a:fld>
            <a:endParaRPr lang="de-DE"/>
          </a:p>
        </p:txBody>
      </p:sp>
    </p:spTree>
    <p:extLst>
      <p:ext uri="{BB962C8B-B14F-4D97-AF65-F5344CB8AC3E}">
        <p14:creationId xmlns:p14="http://schemas.microsoft.com/office/powerpoint/2010/main" val="2334548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57CDD-80AB-9332-05FC-EFDDCD4800F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728DBAC-AB20-DCAB-F394-EEC6A4711138}"/>
              </a:ext>
            </a:extLst>
          </p:cNvPr>
          <p:cNvSpPr>
            <a:spLocks noGrp="1"/>
          </p:cNvSpPr>
          <p:nvPr>
            <p:ph type="title"/>
          </p:nvPr>
        </p:nvSpPr>
        <p:spPr/>
        <p:txBody>
          <a:bodyPr/>
          <a:lstStyle/>
          <a:p>
            <a:r>
              <a:rPr lang="de-DE" dirty="0"/>
              <a:t>Das Bundesdatenschutzgesetz (BDSG)</a:t>
            </a:r>
          </a:p>
        </p:txBody>
      </p:sp>
      <p:sp>
        <p:nvSpPr>
          <p:cNvPr id="3" name="Inhaltsplatzhalter 2">
            <a:extLst>
              <a:ext uri="{FF2B5EF4-FFF2-40B4-BE49-F238E27FC236}">
                <a16:creationId xmlns:a16="http://schemas.microsoft.com/office/drawing/2014/main" id="{24B0CC7F-933E-97DD-8104-30C288BBFD36}"/>
              </a:ext>
            </a:extLst>
          </p:cNvPr>
          <p:cNvSpPr>
            <a:spLocks noGrp="1"/>
          </p:cNvSpPr>
          <p:nvPr>
            <p:ph idx="1"/>
          </p:nvPr>
        </p:nvSpPr>
        <p:spPr>
          <a:xfrm>
            <a:off x="838200" y="1536970"/>
            <a:ext cx="10515600" cy="4639993"/>
          </a:xfrm>
        </p:spPr>
        <p:txBody>
          <a:bodyPr>
            <a:noAutofit/>
          </a:bodyPr>
          <a:lstStyle/>
          <a:p>
            <a:pPr marL="342900" lvl="0" indent="-342900">
              <a:lnSpc>
                <a:spcPct val="107000"/>
              </a:lnSpc>
              <a:buFont typeface="Symbol" panose="05050102010706020507" pitchFamily="18" charset="2"/>
              <a:buChar char=""/>
            </a:pPr>
            <a:r>
              <a:rPr lang="de-DE" sz="2400" b="1" u="sng" kern="100" dirty="0">
                <a:effectLst/>
                <a:ea typeface="Aptos" panose="020B0004020202020204" pitchFamily="34" charset="0"/>
                <a:cs typeface="Times New Roman" panose="02020603050405020304" pitchFamily="18" charset="0"/>
              </a:rPr>
              <a:t>Nationales</a:t>
            </a:r>
            <a:r>
              <a:rPr lang="de-DE" sz="2400" kern="100" dirty="0">
                <a:effectLst/>
                <a:ea typeface="Aptos" panose="020B0004020202020204" pitchFamily="34" charset="0"/>
                <a:cs typeface="Times New Roman" panose="02020603050405020304" pitchFamily="18" charset="0"/>
              </a:rPr>
              <a:t> Gesetz mit </a:t>
            </a:r>
            <a:r>
              <a:rPr lang="de-DE" sz="2400" b="1" kern="100" dirty="0">
                <a:effectLst/>
                <a:ea typeface="Aptos" panose="020B0004020202020204" pitchFamily="34" charset="0"/>
                <a:cs typeface="Times New Roman" panose="02020603050405020304" pitchFamily="18" charset="0"/>
              </a:rPr>
              <a:t>§§</a:t>
            </a:r>
          </a:p>
          <a:p>
            <a:pPr marL="342900" lvl="0" indent="-342900">
              <a:lnSpc>
                <a:spcPct val="107000"/>
              </a:lnSpc>
              <a:buFont typeface="Symbol" panose="05050102010706020507" pitchFamily="18" charset="2"/>
              <a:buChar char=""/>
            </a:pPr>
            <a:r>
              <a:rPr lang="de-DE" sz="2400" kern="100" dirty="0">
                <a:effectLst/>
                <a:ea typeface="Aptos" panose="020B0004020202020204" pitchFamily="34" charset="0"/>
                <a:cs typeface="Times New Roman" panose="02020603050405020304" pitchFamily="18" charset="0"/>
              </a:rPr>
              <a:t>Regelt Sachverhalte, </a:t>
            </a:r>
            <a:r>
              <a:rPr lang="de-DE" sz="2400" u="sng" kern="100" dirty="0">
                <a:effectLst/>
                <a:ea typeface="Aptos" panose="020B0004020202020204" pitchFamily="34" charset="0"/>
                <a:cs typeface="Times New Roman" panose="02020603050405020304" pitchFamily="18" charset="0"/>
              </a:rPr>
              <a:t>die nicht durch die DSGVO</a:t>
            </a:r>
            <a:r>
              <a:rPr lang="de-DE" sz="2400" kern="100" dirty="0">
                <a:effectLst/>
                <a:ea typeface="Aptos" panose="020B0004020202020204" pitchFamily="34" charset="0"/>
                <a:cs typeface="Times New Roman" panose="02020603050405020304" pitchFamily="18" charset="0"/>
              </a:rPr>
              <a:t> geregelt werden</a:t>
            </a:r>
          </a:p>
          <a:p>
            <a:pPr marL="342900" lvl="0" indent="-342900">
              <a:lnSpc>
                <a:spcPct val="107000"/>
              </a:lnSpc>
              <a:buFont typeface="Symbol" panose="05050102010706020507" pitchFamily="18" charset="2"/>
              <a:buChar char=""/>
            </a:pPr>
            <a:r>
              <a:rPr lang="de-DE" sz="2400" b="1" u="sng" kern="100" dirty="0">
                <a:effectLst/>
                <a:ea typeface="Aptos" panose="020B0004020202020204" pitchFamily="34" charset="0"/>
                <a:cs typeface="Times New Roman" panose="02020603050405020304" pitchFamily="18" charset="0"/>
              </a:rPr>
              <a:t>Öffnungsklauseln</a:t>
            </a:r>
            <a:r>
              <a:rPr lang="de-DE" sz="2400" kern="100" dirty="0">
                <a:effectLst/>
                <a:ea typeface="Aptos" panose="020B0004020202020204" pitchFamily="34" charset="0"/>
                <a:cs typeface="Times New Roman" panose="02020603050405020304" pitchFamily="18" charset="0"/>
              </a:rPr>
              <a:t>, ermöglichen den Mitgliedsstaaten eigene, nationale Regelungen zu treffen, die die EU nicht zentral vorgibt</a:t>
            </a:r>
          </a:p>
          <a:p>
            <a:pPr marL="342900" lvl="0" indent="-342900">
              <a:lnSpc>
                <a:spcPct val="107000"/>
              </a:lnSpc>
              <a:buFont typeface="Symbol" panose="05050102010706020507" pitchFamily="18" charset="2"/>
              <a:buChar char=""/>
            </a:pPr>
            <a:r>
              <a:rPr lang="de-DE" sz="2400" b="1" u="sng" kern="100" dirty="0">
                <a:effectLst/>
                <a:ea typeface="Aptos" panose="020B0004020202020204" pitchFamily="34" charset="0"/>
                <a:cs typeface="Times New Roman" panose="02020603050405020304" pitchFamily="18" charset="0"/>
              </a:rPr>
              <a:t>Kann-Öffnungsklauseln</a:t>
            </a:r>
            <a:r>
              <a:rPr lang="de-DE" sz="2400" u="sng" kern="100" dirty="0">
                <a:effectLst/>
                <a:ea typeface="Aptos" panose="020B0004020202020204" pitchFamily="34" charset="0"/>
                <a:cs typeface="Times New Roman" panose="02020603050405020304" pitchFamily="18" charset="0"/>
              </a:rPr>
              <a:t>:</a:t>
            </a:r>
            <a:r>
              <a:rPr lang="de-DE" sz="2400" kern="100" dirty="0">
                <a:effectLst/>
                <a:ea typeface="Aptos" panose="020B0004020202020204" pitchFamily="34" charset="0"/>
                <a:cs typeface="Times New Roman" panose="02020603050405020304" pitchFamily="18" charset="0"/>
              </a:rPr>
              <a:t> </a:t>
            </a:r>
            <a:br>
              <a:rPr lang="de-DE" sz="2400" kern="100" dirty="0">
                <a:effectLst/>
                <a:ea typeface="Aptos" panose="020B0004020202020204" pitchFamily="34" charset="0"/>
                <a:cs typeface="Times New Roman" panose="02020603050405020304" pitchFamily="18" charset="0"/>
              </a:rPr>
            </a:br>
            <a:r>
              <a:rPr lang="de-DE" sz="2400" kern="100" dirty="0">
                <a:effectLst/>
                <a:ea typeface="Aptos" panose="020B0004020202020204" pitchFamily="34" charset="0"/>
                <a:cs typeface="Times New Roman" panose="02020603050405020304" pitchFamily="18" charset="0"/>
              </a:rPr>
              <a:t>können durch nationale Regelungen abgewandelt werden. Wenn nicht, dann gilt die Regelung der DSGVO</a:t>
            </a:r>
          </a:p>
          <a:p>
            <a:pPr marL="342900" lvl="0" indent="-342900">
              <a:lnSpc>
                <a:spcPct val="107000"/>
              </a:lnSpc>
              <a:buFont typeface="Symbol" panose="05050102010706020507" pitchFamily="18" charset="2"/>
              <a:buChar char=""/>
            </a:pPr>
            <a:r>
              <a:rPr lang="de-DE" sz="2400" b="1" u="sng" kern="100" dirty="0">
                <a:effectLst/>
                <a:ea typeface="Aptos" panose="020B0004020202020204" pitchFamily="34" charset="0"/>
                <a:cs typeface="Times New Roman" panose="02020603050405020304" pitchFamily="18" charset="0"/>
              </a:rPr>
              <a:t>Muss-Öffnungsklauseln</a:t>
            </a:r>
            <a:r>
              <a:rPr lang="de-DE" sz="2400" u="sng" kern="100" dirty="0">
                <a:effectLst/>
                <a:ea typeface="Aptos" panose="020B0004020202020204" pitchFamily="34" charset="0"/>
                <a:cs typeface="Times New Roman" panose="02020603050405020304" pitchFamily="18" charset="0"/>
              </a:rPr>
              <a:t>:</a:t>
            </a:r>
            <a:r>
              <a:rPr lang="de-DE" sz="2400" kern="100" dirty="0">
                <a:effectLst/>
                <a:ea typeface="Aptos" panose="020B0004020202020204" pitchFamily="34" charset="0"/>
                <a:cs typeface="Times New Roman" panose="02020603050405020304" pitchFamily="18" charset="0"/>
              </a:rPr>
              <a:t> </a:t>
            </a:r>
            <a:br>
              <a:rPr lang="de-DE" sz="2400" kern="100" dirty="0">
                <a:effectLst/>
                <a:ea typeface="Aptos" panose="020B0004020202020204" pitchFamily="34" charset="0"/>
                <a:cs typeface="Times New Roman" panose="02020603050405020304" pitchFamily="18" charset="0"/>
              </a:rPr>
            </a:br>
            <a:r>
              <a:rPr lang="de-DE" sz="2400" kern="100" dirty="0">
                <a:effectLst/>
                <a:ea typeface="Aptos" panose="020B0004020202020204" pitchFamily="34" charset="0"/>
                <a:cs typeface="Times New Roman" panose="02020603050405020304" pitchFamily="18" charset="0"/>
              </a:rPr>
              <a:t>hier fordert die EU eigene, nationale Regelungen zu treffen</a:t>
            </a:r>
          </a:p>
          <a:p>
            <a:pPr marL="342900" lvl="0" indent="-342900">
              <a:lnSpc>
                <a:spcPct val="107000"/>
              </a:lnSpc>
              <a:buFont typeface="Symbol" panose="05050102010706020507" pitchFamily="18" charset="2"/>
              <a:buChar char=""/>
            </a:pPr>
            <a:r>
              <a:rPr lang="de-DE" sz="2400" kern="100" dirty="0">
                <a:effectLst/>
                <a:ea typeface="Aptos" panose="020B0004020202020204" pitchFamily="34" charset="0"/>
                <a:cs typeface="Times New Roman" panose="02020603050405020304" pitchFamily="18" charset="0"/>
              </a:rPr>
              <a:t>Es gibt </a:t>
            </a:r>
            <a:r>
              <a:rPr lang="de-DE" sz="2400" b="1" u="sng" kern="100" dirty="0">
                <a:effectLst/>
                <a:ea typeface="Aptos" panose="020B0004020202020204" pitchFamily="34" charset="0"/>
                <a:cs typeface="Times New Roman" panose="02020603050405020304" pitchFamily="18" charset="0"/>
              </a:rPr>
              <a:t>69 Öffnungsklauseln</a:t>
            </a:r>
            <a:r>
              <a:rPr lang="de-DE" sz="2400" b="1" kern="100" dirty="0">
                <a:effectLst/>
                <a:ea typeface="Aptos" panose="020B0004020202020204" pitchFamily="34" charset="0"/>
                <a:cs typeface="Times New Roman" panose="02020603050405020304" pitchFamily="18" charset="0"/>
              </a:rPr>
              <a:t> </a:t>
            </a:r>
            <a:r>
              <a:rPr lang="de-DE" sz="2400" kern="100" dirty="0">
                <a:effectLst/>
                <a:ea typeface="Aptos" panose="020B0004020202020204" pitchFamily="34" charset="0"/>
                <a:cs typeface="Times New Roman" panose="02020603050405020304" pitchFamily="18" charset="0"/>
              </a:rPr>
              <a:t>in der DSGVO</a:t>
            </a:r>
          </a:p>
          <a:p>
            <a:pPr indent="0">
              <a:lnSpc>
                <a:spcPct val="107000"/>
              </a:lnSpc>
              <a:spcAft>
                <a:spcPts val="800"/>
              </a:spcAft>
              <a:buNone/>
            </a:pPr>
            <a:r>
              <a:rPr lang="de-DE" sz="24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de-DE" sz="2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de-DE" sz="2400" dirty="0"/>
          </a:p>
        </p:txBody>
      </p:sp>
      <p:sp>
        <p:nvSpPr>
          <p:cNvPr id="4" name="Fußzeilenplatzhalter 3">
            <a:extLst>
              <a:ext uri="{FF2B5EF4-FFF2-40B4-BE49-F238E27FC236}">
                <a16:creationId xmlns:a16="http://schemas.microsoft.com/office/drawing/2014/main" id="{78685A0B-795C-E2F2-CAA3-D22E7ABA1272}"/>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46876C98-1420-659A-393B-FB90DFADE97F}"/>
              </a:ext>
            </a:extLst>
          </p:cNvPr>
          <p:cNvSpPr>
            <a:spLocks noGrp="1"/>
          </p:cNvSpPr>
          <p:nvPr>
            <p:ph type="sldNum" sz="quarter" idx="12"/>
          </p:nvPr>
        </p:nvSpPr>
        <p:spPr/>
        <p:txBody>
          <a:bodyPr/>
          <a:lstStyle/>
          <a:p>
            <a:fld id="{B4CE166D-2D50-44F1-A818-BFD238545C9D}" type="slidenum">
              <a:rPr lang="de-DE" smtClean="0"/>
              <a:t>15</a:t>
            </a:fld>
            <a:endParaRPr lang="de-DE"/>
          </a:p>
        </p:txBody>
      </p:sp>
    </p:spTree>
    <p:extLst>
      <p:ext uri="{BB962C8B-B14F-4D97-AF65-F5344CB8AC3E}">
        <p14:creationId xmlns:p14="http://schemas.microsoft.com/office/powerpoint/2010/main" val="705243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B0596-65C0-DE16-BC15-01C4607A95F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C7B6640-18AF-EF92-2C05-C2525ECEF5CA}"/>
              </a:ext>
            </a:extLst>
          </p:cNvPr>
          <p:cNvSpPr>
            <a:spLocks noGrp="1"/>
          </p:cNvSpPr>
          <p:nvPr>
            <p:ph type="title"/>
          </p:nvPr>
        </p:nvSpPr>
        <p:spPr/>
        <p:txBody>
          <a:bodyPr/>
          <a:lstStyle/>
          <a:p>
            <a:r>
              <a:rPr lang="de-DE" dirty="0"/>
              <a:t>Das Bundesdatenschutzgesetz (BDSG)</a:t>
            </a:r>
          </a:p>
        </p:txBody>
      </p:sp>
      <p:sp>
        <p:nvSpPr>
          <p:cNvPr id="3" name="Inhaltsplatzhalter 2">
            <a:extLst>
              <a:ext uri="{FF2B5EF4-FFF2-40B4-BE49-F238E27FC236}">
                <a16:creationId xmlns:a16="http://schemas.microsoft.com/office/drawing/2014/main" id="{8D286C52-7DA5-6423-B5A5-9B57691D6B71}"/>
              </a:ext>
            </a:extLst>
          </p:cNvPr>
          <p:cNvSpPr>
            <a:spLocks noGrp="1"/>
          </p:cNvSpPr>
          <p:nvPr>
            <p:ph idx="1"/>
          </p:nvPr>
        </p:nvSpPr>
        <p:spPr/>
        <p:txBody>
          <a:bodyPr>
            <a:normAutofit/>
          </a:bodyPr>
          <a:lstStyle/>
          <a:p>
            <a:pPr indent="0">
              <a:lnSpc>
                <a:spcPct val="107000"/>
              </a:lnSpc>
              <a:spcAft>
                <a:spcPts val="800"/>
              </a:spcAft>
              <a:buNone/>
            </a:pPr>
            <a:r>
              <a:rPr lang="de-DE"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de-DE"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u="sng" kern="100" dirty="0">
                <a:effectLst/>
                <a:ea typeface="Aptos" panose="020B0004020202020204" pitchFamily="34" charset="0"/>
                <a:cs typeface="Times New Roman" panose="02020603050405020304" pitchFamily="18" charset="0"/>
              </a:rPr>
              <a:t>Teil 1 und 2 sind wichtig</a:t>
            </a:r>
            <a:r>
              <a:rPr lang="de-DE" kern="100" dirty="0">
                <a:effectLst/>
                <a:ea typeface="Aptos" panose="020B0004020202020204" pitchFamily="34" charset="0"/>
                <a:cs typeface="Times New Roman" panose="02020603050405020304" pitchFamily="18" charset="0"/>
              </a:rPr>
              <a:t> und werden für die Arbeit als DSB / ISB benötigt (z.B. </a:t>
            </a:r>
            <a:r>
              <a:rPr lang="de-DE" b="1" kern="100" dirty="0">
                <a:effectLst/>
                <a:ea typeface="Aptos" panose="020B0004020202020204" pitchFamily="34" charset="0"/>
                <a:cs typeface="Times New Roman" panose="02020603050405020304" pitchFamily="18" charset="0"/>
              </a:rPr>
              <a:t>§ 26 </a:t>
            </a:r>
            <a:r>
              <a:rPr lang="de-DE" kern="100" dirty="0">
                <a:effectLst/>
                <a:ea typeface="Aptos" panose="020B0004020202020204" pitchFamily="34" charset="0"/>
                <a:cs typeface="Times New Roman" panose="02020603050405020304" pitchFamily="18" charset="0"/>
              </a:rPr>
              <a:t>Beschäftigungsverhältnisse und </a:t>
            </a:r>
            <a:r>
              <a:rPr lang="de-DE" b="1" kern="100" dirty="0">
                <a:effectLst/>
                <a:ea typeface="Aptos" panose="020B0004020202020204" pitchFamily="34" charset="0"/>
                <a:cs typeface="Times New Roman" panose="02020603050405020304" pitchFamily="18" charset="0"/>
              </a:rPr>
              <a:t>§ 38 </a:t>
            </a:r>
            <a:r>
              <a:rPr lang="de-DE" kern="100" dirty="0">
                <a:effectLst/>
                <a:ea typeface="Aptos" panose="020B0004020202020204" pitchFamily="34" charset="0"/>
                <a:cs typeface="Times New Roman" panose="02020603050405020304" pitchFamily="18" charset="0"/>
              </a:rPr>
              <a:t>DSB Bestellung)</a:t>
            </a:r>
          </a:p>
          <a:p>
            <a:pPr marL="342900" lvl="0" indent="-342900">
              <a:lnSpc>
                <a:spcPct val="107000"/>
              </a:lnSpc>
              <a:buFont typeface="Symbol" panose="05050102010706020507" pitchFamily="18" charset="2"/>
              <a:buChar char=""/>
            </a:pPr>
            <a:r>
              <a:rPr lang="de-DE" kern="100" dirty="0">
                <a:effectLst/>
                <a:ea typeface="Aptos" panose="020B0004020202020204" pitchFamily="34" charset="0"/>
                <a:cs typeface="Times New Roman" panose="02020603050405020304" pitchFamily="18" charset="0"/>
              </a:rPr>
              <a:t>Teil 3 und 4 </a:t>
            </a:r>
            <a:r>
              <a:rPr lang="de-DE" u="sng" kern="100" dirty="0">
                <a:effectLst/>
                <a:ea typeface="Aptos" panose="020B0004020202020204" pitchFamily="34" charset="0"/>
                <a:cs typeface="Times New Roman" panose="02020603050405020304" pitchFamily="18" charset="0"/>
              </a:rPr>
              <a:t>spielen</a:t>
            </a:r>
            <a:r>
              <a:rPr lang="de-DE" kern="100" dirty="0">
                <a:effectLst/>
                <a:ea typeface="Aptos" panose="020B0004020202020204" pitchFamily="34" charset="0"/>
                <a:cs typeface="Times New Roman" panose="02020603050405020304" pitchFamily="18" charset="0"/>
              </a:rPr>
              <a:t> für einen DSB / ISB </a:t>
            </a:r>
            <a:r>
              <a:rPr lang="de-DE" u="sng" kern="100" dirty="0">
                <a:effectLst/>
                <a:ea typeface="Aptos" panose="020B0004020202020204" pitchFamily="34" charset="0"/>
                <a:cs typeface="Times New Roman" panose="02020603050405020304" pitchFamily="18" charset="0"/>
              </a:rPr>
              <a:t>keine Rolle</a:t>
            </a:r>
            <a:r>
              <a:rPr lang="de-DE" kern="100" dirty="0">
                <a:effectLst/>
                <a:ea typeface="Aptos" panose="020B0004020202020204" pitchFamily="34" charset="0"/>
                <a:cs typeface="Times New Roman" panose="02020603050405020304" pitchFamily="18" charset="0"/>
              </a:rPr>
              <a:t> (außer im Justizbereich)</a:t>
            </a:r>
          </a:p>
          <a:p>
            <a:pPr marL="342900" lvl="0" indent="-342900">
              <a:lnSpc>
                <a:spcPct val="107000"/>
              </a:lnSpc>
              <a:spcAft>
                <a:spcPts val="800"/>
              </a:spcAft>
              <a:buFont typeface="Symbol" panose="05050102010706020507" pitchFamily="18" charset="2"/>
              <a:buChar char=""/>
            </a:pPr>
            <a:r>
              <a:rPr lang="de-DE" b="1" kern="100" dirty="0">
                <a:effectLst/>
                <a:ea typeface="Aptos" panose="020B0004020202020204" pitchFamily="34" charset="0"/>
                <a:cs typeface="Times New Roman" panose="02020603050405020304" pitchFamily="18" charset="0"/>
              </a:rPr>
              <a:t>Das BDSG unterscheidet zwischen öffentlichen und nicht öffentlichen Stellen!</a:t>
            </a:r>
            <a:endParaRPr lang="de-DE" kern="100" dirty="0">
              <a:effectLst/>
              <a:ea typeface="Aptos" panose="020B0004020202020204" pitchFamily="34" charset="0"/>
              <a:cs typeface="Times New Roman" panose="02020603050405020304" pitchFamily="18" charset="0"/>
            </a:endParaRPr>
          </a:p>
          <a:p>
            <a:endParaRPr lang="de-DE" dirty="0"/>
          </a:p>
        </p:txBody>
      </p:sp>
      <p:sp>
        <p:nvSpPr>
          <p:cNvPr id="4" name="Fußzeilenplatzhalter 3">
            <a:extLst>
              <a:ext uri="{FF2B5EF4-FFF2-40B4-BE49-F238E27FC236}">
                <a16:creationId xmlns:a16="http://schemas.microsoft.com/office/drawing/2014/main" id="{D1E6524F-1D8D-FC0E-63F5-F822EC8FEA44}"/>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1A32D2CC-43C5-9B5E-183E-C25B7CE41BB8}"/>
              </a:ext>
            </a:extLst>
          </p:cNvPr>
          <p:cNvSpPr>
            <a:spLocks noGrp="1"/>
          </p:cNvSpPr>
          <p:nvPr>
            <p:ph type="sldNum" sz="quarter" idx="12"/>
          </p:nvPr>
        </p:nvSpPr>
        <p:spPr/>
        <p:txBody>
          <a:bodyPr/>
          <a:lstStyle/>
          <a:p>
            <a:fld id="{B4CE166D-2D50-44F1-A818-BFD238545C9D}" type="slidenum">
              <a:rPr lang="de-DE" smtClean="0"/>
              <a:t>16</a:t>
            </a:fld>
            <a:endParaRPr lang="de-DE"/>
          </a:p>
        </p:txBody>
      </p:sp>
    </p:spTree>
    <p:extLst>
      <p:ext uri="{BB962C8B-B14F-4D97-AF65-F5344CB8AC3E}">
        <p14:creationId xmlns:p14="http://schemas.microsoft.com/office/powerpoint/2010/main" val="1090990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D50B02-8AD8-E7EB-160F-E2D4CED010A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7AD4846-2C2F-1B01-D668-5500C11CBF3C}"/>
              </a:ext>
            </a:extLst>
          </p:cNvPr>
          <p:cNvSpPr>
            <a:spLocks noGrp="1"/>
          </p:cNvSpPr>
          <p:nvPr>
            <p:ph type="title"/>
          </p:nvPr>
        </p:nvSpPr>
        <p:spPr>
          <a:xfrm>
            <a:off x="762001" y="4811517"/>
            <a:ext cx="10109199" cy="1544817"/>
          </a:xfrm>
        </p:spPr>
        <p:txBody>
          <a:bodyPr vert="horz" lIns="91440" tIns="45720" rIns="91440" bIns="45720" rtlCol="0" anchor="ctr">
            <a:normAutofit/>
          </a:bodyPr>
          <a:lstStyle/>
          <a:p>
            <a:r>
              <a:rPr lang="en-US" sz="3600" dirty="0" err="1"/>
              <a:t>Datenschutzgrundverordnung</a:t>
            </a:r>
            <a:r>
              <a:rPr lang="en-US" sz="3600" dirty="0"/>
              <a:t> (DSGVO)</a:t>
            </a:r>
            <a:br>
              <a:rPr lang="en-US" sz="3600" dirty="0"/>
            </a:br>
            <a:r>
              <a:rPr lang="en-US" sz="3600" b="1" dirty="0" err="1">
                <a:solidFill>
                  <a:srgbClr val="0070C0"/>
                </a:solidFill>
              </a:rPr>
              <a:t>Begriffsbestimmungen</a:t>
            </a:r>
            <a:endParaRPr lang="en-US" sz="3600" b="1" dirty="0">
              <a:solidFill>
                <a:srgbClr val="0070C0"/>
              </a:solidFill>
            </a:endParaRPr>
          </a:p>
        </p:txBody>
      </p:sp>
      <p:pic>
        <p:nvPicPr>
          <p:cNvPr id="5" name="Inhaltsplatzhalter 4" descr="Ein Bild, das Text, Schrift, Design, Typografie enthält.&#10;&#10;KI-generierte Inhalte können fehlerhaft sein.">
            <a:extLst>
              <a:ext uri="{FF2B5EF4-FFF2-40B4-BE49-F238E27FC236}">
                <a16:creationId xmlns:a16="http://schemas.microsoft.com/office/drawing/2014/main" id="{851F5E63-A962-C71C-187F-84B48DF0326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6232"/>
          <a:stretch>
            <a:fillRect/>
          </a:stretch>
        </p:blipFill>
        <p:spPr>
          <a:xfrm>
            <a:off x="20" y="-39"/>
            <a:ext cx="12191980" cy="4172740"/>
          </a:xfrm>
          <a:prstGeom prst="rect">
            <a:avLst/>
          </a:prstGeom>
        </p:spPr>
      </p:pic>
      <p:cxnSp>
        <p:nvCxnSpPr>
          <p:cNvPr id="10" name="Straight Connector 9">
            <a:extLst>
              <a:ext uri="{FF2B5EF4-FFF2-40B4-BE49-F238E27FC236}">
                <a16:creationId xmlns:a16="http://schemas.microsoft.com/office/drawing/2014/main" id="{19247A47-4F99-7625-559A-F2E5D78D56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Fußzeilenplatzhalter 2">
            <a:extLst>
              <a:ext uri="{FF2B5EF4-FFF2-40B4-BE49-F238E27FC236}">
                <a16:creationId xmlns:a16="http://schemas.microsoft.com/office/drawing/2014/main" id="{EE05EDC4-3563-6088-19F5-23EE0028BD42}"/>
              </a:ext>
            </a:extLst>
          </p:cNvPr>
          <p:cNvSpPr>
            <a:spLocks noGrp="1"/>
          </p:cNvSpPr>
          <p:nvPr>
            <p:ph type="ftr" sz="quarter" idx="11"/>
          </p:nvPr>
        </p:nvSpPr>
        <p:spPr/>
        <p:txBody>
          <a:bodyPr/>
          <a:lstStyle/>
          <a:p>
            <a:r>
              <a:rPr lang="de-DE"/>
              <a:t>Dirk Moltzen - externer Datenschutzbeauftragter TÜV® CERT</a:t>
            </a:r>
          </a:p>
        </p:txBody>
      </p:sp>
      <p:sp>
        <p:nvSpPr>
          <p:cNvPr id="4" name="Foliennummernplatzhalter 3">
            <a:extLst>
              <a:ext uri="{FF2B5EF4-FFF2-40B4-BE49-F238E27FC236}">
                <a16:creationId xmlns:a16="http://schemas.microsoft.com/office/drawing/2014/main" id="{C239E8C2-9E77-0DD4-B764-7D54601161A2}"/>
              </a:ext>
            </a:extLst>
          </p:cNvPr>
          <p:cNvSpPr>
            <a:spLocks noGrp="1"/>
          </p:cNvSpPr>
          <p:nvPr>
            <p:ph type="sldNum" sz="quarter" idx="12"/>
          </p:nvPr>
        </p:nvSpPr>
        <p:spPr/>
        <p:txBody>
          <a:bodyPr/>
          <a:lstStyle/>
          <a:p>
            <a:fld id="{B4CE166D-2D50-44F1-A818-BFD238545C9D}" type="slidenum">
              <a:rPr lang="de-DE" smtClean="0"/>
              <a:t>17</a:t>
            </a:fld>
            <a:endParaRPr lang="de-DE"/>
          </a:p>
        </p:txBody>
      </p:sp>
    </p:spTree>
    <p:extLst>
      <p:ext uri="{BB962C8B-B14F-4D97-AF65-F5344CB8AC3E}">
        <p14:creationId xmlns:p14="http://schemas.microsoft.com/office/powerpoint/2010/main" val="3957126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7CDE1-A6CB-D59E-A387-A90034B68E9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4C3F481-DACB-334C-BC29-AD58EC28636F}"/>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2149596A-4A86-3803-67FD-82B5BEE8DBF8}"/>
              </a:ext>
            </a:extLst>
          </p:cNvPr>
          <p:cNvSpPr>
            <a:spLocks noGrp="1"/>
          </p:cNvSpPr>
          <p:nvPr>
            <p:ph idx="1"/>
          </p:nvPr>
        </p:nvSpPr>
        <p:spPr/>
        <p:txBody>
          <a:bodyPr>
            <a:normAutofit lnSpcReduction="10000"/>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p>
          <a:p>
            <a:r>
              <a:rPr lang="de-DE" b="1" dirty="0"/>
              <a:t>Personenbezogene Daten</a:t>
            </a:r>
            <a:r>
              <a:rPr lang="de-DE" dirty="0"/>
              <a:t>: natürliche Person, direkt oder indirekt identifizierbar (Name, Kennnummer, Standortdaten, ID-Nr., soziale Identität, etc.)</a:t>
            </a:r>
            <a:br>
              <a:rPr lang="de-DE" dirty="0"/>
            </a:br>
            <a:r>
              <a:rPr lang="de-DE" u="sng" dirty="0"/>
              <a:t>Nicht bei: </a:t>
            </a:r>
            <a:r>
              <a:rPr lang="de-DE" dirty="0"/>
              <a:t>Verstorbenen (EG 27) oder bei Anonymisierung </a:t>
            </a:r>
            <a:r>
              <a:rPr lang="de-DE" dirty="0" err="1"/>
              <a:t>pbD</a:t>
            </a:r>
            <a:endParaRPr lang="de-DE" dirty="0"/>
          </a:p>
          <a:p>
            <a:r>
              <a:rPr lang="de-DE" b="1" dirty="0"/>
              <a:t>Verarbeitung</a:t>
            </a:r>
            <a:r>
              <a:rPr lang="de-DE" dirty="0"/>
              <a:t>: teil- oder automatisierte Vorgänge, die personenbezogene Daten verarbeiten (Erheben, Erfassen, Organisieren, Ordnen, Speichern, Anpassen, Verändern, Auslesen, Abfragen, Verwenden, Offenlegen durch Übermittlung, Verbreitung, Abgleichen, Verknüpfen, Einschränken, Löschen und Vernichten)</a:t>
            </a:r>
          </a:p>
          <a:p>
            <a:endParaRPr lang="de-DE" dirty="0"/>
          </a:p>
        </p:txBody>
      </p:sp>
      <p:sp>
        <p:nvSpPr>
          <p:cNvPr id="4" name="Fußzeilenplatzhalter 3">
            <a:extLst>
              <a:ext uri="{FF2B5EF4-FFF2-40B4-BE49-F238E27FC236}">
                <a16:creationId xmlns:a16="http://schemas.microsoft.com/office/drawing/2014/main" id="{23352F3E-4FC5-AA8D-4FFE-E471C9EA32DD}"/>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E9AAF161-FCFD-9E8A-FCB5-29E4F316EF12}"/>
              </a:ext>
            </a:extLst>
          </p:cNvPr>
          <p:cNvSpPr>
            <a:spLocks noGrp="1"/>
          </p:cNvSpPr>
          <p:nvPr>
            <p:ph type="sldNum" sz="quarter" idx="12"/>
          </p:nvPr>
        </p:nvSpPr>
        <p:spPr/>
        <p:txBody>
          <a:bodyPr/>
          <a:lstStyle/>
          <a:p>
            <a:fld id="{B4CE166D-2D50-44F1-A818-BFD238545C9D}" type="slidenum">
              <a:rPr lang="de-DE" smtClean="0"/>
              <a:t>18</a:t>
            </a:fld>
            <a:endParaRPr lang="de-DE"/>
          </a:p>
        </p:txBody>
      </p:sp>
    </p:spTree>
    <p:extLst>
      <p:ext uri="{BB962C8B-B14F-4D97-AF65-F5344CB8AC3E}">
        <p14:creationId xmlns:p14="http://schemas.microsoft.com/office/powerpoint/2010/main" val="3301777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82388-8554-5A53-B019-A9B8BA6E043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ADD40C9-E343-177E-4BB2-6B91B75045F4}"/>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2804270F-139B-4607-1B09-2F0B213E66EE}"/>
              </a:ext>
            </a:extLst>
          </p:cNvPr>
          <p:cNvSpPr>
            <a:spLocks noGrp="1"/>
          </p:cNvSpPr>
          <p:nvPr>
            <p:ph idx="1"/>
          </p:nvPr>
        </p:nvSpPr>
        <p:spPr/>
        <p:txBody>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p>
          <a:p>
            <a:r>
              <a:rPr lang="de-DE" b="1" dirty="0"/>
              <a:t>Einschränkung der Verarbeitung</a:t>
            </a:r>
            <a:r>
              <a:rPr lang="de-DE" dirty="0"/>
              <a:t>: die Markierung gespeicherter </a:t>
            </a:r>
            <a:r>
              <a:rPr lang="de-DE" dirty="0" err="1"/>
              <a:t>pbD</a:t>
            </a:r>
            <a:r>
              <a:rPr lang="de-DE" dirty="0"/>
              <a:t> mit dem Ziel, ihre künftige Verarbeitung einzuschränken</a:t>
            </a:r>
            <a:br>
              <a:rPr lang="de-DE" dirty="0"/>
            </a:br>
            <a:endParaRPr lang="de-DE" dirty="0"/>
          </a:p>
          <a:p>
            <a:r>
              <a:rPr lang="de-DE" b="1" dirty="0" err="1"/>
              <a:t>Profiling</a:t>
            </a:r>
            <a:r>
              <a:rPr lang="de-DE" dirty="0"/>
              <a:t>: jede Art der automatisierten Verarbeitung </a:t>
            </a:r>
            <a:r>
              <a:rPr lang="de-DE" dirty="0" err="1"/>
              <a:t>pbD</a:t>
            </a:r>
            <a:r>
              <a:rPr lang="de-DE" dirty="0"/>
              <a:t>, die darin besteht persönliche Aspekte zu bewerten, zu analysieren oder vorherzusagen (Arbeitsleistung, wirtschaftliche Lage, Gesundheit, Vorlieben, Interessen, Zuverlässigkeit, Verhalten, Ortswechsel)</a:t>
            </a:r>
            <a:br>
              <a:rPr lang="de-DE" dirty="0"/>
            </a:br>
            <a:endParaRPr lang="de-DE" dirty="0"/>
          </a:p>
        </p:txBody>
      </p:sp>
      <p:sp>
        <p:nvSpPr>
          <p:cNvPr id="4" name="Fußzeilenplatzhalter 3">
            <a:extLst>
              <a:ext uri="{FF2B5EF4-FFF2-40B4-BE49-F238E27FC236}">
                <a16:creationId xmlns:a16="http://schemas.microsoft.com/office/drawing/2014/main" id="{5258A96A-8CE0-AF8A-82FD-C7481E606CD2}"/>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983AE436-703A-E045-E6DA-5CFB69084EF4}"/>
              </a:ext>
            </a:extLst>
          </p:cNvPr>
          <p:cNvSpPr>
            <a:spLocks noGrp="1"/>
          </p:cNvSpPr>
          <p:nvPr>
            <p:ph type="sldNum" sz="quarter" idx="12"/>
          </p:nvPr>
        </p:nvSpPr>
        <p:spPr/>
        <p:txBody>
          <a:bodyPr/>
          <a:lstStyle/>
          <a:p>
            <a:fld id="{B4CE166D-2D50-44F1-A818-BFD238545C9D}" type="slidenum">
              <a:rPr lang="de-DE" smtClean="0"/>
              <a:t>19</a:t>
            </a:fld>
            <a:endParaRPr lang="de-DE"/>
          </a:p>
        </p:txBody>
      </p:sp>
    </p:spTree>
    <p:extLst>
      <p:ext uri="{BB962C8B-B14F-4D97-AF65-F5344CB8AC3E}">
        <p14:creationId xmlns:p14="http://schemas.microsoft.com/office/powerpoint/2010/main" val="7035257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48681-7A02-3C3D-275F-AD3D8B5CE90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3D6C5C1-2D3F-3DF3-99FC-B0195EF38F7A}"/>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3738B2BC-EA73-D54E-508B-1AE51B629804}"/>
              </a:ext>
            </a:extLst>
          </p:cNvPr>
          <p:cNvSpPr>
            <a:spLocks noGrp="1"/>
          </p:cNvSpPr>
          <p:nvPr>
            <p:ph idx="1"/>
          </p:nvPr>
        </p:nvSpPr>
        <p:spPr/>
        <p:txBody>
          <a:bodyPr>
            <a:normAutofit lnSpcReduction="10000"/>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p>
          <a:p>
            <a:r>
              <a:rPr lang="de-DE" b="1" dirty="0"/>
              <a:t>Pseudonymisierung</a:t>
            </a:r>
            <a:r>
              <a:rPr lang="de-DE" dirty="0"/>
              <a:t>: ist die Verarbeitung </a:t>
            </a:r>
            <a:r>
              <a:rPr lang="de-DE" dirty="0" err="1"/>
              <a:t>pbD</a:t>
            </a:r>
            <a:r>
              <a:rPr lang="de-DE" dirty="0"/>
              <a:t> in einer Weise, dass ohne Hinzuziehung zusätzlicher Informationen, eine Zuordnung zu einer betroffenen Person verhindert wird. Technisch-organisatorisch wird verhindert, dass eine Identifikation ermöglicht wird (durch getrennte Aufbewahrung o.ä. Maßnahmen)</a:t>
            </a:r>
          </a:p>
          <a:p>
            <a:r>
              <a:rPr lang="de-DE" b="1" dirty="0"/>
              <a:t>Dateisystem</a:t>
            </a:r>
            <a:r>
              <a:rPr lang="de-DE" dirty="0"/>
              <a:t>: jede strukturierte Sammlung </a:t>
            </a:r>
            <a:r>
              <a:rPr lang="de-DE" dirty="0" err="1"/>
              <a:t>pbD</a:t>
            </a:r>
            <a:r>
              <a:rPr lang="de-DE" dirty="0"/>
              <a:t>, die nach bestimmten Kriterien zugänglich sind. Egal ob zentral, dezentral, funktional oder geografisch eine Zuordnung erfolgt.</a:t>
            </a:r>
            <a:br>
              <a:rPr lang="de-DE" dirty="0"/>
            </a:br>
            <a:endParaRPr lang="de-DE" dirty="0"/>
          </a:p>
        </p:txBody>
      </p:sp>
      <p:sp>
        <p:nvSpPr>
          <p:cNvPr id="4" name="Fußzeilenplatzhalter 3">
            <a:extLst>
              <a:ext uri="{FF2B5EF4-FFF2-40B4-BE49-F238E27FC236}">
                <a16:creationId xmlns:a16="http://schemas.microsoft.com/office/drawing/2014/main" id="{3157D76B-146C-760A-3945-DF110A8068BF}"/>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2A30BB5E-8C91-84B7-7E1A-80D1E826882B}"/>
              </a:ext>
            </a:extLst>
          </p:cNvPr>
          <p:cNvSpPr>
            <a:spLocks noGrp="1"/>
          </p:cNvSpPr>
          <p:nvPr>
            <p:ph type="sldNum" sz="quarter" idx="12"/>
          </p:nvPr>
        </p:nvSpPr>
        <p:spPr/>
        <p:txBody>
          <a:bodyPr/>
          <a:lstStyle/>
          <a:p>
            <a:fld id="{B4CE166D-2D50-44F1-A818-BFD238545C9D}" type="slidenum">
              <a:rPr lang="de-DE" smtClean="0"/>
              <a:t>20</a:t>
            </a:fld>
            <a:endParaRPr lang="de-DE"/>
          </a:p>
        </p:txBody>
      </p:sp>
    </p:spTree>
    <p:extLst>
      <p:ext uri="{BB962C8B-B14F-4D97-AF65-F5344CB8AC3E}">
        <p14:creationId xmlns:p14="http://schemas.microsoft.com/office/powerpoint/2010/main" val="3256081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71FFB-2568-89C1-0E84-C7B640570CD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0B81B03-6C06-DA09-1499-A3281D2F91B6}"/>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BEB03D10-65F6-5935-CF50-C2CA931AAA71}"/>
              </a:ext>
            </a:extLst>
          </p:cNvPr>
          <p:cNvSpPr>
            <a:spLocks noGrp="1"/>
          </p:cNvSpPr>
          <p:nvPr>
            <p:ph idx="1"/>
          </p:nvPr>
        </p:nvSpPr>
        <p:spPr/>
        <p:txBody>
          <a:bodyPr>
            <a:normAutofit lnSpcReduction="10000"/>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p>
          <a:p>
            <a:r>
              <a:rPr lang="de-DE" b="1" dirty="0"/>
              <a:t>Verantwortlicher</a:t>
            </a:r>
            <a:r>
              <a:rPr lang="de-DE" dirty="0"/>
              <a:t>: natürliche oder juristische Person, Behörde, Einrichtung oder eine andere Stelle, die allein oder mit anderen über die Zwecke und Mittel der Verarbeitung </a:t>
            </a:r>
            <a:r>
              <a:rPr lang="de-DE" dirty="0" err="1"/>
              <a:t>pbD</a:t>
            </a:r>
            <a:r>
              <a:rPr lang="de-DE" dirty="0"/>
              <a:t> entscheidet</a:t>
            </a:r>
          </a:p>
          <a:p>
            <a:r>
              <a:rPr lang="de-DE" b="1" dirty="0"/>
              <a:t>Auftragsverarbeiter</a:t>
            </a:r>
            <a:r>
              <a:rPr lang="de-DE" dirty="0"/>
              <a:t>: natürliche oder juristische Person, Behörde, Einrichtung oder eine andere Stelle, die </a:t>
            </a:r>
            <a:r>
              <a:rPr lang="de-DE" dirty="0" err="1"/>
              <a:t>pbD</a:t>
            </a:r>
            <a:r>
              <a:rPr lang="de-DE" dirty="0"/>
              <a:t> im Auftrag des Verantwortlichen verarbeitet</a:t>
            </a:r>
          </a:p>
          <a:p>
            <a:r>
              <a:rPr lang="de-DE" b="1" dirty="0"/>
              <a:t>Empfänger</a:t>
            </a:r>
            <a:r>
              <a:rPr lang="de-DE" dirty="0"/>
              <a:t>: natürliche oder juristische Person, Behörde, Einrichtung oder eine andere Stelle, der </a:t>
            </a:r>
            <a:r>
              <a:rPr lang="de-DE" dirty="0" err="1"/>
              <a:t>pbD</a:t>
            </a:r>
            <a:r>
              <a:rPr lang="de-DE" dirty="0"/>
              <a:t> offengelegt werden. Das können auch „Dritte“ sein.</a:t>
            </a:r>
            <a:br>
              <a:rPr lang="de-DE" dirty="0"/>
            </a:br>
            <a:endParaRPr lang="de-DE" dirty="0"/>
          </a:p>
        </p:txBody>
      </p:sp>
      <p:sp>
        <p:nvSpPr>
          <p:cNvPr id="4" name="Fußzeilenplatzhalter 3">
            <a:extLst>
              <a:ext uri="{FF2B5EF4-FFF2-40B4-BE49-F238E27FC236}">
                <a16:creationId xmlns:a16="http://schemas.microsoft.com/office/drawing/2014/main" id="{B5338607-7F78-49CA-C7DF-B270E34BE139}"/>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C060426A-18C8-81AC-F2FD-CAA4E377B691}"/>
              </a:ext>
            </a:extLst>
          </p:cNvPr>
          <p:cNvSpPr>
            <a:spLocks noGrp="1"/>
          </p:cNvSpPr>
          <p:nvPr>
            <p:ph type="sldNum" sz="quarter" idx="12"/>
          </p:nvPr>
        </p:nvSpPr>
        <p:spPr/>
        <p:txBody>
          <a:bodyPr/>
          <a:lstStyle/>
          <a:p>
            <a:fld id="{B4CE166D-2D50-44F1-A818-BFD238545C9D}" type="slidenum">
              <a:rPr lang="de-DE" smtClean="0"/>
              <a:t>21</a:t>
            </a:fld>
            <a:endParaRPr lang="de-DE"/>
          </a:p>
        </p:txBody>
      </p:sp>
    </p:spTree>
    <p:extLst>
      <p:ext uri="{BB962C8B-B14F-4D97-AF65-F5344CB8AC3E}">
        <p14:creationId xmlns:p14="http://schemas.microsoft.com/office/powerpoint/2010/main" val="1468398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34055-A770-0097-EF6F-F4750302CF1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771D64E-ECD5-A537-EABC-193B75D7EF41}"/>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F7543EFD-9E87-8A97-D3E7-55B6EF5FF5B5}"/>
              </a:ext>
            </a:extLst>
          </p:cNvPr>
          <p:cNvSpPr>
            <a:spLocks noGrp="1"/>
          </p:cNvSpPr>
          <p:nvPr>
            <p:ph idx="1"/>
          </p:nvPr>
        </p:nvSpPr>
        <p:spPr/>
        <p:txBody>
          <a:bodyPr>
            <a:normAutofit lnSpcReduction="10000"/>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p>
          <a:p>
            <a:r>
              <a:rPr lang="de-DE" b="1" dirty="0"/>
              <a:t>Dritte</a:t>
            </a:r>
            <a:r>
              <a:rPr lang="de-DE" dirty="0"/>
              <a:t>: natürliche oder juristische Person, Behörde, Einrichtung oder eine andere Stelle, außer der betroffenen Person, dem Verantwortlichen, dem Auftragsverarbeiter und den Personen, die unter der unmittelbaren Verantwortung des Verantwortlichen oder des Auftragsverarbeiters befugt sind, </a:t>
            </a:r>
            <a:r>
              <a:rPr lang="de-DE" dirty="0" err="1"/>
              <a:t>pbD</a:t>
            </a:r>
            <a:r>
              <a:rPr lang="de-DE" dirty="0"/>
              <a:t> zu verarbeiten.</a:t>
            </a:r>
          </a:p>
          <a:p>
            <a:r>
              <a:rPr lang="de-DE" b="1" dirty="0"/>
              <a:t>Einwilligung</a:t>
            </a:r>
            <a:r>
              <a:rPr lang="de-DE" dirty="0"/>
              <a:t>: einer betroffenen Person, für einen </a:t>
            </a:r>
            <a:r>
              <a:rPr lang="de-DE" u="sng" dirty="0"/>
              <a:t>bestimmten Fall, freiwilliges Einverständnis, in informierter Weise, unmissverständlich, eindeutig, bestätigte Handlung</a:t>
            </a:r>
            <a:r>
              <a:rPr lang="de-DE" dirty="0"/>
              <a:t> (für besondere Kategorien </a:t>
            </a:r>
            <a:r>
              <a:rPr lang="de-DE" dirty="0" err="1"/>
              <a:t>pbD</a:t>
            </a:r>
            <a:r>
              <a:rPr lang="de-DE" dirty="0"/>
              <a:t> muss diese ausdrücklich sein)</a:t>
            </a:r>
            <a:br>
              <a:rPr lang="de-DE" dirty="0"/>
            </a:br>
            <a:endParaRPr lang="de-DE" dirty="0"/>
          </a:p>
        </p:txBody>
      </p:sp>
      <p:sp>
        <p:nvSpPr>
          <p:cNvPr id="4" name="Fußzeilenplatzhalter 3">
            <a:extLst>
              <a:ext uri="{FF2B5EF4-FFF2-40B4-BE49-F238E27FC236}">
                <a16:creationId xmlns:a16="http://schemas.microsoft.com/office/drawing/2014/main" id="{8029D922-CC83-863D-F706-33B72115CC2C}"/>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E23F9F6B-F65F-0B8F-5B6B-6642915E8E9A}"/>
              </a:ext>
            </a:extLst>
          </p:cNvPr>
          <p:cNvSpPr>
            <a:spLocks noGrp="1"/>
          </p:cNvSpPr>
          <p:nvPr>
            <p:ph type="sldNum" sz="quarter" idx="12"/>
          </p:nvPr>
        </p:nvSpPr>
        <p:spPr/>
        <p:txBody>
          <a:bodyPr/>
          <a:lstStyle/>
          <a:p>
            <a:fld id="{B4CE166D-2D50-44F1-A818-BFD238545C9D}" type="slidenum">
              <a:rPr lang="de-DE" smtClean="0"/>
              <a:t>22</a:t>
            </a:fld>
            <a:endParaRPr lang="de-DE"/>
          </a:p>
        </p:txBody>
      </p:sp>
    </p:spTree>
    <p:extLst>
      <p:ext uri="{BB962C8B-B14F-4D97-AF65-F5344CB8AC3E}">
        <p14:creationId xmlns:p14="http://schemas.microsoft.com/office/powerpoint/2010/main" val="13269185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916E6-CE52-B9C2-7978-10ECB2F8319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BC63817-B3E0-041B-58D3-B231B0F526FB}"/>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2AD7EC4E-7E2C-7AA4-E328-8964252389B1}"/>
              </a:ext>
            </a:extLst>
          </p:cNvPr>
          <p:cNvSpPr>
            <a:spLocks noGrp="1"/>
          </p:cNvSpPr>
          <p:nvPr>
            <p:ph idx="1"/>
          </p:nvPr>
        </p:nvSpPr>
        <p:spPr/>
        <p:txBody>
          <a:bodyPr>
            <a:normAutofit fontScale="92500" lnSpcReduction="10000"/>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p>
          <a:p>
            <a:r>
              <a:rPr lang="de-DE" b="1" dirty="0"/>
              <a:t>Verletzung des Schutzes </a:t>
            </a:r>
            <a:r>
              <a:rPr lang="de-DE" b="1" dirty="0" err="1"/>
              <a:t>pbD</a:t>
            </a:r>
            <a:r>
              <a:rPr lang="de-DE" dirty="0"/>
              <a:t>: (auch Datenpanne genannt)</a:t>
            </a:r>
            <a:br>
              <a:rPr lang="de-DE" dirty="0"/>
            </a:br>
            <a:r>
              <a:rPr lang="de-DE" dirty="0"/>
              <a:t>Eine Verletzung der Sicherheit </a:t>
            </a:r>
            <a:r>
              <a:rPr lang="de-DE" dirty="0" err="1"/>
              <a:t>pbD</a:t>
            </a:r>
            <a:r>
              <a:rPr lang="de-DE" dirty="0"/>
              <a:t> durch unbeabsichtigte(n) oder unrechtmäßige(n) Vernichtung, Verlust, Veränderung, unbefugte Offenlegung, unbefugter Zugang zu </a:t>
            </a:r>
            <a:r>
              <a:rPr lang="de-DE" dirty="0" err="1"/>
              <a:t>pbD</a:t>
            </a:r>
            <a:r>
              <a:rPr lang="de-DE" dirty="0"/>
              <a:t> führt, die übermittelt, gespeichert oder auf sonstige Weise verarbeitet wurden.</a:t>
            </a:r>
          </a:p>
          <a:p>
            <a:r>
              <a:rPr lang="de-DE" b="1" dirty="0"/>
              <a:t>Genetische Daten</a:t>
            </a:r>
            <a:r>
              <a:rPr lang="de-DE" dirty="0"/>
              <a:t>: </a:t>
            </a:r>
            <a:r>
              <a:rPr lang="de-DE" dirty="0" err="1"/>
              <a:t>pbD</a:t>
            </a:r>
            <a:r>
              <a:rPr lang="de-DE" dirty="0"/>
              <a:t> mit ererbten oder  erworbenen genetischen Eigenschaften einer natürlichen Person, die eindeutige Informationen über die Physiologie oder die Gesundheit einer natürlichen Person liefert, besonders bei der Analyse einer biologischen Probe dieser Person</a:t>
            </a:r>
            <a:br>
              <a:rPr lang="de-DE" dirty="0"/>
            </a:br>
            <a:endParaRPr lang="de-DE" dirty="0"/>
          </a:p>
        </p:txBody>
      </p:sp>
      <p:sp>
        <p:nvSpPr>
          <p:cNvPr id="4" name="Fußzeilenplatzhalter 3">
            <a:extLst>
              <a:ext uri="{FF2B5EF4-FFF2-40B4-BE49-F238E27FC236}">
                <a16:creationId xmlns:a16="http://schemas.microsoft.com/office/drawing/2014/main" id="{452DBE39-481C-3A30-8C73-50C647AE3C1C}"/>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68D8203A-0309-27E4-D1A1-1BB34946ACC7}"/>
              </a:ext>
            </a:extLst>
          </p:cNvPr>
          <p:cNvSpPr>
            <a:spLocks noGrp="1"/>
          </p:cNvSpPr>
          <p:nvPr>
            <p:ph type="sldNum" sz="quarter" idx="12"/>
          </p:nvPr>
        </p:nvSpPr>
        <p:spPr/>
        <p:txBody>
          <a:bodyPr/>
          <a:lstStyle/>
          <a:p>
            <a:fld id="{B4CE166D-2D50-44F1-A818-BFD238545C9D}" type="slidenum">
              <a:rPr lang="de-DE" smtClean="0"/>
              <a:t>23</a:t>
            </a:fld>
            <a:endParaRPr lang="de-DE"/>
          </a:p>
        </p:txBody>
      </p:sp>
    </p:spTree>
    <p:extLst>
      <p:ext uri="{BB962C8B-B14F-4D97-AF65-F5344CB8AC3E}">
        <p14:creationId xmlns:p14="http://schemas.microsoft.com/office/powerpoint/2010/main" val="28595503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DE469-D438-F07F-BB40-C25218AC870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655AECB-06AB-D480-BA65-B018E41F8E3D}"/>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59EED4AA-E91E-9EDE-676F-516FEA836005}"/>
              </a:ext>
            </a:extLst>
          </p:cNvPr>
          <p:cNvSpPr>
            <a:spLocks noGrp="1"/>
          </p:cNvSpPr>
          <p:nvPr>
            <p:ph idx="1"/>
          </p:nvPr>
        </p:nvSpPr>
        <p:spPr/>
        <p:txBody>
          <a:bodyPr>
            <a:normAutofit/>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br>
              <a:rPr lang="de-DE" dirty="0"/>
            </a:br>
            <a:endParaRPr lang="de-DE" dirty="0"/>
          </a:p>
          <a:p>
            <a:r>
              <a:rPr lang="de-DE" b="1" dirty="0"/>
              <a:t>Biometrische Daten</a:t>
            </a:r>
            <a:r>
              <a:rPr lang="de-DE" dirty="0"/>
              <a:t>: </a:t>
            </a:r>
            <a:r>
              <a:rPr lang="de-DE" dirty="0" err="1"/>
              <a:t>pbD</a:t>
            </a:r>
            <a:r>
              <a:rPr lang="de-DE" dirty="0"/>
              <a:t> die mit Hilfe spezieller technischer Verfahren gewonnen werden, um eine natürliche Person eindeutig zu </a:t>
            </a:r>
            <a:r>
              <a:rPr lang="de-DE" dirty="0" err="1"/>
              <a:t>identiefizieren</a:t>
            </a:r>
            <a:endParaRPr lang="de-DE" dirty="0"/>
          </a:p>
          <a:p>
            <a:r>
              <a:rPr lang="de-DE" b="1" dirty="0"/>
              <a:t>Gesundheitsdaten</a:t>
            </a:r>
            <a:r>
              <a:rPr lang="de-DE" dirty="0"/>
              <a:t>: </a:t>
            </a:r>
            <a:r>
              <a:rPr lang="de-DE" dirty="0" err="1"/>
              <a:t>pbD</a:t>
            </a:r>
            <a:r>
              <a:rPr lang="de-DE" dirty="0"/>
              <a:t>, die sich auf die körperliche oder geistige Gesundheit einer natürlichen Person beziehen. Einschließlich Daten von Gesundheitsleistungen die Rückschlüsse auf den Gesundheitszustand ermöglichen.</a:t>
            </a:r>
            <a:br>
              <a:rPr lang="de-DE" dirty="0"/>
            </a:br>
            <a:endParaRPr lang="de-DE" dirty="0"/>
          </a:p>
        </p:txBody>
      </p:sp>
      <p:sp>
        <p:nvSpPr>
          <p:cNvPr id="4" name="Fußzeilenplatzhalter 3">
            <a:extLst>
              <a:ext uri="{FF2B5EF4-FFF2-40B4-BE49-F238E27FC236}">
                <a16:creationId xmlns:a16="http://schemas.microsoft.com/office/drawing/2014/main" id="{AF71F38F-ED1A-8027-65BB-6FD2C86B0C6A}"/>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929743D9-CAF3-B76B-975B-D214E4E94C59}"/>
              </a:ext>
            </a:extLst>
          </p:cNvPr>
          <p:cNvSpPr>
            <a:spLocks noGrp="1"/>
          </p:cNvSpPr>
          <p:nvPr>
            <p:ph type="sldNum" sz="quarter" idx="12"/>
          </p:nvPr>
        </p:nvSpPr>
        <p:spPr/>
        <p:txBody>
          <a:bodyPr/>
          <a:lstStyle/>
          <a:p>
            <a:fld id="{B4CE166D-2D50-44F1-A818-BFD238545C9D}" type="slidenum">
              <a:rPr lang="de-DE" smtClean="0"/>
              <a:t>24</a:t>
            </a:fld>
            <a:endParaRPr lang="de-DE"/>
          </a:p>
        </p:txBody>
      </p:sp>
    </p:spTree>
    <p:extLst>
      <p:ext uri="{BB962C8B-B14F-4D97-AF65-F5344CB8AC3E}">
        <p14:creationId xmlns:p14="http://schemas.microsoft.com/office/powerpoint/2010/main" val="2059046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65E-FEAF-BFF8-7BDA-19331F0932F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577615D-6DC0-2810-CED9-230839E79F7C}"/>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4E293551-716D-BD42-25EF-536478A9BB79}"/>
              </a:ext>
            </a:extLst>
          </p:cNvPr>
          <p:cNvSpPr>
            <a:spLocks noGrp="1"/>
          </p:cNvSpPr>
          <p:nvPr>
            <p:ph idx="1"/>
          </p:nvPr>
        </p:nvSpPr>
        <p:spPr/>
        <p:txBody>
          <a:bodyPr>
            <a:normAutofit/>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br>
              <a:rPr lang="de-DE" dirty="0"/>
            </a:br>
            <a:endParaRPr lang="de-DE" dirty="0"/>
          </a:p>
          <a:p>
            <a:r>
              <a:rPr lang="de-DE" b="1" dirty="0"/>
              <a:t>Hauptniederlassung</a:t>
            </a:r>
            <a:r>
              <a:rPr lang="de-DE" dirty="0"/>
              <a:t>: die Niederlassung eines Verantwortlichen oder Auftragsverarbeiters, in dem die Zwecke und Mittel festgelegt werden, um </a:t>
            </a:r>
            <a:r>
              <a:rPr lang="de-DE" dirty="0" err="1"/>
              <a:t>pbD</a:t>
            </a:r>
            <a:r>
              <a:rPr lang="de-DE" dirty="0"/>
              <a:t> zu verarbeiten</a:t>
            </a:r>
          </a:p>
          <a:p>
            <a:r>
              <a:rPr lang="de-DE" b="1" dirty="0"/>
              <a:t>Vertreter</a:t>
            </a:r>
            <a:r>
              <a:rPr lang="de-DE" dirty="0"/>
              <a:t>: eine natürliche oder juristische Peron, die den Verantwortlichen oder Auftragsverarbeiter vertritt und gem. Art. 27 DSGVO schriftlich bestellt wurde.</a:t>
            </a:r>
            <a:br>
              <a:rPr lang="de-DE" dirty="0"/>
            </a:br>
            <a:endParaRPr lang="de-DE" dirty="0"/>
          </a:p>
        </p:txBody>
      </p:sp>
      <p:sp>
        <p:nvSpPr>
          <p:cNvPr id="4" name="Fußzeilenplatzhalter 3">
            <a:extLst>
              <a:ext uri="{FF2B5EF4-FFF2-40B4-BE49-F238E27FC236}">
                <a16:creationId xmlns:a16="http://schemas.microsoft.com/office/drawing/2014/main" id="{CB5C7A50-8171-12C8-957D-DAFDB9D5E321}"/>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66278835-2911-E1C8-186C-50D8FE7B0ECF}"/>
              </a:ext>
            </a:extLst>
          </p:cNvPr>
          <p:cNvSpPr>
            <a:spLocks noGrp="1"/>
          </p:cNvSpPr>
          <p:nvPr>
            <p:ph type="sldNum" sz="quarter" idx="12"/>
          </p:nvPr>
        </p:nvSpPr>
        <p:spPr/>
        <p:txBody>
          <a:bodyPr/>
          <a:lstStyle/>
          <a:p>
            <a:fld id="{B4CE166D-2D50-44F1-A818-BFD238545C9D}" type="slidenum">
              <a:rPr lang="de-DE" smtClean="0"/>
              <a:t>25</a:t>
            </a:fld>
            <a:endParaRPr lang="de-DE"/>
          </a:p>
        </p:txBody>
      </p:sp>
    </p:spTree>
    <p:extLst>
      <p:ext uri="{BB962C8B-B14F-4D97-AF65-F5344CB8AC3E}">
        <p14:creationId xmlns:p14="http://schemas.microsoft.com/office/powerpoint/2010/main" val="26049704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8A497-44F9-0DAE-8230-162E6A0D9A5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BFF2A78-6E66-D0CE-2E09-C63B61D7D742}"/>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ED71035C-5030-F38E-0492-B31446055F1D}"/>
              </a:ext>
            </a:extLst>
          </p:cNvPr>
          <p:cNvSpPr>
            <a:spLocks noGrp="1"/>
          </p:cNvSpPr>
          <p:nvPr>
            <p:ph idx="1"/>
          </p:nvPr>
        </p:nvSpPr>
        <p:spPr/>
        <p:txBody>
          <a:bodyPr>
            <a:normAutofit/>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br>
              <a:rPr lang="de-DE" dirty="0"/>
            </a:br>
            <a:endParaRPr lang="de-DE" dirty="0"/>
          </a:p>
          <a:p>
            <a:r>
              <a:rPr lang="de-DE" b="1" dirty="0"/>
              <a:t>Unternehmen</a:t>
            </a:r>
            <a:r>
              <a:rPr lang="de-DE" dirty="0"/>
              <a:t>: eine natürliche oder juristische Person, die einer regelmäßigen, wirtschaftlichen Tätigkeit nachgeht – unabhängig von ihrer Rechtsform</a:t>
            </a:r>
          </a:p>
          <a:p>
            <a:r>
              <a:rPr lang="de-DE" b="1" dirty="0"/>
              <a:t>Unternehmensgruppe</a:t>
            </a:r>
            <a:r>
              <a:rPr lang="de-DE" dirty="0"/>
              <a:t>: eine Gruppe von Unternehmen, bei denen es ein herrschendes und ein oder mehrere abhängige Unternehmen gibt</a:t>
            </a:r>
            <a:br>
              <a:rPr lang="de-DE" dirty="0"/>
            </a:br>
            <a:endParaRPr lang="de-DE" dirty="0"/>
          </a:p>
        </p:txBody>
      </p:sp>
      <p:sp>
        <p:nvSpPr>
          <p:cNvPr id="4" name="Fußzeilenplatzhalter 3">
            <a:extLst>
              <a:ext uri="{FF2B5EF4-FFF2-40B4-BE49-F238E27FC236}">
                <a16:creationId xmlns:a16="http://schemas.microsoft.com/office/drawing/2014/main" id="{DD2AD5EF-F79A-EA9C-C9A2-6A3BE1C01E62}"/>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4921F8B0-2713-9EE3-2407-B6FFCADD68D3}"/>
              </a:ext>
            </a:extLst>
          </p:cNvPr>
          <p:cNvSpPr>
            <a:spLocks noGrp="1"/>
          </p:cNvSpPr>
          <p:nvPr>
            <p:ph type="sldNum" sz="quarter" idx="12"/>
          </p:nvPr>
        </p:nvSpPr>
        <p:spPr/>
        <p:txBody>
          <a:bodyPr/>
          <a:lstStyle/>
          <a:p>
            <a:fld id="{B4CE166D-2D50-44F1-A818-BFD238545C9D}" type="slidenum">
              <a:rPr lang="de-DE" smtClean="0"/>
              <a:t>26</a:t>
            </a:fld>
            <a:endParaRPr lang="de-DE"/>
          </a:p>
        </p:txBody>
      </p:sp>
    </p:spTree>
    <p:extLst>
      <p:ext uri="{BB962C8B-B14F-4D97-AF65-F5344CB8AC3E}">
        <p14:creationId xmlns:p14="http://schemas.microsoft.com/office/powerpoint/2010/main" val="131524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EC23F-2857-5A8F-DB3D-B9A937A43C7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C6E42FD-47B8-BE3D-1F04-C78DFF196808}"/>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9207F89E-E782-B5CD-7215-60485A21BB22}"/>
              </a:ext>
            </a:extLst>
          </p:cNvPr>
          <p:cNvSpPr>
            <a:spLocks noGrp="1"/>
          </p:cNvSpPr>
          <p:nvPr>
            <p:ph idx="1"/>
          </p:nvPr>
        </p:nvSpPr>
        <p:spPr/>
        <p:txBody>
          <a:bodyPr>
            <a:normAutofit/>
          </a:bodyPr>
          <a:lstStyle/>
          <a:p>
            <a:pPr marL="0" indent="0">
              <a:buNone/>
            </a:pPr>
            <a:r>
              <a:rPr lang="de-DE" b="1" dirty="0">
                <a:solidFill>
                  <a:srgbClr val="0070C0"/>
                </a:solidFill>
              </a:rPr>
              <a:t>Begriffsbestimmungen</a:t>
            </a:r>
            <a:r>
              <a:rPr lang="de-DE" b="1" dirty="0"/>
              <a:t> </a:t>
            </a:r>
            <a:r>
              <a:rPr lang="de-DE" dirty="0"/>
              <a:t>Art. 4 DSGVO</a:t>
            </a:r>
            <a:br>
              <a:rPr lang="de-DE" dirty="0"/>
            </a:br>
            <a:endParaRPr lang="de-DE" dirty="0"/>
          </a:p>
          <a:p>
            <a:r>
              <a:rPr lang="de-DE" b="1" dirty="0"/>
              <a:t>Verbindliche interne Datenschutzvorschriften</a:t>
            </a:r>
            <a:r>
              <a:rPr lang="de-DE" dirty="0"/>
              <a:t>: Maßnahmen zum Schutz </a:t>
            </a:r>
            <a:r>
              <a:rPr lang="de-DE" dirty="0" err="1"/>
              <a:t>pbD</a:t>
            </a:r>
            <a:r>
              <a:rPr lang="de-DE" dirty="0"/>
              <a:t> zu deren Einhaltung sich ein Verantwortlicher oder Auftragsverarbeiter verpflichtet. Das beinhaltet die Niederlassung in der EU, sowie die Übermittlung von Daten im selben Unternehmen oder in Drittländer</a:t>
            </a:r>
          </a:p>
          <a:p>
            <a:r>
              <a:rPr lang="de-DE" b="1" dirty="0"/>
              <a:t>Aufsichtsbehörde</a:t>
            </a:r>
            <a:r>
              <a:rPr lang="de-DE" dirty="0"/>
              <a:t>: eine von den </a:t>
            </a:r>
            <a:r>
              <a:rPr lang="de-DE"/>
              <a:t>Mitgliedstaaten eingerichtete </a:t>
            </a:r>
            <a:r>
              <a:rPr lang="de-DE" dirty="0"/>
              <a:t>unabhängige staatliche Stelle (Art. 51 DSGVO)</a:t>
            </a:r>
            <a:br>
              <a:rPr lang="de-DE" dirty="0"/>
            </a:br>
            <a:endParaRPr lang="de-DE" dirty="0"/>
          </a:p>
        </p:txBody>
      </p:sp>
      <p:sp>
        <p:nvSpPr>
          <p:cNvPr id="4" name="Fußzeilenplatzhalter 3">
            <a:extLst>
              <a:ext uri="{FF2B5EF4-FFF2-40B4-BE49-F238E27FC236}">
                <a16:creationId xmlns:a16="http://schemas.microsoft.com/office/drawing/2014/main" id="{30474E08-7B1C-297B-2C56-CC5E68504BBD}"/>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F19F01CE-D939-D8A6-CE69-F7122A7CF36D}"/>
              </a:ext>
            </a:extLst>
          </p:cNvPr>
          <p:cNvSpPr>
            <a:spLocks noGrp="1"/>
          </p:cNvSpPr>
          <p:nvPr>
            <p:ph type="sldNum" sz="quarter" idx="12"/>
          </p:nvPr>
        </p:nvSpPr>
        <p:spPr/>
        <p:txBody>
          <a:bodyPr/>
          <a:lstStyle/>
          <a:p>
            <a:fld id="{B4CE166D-2D50-44F1-A818-BFD238545C9D}" type="slidenum">
              <a:rPr lang="de-DE" smtClean="0"/>
              <a:t>27</a:t>
            </a:fld>
            <a:endParaRPr lang="de-DE"/>
          </a:p>
        </p:txBody>
      </p:sp>
    </p:spTree>
    <p:extLst>
      <p:ext uri="{BB962C8B-B14F-4D97-AF65-F5344CB8AC3E}">
        <p14:creationId xmlns:p14="http://schemas.microsoft.com/office/powerpoint/2010/main" val="2441046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2A6A9-1B34-1D77-D098-97A78F4FF69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6C20739-C881-70E7-B5E4-AC56425D81C1}"/>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F614FCE6-EF49-1E64-C043-7C0922D24AD8}"/>
              </a:ext>
            </a:extLst>
          </p:cNvPr>
          <p:cNvSpPr>
            <a:spLocks noGrp="1"/>
          </p:cNvSpPr>
          <p:nvPr>
            <p:ph idx="1"/>
          </p:nvPr>
        </p:nvSpPr>
        <p:spPr/>
        <p:txBody>
          <a:bodyPr>
            <a:normAutofit/>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br>
              <a:rPr lang="de-DE" dirty="0"/>
            </a:br>
            <a:endParaRPr lang="de-DE" dirty="0"/>
          </a:p>
          <a:p>
            <a:r>
              <a:rPr lang="de-DE" b="1" dirty="0"/>
              <a:t>Grenzüberschreitende Verarbeitung</a:t>
            </a:r>
            <a:r>
              <a:rPr lang="de-DE" dirty="0"/>
              <a:t>: entweder </a:t>
            </a:r>
            <a:br>
              <a:rPr lang="de-DE" dirty="0"/>
            </a:br>
            <a:r>
              <a:rPr lang="de-DE" dirty="0"/>
              <a:t>wechselt der Verarbeitungsort des Verantwortlichen / Auftragsverarbeiters, da diese verschiedene Niederlassungen innerhalb der EU haben</a:t>
            </a:r>
          </a:p>
          <a:p>
            <a:pPr marL="0" indent="0">
              <a:buNone/>
            </a:pPr>
            <a:r>
              <a:rPr lang="de-DE" dirty="0"/>
              <a:t>oder</a:t>
            </a:r>
            <a:br>
              <a:rPr lang="de-DE" dirty="0"/>
            </a:br>
            <a:r>
              <a:rPr lang="de-DE" dirty="0"/>
              <a:t>die Verarbeitung wirkt sich für den Betroffenen auf verschiedene Mitgliedsstaaten aus.</a:t>
            </a:r>
          </a:p>
        </p:txBody>
      </p:sp>
      <p:sp>
        <p:nvSpPr>
          <p:cNvPr id="4" name="Fußzeilenplatzhalter 3">
            <a:extLst>
              <a:ext uri="{FF2B5EF4-FFF2-40B4-BE49-F238E27FC236}">
                <a16:creationId xmlns:a16="http://schemas.microsoft.com/office/drawing/2014/main" id="{E557A952-3053-626A-E2C0-675E8401A060}"/>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958D651A-4A0B-A91A-B4D0-7B89393CC15C}"/>
              </a:ext>
            </a:extLst>
          </p:cNvPr>
          <p:cNvSpPr>
            <a:spLocks noGrp="1"/>
          </p:cNvSpPr>
          <p:nvPr>
            <p:ph type="sldNum" sz="quarter" idx="12"/>
          </p:nvPr>
        </p:nvSpPr>
        <p:spPr/>
        <p:txBody>
          <a:bodyPr/>
          <a:lstStyle/>
          <a:p>
            <a:fld id="{B4CE166D-2D50-44F1-A818-BFD238545C9D}" type="slidenum">
              <a:rPr lang="de-DE" smtClean="0"/>
              <a:t>28</a:t>
            </a:fld>
            <a:endParaRPr lang="de-DE"/>
          </a:p>
        </p:txBody>
      </p:sp>
    </p:spTree>
    <p:extLst>
      <p:ext uri="{BB962C8B-B14F-4D97-AF65-F5344CB8AC3E}">
        <p14:creationId xmlns:p14="http://schemas.microsoft.com/office/powerpoint/2010/main" val="26555218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AA941-B2BF-1ACB-1003-915B96F4714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843B35D-97EA-14D2-2C86-474D88F085DC}"/>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DB4BE245-328A-6A61-EB9D-517D233BC9E8}"/>
              </a:ext>
            </a:extLst>
          </p:cNvPr>
          <p:cNvSpPr>
            <a:spLocks noGrp="1"/>
          </p:cNvSpPr>
          <p:nvPr>
            <p:ph idx="1"/>
          </p:nvPr>
        </p:nvSpPr>
        <p:spPr/>
        <p:txBody>
          <a:bodyPr>
            <a:normAutofit/>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br>
              <a:rPr lang="de-DE" dirty="0"/>
            </a:br>
            <a:endParaRPr lang="de-DE" dirty="0"/>
          </a:p>
          <a:p>
            <a:r>
              <a:rPr lang="de-DE" b="1" dirty="0"/>
              <a:t>Dienst der Informationsgesellschaft: </a:t>
            </a:r>
            <a:r>
              <a:rPr lang="de-DE" dirty="0"/>
              <a:t>eine Dienstleistung </a:t>
            </a:r>
            <a:r>
              <a:rPr lang="de-DE" dirty="0" err="1"/>
              <a:t>i.S.d</a:t>
            </a:r>
            <a:r>
              <a:rPr lang="de-DE" dirty="0"/>
              <a:t>. Art. 1 Nr. 1 </a:t>
            </a:r>
            <a:r>
              <a:rPr lang="de-DE" dirty="0" err="1"/>
              <a:t>lit</a:t>
            </a:r>
            <a:r>
              <a:rPr lang="de-DE" dirty="0"/>
              <a:t>. b EU-</a:t>
            </a:r>
            <a:r>
              <a:rPr lang="de-DE" dirty="0" err="1"/>
              <a:t>Richlinie</a:t>
            </a:r>
            <a:r>
              <a:rPr lang="de-DE" dirty="0"/>
              <a:t> 2015/1535 (elektronischer Fernabsatz) =&gt; beachte auch DDG (Digitale-Dienste-Gesetz)</a:t>
            </a:r>
          </a:p>
          <a:p>
            <a:r>
              <a:rPr lang="de-DE" b="1" dirty="0"/>
              <a:t>Internationale Organisation</a:t>
            </a:r>
            <a:r>
              <a:rPr lang="de-DE" dirty="0"/>
              <a:t>: eine völkerrechtliche Organisation, die eine Übereinkunft mit zwei oder mehr Ländern geschlossen hat und auf dieser Grundlage geschaffen wurde</a:t>
            </a:r>
          </a:p>
        </p:txBody>
      </p:sp>
      <p:sp>
        <p:nvSpPr>
          <p:cNvPr id="4" name="Fußzeilenplatzhalter 3">
            <a:extLst>
              <a:ext uri="{FF2B5EF4-FFF2-40B4-BE49-F238E27FC236}">
                <a16:creationId xmlns:a16="http://schemas.microsoft.com/office/drawing/2014/main" id="{04075B1C-B704-B461-09CF-9970E1B6D065}"/>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47DD36F6-B602-3939-67F0-44AE5B1F9430}"/>
              </a:ext>
            </a:extLst>
          </p:cNvPr>
          <p:cNvSpPr>
            <a:spLocks noGrp="1"/>
          </p:cNvSpPr>
          <p:nvPr>
            <p:ph type="sldNum" sz="quarter" idx="12"/>
          </p:nvPr>
        </p:nvSpPr>
        <p:spPr/>
        <p:txBody>
          <a:bodyPr/>
          <a:lstStyle/>
          <a:p>
            <a:fld id="{B4CE166D-2D50-44F1-A818-BFD238545C9D}" type="slidenum">
              <a:rPr lang="de-DE" smtClean="0"/>
              <a:t>29</a:t>
            </a:fld>
            <a:endParaRPr lang="de-DE"/>
          </a:p>
        </p:txBody>
      </p:sp>
    </p:spTree>
    <p:extLst>
      <p:ext uri="{BB962C8B-B14F-4D97-AF65-F5344CB8AC3E}">
        <p14:creationId xmlns:p14="http://schemas.microsoft.com/office/powerpoint/2010/main" val="789906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49711-34A2-AC93-F674-A7FD8D0DED2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D1A92B4-2747-84AB-5CAF-159EEF740221}"/>
              </a:ext>
            </a:extLst>
          </p:cNvPr>
          <p:cNvSpPr>
            <a:spLocks noGrp="1"/>
          </p:cNvSpPr>
          <p:nvPr>
            <p:ph type="title"/>
          </p:nvPr>
        </p:nvSpPr>
        <p:spPr>
          <a:xfrm>
            <a:off x="838200" y="365125"/>
            <a:ext cx="10515600" cy="918925"/>
          </a:xfrm>
        </p:spPr>
        <p:txBody>
          <a:bodyPr>
            <a:normAutofit/>
          </a:bodyPr>
          <a:lstStyle/>
          <a:p>
            <a:r>
              <a:rPr lang="de-DE" dirty="0"/>
              <a:t>Zusammenfassung</a:t>
            </a:r>
          </a:p>
        </p:txBody>
      </p:sp>
      <p:sp>
        <p:nvSpPr>
          <p:cNvPr id="3" name="Inhaltsplatzhalter 2">
            <a:extLst>
              <a:ext uri="{FF2B5EF4-FFF2-40B4-BE49-F238E27FC236}">
                <a16:creationId xmlns:a16="http://schemas.microsoft.com/office/drawing/2014/main" id="{060F4DE3-94D6-47EF-536A-D1B9EFA71AE0}"/>
              </a:ext>
            </a:extLst>
          </p:cNvPr>
          <p:cNvSpPr>
            <a:spLocks noGrp="1"/>
          </p:cNvSpPr>
          <p:nvPr>
            <p:ph idx="1"/>
          </p:nvPr>
        </p:nvSpPr>
        <p:spPr>
          <a:xfrm>
            <a:off x="838200" y="1682885"/>
            <a:ext cx="10515600" cy="4494078"/>
          </a:xfrm>
        </p:spPr>
        <p:txBody>
          <a:bodyPr>
            <a:normAutofit/>
          </a:bodyPr>
          <a:lstStyle/>
          <a:p>
            <a:pPr marL="342900" lvl="0" indent="-342900">
              <a:lnSpc>
                <a:spcPct val="107000"/>
              </a:lnSpc>
              <a:buFont typeface="Symbol" panose="05050102010706020507" pitchFamily="18" charset="2"/>
              <a:buChar char=""/>
            </a:pPr>
            <a:r>
              <a:rPr lang="de-DE" sz="2000" kern="100" dirty="0">
                <a:effectLst/>
                <a:ea typeface="Aptos" panose="020B0004020202020204" pitchFamily="34" charset="0"/>
                <a:cs typeface="Times New Roman" panose="02020603050405020304" pitchFamily="18" charset="0"/>
              </a:rPr>
              <a:t>Auch wenn die eigentliche </a:t>
            </a:r>
            <a:r>
              <a:rPr lang="de-DE" sz="2000" b="1" kern="100" dirty="0">
                <a:effectLst/>
                <a:ea typeface="Aptos" panose="020B0004020202020204" pitchFamily="34" charset="0"/>
                <a:cs typeface="Times New Roman" panose="02020603050405020304" pitchFamily="18" charset="0"/>
              </a:rPr>
              <a:t>Verarbeitung</a:t>
            </a:r>
            <a:r>
              <a:rPr lang="de-DE" sz="2000" kern="100" dirty="0">
                <a:effectLst/>
                <a:ea typeface="Aptos" panose="020B0004020202020204" pitchFamily="34" charset="0"/>
                <a:cs typeface="Times New Roman" panose="02020603050405020304" pitchFamily="18" charset="0"/>
              </a:rPr>
              <a:t> der personenbezogenen Daten </a:t>
            </a:r>
            <a:r>
              <a:rPr lang="de-DE" sz="2000" b="1" kern="100" dirty="0">
                <a:effectLst/>
                <a:ea typeface="Aptos" panose="020B0004020202020204" pitchFamily="34" charset="0"/>
                <a:cs typeface="Times New Roman" panose="02020603050405020304" pitchFamily="18" charset="0"/>
              </a:rPr>
              <a:t>im Ausland</a:t>
            </a:r>
            <a:r>
              <a:rPr lang="de-DE" sz="2000" kern="100" dirty="0">
                <a:effectLst/>
                <a:ea typeface="Aptos" panose="020B0004020202020204" pitchFamily="34" charset="0"/>
                <a:cs typeface="Times New Roman" panose="02020603050405020304" pitchFamily="18" charset="0"/>
              </a:rPr>
              <a:t> erfolgt, sind die Vorschriften der </a:t>
            </a:r>
            <a:r>
              <a:rPr lang="de-DE" sz="2000" b="1" kern="100" dirty="0">
                <a:effectLst/>
                <a:ea typeface="Aptos" panose="020B0004020202020204" pitchFamily="34" charset="0"/>
                <a:cs typeface="Times New Roman" panose="02020603050405020304" pitchFamily="18" charset="0"/>
              </a:rPr>
              <a:t>DSGVO einzuhalten, </a:t>
            </a:r>
            <a:r>
              <a:rPr lang="de-DE" sz="2000" kern="100" dirty="0">
                <a:effectLst/>
                <a:ea typeface="Aptos" panose="020B0004020202020204" pitchFamily="34" charset="0"/>
                <a:cs typeface="Times New Roman" panose="02020603050405020304" pitchFamily="18" charset="0"/>
              </a:rPr>
              <a:t>wenn die </a:t>
            </a:r>
            <a:r>
              <a:rPr lang="de-DE" sz="2000" kern="100" dirty="0" err="1">
                <a:ea typeface="Aptos" panose="020B0004020202020204" pitchFamily="34" charset="0"/>
                <a:cs typeface="Times New Roman" panose="02020603050405020304" pitchFamily="18" charset="0"/>
              </a:rPr>
              <a:t>p</a:t>
            </a:r>
            <a:r>
              <a:rPr lang="de-DE" sz="2000" kern="100" dirty="0" err="1">
                <a:effectLst/>
                <a:ea typeface="Aptos" panose="020B0004020202020204" pitchFamily="34" charset="0"/>
                <a:cs typeface="Times New Roman" panose="02020603050405020304" pitchFamily="18" charset="0"/>
              </a:rPr>
              <a:t>bD</a:t>
            </a:r>
            <a:r>
              <a:rPr lang="de-DE" sz="2000" kern="100" dirty="0">
                <a:effectLst/>
                <a:ea typeface="Aptos" panose="020B0004020202020204" pitchFamily="34" charset="0"/>
                <a:cs typeface="Times New Roman" panose="02020603050405020304" pitchFamily="18" charset="0"/>
              </a:rPr>
              <a:t> in der EU erfasst wurden</a:t>
            </a:r>
          </a:p>
          <a:p>
            <a:pPr marL="342900" lvl="0" indent="-342900">
              <a:lnSpc>
                <a:spcPct val="107000"/>
              </a:lnSpc>
              <a:buFont typeface="Symbol" panose="05050102010706020507" pitchFamily="18" charset="2"/>
              <a:buChar char=""/>
            </a:pPr>
            <a:r>
              <a:rPr lang="de-DE" sz="2000" b="1" kern="100" dirty="0">
                <a:effectLst/>
                <a:ea typeface="Aptos" panose="020B0004020202020204" pitchFamily="34" charset="0"/>
                <a:cs typeface="Times New Roman" panose="02020603050405020304" pitchFamily="18" charset="0"/>
              </a:rPr>
              <a:t>Vor der Anwendung</a:t>
            </a:r>
            <a:r>
              <a:rPr lang="de-DE" sz="2000" kern="100" dirty="0">
                <a:effectLst/>
                <a:ea typeface="Aptos" panose="020B0004020202020204" pitchFamily="34" charset="0"/>
                <a:cs typeface="Times New Roman" panose="02020603050405020304" pitchFamily="18" charset="0"/>
              </a:rPr>
              <a:t> der DSGVO und des BDSG ist der </a:t>
            </a:r>
            <a:r>
              <a:rPr lang="de-DE" sz="2000" b="1" kern="100" dirty="0">
                <a:effectLst/>
                <a:ea typeface="Aptos" panose="020B0004020202020204" pitchFamily="34" charset="0"/>
                <a:cs typeface="Times New Roman" panose="02020603050405020304" pitchFamily="18" charset="0"/>
              </a:rPr>
              <a:t>sachliche und räumliche</a:t>
            </a:r>
            <a:r>
              <a:rPr lang="de-DE" sz="2000" kern="100" dirty="0">
                <a:effectLst/>
                <a:ea typeface="Aptos" panose="020B0004020202020204" pitchFamily="34" charset="0"/>
                <a:cs typeface="Times New Roman" panose="02020603050405020304" pitchFamily="18" charset="0"/>
              </a:rPr>
              <a:t> </a:t>
            </a:r>
            <a:r>
              <a:rPr lang="de-DE" sz="2000" b="1" kern="100" dirty="0">
                <a:effectLst/>
                <a:ea typeface="Aptos" panose="020B0004020202020204" pitchFamily="34" charset="0"/>
                <a:cs typeface="Times New Roman" panose="02020603050405020304" pitchFamily="18" charset="0"/>
              </a:rPr>
              <a:t>Anwendungsbereich</a:t>
            </a:r>
            <a:r>
              <a:rPr lang="de-DE" sz="2000" kern="100" dirty="0">
                <a:effectLst/>
                <a:ea typeface="Aptos" panose="020B0004020202020204" pitchFamily="34" charset="0"/>
                <a:cs typeface="Times New Roman" panose="02020603050405020304" pitchFamily="18" charset="0"/>
              </a:rPr>
              <a:t> zu </a:t>
            </a:r>
            <a:r>
              <a:rPr lang="de-DE" sz="2000" b="1" kern="100" dirty="0">
                <a:effectLst/>
                <a:ea typeface="Aptos" panose="020B0004020202020204" pitchFamily="34" charset="0"/>
                <a:cs typeface="Times New Roman" panose="02020603050405020304" pitchFamily="18" charset="0"/>
              </a:rPr>
              <a:t>prüfen</a:t>
            </a:r>
            <a:endParaRPr lang="de-DE" sz="20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000" kern="100" dirty="0">
                <a:effectLst/>
                <a:ea typeface="Aptos" panose="020B0004020202020204" pitchFamily="34" charset="0"/>
                <a:cs typeface="Times New Roman" panose="02020603050405020304" pitchFamily="18" charset="0"/>
              </a:rPr>
              <a:t>Das </a:t>
            </a:r>
            <a:r>
              <a:rPr lang="de-DE" sz="2000" b="1" kern="100" dirty="0">
                <a:effectLst/>
                <a:ea typeface="Aptos" panose="020B0004020202020204" pitchFamily="34" charset="0"/>
                <a:cs typeface="Times New Roman" panose="02020603050405020304" pitchFamily="18" charset="0"/>
              </a:rPr>
              <a:t>BDSG unterscheidet</a:t>
            </a:r>
            <a:r>
              <a:rPr lang="de-DE" sz="2000" kern="100" dirty="0">
                <a:effectLst/>
                <a:ea typeface="Aptos" panose="020B0004020202020204" pitchFamily="34" charset="0"/>
                <a:cs typeface="Times New Roman" panose="02020603050405020304" pitchFamily="18" charset="0"/>
              </a:rPr>
              <a:t> zwischen </a:t>
            </a:r>
            <a:r>
              <a:rPr lang="de-DE" sz="2000" b="1" kern="100" dirty="0">
                <a:effectLst/>
                <a:ea typeface="Aptos" panose="020B0004020202020204" pitchFamily="34" charset="0"/>
                <a:cs typeface="Times New Roman" panose="02020603050405020304" pitchFamily="18" charset="0"/>
              </a:rPr>
              <a:t>öffentlichen und nicht-öffentlichen Stellen</a:t>
            </a:r>
            <a:endParaRPr lang="de-DE" sz="20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000" kern="100" dirty="0">
                <a:effectLst/>
                <a:ea typeface="Aptos" panose="020B0004020202020204" pitchFamily="34" charset="0"/>
                <a:cs typeface="Times New Roman" panose="02020603050405020304" pitchFamily="18" charset="0"/>
              </a:rPr>
              <a:t>Neben dem </a:t>
            </a:r>
            <a:r>
              <a:rPr lang="de-DE" sz="2000" b="1" kern="100" dirty="0">
                <a:effectLst/>
                <a:ea typeface="Aptos" panose="020B0004020202020204" pitchFamily="34" charset="0"/>
                <a:cs typeface="Times New Roman" panose="02020603050405020304" pitchFamily="18" charset="0"/>
              </a:rPr>
              <a:t>Territorial- und Niederlassungsprinzip</a:t>
            </a:r>
            <a:r>
              <a:rPr lang="de-DE" sz="2000" kern="100" dirty="0">
                <a:effectLst/>
                <a:ea typeface="Aptos" panose="020B0004020202020204" pitchFamily="34" charset="0"/>
                <a:cs typeface="Times New Roman" panose="02020603050405020304" pitchFamily="18" charset="0"/>
              </a:rPr>
              <a:t> gilt in der DSGVO und im BDSG auch das </a:t>
            </a:r>
            <a:r>
              <a:rPr lang="de-DE" sz="2000" b="1" kern="100" dirty="0">
                <a:effectLst/>
                <a:ea typeface="Aptos" panose="020B0004020202020204" pitchFamily="34" charset="0"/>
                <a:cs typeface="Times New Roman" panose="02020603050405020304" pitchFamily="18" charset="0"/>
              </a:rPr>
              <a:t>Markortprinzip</a:t>
            </a:r>
            <a:endParaRPr lang="de-DE" sz="20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000" b="1" kern="100" dirty="0">
                <a:effectLst/>
                <a:ea typeface="Aptos" panose="020B0004020202020204" pitchFamily="34" charset="0"/>
                <a:cs typeface="Times New Roman" panose="02020603050405020304" pitchFamily="18" charset="0"/>
              </a:rPr>
              <a:t>Nicht automatisiert</a:t>
            </a:r>
            <a:r>
              <a:rPr lang="de-DE" sz="2000" kern="100" dirty="0">
                <a:effectLst/>
                <a:ea typeface="Aptos" panose="020B0004020202020204" pitchFamily="34" charset="0"/>
                <a:cs typeface="Times New Roman" panose="02020603050405020304" pitchFamily="18" charset="0"/>
              </a:rPr>
              <a:t> verarbeitete </a:t>
            </a:r>
            <a:r>
              <a:rPr lang="de-DE" sz="2000" kern="100" dirty="0" err="1">
                <a:effectLst/>
                <a:ea typeface="Aptos" panose="020B0004020202020204" pitchFamily="34" charset="0"/>
                <a:cs typeface="Times New Roman" panose="02020603050405020304" pitchFamily="18" charset="0"/>
              </a:rPr>
              <a:t>pbD</a:t>
            </a:r>
            <a:r>
              <a:rPr lang="de-DE" sz="2000" kern="100" dirty="0">
                <a:effectLst/>
                <a:ea typeface="Aptos" panose="020B0004020202020204" pitchFamily="34" charset="0"/>
                <a:cs typeface="Times New Roman" panose="02020603050405020304" pitchFamily="18" charset="0"/>
              </a:rPr>
              <a:t> unterliegen der DSGVO nur, wenn die Daten </a:t>
            </a:r>
            <a:r>
              <a:rPr lang="de-DE" sz="2000" b="1" kern="100" dirty="0">
                <a:effectLst/>
                <a:ea typeface="Aptos" panose="020B0004020202020204" pitchFamily="34" charset="0"/>
                <a:cs typeface="Times New Roman" panose="02020603050405020304" pitchFamily="18" charset="0"/>
              </a:rPr>
              <a:t>in</a:t>
            </a:r>
            <a:r>
              <a:rPr lang="de-DE" sz="2000" kern="100" dirty="0">
                <a:effectLst/>
                <a:ea typeface="Aptos" panose="020B0004020202020204" pitchFamily="34" charset="0"/>
                <a:cs typeface="Times New Roman" panose="02020603050405020304" pitchFamily="18" charset="0"/>
              </a:rPr>
              <a:t> einem </a:t>
            </a:r>
            <a:r>
              <a:rPr lang="de-DE" sz="2000" b="1" kern="100" dirty="0">
                <a:effectLst/>
                <a:ea typeface="Aptos" panose="020B0004020202020204" pitchFamily="34" charset="0"/>
                <a:cs typeface="Times New Roman" panose="02020603050405020304" pitchFamily="18" charset="0"/>
              </a:rPr>
              <a:t>Dateisystem gespeichert</a:t>
            </a:r>
            <a:r>
              <a:rPr lang="de-DE" sz="2000" kern="100" dirty="0">
                <a:effectLst/>
                <a:ea typeface="Aptos" panose="020B0004020202020204" pitchFamily="34" charset="0"/>
                <a:cs typeface="Times New Roman" panose="02020603050405020304" pitchFamily="18" charset="0"/>
              </a:rPr>
              <a:t> sind/werden</a:t>
            </a:r>
          </a:p>
          <a:p>
            <a:pPr marL="342900" lvl="0" indent="-342900">
              <a:lnSpc>
                <a:spcPct val="107000"/>
              </a:lnSpc>
              <a:spcAft>
                <a:spcPts val="800"/>
              </a:spcAft>
              <a:buFont typeface="Symbol" panose="05050102010706020507" pitchFamily="18" charset="2"/>
              <a:buChar char=""/>
            </a:pPr>
            <a:r>
              <a:rPr lang="de-DE" sz="2000" b="1" kern="100" dirty="0">
                <a:effectLst/>
                <a:ea typeface="Aptos" panose="020B0004020202020204" pitchFamily="34" charset="0"/>
                <a:cs typeface="Times New Roman" panose="02020603050405020304" pitchFamily="18" charset="0"/>
              </a:rPr>
              <a:t>Private Tätigkeiten</a:t>
            </a:r>
            <a:r>
              <a:rPr lang="de-DE" sz="2000" kern="100" dirty="0">
                <a:effectLst/>
                <a:ea typeface="Aptos" panose="020B0004020202020204" pitchFamily="34" charset="0"/>
                <a:cs typeface="Times New Roman" panose="02020603050405020304" pitchFamily="18" charset="0"/>
              </a:rPr>
              <a:t> oder </a:t>
            </a:r>
            <a:r>
              <a:rPr lang="de-DE" sz="2000" b="1" kern="100" dirty="0">
                <a:effectLst/>
                <a:ea typeface="Aptos" panose="020B0004020202020204" pitchFamily="34" charset="0"/>
                <a:cs typeface="Times New Roman" panose="02020603050405020304" pitchFamily="18" charset="0"/>
              </a:rPr>
              <a:t>Daten von Verstorbenen</a:t>
            </a:r>
            <a:r>
              <a:rPr lang="de-DE" sz="2000" kern="100" dirty="0">
                <a:effectLst/>
                <a:ea typeface="Aptos" panose="020B0004020202020204" pitchFamily="34" charset="0"/>
                <a:cs typeface="Times New Roman" panose="02020603050405020304" pitchFamily="18" charset="0"/>
              </a:rPr>
              <a:t> oder </a:t>
            </a:r>
            <a:r>
              <a:rPr lang="de-DE" sz="2000" b="1" kern="100" dirty="0">
                <a:effectLst/>
                <a:ea typeface="Aptos" panose="020B0004020202020204" pitchFamily="34" charset="0"/>
                <a:cs typeface="Times New Roman" panose="02020603050405020304" pitchFamily="18" charset="0"/>
              </a:rPr>
              <a:t>anonymisierten Personen</a:t>
            </a:r>
            <a:r>
              <a:rPr lang="de-DE" sz="2000" kern="100" dirty="0">
                <a:effectLst/>
                <a:ea typeface="Aptos" panose="020B0004020202020204" pitchFamily="34" charset="0"/>
                <a:cs typeface="Times New Roman" panose="02020603050405020304" pitchFamily="18" charset="0"/>
              </a:rPr>
              <a:t> fallen </a:t>
            </a:r>
            <a:r>
              <a:rPr lang="de-DE" sz="2000" b="1" kern="100" dirty="0">
                <a:effectLst/>
                <a:ea typeface="Aptos" panose="020B0004020202020204" pitchFamily="34" charset="0"/>
                <a:cs typeface="Times New Roman" panose="02020603050405020304" pitchFamily="18" charset="0"/>
              </a:rPr>
              <a:t>nicht</a:t>
            </a:r>
            <a:r>
              <a:rPr lang="de-DE" sz="2000" kern="100" dirty="0">
                <a:effectLst/>
                <a:ea typeface="Aptos" panose="020B0004020202020204" pitchFamily="34" charset="0"/>
                <a:cs typeface="Times New Roman" panose="02020603050405020304" pitchFamily="18" charset="0"/>
              </a:rPr>
              <a:t> in den Anwendungsbereich der </a:t>
            </a:r>
            <a:r>
              <a:rPr lang="de-DE" sz="2000" b="1" kern="100" dirty="0">
                <a:effectLst/>
                <a:ea typeface="Aptos" panose="020B0004020202020204" pitchFamily="34" charset="0"/>
                <a:cs typeface="Times New Roman" panose="02020603050405020304" pitchFamily="18" charset="0"/>
              </a:rPr>
              <a:t>DSGVO</a:t>
            </a:r>
            <a:endParaRPr lang="de-DE" sz="2000" kern="100" dirty="0">
              <a:effectLst/>
              <a:ea typeface="Aptos" panose="020B0004020202020204" pitchFamily="34" charset="0"/>
              <a:cs typeface="Times New Roman" panose="02020603050405020304" pitchFamily="18" charset="0"/>
            </a:endParaRPr>
          </a:p>
        </p:txBody>
      </p:sp>
      <p:sp>
        <p:nvSpPr>
          <p:cNvPr id="4" name="Fußzeilenplatzhalter 3">
            <a:extLst>
              <a:ext uri="{FF2B5EF4-FFF2-40B4-BE49-F238E27FC236}">
                <a16:creationId xmlns:a16="http://schemas.microsoft.com/office/drawing/2014/main" id="{8648E867-618D-E539-C74A-15B1784BD078}"/>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26785E17-FD78-9A04-E164-C190FC39006A}"/>
              </a:ext>
            </a:extLst>
          </p:cNvPr>
          <p:cNvSpPr>
            <a:spLocks noGrp="1"/>
          </p:cNvSpPr>
          <p:nvPr>
            <p:ph type="sldNum" sz="quarter" idx="12"/>
          </p:nvPr>
        </p:nvSpPr>
        <p:spPr/>
        <p:txBody>
          <a:bodyPr/>
          <a:lstStyle/>
          <a:p>
            <a:fld id="{B4CE166D-2D50-44F1-A818-BFD238545C9D}" type="slidenum">
              <a:rPr lang="de-DE" smtClean="0"/>
              <a:t>30</a:t>
            </a:fld>
            <a:endParaRPr lang="de-DE"/>
          </a:p>
        </p:txBody>
      </p:sp>
    </p:spTree>
    <p:extLst>
      <p:ext uri="{BB962C8B-B14F-4D97-AF65-F5344CB8AC3E}">
        <p14:creationId xmlns:p14="http://schemas.microsoft.com/office/powerpoint/2010/main" val="362828836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955DCE652C8AD4696A873B53CCA776C" ma:contentTypeVersion="0" ma:contentTypeDescription="Ein neues Dokument erstellen." ma:contentTypeScope="" ma:versionID="35501028ee070011193dd1927b2c730b">
  <xsd:schema xmlns:xsd="http://www.w3.org/2001/XMLSchema" xmlns:xs="http://www.w3.org/2001/XMLSchema" xmlns:p="http://schemas.microsoft.com/office/2006/metadata/properties" targetNamespace="http://schemas.microsoft.com/office/2006/metadata/properties" ma:root="true" ma:fieldsID="64bd91030dd2cd3052693ebd8aef66f0">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8CA3A4B-7714-4274-B494-3224419C86A6}"/>
</file>

<file path=customXml/itemProps2.xml><?xml version="1.0" encoding="utf-8"?>
<ds:datastoreItem xmlns:ds="http://schemas.openxmlformats.org/officeDocument/2006/customXml" ds:itemID="{E24A1DD8-E82D-4055-9C05-5B6A85F8BAC5}"/>
</file>

<file path=customXml/itemProps3.xml><?xml version="1.0" encoding="utf-8"?>
<ds:datastoreItem xmlns:ds="http://schemas.openxmlformats.org/officeDocument/2006/customXml" ds:itemID="{929770CB-94C2-4627-B185-3BD8690F2CB4}"/>
</file>

<file path=docProps/app.xml><?xml version="1.0" encoding="utf-8"?>
<Properties xmlns="http://schemas.openxmlformats.org/officeDocument/2006/extended-properties" xmlns:vt="http://schemas.openxmlformats.org/officeDocument/2006/docPropsVTypes">
  <TotalTime>0</TotalTime>
  <Words>2393</Words>
  <Application>Microsoft Office PowerPoint</Application>
  <PresentationFormat>Breitbild</PresentationFormat>
  <Paragraphs>223</Paragraphs>
  <Slides>30</Slides>
  <Notes>0</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30</vt:i4>
      </vt:variant>
    </vt:vector>
  </HeadingPairs>
  <TitlesOfParts>
    <vt:vector size="38" baseType="lpstr">
      <vt:lpstr>Aptos</vt:lpstr>
      <vt:lpstr>Aptos Display</vt:lpstr>
      <vt:lpstr>Arial</vt:lpstr>
      <vt:lpstr>Calibri</vt:lpstr>
      <vt:lpstr>Symbol</vt:lpstr>
      <vt:lpstr>Times New Roman</vt:lpstr>
      <vt:lpstr>Wingdings</vt:lpstr>
      <vt:lpstr>Office</vt:lpstr>
      <vt:lpstr>DATENSCHUTZ-SCHULUNG Teil 1 Datenschutz und Datensicherheit </vt:lpstr>
      <vt:lpstr>Inhalte der Datenschutz-Themen</vt:lpstr>
      <vt:lpstr>Datenschutz Teil 1.1 </vt:lpstr>
      <vt:lpstr>Der Weg des Datenschutzes</vt:lpstr>
      <vt:lpstr>Die Rechte, Gesetze und Verordnungen</vt:lpstr>
      <vt:lpstr>Datenschutz &amp; Datensicherheit</vt:lpstr>
      <vt:lpstr>Allgemeines zur Datenschutzgrundverordnung (DSGVO) und dem Bundesdatenschutzgesetz (BDSG)</vt:lpstr>
      <vt:lpstr>Die Datenschutzgrundverordnung (DSGVO)</vt:lpstr>
      <vt:lpstr>Die Datenschutzgrundverordnung (DSGVO)</vt:lpstr>
      <vt:lpstr>Die Datenschutzgrundverordnung (DSGVO)</vt:lpstr>
      <vt:lpstr>Die Datenschutzgrundverordnung (DSGVO)</vt:lpstr>
      <vt:lpstr>Die Datenschutzgrundverordnung (DSGVO)</vt:lpstr>
      <vt:lpstr>Das Bundesdatenschutzgesetz (BDSG)</vt:lpstr>
      <vt:lpstr>Das Bundesdatenschutzgesetz (BDSG)</vt:lpstr>
      <vt:lpstr>Das Bundesdatenschutzgesetz (BDSG)</vt:lpstr>
      <vt:lpstr>Das Bundesdatenschutzgesetz (BDSG)</vt:lpstr>
      <vt:lpstr>Datenschutzgrundverordnung (DSGVO) Begriffsbestimmungen</vt:lpstr>
      <vt:lpstr>Die Datenschutzgrundverordnung (DSGVO)</vt:lpstr>
      <vt:lpstr>Die Datenschutzgrundverordnung (DSGVO)</vt:lpstr>
      <vt:lpstr>Die Datenschutzgrundverordnung (DSGVO)</vt:lpstr>
      <vt:lpstr>Die Datenschutzgrundverordnung (DSGVO)</vt:lpstr>
      <vt:lpstr>Die Datenschutzgrundverordnung (DSGVO)</vt:lpstr>
      <vt:lpstr>Die Datenschutzgrundverordnung (DSGVO)</vt:lpstr>
      <vt:lpstr>Die Datenschutzgrundverordnung (DSGVO)</vt:lpstr>
      <vt:lpstr>Die Datenschutzgrundverordnung (DSGVO)</vt:lpstr>
      <vt:lpstr>Die Datenschutzgrundverordnung (DSGVO)</vt:lpstr>
      <vt:lpstr>Die Datenschutzgrundverordnung (DSGVO)</vt:lpstr>
      <vt:lpstr>Die Datenschutzgrundverordnung (DSGVO)</vt:lpstr>
      <vt:lpstr>Die Datenschutzgrundverordnung (DSGVO)</vt:lpstr>
      <vt:lpstr>Zusammenfassung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Dirk Moltzen</dc:creator>
  <cp:lastModifiedBy>Dirk Moltzen</cp:lastModifiedBy>
  <cp:revision>71</cp:revision>
  <dcterms:created xsi:type="dcterms:W3CDTF">2025-05-19T19:06:41Z</dcterms:created>
  <dcterms:modified xsi:type="dcterms:W3CDTF">2025-09-01T15:01:37Z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0x010100A955DCE652C8AD4696A873B53CCA776C</vt:lpwstr>
  </property>
</Properties>
</file>