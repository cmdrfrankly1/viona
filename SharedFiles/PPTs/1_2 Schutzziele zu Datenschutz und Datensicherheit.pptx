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86" r:id="rId4"/>
    <p:sldId id="289" r:id="rId5"/>
    <p:sldId id="290" r:id="rId6"/>
    <p:sldId id="291" r:id="rId7"/>
    <p:sldId id="292" r:id="rId8"/>
    <p:sldId id="293" r:id="rId9"/>
    <p:sldId id="352" r:id="rId10"/>
    <p:sldId id="353" r:id="rId11"/>
    <p:sldId id="294" r:id="rId12"/>
    <p:sldId id="295" r:id="rId13"/>
    <p:sldId id="296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22.09.2025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22.09.2025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22.09.2025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22.09.2025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22.09.2025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22.09.2025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22.09.2025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22.09.2025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22.09.2025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22.09.2025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22.09.2025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22.09.2025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22.09.2025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065159"/>
            <a:ext cx="10592174" cy="105202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/>
              <a:t>Teil 1 </a:t>
            </a:r>
            <a:r>
              <a:rPr lang="de-DE" sz="4000" b="1" dirty="0">
                <a:solidFill>
                  <a:srgbClr val="0070C0"/>
                </a:solidFill>
              </a:rPr>
              <a:t>Datenschutz und Datensicherheit</a:t>
            </a:r>
            <a:br>
              <a:rPr lang="de-DE" sz="4000" dirty="0">
                <a:solidFill>
                  <a:schemeClr val="tx2"/>
                </a:solidFill>
              </a:rPr>
            </a:br>
            <a:endParaRPr lang="de-DE" sz="4000" dirty="0">
              <a:solidFill>
                <a:schemeClr val="tx2"/>
              </a:solidFill>
            </a:endParaRP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3"/>
            <a:ext cx="10515600" cy="419251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1: </a:t>
            </a:r>
            <a:r>
              <a:rPr lang="de-DE" b="1" dirty="0"/>
              <a:t>Datenschutz und Datensicherheit</a:t>
            </a:r>
            <a:br>
              <a:rPr lang="de-DE" b="1" dirty="0"/>
            </a:br>
            <a:endParaRPr lang="de-DE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1.1: </a:t>
            </a:r>
            <a:r>
              <a:rPr lang="de-DE" b="1" dirty="0"/>
              <a:t>Einführung in den Datenschutz</a:t>
            </a:r>
            <a:br>
              <a:rPr lang="de-DE" b="1" dirty="0"/>
            </a:br>
            <a:r>
              <a:rPr lang="de-DE" dirty="0"/>
              <a:t>DSGVO, BDSG, Begriffsbestimmungen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1.2: </a:t>
            </a:r>
            <a:r>
              <a:rPr lang="de-DE" b="1" dirty="0"/>
              <a:t>Schutzziele / Schutzobjekte</a:t>
            </a:r>
            <a:br>
              <a:rPr lang="de-DE" b="1" dirty="0"/>
            </a:br>
            <a:r>
              <a:rPr lang="de-DE" dirty="0"/>
              <a:t>Informationssicherheit, Abgrenzung BSI zu SDM, TOMs,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1.3: </a:t>
            </a:r>
            <a:r>
              <a:rPr lang="de-DE" b="1" dirty="0"/>
              <a:t>Verantwortlichkeiten im Unternehmen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1.4: </a:t>
            </a:r>
            <a:r>
              <a:rPr lang="de-DE" b="1" dirty="0"/>
              <a:t>Lebenszyklus </a:t>
            </a:r>
            <a:r>
              <a:rPr lang="de-DE" b="1" dirty="0" err="1"/>
              <a:t>pb</a:t>
            </a:r>
            <a:r>
              <a:rPr lang="de-DE" b="1" dirty="0"/>
              <a:t> Daten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1.5: </a:t>
            </a:r>
            <a:r>
              <a:rPr lang="de-DE" b="1" dirty="0"/>
              <a:t>Fragen, Beispiele &amp; Übungen</a:t>
            </a:r>
          </a:p>
          <a:p>
            <a:endParaRPr lang="de-DE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 Stunden Theorie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Stunden Praxis</a:t>
            </a:r>
          </a:p>
          <a:p>
            <a:endParaRPr lang="de-DE" b="1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26CA-1BB5-D9E4-C2F3-0EB9B313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7" descr="Ein Bild, das Kreis, Licht, Kunst enthält.&#10;&#10;KI-generierte Inhalte können fehlerhaft sein.">
            <a:extLst>
              <a:ext uri="{FF2B5EF4-FFF2-40B4-BE49-F238E27FC236}">
                <a16:creationId xmlns:a16="http://schemas.microsoft.com/office/drawing/2014/main" id="{E48E58F1-6F7A-E3B1-A93A-4C019783D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89" b="2807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7D8F35-8BFB-3EDF-CB96-2547293B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1.2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0E625-5C1D-BEF7-A788-BA5DF4D3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>
                <a:solidFill>
                  <a:schemeClr val="tx1"/>
                </a:solidFill>
              </a:rPr>
              <a:t>Schutzziele</a:t>
            </a:r>
            <a:r>
              <a:rPr lang="en-US" sz="2000" b="1" dirty="0">
                <a:solidFill>
                  <a:schemeClr val="tx1"/>
                </a:solidFill>
              </a:rPr>
              <a:t> / </a:t>
            </a:r>
            <a:r>
              <a:rPr lang="en-US" sz="2000" b="1" dirty="0" err="1">
                <a:solidFill>
                  <a:schemeClr val="tx1"/>
                </a:solidFill>
              </a:rPr>
              <a:t>Schutzobjekte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dirty="0" err="1">
                <a:solidFill>
                  <a:schemeClr val="tx1"/>
                </a:solidFill>
              </a:rPr>
              <a:t>im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Datenschutz</a:t>
            </a:r>
            <a:r>
              <a:rPr lang="en-US" sz="2000" dirty="0">
                <a:solidFill>
                  <a:schemeClr val="tx1"/>
                </a:solidFill>
              </a:rPr>
              <a:t> und in der </a:t>
            </a:r>
            <a:r>
              <a:rPr lang="en-US" sz="2000" dirty="0" err="1">
                <a:solidFill>
                  <a:schemeClr val="tx1"/>
                </a:solidFill>
              </a:rPr>
              <a:t>Informationssicherheit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F10496-2CA2-8CFB-B7E3-BA229B3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3640" y="6356350"/>
            <a:ext cx="32785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C658C-B999-DEFF-0A1A-E2F9091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733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E65D-F222-3C43-88B1-1962594C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6E8AC-4B3A-B67B-05A2-D86D621B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sz="4400" dirty="0"/>
              <a:t>Der </a:t>
            </a:r>
            <a:r>
              <a:rPr lang="en-US" sz="4400" dirty="0" err="1"/>
              <a:t>Beginn</a:t>
            </a:r>
            <a:r>
              <a:rPr lang="en-US" sz="4400" dirty="0"/>
              <a:t>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7112CC-95A2-3119-91D0-2C9127F2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Urteil Bundesverfassungsgericht in 2008:</a:t>
            </a:r>
            <a:endParaRPr lang="de-DE" sz="2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„Ein Grundrecht auf Vertraulichkeit und Integrität informationstechnischer Systeme besteht.“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"/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sogenannte</a:t>
            </a:r>
            <a:r>
              <a:rPr lang="de-DE" sz="26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IT-Grundrecht.</a:t>
            </a:r>
            <a:endParaRPr lang="de-DE" sz="2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Datensicherheit besitzt mit schnell wachsender Digitalisierung immer größere Bedeutung:</a:t>
            </a: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Internet </a:t>
            </a:r>
            <a:r>
              <a:rPr lang="de-DE" sz="2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Things (IoT)</a:t>
            </a: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Smartphones</a:t>
            </a:r>
          </a:p>
          <a:p>
            <a:pPr>
              <a:lnSpc>
                <a:spcPct val="107000"/>
              </a:lnSpc>
            </a:pP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Assistenzsysteme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600" kern="100" dirty="0"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de-DE" sz="2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tc.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6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Verantwortliche müssen die Daten der Betroffenen mit allen zur Verfügung stehenden rechtlichen Mitteln schützen.</a:t>
            </a:r>
            <a:endParaRPr lang="de-DE" sz="2600" kern="100" dirty="0">
              <a:effectLst/>
              <a:highlight>
                <a:srgbClr val="FFFF00"/>
              </a:highlight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AB907B-4D1A-CB8D-771B-1AC21380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5E863B-BFFB-D0C9-CB2F-8EFE7C82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328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5BAC1-E5AF-927B-8803-088C69A1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3B9D3-1A1E-1371-45D8-DD56744E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Allgemeines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565A01-65D6-C239-0BC5-19BC9CA79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einen wirksamen Datenschutz ist es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 technischer Sicht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notwendig, dass der DSB die ordnungsgemäße Anwendung der eingesetzten Datenverarbeitungsprogramme überprüfen kann.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Einblick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in den Bereich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IT-Sicherheit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hinsichtlich häufiger Schwachstellen und der Bedrohungen beim Einsatz technischer Informations- und Speichersysteme (wie Datenbanken)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unvermeidbar und wichtig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der Tätigkeit als DSB.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Dazu gehören ein Repertoire an möglichen, zu ergreifenden Maßnahmen über die ein DSB / ISB verfügen sollte: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F49057-59B9-6DDB-66EB-CC66064A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AB6667-A045-D67B-0B7B-EEF25B7E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82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37E90-2A00-7EB8-541E-40C8670C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81738-603B-568D-9F2B-C654C2C55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Aspekte</a:t>
            </a:r>
            <a:r>
              <a:rPr lang="en-US" dirty="0"/>
              <a:t>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541096-27D7-69B8-0BC1-E3DA7354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Schutzziele und Schutzmaßnahmen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Konzepte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Datensicherung / Archivierung (inkl.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rechtl. Grundlagen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Kenntnisse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Risikobewertung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Risikomanagement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Praktische Hinweise zur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Gebäudesicherung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5C3989-CAD6-2CAF-0B93-85272004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788C14-27A0-2BB7-3123-5910E02D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06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9FC6-021E-1B52-7A2A-34968B89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648F16-9800-D767-F7B0-2203F8B99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/>
              <a:t>Skills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80B63F-45EE-9962-64C3-F1AA9AD4E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Hauptinhalte sind dann: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Abgrenzung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Bedingtheit des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Datenschutzes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Informationssicherheit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Gesetzl. Grundlagen zu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TOMs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Allg. Anforderungen an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IT-Sicherheit, Schutzziele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DSGVO und BSI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Begriffe wie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Integrität, Vertraulichkeit, Pseudonymisierung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Kontrollarten wie: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Zutrittskontrolle, Zugangskontrolle, Eingabekontrolle, Zugriffskontrolle, Weitergabekontrolle, Auftragskontrolle, Verfügbarkeitskontrolle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7E95C8-2947-16FC-7998-BDE4452BD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E106D7-14D5-6A7F-10ED-06444481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352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B070-2A98-6D61-2A70-EA6CDF45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D7C26-8E4D-93B5-D225-DB08033D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Grundsätze</a:t>
            </a:r>
            <a:r>
              <a:rPr lang="en-US" dirty="0"/>
              <a:t> der </a:t>
            </a:r>
            <a:r>
              <a:rPr lang="en-US" sz="4400" dirty="0" err="1"/>
              <a:t>Informationssicherheit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81A4DA-66FB-E748-BC10-515533B2B4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fünf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wesentlichen Anforderungen der Informationssicherheit: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Vertraulichkeit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von Daten und Programmen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Authentizität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Nicht-</a:t>
            </a:r>
            <a:r>
              <a:rPr lang="de-DE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Abstreitbarkeit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hinsichtlich der Benutzung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Jederzeitige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Verfügbarkeit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der Hard- und Software</a:t>
            </a: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de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Inhaltsplatzhalter 9" descr="Ein Bild, das Text, Screenshot, Schrift, Grafikdesign enthält.&#10;&#10;KI-generierte Inhalte können fehlerhaft sein.">
            <a:extLst>
              <a:ext uri="{FF2B5EF4-FFF2-40B4-BE49-F238E27FC236}">
                <a16:creationId xmlns:a16="http://schemas.microsoft.com/office/drawing/2014/main" id="{97A26D6D-9EC4-6236-3928-D24EC1D343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887" y="1825625"/>
            <a:ext cx="6380671" cy="359854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62DE53-3296-37F6-4D73-A2694D9D4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A003A0-3DC2-6EC2-6D9A-569B413A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31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CA0DA4D-26DC-2A7E-4718-3E8170AB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Unterschiede BSI Grundschutz zum SDM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95E6D1C-55A3-B446-FF20-CD51ABA9C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Der quantitative Risikoansatz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im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BSI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(Bundesamt für Sicherheit in der Informationstechnik) bezieht sich auf die Bewertung von Risiken in der IT-Sicherheit, bei der die Wahrscheinlichkeit des Eintritts einer Gefährdung und die Höhe des möglichen Schadens mit Zahlenwerten oder anderen messbaren Größen beschrieben werden. </a:t>
            </a:r>
            <a:r>
              <a:rPr lang="de-DE" u="sng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Aufgabe: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ISB</a:t>
            </a:r>
            <a:b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Dies </a:t>
            </a:r>
            <a:r>
              <a:rPr lang="de-DE" b="1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steht im Gegensatz </a:t>
            </a:r>
            <a: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zur qualitativen Bewertung (siehe SDM), bei den Risiken in Kategorien wie "niedrig", "mittel" oder "hoch" eingestuft werden.</a:t>
            </a:r>
            <a:br>
              <a:rPr lang="de-DE" kern="100" dirty="0">
                <a:solidFill>
                  <a:srgbClr val="001D3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de-D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1ECE84-8088-89B6-11AE-4602E5CA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E09F27-EA2D-D05C-25EB-0AA9926F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445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ACDF5-B2BF-CBBB-1A99-03F7FC4D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Unterschiede BSI Grundschutz zum SDM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17981F-816F-C2DC-0F5B-DC4D74A34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Der qualitative Risikoansatz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durch das Standard-Datenschutzmodell (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SDM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wird durch ein Rahmenwerk und eine systematische Vorgehensweise erreicht, die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Auswahl und Bewertung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von technischen und organisatorischen Maßnahmen (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unterstützt, um die Anforderungen der Datenschutz-Grundverordnung (DSGVO) in der Praxis umzusetzen. Das SDM hilft, die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Einhaltung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der DSGVO zu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gewährleisten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Nachweise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für rechtskonforme Datenverarbeitung zu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erbringen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Aufgabe:</a:t>
            </a:r>
            <a:r>
              <a:rPr lang="de-D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DSB</a:t>
            </a:r>
            <a:endParaRPr lang="de-D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0127EF-6C76-26CC-715C-AE9FA64E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AEFB8-62B8-1453-BFAC-5576ABB81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287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191A-FF3F-F9E1-452A-4D445722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48300-FBA3-2A26-EB17-BBF868F0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Anforderungen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TOMs </a:t>
            </a:r>
            <a:r>
              <a:rPr lang="en-US" dirty="0" err="1"/>
              <a:t>erfüllt</a:t>
            </a:r>
            <a:endParaRPr lang="de-DE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91EA6A74-D0A6-30AF-AE54-87E879AC2E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349461"/>
              </p:ext>
            </p:extLst>
          </p:nvPr>
        </p:nvGraphicFramePr>
        <p:xfrm>
          <a:off x="979251" y="1404588"/>
          <a:ext cx="9798996" cy="2457293"/>
        </p:xfrm>
        <a:graphic>
          <a:graphicData uri="http://schemas.openxmlformats.org/drawingml/2006/table">
            <a:tbl>
              <a:tblPr firstRow="1" firstCol="1" bandRow="1"/>
              <a:tblGrid>
                <a:gridCol w="2714017">
                  <a:extLst>
                    <a:ext uri="{9D8B030D-6E8A-4147-A177-3AD203B41FA5}">
                      <a16:colId xmlns:a16="http://schemas.microsoft.com/office/drawing/2014/main" val="293465751"/>
                    </a:ext>
                  </a:extLst>
                </a:gridCol>
                <a:gridCol w="7084979">
                  <a:extLst>
                    <a:ext uri="{9D8B030D-6E8A-4147-A177-3AD203B41FA5}">
                      <a16:colId xmlns:a16="http://schemas.microsoft.com/office/drawing/2014/main" val="3539143772"/>
                    </a:ext>
                  </a:extLst>
                </a:gridCol>
              </a:tblGrid>
              <a:tr h="7042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 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der Daten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Unversehrtheit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und 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Richtigkeit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der Daten ohne unrechtmäßige Veränderung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55057"/>
                  </a:ext>
                </a:extLst>
              </a:tr>
              <a:tr h="7042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Vertraulichkeit: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Keine unbefugte Offenlegung</a:t>
                      </a:r>
                      <a:r>
                        <a:rPr lang="de-DE" sz="20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von Daten gegenüber unbefugten Personen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256477"/>
                  </a:ext>
                </a:extLst>
              </a:tr>
              <a:tr h="7042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Authentizität: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Echtheit, Überprüfbarkeit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und 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Vertrauenswürdigkeit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von Daten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572953"/>
                  </a:ext>
                </a:extLst>
              </a:tr>
              <a:tr h="3445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Verfügbarkeit:</a:t>
                      </a:r>
                      <a:endParaRPr lang="de-DE" sz="20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 sind </a:t>
                      </a:r>
                      <a:r>
                        <a:rPr lang="de-DE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mehrfach gesichert</a:t>
                      </a:r>
                      <a:r>
                        <a:rPr lang="de-DE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(Backup)</a:t>
                      </a:r>
                      <a:endParaRPr lang="de-DE" sz="20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242251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C35BAA-7A63-58EA-77B6-45490576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9C8156-78F3-A18B-D313-C88DFB3C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342451C-F836-85FF-E3B0-CA9991CDEB1B}"/>
              </a:ext>
            </a:extLst>
          </p:cNvPr>
          <p:cNvSpPr txBox="1"/>
          <p:nvPr/>
        </p:nvSpPr>
        <p:spPr>
          <a:xfrm>
            <a:off x="979251" y="4060239"/>
            <a:ext cx="10233498" cy="1993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Forderungen der Informationssicherheit müssen so definiert sein:</a:t>
            </a:r>
            <a:r>
              <a:rPr lang="de-DE" sz="2000" b="1" u="none" strike="noStrike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Datenbestände müssen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vertraulich und integer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bleiben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Nutzende müssen immer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identifiziert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werden können, d.h. vor der Nutzung findet immer eine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Authentifizierung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statt und nach der Nutzung kann diese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niemand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abstreiten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Datenbestände müssen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wiederherstellbar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sein (im Rahmen gesetzlicher Vorgaben) und die Systeme sollten </a:t>
            </a:r>
            <a:r>
              <a:rPr lang="de-DE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ohne Verzug nutzbar</a:t>
            </a:r>
            <a:r>
              <a:rPr lang="de-DE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sein</a:t>
            </a: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07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87085-56E0-8F6E-BC37-E65A48FB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1627DF-6A61-DE03-6900-75CF79986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746" y="3703975"/>
            <a:ext cx="4337858" cy="2398713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Notwendigkeit der Datensicherheit</a:t>
            </a:r>
            <a:endParaRPr lang="de-DE" sz="4000"/>
          </a:p>
        </p:txBody>
      </p:sp>
      <p:pic>
        <p:nvPicPr>
          <p:cNvPr id="9" name="Grafik 8" descr="Ein Bild, das Augen, Screenshot, Digitales Compositing, Kunst enthält.&#10;&#10;KI-generierte Inhalte können fehlerhaft sein.">
            <a:extLst>
              <a:ext uri="{FF2B5EF4-FFF2-40B4-BE49-F238E27FC236}">
                <a16:creationId xmlns:a16="http://schemas.microsoft.com/office/drawing/2014/main" id="{0FD9DDD0-18DF-9817-F61E-1C88CB659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1"/>
          <a:stretch>
            <a:fillRect/>
          </a:stretch>
        </p:blipFill>
        <p:spPr>
          <a:xfrm>
            <a:off x="2" y="10"/>
            <a:ext cx="12191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EAD3BB8-E64B-2415-B2CE-E0DA09EB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703975"/>
            <a:ext cx="5257800" cy="23987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fortschreitende Potenzierung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 Sicherheitsbedarfs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Weiterentwicklung der Hardware sowie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zunehmenden Komplexität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Netzwerkverbindungen, der Betriebssysteme und der eingesetzten Software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klar erkennbar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Deshalb muss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Fokus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permanent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Datensicherheit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liegen.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C398ED-DD54-5A34-A90D-9F52D7B6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 sz="1000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E65F3C-ED9F-3C8B-0507-1543C306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4CE166D-2D50-44F1-A818-BFD238545C9D}" type="slidenum">
              <a:rPr lang="de-DE" sz="1000"/>
              <a:pPr>
                <a:spcAft>
                  <a:spcPts val="600"/>
                </a:spcAft>
              </a:pPr>
              <a:t>12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445276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360B-45E0-2068-468B-DAAF559A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D7EBD-9C04-27B4-CE93-A2212F32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en-US" dirty="0" err="1"/>
              <a:t>Zusammenfassung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6E6E9A-5CB2-A524-4988-6D3889BE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506"/>
            <a:ext cx="10515600" cy="4873457"/>
          </a:xfrm>
        </p:spPr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fünf wesentlichen Anforderungen der Informationssicherheit: 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Vertraulichkeit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und Programmen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Authentizität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Nicht-</a:t>
            </a:r>
            <a:r>
              <a:rPr lang="de-DE" sz="18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Abstreitbarkeit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hinsichtlich der Benutzung</a:t>
            </a:r>
          </a:p>
          <a:p>
            <a:pPr>
              <a:lnSpc>
                <a:spcPct val="107000"/>
              </a:lnSpc>
              <a:buFont typeface="Symbol" panose="05050102010706020507" pitchFamily="18" charset="2"/>
              <a:buChar char="-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Jederzeitige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Verfügbarkeit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Hard- und Software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Rechnersysteme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heutzutage überwiegend miteinander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vernetzt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Oft ist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Systemnutzung ohne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Zugriffs-, und / oder Zugangskontrolle möglich.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unkontrollierter / unkontrollierbarer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Austausch von Daten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 Schnittstellen unterschiedlichster Art von Programmen, Rechner und Systemen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Problematisch: Nur wenige Mitarbeiter sind in der Lage Rechnersysteme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adäquat zu konfigurieren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zu warten, zu bedienen und zu nutzen</a:t>
            </a:r>
          </a:p>
          <a:p>
            <a:pPr>
              <a:lnSpc>
                <a:spcPct val="107000"/>
              </a:lnSpc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 mit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krimineller Energie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Fachwissen im Bereich IT stellen eine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erhebliche Gefahr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dar, die insbesondere von fremden Staaten oder Organisationen aus geht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0FF22F-14A3-4FAB-2835-1585DAB4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BEA0D9-C2FE-D629-5A9B-0EF98D63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463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495175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9802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85964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Inhaltsplatzhalter 6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F294989D-413E-F00F-130E-72878D989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680" y="916674"/>
            <a:ext cx="5660288" cy="502350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91C1C3-634F-58C7-F15B-1BA64342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79576" y="6356350"/>
            <a:ext cx="56692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6ED07E-1118-F247-75A3-1EC98775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11887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4CE166D-2D50-44F1-A818-BFD238545C9D}" type="slidenum"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pPr algn="l">
                <a:spcAft>
                  <a:spcPts val="600"/>
                </a:spcAft>
              </a:pPr>
              <a:t>14</a:t>
            </a:fld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9EF16F3-0004-E7EC-5476-FD24193E6536}"/>
              </a:ext>
            </a:extLst>
          </p:cNvPr>
          <p:cNvSpPr txBox="1"/>
          <p:nvPr/>
        </p:nvSpPr>
        <p:spPr>
          <a:xfrm>
            <a:off x="557701" y="196727"/>
            <a:ext cx="798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Grobe Schutzziele der DSGVO aus Art. 32 (1)</a:t>
            </a:r>
          </a:p>
        </p:txBody>
      </p:sp>
    </p:spTree>
    <p:extLst>
      <p:ext uri="{BB962C8B-B14F-4D97-AF65-F5344CB8AC3E}">
        <p14:creationId xmlns:p14="http://schemas.microsoft.com/office/powerpoint/2010/main" val="4082496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E6801-7CE4-F4B8-5656-71535F09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4997"/>
          </a:xfrm>
        </p:spPr>
        <p:txBody>
          <a:bodyPr/>
          <a:lstStyle/>
          <a:p>
            <a:r>
              <a:rPr lang="de-DE" dirty="0"/>
              <a:t>3 Ansätze, um Schutzziele umzusetzen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AE4C5C-C57F-0198-C926-EE7F54F61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509"/>
            <a:ext cx="10515600" cy="4827454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 und Auftragsverarbeiter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hat eine Übersicht aller getroffenen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Schutzmaßnahmen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führen. Das Schema dieser Übersicht ist unterschiedlich.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5FAF21-1968-0369-ADAF-9CC5DDCF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16A556-CB8E-E9DB-6B84-D4EAC7A0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15</a:t>
            </a:fld>
            <a:endParaRPr lang="de-DE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C237C7F1-3271-25F7-E14C-B7F8C9887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43112"/>
              </p:ext>
            </p:extLst>
          </p:nvPr>
        </p:nvGraphicFramePr>
        <p:xfrm>
          <a:off x="838200" y="2712199"/>
          <a:ext cx="10515600" cy="3464764"/>
        </p:xfrm>
        <a:graphic>
          <a:graphicData uri="http://schemas.openxmlformats.org/drawingml/2006/table">
            <a:tbl>
              <a:tblPr firstRow="1" firstCol="1" bandRow="1"/>
              <a:tblGrid>
                <a:gridCol w="5257800">
                  <a:extLst>
                    <a:ext uri="{9D8B030D-6E8A-4147-A177-3AD203B41FA5}">
                      <a16:colId xmlns:a16="http://schemas.microsoft.com/office/drawing/2014/main" val="7238199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84223968"/>
                    </a:ext>
                  </a:extLst>
                </a:gridCol>
              </a:tblGrid>
              <a:tr h="350078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Schutzziele nach…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2424"/>
                  </a:ext>
                </a:extLst>
              </a:tr>
              <a:tr h="8096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 Ziele der Informationssicherheit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 Standarddatenschutzmodell 3.0 (SDM)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865716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Datenminimierung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462198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97272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Nichtabstreitbarkeit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87677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29669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Authentizität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Nichtverkettung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858130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i="1" kern="10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Transparenz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197344"/>
                  </a:ext>
                </a:extLst>
              </a:tr>
              <a:tr h="3292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i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Intervenierbarkeit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215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462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C157A2-6F73-5961-EA96-32DAE996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 Ansätze Schutzziele umzusetzen </a:t>
            </a:r>
            <a:r>
              <a:rPr lang="de-DE" sz="2400" dirty="0"/>
              <a:t>(Fortsetzung)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3F933FC-CEB6-613C-AF57-DA810D52B9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größte Anteil aller Unternehmen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Einrichtungen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gestaltet diese Übersicht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TOMs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den Schutzzielen in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32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Verbindung mit den alten Schutzmaßnahmen aus § 9 </a:t>
            </a:r>
            <a:r>
              <a:rPr lang="de-DE" sz="20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BDSG_alt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Gestaltung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Übersicht steht den Unternehmen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frei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sie sollte sich aber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grob nach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einem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drei Standards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Schutzziele beeinflussen sich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teilweise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gegenseitig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Schutzmaßnahme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kann z.B. die Vertraulichkeit als auch die Integrität der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verbessern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Eine Bedrohung kann sich z.B. gleichzeitig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negativ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 die Vertraulichkeit und die Verfügbarkeit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auswirken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B7A3011B-BB9C-1D64-2D34-6D0D452934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35413041"/>
              </p:ext>
            </p:extLst>
          </p:nvPr>
        </p:nvGraphicFramePr>
        <p:xfrm>
          <a:off x="6408550" y="1825625"/>
          <a:ext cx="4945250" cy="4239430"/>
        </p:xfrm>
        <a:graphic>
          <a:graphicData uri="http://schemas.openxmlformats.org/drawingml/2006/table">
            <a:tbl>
              <a:tblPr firstRow="1" firstCol="1" bandRow="1"/>
              <a:tblGrid>
                <a:gridCol w="4945250">
                  <a:extLst>
                    <a:ext uri="{9D8B030D-6E8A-4147-A177-3AD203B41FA5}">
                      <a16:colId xmlns:a16="http://schemas.microsoft.com/office/drawing/2014/main" val="1651778706"/>
                    </a:ext>
                  </a:extLst>
                </a:gridCol>
              </a:tblGrid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0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3. Nach Art. 32 DSGVO </a:t>
                      </a:r>
                      <a:r>
                        <a:rPr lang="de-DE" sz="2000" b="1" kern="1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i.V.m</a:t>
                      </a:r>
                      <a:r>
                        <a:rPr lang="de-DE" sz="2000" b="1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 § 9 </a:t>
                      </a:r>
                      <a:r>
                        <a:rPr lang="de-DE" sz="2000" b="1" kern="1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BDSG_alt</a:t>
                      </a:r>
                      <a:endParaRPr lang="de-DE" sz="2000" b="1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443153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Vertraulichkeit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872780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Zutrittskontrolle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319806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Zugangskontrolle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62610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Zugriffskontrolle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54221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Trennungsgebot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493285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Pseudonymisierung und Verschlüsselung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809924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Integrität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279299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Eingabekontrolle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674652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Weitergabekontrolle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849575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Verfügbarkeit + Belastbarkeit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87395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8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Wirksamkeit</a:t>
                      </a:r>
                      <a:endParaRPr lang="de-DE" sz="18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813681"/>
                  </a:ext>
                </a:extLst>
              </a:tr>
              <a:tr h="32611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de-DE" sz="1800" b="1" i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Auftragskontrolle</a:t>
                      </a:r>
                      <a:endParaRPr lang="de-DE" sz="18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458397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B7A8C4-C406-59C2-62CA-C70F0CD0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F4C6F33-98BE-94D2-40EF-58358F36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339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4712124-9325-1121-1F23-1397DE207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>
                <a:effectLst/>
                <a:latin typeface="+mn-lt"/>
                <a:ea typeface="Aptos" panose="020B0004020202020204" pitchFamily="34" charset="0"/>
              </a:rPr>
              <a:t>Integrität und Vertraulichkeit</a:t>
            </a:r>
            <a:endParaRPr lang="de-DE" dirty="0">
              <a:latin typeface="+mn-lt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FB055B4-4A6D-B746-6819-33BE77A1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und Programmen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essenziell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Verrat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vertraulichen Informationen oder Verlust / Veränderungen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kann leicht zu einem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Schaden Betroffener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führen</a:t>
            </a:r>
          </a:p>
          <a:p>
            <a:pPr marL="57150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Integrität: 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wurde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keiner Weise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nachträglich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unbefugt oder unbeabsichtigt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manipuliert.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Vertraulichkeit:</a:t>
            </a:r>
            <a:b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ausgewählte Personen haben Zugriff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die Informationen.</a:t>
            </a:r>
          </a:p>
          <a:p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75CA81-FDB2-B60F-1459-293520B2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2E7F7F-2BFE-6FFF-C1D3-538A197B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451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645BF-FE6A-ACC6-946E-0E17C974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Integrität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C656B0-8100-7A22-BACF-8CB3B5128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beim Speichern von Daten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gesichert sein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Technische Verfahren müssen implementiert werden und stellen das sicher, dass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berechtigten Personen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gespeichert, geändert oder gelöscht werden können, sowie das sich Änderungen im Nachhinein erkennen lassen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 verfolgt 2 Ziele:</a:t>
            </a:r>
            <a:endParaRPr lang="de-DE" sz="2400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 der Daten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sicherstellen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Überwachung der Verarbeitung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Berechtigungen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D58BCB-E99C-39F1-C5ED-D58B04D1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571110-A923-EF9B-A946-FF9F49A1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8901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192417-096C-F022-43DE-52C471FF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Integrität </a:t>
            </a:r>
            <a:r>
              <a:rPr lang="de-DE" sz="2400" dirty="0"/>
              <a:t>(Fortsetzung)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450765-636F-9565-59D4-EF76E1AF2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Lösung zu Ziel #1: </a:t>
            </a: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technische Schutzmaßnahme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Bildung einer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Prüfsumme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jeweiligen Daten. 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 Daten verändert, so stimmt die Prüfsumme später nicht mehr und die Manipulation fällt auf. Prüfsummen belegen u.a. die Unverfälschtheit von Software.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de-DE" sz="2800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Lösung zu Ziel #1: </a:t>
            </a: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organisatorische Maßnahme</a:t>
            </a:r>
            <a:endParaRPr lang="de-DE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Protokollierung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Änderungen und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Auswertung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Protokollen.</a:t>
            </a:r>
            <a:b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Bindet mehr Personal, standardisiertes Verfahren, Dokumentation, Stichproben, Anweisungen 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Beide Lösungen unterscheiden sich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auch in finanzieller Hinsicht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FCC99D-2EFF-3D24-78C8-8BE5313ED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AD2352-717C-DE97-1020-E2D7AAEF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938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B4578B0-5252-F3B1-41F9-742200B1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Integrität </a:t>
            </a:r>
            <a:r>
              <a:rPr lang="de-DE" sz="2400" dirty="0"/>
              <a:t>(Fortsetzung)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D299F56-97B5-C62B-10C9-EDCF018EE3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u="sng" kern="100" dirty="0">
                <a:solidFill>
                  <a:srgbClr val="0070C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Lösung zu Ziel 2:</a:t>
            </a:r>
            <a:endParaRPr lang="de-DE" sz="2400" b="1" u="sng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Überwachung der Verarbeitung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 der Berechtigungen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erstellt der Verantwortliche ein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Dieses enthält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jeden Nutzer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eines Systems / Programmes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entsprechende Berechtigung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wird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mit einbezogen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achtet darauf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dass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die Mitarbeiter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 die Daten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 haben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die sie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auch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 sind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zweckgebunden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de-DE" sz="20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Beispiel: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Trennung von Personalbereich und Marketing.</a:t>
            </a:r>
          </a:p>
          <a:p>
            <a:endParaRPr lang="de-DE" sz="2000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AA05F188-FD7F-90D5-9791-44C71987D8B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28345911"/>
              </p:ext>
            </p:extLst>
          </p:nvPr>
        </p:nvGraphicFramePr>
        <p:xfrm>
          <a:off x="6172201" y="1825625"/>
          <a:ext cx="5181600" cy="4351338"/>
        </p:xfrm>
        <a:graphic>
          <a:graphicData uri="http://schemas.openxmlformats.org/drawingml/2006/table">
            <a:tbl>
              <a:tblPr firstRow="1" firstCol="1" bandRow="1"/>
              <a:tblGrid>
                <a:gridCol w="2103894">
                  <a:extLst>
                    <a:ext uri="{9D8B030D-6E8A-4147-A177-3AD203B41FA5}">
                      <a16:colId xmlns:a16="http://schemas.microsoft.com/office/drawing/2014/main" val="1270976037"/>
                    </a:ext>
                  </a:extLst>
                </a:gridCol>
                <a:gridCol w="3077706">
                  <a:extLst>
                    <a:ext uri="{9D8B030D-6E8A-4147-A177-3AD203B41FA5}">
                      <a16:colId xmlns:a16="http://schemas.microsoft.com/office/drawing/2014/main" val="3648176447"/>
                    </a:ext>
                  </a:extLst>
                </a:gridCol>
              </a:tblGrid>
              <a:tr h="21756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Weitergabekontrolle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Gewährleistung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das Unbefugte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keinen Zugriff auf Daten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während des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Transportes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oder einer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Übertragung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haben und die </a:t>
                      </a: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 nicht verändert werden</a:t>
                      </a:r>
                      <a:r>
                        <a:rPr lang="de-DE" sz="16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können.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100602"/>
                  </a:ext>
                </a:extLst>
              </a:tr>
              <a:tr h="21756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Eingabekontrolle</a:t>
                      </a:r>
                      <a:endParaRPr lang="de-DE" sz="16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Gewährleistung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dass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nachträglich überprüft und festgestellt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werden kann,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welche Daten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 welcher Zeit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und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von wem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in das System 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eingegeben oder verändert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worden sind (</a:t>
                      </a:r>
                      <a:r>
                        <a:rPr lang="de-DE" sz="16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Protokolle</a:t>
                      </a:r>
                      <a:r>
                        <a:rPr lang="de-DE" sz="16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de-DE" sz="16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754" marR="6175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331801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E3E0D7-BA66-2C66-A296-8C9F3E69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5F704F-DF45-7B34-5E8C-29649613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5097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E02CE-3F6A-CDD3-0B5B-25CDC724F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7564"/>
          </a:xfrm>
        </p:spPr>
        <p:txBody>
          <a:bodyPr/>
          <a:lstStyle/>
          <a:p>
            <a:r>
              <a:rPr lang="de-DE" dirty="0"/>
              <a:t>Need-</a:t>
            </a:r>
            <a:r>
              <a:rPr lang="de-DE" dirty="0" err="1"/>
              <a:t>To</a:t>
            </a:r>
            <a:r>
              <a:rPr lang="de-DE" dirty="0"/>
              <a:t>-</a:t>
            </a:r>
            <a:r>
              <a:rPr lang="de-DE" dirty="0" err="1"/>
              <a:t>Know</a:t>
            </a:r>
            <a:r>
              <a:rPr lang="de-DE" dirty="0"/>
              <a:t> 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5175AA-206F-6C46-C9EE-C570BC89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702"/>
            <a:ext cx="10515600" cy="452326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 der Berechtigung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sollte zwischen Admin-, Lese- und Schreibrechten unterscheiden!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Einfaches 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(Name und Berechtigung) [kleine Unternehmen]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(verschiedene Rollen und deren Berechtigungen) [Vorstufe]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(Rollen werden zugewiesen) [Endstufe]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Veränderungen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am Berechtigungskonzept müssen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protokolliert und aufgezeichnet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werden. 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 Verantwortlichen</a:t>
            </a:r>
          </a:p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Berechtigungskonzept ist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technische </a:t>
            </a:r>
            <a:r>
              <a:rPr lang="de-DE" sz="20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UND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organisatorische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Maßnahme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Art. 32 DSGVO. 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regelmäßige Testen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Wirksamkeit aller TOMs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durch den Verantwortlichen fordert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32 (1) </a:t>
            </a:r>
            <a:r>
              <a:rPr lang="de-DE" sz="2000" b="1" i="1" kern="100" dirty="0" err="1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lit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 DSGVO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B55F3C-F5FB-25F9-FC62-693009D4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9F7F7C-A750-9817-5B9D-970DFDAA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754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0A2AF-3C9B-358A-929C-59B65716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>
            <a:no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Zwecke von Rollen- und Rechtekonzepten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E166CC-3843-544A-B171-D3EC58522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Forderungen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aus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und </a:t>
            </a:r>
            <a:r>
              <a:rPr lang="de-DE" b="1" i="1" kern="10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32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Teil des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Datenschutzkonzeptes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Erfüllung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</a:t>
            </a:r>
            <a:r>
              <a:rPr lang="de-DE" b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Teil einer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möglichen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Auditierung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Zertifizierung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Verhinderung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Datenpanne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Mildernde Umstände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im Falle einer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Datenpanne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CE315A-1895-AD58-3A3E-44277466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734FBB-F2A1-3996-01D3-D4B426C00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6975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365D3-839C-5E65-D45D-23F7AE3B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Vertraulichkeit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FBCE9-E14C-EBE3-6F04-AB94554B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Wahrung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Vertraulichkeit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stellt sicher, dass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berechtigte Personen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Dienste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 auf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jeweilige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erhalten.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Technisch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Verschlüsselung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konkrete Regelung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Zugriffberechtigungen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dirty="0">
                <a:effectLst/>
                <a:ea typeface="Aptos" panose="020B0004020202020204" pitchFamily="34" charset="0"/>
              </a:rPr>
              <a:t>Schutzmaßnahmen </a:t>
            </a:r>
            <a:r>
              <a:rPr lang="de-DE" dirty="0">
                <a:effectLst/>
                <a:ea typeface="Aptos" panose="020B0004020202020204" pitchFamily="34" charset="0"/>
              </a:rPr>
              <a:t>der „Vertraulichkeit“ </a:t>
            </a:r>
            <a:r>
              <a:rPr lang="de-DE" b="1" dirty="0">
                <a:effectLst/>
                <a:ea typeface="Aptos" panose="020B0004020202020204" pitchFamily="34" charset="0"/>
              </a:rPr>
              <a:t>unterscheiden sich </a:t>
            </a:r>
            <a:r>
              <a:rPr lang="de-DE" dirty="0">
                <a:effectLst/>
                <a:ea typeface="Aptos" panose="020B0004020202020204" pitchFamily="34" charset="0"/>
              </a:rPr>
              <a:t>in </a:t>
            </a:r>
            <a:r>
              <a:rPr lang="de-DE" b="1" dirty="0">
                <a:effectLst/>
                <a:ea typeface="Aptos" panose="020B0004020202020204" pitchFamily="34" charset="0"/>
              </a:rPr>
              <a:t>Zutritts-, Zugangs- und Zugriffskontrollen</a:t>
            </a:r>
            <a:br>
              <a:rPr lang="de-DE" b="1" dirty="0">
                <a:effectLst/>
                <a:ea typeface="Aptos" panose="020B0004020202020204" pitchFamily="34" charset="0"/>
              </a:rPr>
            </a:b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3100BA-81B8-41E7-A169-558873A1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B2462B-A8C7-EE13-AA15-DA960BBED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35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F8D66-C851-065A-08CB-4173A193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Vertraulichkeit </a:t>
            </a:r>
            <a:r>
              <a:rPr lang="de-DE" sz="2800" dirty="0"/>
              <a:t>(Fortsetzung)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624DC3F1-5256-A019-09F3-31B348498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512684"/>
              </p:ext>
            </p:extLst>
          </p:nvPr>
        </p:nvGraphicFramePr>
        <p:xfrm>
          <a:off x="838199" y="1774866"/>
          <a:ext cx="10515600" cy="4367719"/>
        </p:xfrm>
        <a:graphic>
          <a:graphicData uri="http://schemas.openxmlformats.org/drawingml/2006/table">
            <a:tbl>
              <a:tblPr firstRow="1" firstCol="1" bandRow="1"/>
              <a:tblGrid>
                <a:gridCol w="2887495">
                  <a:extLst>
                    <a:ext uri="{9D8B030D-6E8A-4147-A177-3AD203B41FA5}">
                      <a16:colId xmlns:a16="http://schemas.microsoft.com/office/drawing/2014/main" val="1299350513"/>
                    </a:ext>
                  </a:extLst>
                </a:gridCol>
                <a:gridCol w="7628105">
                  <a:extLst>
                    <a:ext uri="{9D8B030D-6E8A-4147-A177-3AD203B41FA5}">
                      <a16:colId xmlns:a16="http://schemas.microsoft.com/office/drawing/2014/main" val="895279912"/>
                    </a:ext>
                  </a:extLst>
                </a:gridCol>
              </a:tblGrid>
              <a:tr h="1086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Zutrittskontrolle</a:t>
                      </a:r>
                      <a:endParaRPr lang="de-DE" sz="2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Unbefugten wird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der Zutritt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zu den Daten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verwehrt 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(physisch)</a:t>
                      </a:r>
                      <a:endParaRPr lang="de-DE" sz="2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01038"/>
                  </a:ext>
                </a:extLst>
              </a:tr>
              <a:tr h="1086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Zugangskontrolle</a:t>
                      </a:r>
                      <a:endParaRPr lang="de-DE" sz="2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Unbefugten wird </a:t>
                      </a: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die Nutzung</a:t>
                      </a:r>
                      <a:r>
                        <a:rPr lang="de-DE" sz="2400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der Daten </a:t>
                      </a: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verwehrt</a:t>
                      </a:r>
                      <a:endParaRPr lang="de-DE" sz="2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017897"/>
                  </a:ext>
                </a:extLst>
              </a:tr>
              <a:tr h="21954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b="1" kern="1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Zugriffskontrolle</a:t>
                      </a:r>
                      <a:endParaRPr lang="de-DE" sz="24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Gewährleistung, dass die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Berechtigten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ausschließlich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nur zu</a:t>
                      </a:r>
                      <a:r>
                        <a:rPr lang="de-DE" sz="24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den zu ihrer Zugangsberechtigung 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bestimmten </a:t>
                      </a:r>
                      <a:r>
                        <a:rPr lang="de-DE" sz="2400" b="1" kern="1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pbD</a:t>
                      </a:r>
                      <a:r>
                        <a:rPr lang="de-DE" sz="24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Zugriff haben</a:t>
                      </a:r>
                      <a:endParaRPr lang="de-DE" sz="24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960140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5891F1-090C-9DF2-C56F-8FFB38BE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B41CBA-BF80-5EC6-B424-DDC46F4F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6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10F1-5DB9-E4F0-7337-A95CBD78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645"/>
          </a:xfrm>
        </p:spPr>
        <p:txBody>
          <a:bodyPr/>
          <a:lstStyle/>
          <a:p>
            <a:r>
              <a:rPr lang="de-DE" dirty="0"/>
              <a:t>Sicherheitskonzept „</a:t>
            </a:r>
            <a:r>
              <a:rPr lang="de-DE" dirty="0" err="1"/>
              <a:t>Vertrauchlichkeit</a:t>
            </a:r>
            <a:r>
              <a:rPr lang="de-DE" dirty="0"/>
              <a:t>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376CB6-E944-48CE-5723-F39AE0D6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686"/>
            <a:ext cx="10515600" cy="5130664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Gewährleitung der Vertraulichkeit durch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Absicherung von außen nach innen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Erste Hürde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das Betriebsgelände, das Gebäude.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 Eintrittspunkte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Gelände, Gebäude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gesichert und kontrolliert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berechtigte Personen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dürfen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haben (Zaun, Videoüberwachung, Pförtnerdienst)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Gebäudezutritt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nur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passenden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Schlüssel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alle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anderen Eingänge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gesichert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sein.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Inneren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Datenverarbeitungsanlagen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ebenfalls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 unbefugten Zugang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geschützt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sein. (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Passwortschutz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nach BSI-Standard)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Stand der Technik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Papierdaten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werden zum Schutz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vor unberechtigtem Zugriff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verschlossenen Schränken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verwahrt.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Zugriff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muss geregelt sein. Schutzmaßnahmen müssen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schlüssig und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aufeinander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abgestimmt sein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Wer hat Zugriff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welchen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Etagen, Büros, Schlüsseln, Systemen, Daten, Schränken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Akten, etc.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Berechtigungen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Vorfeld festzulegen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zu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dokumentieren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einzurichten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zu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kontrollieren.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514966-4AB2-BDDC-D000-7322F20B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2E37AF-2FEE-2821-39ED-1EC7630D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2945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A58E9-DA73-9F03-B775-FF522A89B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Zutrittskontrolle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B312C8-017A-0250-3A68-2AB222125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Absicherung von Gebäuden, Türen und Fenstern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Alarmanlage, Einbruchmelder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Zutrittskontrollsysteme (Transponder, Ausweis, Schlüssel, …)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Befugte Personen festlegen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Personenkontrolle, Besucherdokumentation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77D072-201D-0097-9978-9A430D0F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5A2BF6-9ECD-F6C7-7F6B-FFF5E529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649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D4D2EF-6B5D-AC99-DE73-DEEABC09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Zugangskontrolle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10B4C8-1210-9056-9004-5837B07F4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Sperren von Laufwerken, Ordnern, etc.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Kennwörter, 2FA, MFA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Firewall und Antivirenprogramme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Bildschirmsperre mit Passwortabfrage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Sicheres Verschließen von Unterlagen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Clean-Desk-Policy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22C109-D7DE-2BA9-7C34-1C632046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2406D3-9544-401C-6683-D62F70D5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094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57691-8205-242B-F819-57ED4278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Beispiele: Zugriffskontrolle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10D0CF-3413-285D-62FA-046126C77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Rollen- und Berechtigungskonzepte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Regelmäßige Kontrollen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Protokolle (Log-Management)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Intrusion-</a:t>
            </a:r>
            <a:r>
              <a:rPr lang="de-DE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Detection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-Systeme (IDS)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Verschlüsselung, Zertifikate</a:t>
            </a:r>
          </a:p>
          <a:p>
            <a:pPr marL="0" indent="0"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Authentifizierung ist der Nachweis einer behaupteten Berechtigung, deren Echtheit geprüft wird. Nach Bestätigung der Echtheit durch einen Abgleich der Daten ist der Nutzer autorisiert.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701F98-6E29-5B1C-C77B-BA514C88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6C347E-A4B3-A266-3B83-02D45DE6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83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3" ma:contentTypeDescription="Ein neues Dokument erstellen." ma:contentTypeScope="" ma:versionID="ec0a0d248e550b94956dce53109198e0">
  <xsd:schema xmlns:xsd="http://www.w3.org/2001/XMLSchema" xmlns:xs="http://www.w3.org/2001/XMLSchema" xmlns:p="http://schemas.microsoft.com/office/2006/metadata/properties" xmlns:ns2="b2bcf77a-db99-4c6d-8596-ee1fc4b01288" targetNamespace="http://schemas.microsoft.com/office/2006/metadata/properties" ma:root="true" ma:fieldsID="9caef3849036097daf4185f877cc1448" ns2:_="">
    <xsd:import namespace="b2bcf77a-db99-4c6d-8596-ee1fc4b012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9075AF-F68F-4C92-82F9-9AB867725631}"/>
</file>

<file path=customXml/itemProps2.xml><?xml version="1.0" encoding="utf-8"?>
<ds:datastoreItem xmlns:ds="http://schemas.openxmlformats.org/officeDocument/2006/customXml" ds:itemID="{C9C0FFDD-45D4-4FFB-9F7A-3068A55FF8DF}"/>
</file>

<file path=customXml/itemProps3.xml><?xml version="1.0" encoding="utf-8"?>
<ds:datastoreItem xmlns:ds="http://schemas.openxmlformats.org/officeDocument/2006/customXml" ds:itemID="{854DC23B-6AE8-44CF-9E32-C75632D0D83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Office PowerPoint</Application>
  <PresentationFormat>Breitbild</PresentationFormat>
  <Paragraphs>253</Paragraphs>
  <Slides>28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7" baseType="lpstr">
      <vt:lpstr>Meiryo</vt:lpstr>
      <vt:lpstr>Aptos</vt:lpstr>
      <vt:lpstr>Aptos Display</vt:lpstr>
      <vt:lpstr>Arial</vt:lpstr>
      <vt:lpstr>Calibri</vt:lpstr>
      <vt:lpstr>Symbol</vt:lpstr>
      <vt:lpstr>Times New Roman</vt:lpstr>
      <vt:lpstr>Wingdings</vt:lpstr>
      <vt:lpstr>Office</vt:lpstr>
      <vt:lpstr>DATENSCHUTZ-SCHULUNG Teil 1 Datenschutz und Datensicherheit </vt:lpstr>
      <vt:lpstr>Inhalte der Datenschutz-Themen</vt:lpstr>
      <vt:lpstr>Datenschutz Teil 1.2</vt:lpstr>
      <vt:lpstr>Der Beginn der Informationssicherheit</vt:lpstr>
      <vt:lpstr>Allgemeines zur Informationssicherheit</vt:lpstr>
      <vt:lpstr>Aspekte der Informationssicherheit</vt:lpstr>
      <vt:lpstr>Skills der Informationssicherheit</vt:lpstr>
      <vt:lpstr>Grundsätze der Informationssicherheit</vt:lpstr>
      <vt:lpstr>Unterschiede BSI Grundschutz zum SDM</vt:lpstr>
      <vt:lpstr>Unterschiede BSI Grundschutz zum SDM</vt:lpstr>
      <vt:lpstr>Anforderungen werden durch TOMs erfüllt</vt:lpstr>
      <vt:lpstr>Notwendigkeit der Datensicherheit</vt:lpstr>
      <vt:lpstr>Zusammenfassung</vt:lpstr>
      <vt:lpstr>PowerPoint-Präsentation</vt:lpstr>
      <vt:lpstr>3 Ansätze, um Schutzziele umzusetzen</vt:lpstr>
      <vt:lpstr>3 Ansätze Schutzziele umzusetzen (Fortsetzung)</vt:lpstr>
      <vt:lpstr>Integrität und Vertraulichkeit</vt:lpstr>
      <vt:lpstr>Integrität</vt:lpstr>
      <vt:lpstr>Integrität (Fortsetzung)</vt:lpstr>
      <vt:lpstr>Integrität (Fortsetzung)</vt:lpstr>
      <vt:lpstr>Need-To-Know Prinzip</vt:lpstr>
      <vt:lpstr>Zwecke von Rollen- und Rechtekonzepten</vt:lpstr>
      <vt:lpstr>Vertraulichkeit</vt:lpstr>
      <vt:lpstr>Vertraulichkeit (Fortsetzung)</vt:lpstr>
      <vt:lpstr>Sicherheitskonzept „Vertrauchlichkeit“</vt:lpstr>
      <vt:lpstr>Beispiele: Zutrittskontrolle</vt:lpstr>
      <vt:lpstr>Beispiele: Zugangskontrolle</vt:lpstr>
      <vt:lpstr>Beispiele: Zugriffskontrolle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72</cp:revision>
  <dcterms:created xsi:type="dcterms:W3CDTF">2025-05-19T19:06:41Z</dcterms:created>
  <dcterms:modified xsi:type="dcterms:W3CDTF">2025-09-22T11:21:39Z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