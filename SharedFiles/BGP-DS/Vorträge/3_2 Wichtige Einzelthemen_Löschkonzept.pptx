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406" r:id="rId4"/>
    <p:sldId id="345" r:id="rId5"/>
    <p:sldId id="346" r:id="rId6"/>
    <p:sldId id="417" r:id="rId7"/>
    <p:sldId id="418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17.09.2025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5E835-3658-0B4A-84CC-74BD36805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E74C2E-438B-AC62-8B61-7329F49DF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44962D-447A-A945-E0D5-2D91F6805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8EF842-FC54-EAD8-266E-09F308394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442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17.09.2025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17.09.2025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17.09.2025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17.09.2025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17.09.2025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17.09.2025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17.09.2025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17.09.2025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17.09.2025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17.09.2025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17.09.2025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17.09.2025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3: </a:t>
            </a:r>
            <a:r>
              <a:rPr lang="de-DE" sz="4000" b="1" dirty="0">
                <a:solidFill>
                  <a:srgbClr val="0070C0"/>
                </a:solidFill>
              </a:rPr>
              <a:t>Wichtige Einzelthemen </a:t>
            </a:r>
            <a:r>
              <a:rPr lang="de-DE" sz="4000">
                <a:solidFill>
                  <a:schemeClr val="tx2"/>
                </a:solidFill>
              </a:rPr>
              <a:t>für FI</a:t>
            </a:r>
            <a:endParaRPr lang="de-DE" sz="4000" dirty="0">
              <a:solidFill>
                <a:schemeClr val="tx2"/>
              </a:solidFill>
            </a:endParaRP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Teil 3: Wichtige Einzelthemen</a:t>
            </a:r>
          </a:p>
          <a:p>
            <a:r>
              <a:rPr lang="de-DE" b="1" dirty="0"/>
              <a:t>Teil 3.1: Auftragsverarbeitung</a:t>
            </a:r>
          </a:p>
          <a:p>
            <a:r>
              <a:rPr lang="de-DE" b="1" dirty="0"/>
              <a:t>Teil 3.2: Löschkonzept</a:t>
            </a:r>
          </a:p>
          <a:p>
            <a:r>
              <a:rPr lang="de-DE" b="1" dirty="0"/>
              <a:t>Teil 3.3: TDDDG und DDG</a:t>
            </a:r>
          </a:p>
          <a:p>
            <a:r>
              <a:rPr lang="de-DE" b="1" dirty="0"/>
              <a:t>Teil 3.4: Direktmarketing</a:t>
            </a:r>
          </a:p>
          <a:p>
            <a:r>
              <a:rPr lang="de-DE" b="1" dirty="0"/>
              <a:t>Teil 3.5: Risikoanalyse nach SDM 3.0</a:t>
            </a:r>
          </a:p>
          <a:p>
            <a:r>
              <a:rPr lang="de-DE" b="1" dirty="0"/>
              <a:t>Teil 3.6: KRISIS und NIS2</a:t>
            </a:r>
            <a:br>
              <a:rPr lang="de-DE" b="1" dirty="0"/>
            </a:br>
            <a:r>
              <a:rPr lang="de-DE" sz="2400" dirty="0"/>
              <a:t>Sektoren, Unternehmen, Planungs- und Sicherheitsmaßnahmen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E7D85-CF73-71AC-F853-AA40831D2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Kleidung, Rüstung, Schutzausrüstung, Brustplatte enthält.&#10;&#10;KI-generierte Inhalte können fehlerhaft sein.">
            <a:extLst>
              <a:ext uri="{FF2B5EF4-FFF2-40B4-BE49-F238E27FC236}">
                <a16:creationId xmlns:a16="http://schemas.microsoft.com/office/drawing/2014/main" id="{729794F3-5C99-9AA5-A2E9-DC30F4888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9224" b="32768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56CCB9-AC1A-BD7D-F7DA-7824A9378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Datenschutz</a:t>
            </a:r>
            <a:r>
              <a:rPr lang="en-US" sz="4800" dirty="0"/>
              <a:t> Teil 3.2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403512-241A-B725-B496-20DAEF232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solidFill>
                  <a:schemeClr val="tx1"/>
                </a:solidFill>
              </a:rPr>
              <a:t>Löschkonzept</a:t>
            </a:r>
            <a:br>
              <a:rPr lang="en-US" sz="2000">
                <a:solidFill>
                  <a:schemeClr val="tx1"/>
                </a:solidFill>
              </a:rPr>
            </a:br>
            <a:r>
              <a:rPr lang="en-US" sz="2000">
                <a:solidFill>
                  <a:schemeClr val="tx1"/>
                </a:solidFill>
              </a:rPr>
              <a:t>Datenlöschung, Fristen, Verfahren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490FCA-8E4A-9966-E880-AD72777D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8600" y="6356350"/>
            <a:ext cx="309649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7048A6-7258-FA93-3C05-CD5EC71F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6642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AC853-3842-E08C-2800-9C42F633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Datenschutzkonforme Vernichtung von Daten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03A682-E201-C936-DDCE-AB4BEE26D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nicht-datenschutzkonforme Vernichtung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kann Datenschutzverletzungen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Bußgeldforderungen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auslösen. 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Mitarbeiter müssen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dementsprechend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geschult werden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Daten richtig zu vernichten.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Zwischen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analogen und digitalen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Daten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unterschieden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werden.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Papier / Aktenvernichtung erfolgt über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Schredder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 entsprechenden Schutzklassen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Personalakten Schutzstufe P3, Gesundheitsdaten Schutzstufe P4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Vorgaben durch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DIN 66933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DSB prüft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ob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die entsprechenden Schutzklassen, der richtige Aktenvernichter (Schredder) bereitsteht.</a:t>
            </a: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1EE14B-393C-CD5D-50A8-F77DB7CE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065863-ECE4-8CD8-DD65-F20C2374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486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B693C-439C-CD1C-FF01-720AAC31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739"/>
          </a:xfrm>
        </p:spPr>
        <p:txBody>
          <a:bodyPr/>
          <a:lstStyle/>
          <a:p>
            <a:r>
              <a:rPr lang="de-DE" dirty="0"/>
              <a:t>Sicherheitsstufen und Schutzklassen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EFB548F6-1ACA-0A9B-ABAA-EF7D1F59B8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4579061"/>
              </p:ext>
            </p:extLst>
          </p:nvPr>
        </p:nvGraphicFramePr>
        <p:xfrm>
          <a:off x="838200" y="1284051"/>
          <a:ext cx="10515600" cy="5062521"/>
        </p:xfrm>
        <a:graphic>
          <a:graphicData uri="http://schemas.openxmlformats.org/drawingml/2006/table">
            <a:tbl>
              <a:tblPr firstRow="1" firstCol="1" bandRow="1"/>
              <a:tblGrid>
                <a:gridCol w="1720883">
                  <a:extLst>
                    <a:ext uri="{9D8B030D-6E8A-4147-A177-3AD203B41FA5}">
                      <a16:colId xmlns:a16="http://schemas.microsoft.com/office/drawing/2014/main" val="1105820020"/>
                    </a:ext>
                  </a:extLst>
                </a:gridCol>
                <a:gridCol w="3512549">
                  <a:extLst>
                    <a:ext uri="{9D8B030D-6E8A-4147-A177-3AD203B41FA5}">
                      <a16:colId xmlns:a16="http://schemas.microsoft.com/office/drawing/2014/main" val="3844663415"/>
                    </a:ext>
                  </a:extLst>
                </a:gridCol>
                <a:gridCol w="3310639">
                  <a:extLst>
                    <a:ext uri="{9D8B030D-6E8A-4147-A177-3AD203B41FA5}">
                      <a16:colId xmlns:a16="http://schemas.microsoft.com/office/drawing/2014/main" val="3385914976"/>
                    </a:ext>
                  </a:extLst>
                </a:gridCol>
                <a:gridCol w="1971529">
                  <a:extLst>
                    <a:ext uri="{9D8B030D-6E8A-4147-A177-3AD203B41FA5}">
                      <a16:colId xmlns:a16="http://schemas.microsoft.com/office/drawing/2014/main" val="3538487918"/>
                    </a:ext>
                  </a:extLst>
                </a:gridCol>
              </a:tblGrid>
              <a:tr h="6614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Sicherheitsstufe</a:t>
                      </a:r>
                      <a:endParaRPr lang="de-DE" sz="160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chemeClr val="bg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Datenkategorie</a:t>
                      </a:r>
                      <a:endParaRPr lang="de-DE" sz="1600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chemeClr val="bg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Beispiele</a:t>
                      </a:r>
                      <a:endParaRPr lang="de-DE" sz="1600" kern="10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Schutzklasse</a:t>
                      </a:r>
                      <a:endParaRPr lang="de-DE" sz="160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993964"/>
                  </a:ext>
                </a:extLst>
              </a:tr>
              <a:tr h="4690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Allgemeine Daten, 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meist öffentlich zugänglich</a:t>
                      </a:r>
                      <a:endParaRPr lang="de-DE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Prospekte, Flyer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n.e.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609010"/>
                  </a:ext>
                </a:extLst>
              </a:tr>
              <a:tr h="4690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Interne Daten, 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ohne Personenbezug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Arbeitsanweisungen, Stellenpläne, Formulare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n.e.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753927"/>
                  </a:ext>
                </a:extLst>
              </a:tr>
              <a:tr h="6961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Sensible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und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vertrauliche Daten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Angebote, Lieferscheine, Rechnungen, allgemeiner Schriftverkehr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min. 1,</a:t>
                      </a:r>
                      <a:b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besser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de-DE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595526"/>
                  </a:ext>
                </a:extLst>
              </a:tr>
              <a:tr h="6961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Besonders sensible 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und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vertrauliche Daten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Personalakten, Bilanzen, Verträge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min. 2,</a:t>
                      </a:r>
                      <a:b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besser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de-DE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474151"/>
                  </a:ext>
                </a:extLst>
              </a:tr>
              <a:tr h="6961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Geheime Daten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Medizinische Daten, Patente, Strategiepläne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min. 2,</a:t>
                      </a:r>
                      <a:b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besser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de-DE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101472"/>
                  </a:ext>
                </a:extLst>
              </a:tr>
              <a:tr h="6961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Geheime Hochsicherheitsdaten mit einem großen Sicherheitsrisiko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Entwicklungsdaten, staatliche Notfallpläne, Forschungsdaten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178669"/>
                  </a:ext>
                </a:extLst>
              </a:tr>
              <a:tr h="4690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 der Geheimdienste und des Militärs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de-DE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919419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5271F0-6D6E-89C6-98F0-D9A318CFE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FDBCF7-5AD6-2168-6DC8-B38B7F77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069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6E83F-2B9D-7C8C-8845-B8B7CD9D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0288"/>
          </a:xfrm>
        </p:spPr>
        <p:txBody>
          <a:bodyPr/>
          <a:lstStyle/>
          <a:p>
            <a:r>
              <a:rPr lang="de-DE" dirty="0"/>
              <a:t>Digitale Daten richtig löschen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5393D8-012D-533C-8907-7BB261EA4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414"/>
            <a:ext cx="10515600" cy="4941549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Müssen ebenfalls nach den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Anforderungen der </a:t>
            </a:r>
            <a:r>
              <a:rPr lang="de-DE" sz="22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DIN 66933</a:t>
            </a:r>
            <a:r>
              <a:rPr lang="de-DE" sz="22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vernichtet bzw. gelöscht werden.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in den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Papierkorb auf dem PC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verschieben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keine Löschung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!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Formatieren ist 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ebenfalls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 angemessene Löschung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</a:t>
            </a:r>
            <a:b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(gelöscht ist nur das Verzeichnis)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2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Ausnahme:</a:t>
            </a:r>
            <a:r>
              <a:rPr lang="de-DE" sz="2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SSD-Laufwerke, dort sind keine Datenfragmente mehr vorhanden.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Moderne Speichermedien erlauben eine datenschutzkonforme Löschung durch die Funktion „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Enhanced Security </a:t>
            </a:r>
            <a:r>
              <a:rPr lang="de-DE" sz="22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Erase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“ (empfohlen bei SSD und SSHD)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 gelöscht 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eine Überschreibung der Daten mit neuen mit zusammenhangslosen Zeichen überschrieben werden. Das machen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IT-Fachkräfte oder externe Dienstleister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Mitarbeiter müssen geschult sein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um den Prozess zu kennen und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Datenpannen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vermeiden.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2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Wichtig für Euch!)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mechanische Vernichtung 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(DVDs, CDs, USB-Sticks sind ebenfalls möglich, wenn der richtige Schredder genutzt wird).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D222C6-4838-012E-AA52-C5C001D6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4ACB6B-7D17-D835-1203-1C80CC0E2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9354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E5046-87CB-163A-74AF-5562750B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de-DE" dirty="0"/>
              <a:t>Löschkonzept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089383-F076-8177-7A52-36EC601D3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2689"/>
            <a:ext cx="10515600" cy="4844274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Ein </a:t>
            </a:r>
            <a:r>
              <a:rPr lang="de-DE" b="1" dirty="0"/>
              <a:t>Löschkonzept</a:t>
            </a:r>
            <a:r>
              <a:rPr lang="de-DE" dirty="0"/>
              <a:t> ist eine Unternehmensrichtlinie, die festlegt </a:t>
            </a:r>
            <a:r>
              <a:rPr lang="de-DE" b="1" dirty="0"/>
              <a:t>wer löscht </a:t>
            </a:r>
            <a:r>
              <a:rPr lang="de-DE" dirty="0"/>
              <a:t>und </a:t>
            </a:r>
            <a:r>
              <a:rPr lang="de-DE" b="1" dirty="0"/>
              <a:t>wann</a:t>
            </a:r>
            <a:r>
              <a:rPr lang="de-DE" dirty="0"/>
              <a:t> dies durchgeführt wird. Ob </a:t>
            </a:r>
            <a:r>
              <a:rPr lang="de-DE" b="1" dirty="0"/>
              <a:t>automatisch</a:t>
            </a:r>
            <a:r>
              <a:rPr lang="de-DE" dirty="0"/>
              <a:t> oder </a:t>
            </a:r>
            <a:r>
              <a:rPr lang="de-DE" b="1" dirty="0"/>
              <a:t>manuell</a:t>
            </a:r>
            <a:r>
              <a:rPr lang="de-DE" dirty="0"/>
              <a:t>. Welche </a:t>
            </a:r>
            <a:r>
              <a:rPr lang="de-DE" b="1" dirty="0"/>
              <a:t>Übergangsfristen</a:t>
            </a:r>
            <a:r>
              <a:rPr lang="de-DE" dirty="0"/>
              <a:t> festgelegt sind.</a:t>
            </a:r>
          </a:p>
          <a:p>
            <a:r>
              <a:rPr lang="de-DE" dirty="0"/>
              <a:t>Der </a:t>
            </a:r>
            <a:r>
              <a:rPr lang="de-DE" b="1" dirty="0"/>
              <a:t>DSB</a:t>
            </a:r>
            <a:r>
              <a:rPr lang="de-DE" dirty="0"/>
              <a:t> ist bei der Ausgestaltung und späteren Überwachung des Löschkonzeptes zu </a:t>
            </a:r>
            <a:r>
              <a:rPr lang="de-DE" b="1" dirty="0"/>
              <a:t>konsultieren.</a:t>
            </a:r>
          </a:p>
          <a:p>
            <a:r>
              <a:rPr lang="de-DE" dirty="0"/>
              <a:t>Es gibt </a:t>
            </a:r>
            <a:r>
              <a:rPr lang="de-DE" b="1" dirty="0"/>
              <a:t>Regellöschungen</a:t>
            </a:r>
            <a:r>
              <a:rPr lang="de-DE" dirty="0"/>
              <a:t> und </a:t>
            </a:r>
            <a:r>
              <a:rPr lang="de-DE" b="1" dirty="0"/>
              <a:t>anlassbezogene Löschungen</a:t>
            </a:r>
            <a:r>
              <a:rPr lang="de-DE" dirty="0"/>
              <a:t>, wie z.B. eine Löschanfrage aus den Betroffenenrechten</a:t>
            </a:r>
          </a:p>
          <a:p>
            <a:r>
              <a:rPr lang="de-DE" dirty="0"/>
              <a:t>Für diese gibt es </a:t>
            </a:r>
            <a:r>
              <a:rPr lang="de-DE" b="1" dirty="0"/>
              <a:t>Bearbeitungsfristen</a:t>
            </a:r>
            <a:r>
              <a:rPr lang="de-DE" dirty="0"/>
              <a:t> (1 Monat)(max. 2 Monate Verlängerung)</a:t>
            </a:r>
          </a:p>
          <a:p>
            <a:r>
              <a:rPr lang="de-DE" b="1" dirty="0"/>
              <a:t>Gesetzliche Aufbewahrungsfristen </a:t>
            </a:r>
            <a:r>
              <a:rPr lang="de-DE" dirty="0"/>
              <a:t>stehen einer Löschung entgegen. Diese liegen zwischen 6 Monaten bis 30 Jahre oder mehr. Danach kann die </a:t>
            </a:r>
            <a:r>
              <a:rPr lang="de-DE" b="1" dirty="0"/>
              <a:t>Regellöschung</a:t>
            </a:r>
            <a:r>
              <a:rPr lang="de-DE" dirty="0"/>
              <a:t> erfolgen. Die GF legt das Löschkonzept mit dem DSB fest. Die IT-Abteilung setzt ggf. den Prozess der Löschung um.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BDB76D-FFA4-4304-E597-8FC86D12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29910B-3445-17EF-06CF-16D83011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251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5F16D2B-3161-4FF2-9CB0-F02C04F45D86}"/>
</file>

<file path=customXml/itemProps2.xml><?xml version="1.0" encoding="utf-8"?>
<ds:datastoreItem xmlns:ds="http://schemas.openxmlformats.org/officeDocument/2006/customXml" ds:itemID="{70887EEB-0E2A-4398-A005-3550F3971912}"/>
</file>

<file path=customXml/itemProps3.xml><?xml version="1.0" encoding="utf-8"?>
<ds:datastoreItem xmlns:ds="http://schemas.openxmlformats.org/officeDocument/2006/customXml" ds:itemID="{89578BD4-0441-428C-B2BC-87CB9136C3D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Breitbild</PresentationFormat>
  <Paragraphs>82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Symbol</vt:lpstr>
      <vt:lpstr>Office</vt:lpstr>
      <vt:lpstr>DATENSCHUTZ-SCHULUNG Teil 3: Wichtige Einzelthemen für FI</vt:lpstr>
      <vt:lpstr>Inhalte der Datenschutz-Themen</vt:lpstr>
      <vt:lpstr>Datenschutz Teil 3.2</vt:lpstr>
      <vt:lpstr>Datenschutzkonforme Vernichtung von Daten</vt:lpstr>
      <vt:lpstr>Sicherheitsstufen und Schutzklassen</vt:lpstr>
      <vt:lpstr>Digitale Daten richtig löschen</vt:lpstr>
      <vt:lpstr>Löschkonzept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105</cp:revision>
  <dcterms:created xsi:type="dcterms:W3CDTF">2025-05-19T19:06:41Z</dcterms:created>
  <dcterms:modified xsi:type="dcterms:W3CDTF">2025-09-17T05:50:13Z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