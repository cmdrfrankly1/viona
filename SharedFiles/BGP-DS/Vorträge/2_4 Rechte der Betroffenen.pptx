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387" r:id="rId4"/>
    <p:sldId id="373" r:id="rId5"/>
    <p:sldId id="374" r:id="rId6"/>
    <p:sldId id="376" r:id="rId7"/>
    <p:sldId id="375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FE03E-1BD3-00FB-B154-ABC23FA26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87D3AF0D-62D0-2B18-0E46-CAD513BC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AA82E2-9FCF-3254-6A23-5D07CF1E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2.4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4FC9B0-4E2C-A16C-EF2B-6ABFF12BD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Rechte der </a:t>
            </a:r>
            <a:r>
              <a:rPr lang="en-US" sz="2000" b="1" dirty="0" err="1">
                <a:solidFill>
                  <a:schemeClr val="tx1"/>
                </a:solidFill>
              </a:rPr>
              <a:t>Betroffenen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181094-7755-D112-4914-94207B00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6970" y="6356350"/>
            <a:ext cx="32003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B9E839-2F70-2119-0830-F340C7A9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4345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2726691-087A-5ED3-243D-2E1EC4DD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922"/>
          </a:xfrm>
        </p:spPr>
        <p:txBody>
          <a:bodyPr/>
          <a:lstStyle/>
          <a:p>
            <a:r>
              <a:rPr lang="de-DE" dirty="0"/>
              <a:t>Die Rechte betroffener Personen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9678888-3B92-925E-F208-4C5188196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477618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 Personen können zu jeder Zeit umfangreiche Rechte geltend machen. Dass diese Rechte gewahrt bleiben, liegt im Verantwortungsbereich des betrieblichen oder externen DSBs: er oder sie muss diese prüfen und ggf. auftretende Mängel abstellen.</a:t>
            </a:r>
            <a:endParaRPr lang="de-DE" sz="20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Berichtigung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Löschung und Einschränkung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Datenübertragbarkeit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 die Verarbeitung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eine bereits erteilte Einwilligung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Aufsichtsbehörde</a:t>
            </a:r>
          </a:p>
          <a:p>
            <a:endParaRPr lang="de-DE" sz="2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C1A27A-4E48-E8B5-2962-4B99B8F7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854AD8-A2C2-FC14-FE61-0998099D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71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D765F5-B6B2-3469-EAC1-2CA28BEA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Grundsätze zu Betroffenenrechten </a:t>
            </a:r>
            <a:r>
              <a:rPr lang="de-DE" sz="2400" b="1" dirty="0">
                <a:solidFill>
                  <a:srgbClr val="7030A0"/>
                </a:solidFill>
              </a:rPr>
              <a:t>Art. 12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2FC97C-1995-934A-6882-4763B326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Grundsätzlich sind Mitteilungen an Betroffene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präzise, transparent, leicht verständlich und leicht zugänglich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klarer und einfacher Sprache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 können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schriftlich, mündlich, elektronisch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anderer Form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bereitgestellt werden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einer Übermittlung muss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eindeutig geprüft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Zeitfenster der Mitteilung: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unverzüglich oder innerhalt eines Monats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mögliche Verlängerung um 2 Monate, wenn dies in der ersten Monatsfrist durch einen Zwischenbescheid angekündigt wird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(3)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E49AE0-0575-5616-52BB-AD2F6AD1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933DA3-E7D4-AB0F-F6B9-E6A6DA15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8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E75F-0630-1A8E-FD38-D8AE90C0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B03917-477C-48E7-3B28-965003CC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Grundsätze zu Betroffenenrechten </a:t>
            </a:r>
            <a:r>
              <a:rPr lang="de-DE" sz="2400" b="1" dirty="0">
                <a:solidFill>
                  <a:srgbClr val="7030A0"/>
                </a:solidFill>
              </a:rPr>
              <a:t>Art. 12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BB7B2D-CBEC-BE4B-1E73-3B4CEF7EE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Erteilt der Verantwortliche einen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Negativbescheid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(Antrag verweigert wegen gesetzlicher Aufbewahrungsfrist), muss unverzüglich ein Bescheid ergehen,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spätestens innerhalb eines Monats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der Angabe des Grundes; das Beschwerderecht bei einer Aufsichtsbehörde muss ebenfalls eröffnet werden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(4)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 werden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unentgeltlich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Verfügung gestellt;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bei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unbegründeten oder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exzessiven Anträgen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angemessenes Entgelt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verlangt werden: solche Anträge können auch verweigert werden; beides bedarf einer Nachweisführung durch den Verantwortlichen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(5)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begründetem Zweifel an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des Antragstellers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kann der Verantwortliche zusätzliche Informationen zur Klärung der Identität fordern.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(6) DSGVO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Ausweiskopie!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– nur wenige Einrichtungen dürfen Ausweiskopien speichern, siehe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PAaswG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gleiche gilt für Führerscheine – eine Sichtprüfung ist ausreichend)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711263-2857-9E0F-75CD-238F7F1D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93F503-3CA7-6163-4349-13B971B5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AAA4-84A2-6902-A77B-1003B0B8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28F09-0B10-BD40-D3D4-D1468DD5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Anforderungen zu Betroffenenrechten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135E8-6DD1-5907-A6BF-E1F82BDEE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Anforderungen aus: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Form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Mitteilung ist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zulässig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(schriftlich, mündlich, elektronisch)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Mitteilung muss über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gleiche Medium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erfolgen, wie der Betroffene es für die Anfrage genutzt hat. (Medienbruch vermeiden)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Frist: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1 Monat, um 2 Monate verlängerbar mit Begründung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exzessiven Anträgen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ein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Entgelt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verlangt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Antrag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abgelehnt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 prüfen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48C23-84D1-00EC-2FDA-30ABA59D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A50D3-FD4B-3620-49C0-DFD37880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20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1C03DE2-FF43-3A4A-F4B0-3A597998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556"/>
          </a:xfrm>
        </p:spPr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Recht auf Auskunft </a:t>
            </a:r>
            <a:r>
              <a:rPr lang="de-DE" sz="2800" dirty="0">
                <a:effectLst/>
                <a:ea typeface="Aptos" panose="020B0004020202020204" pitchFamily="34" charset="0"/>
              </a:rPr>
              <a:t>nach </a:t>
            </a:r>
            <a:r>
              <a:rPr lang="de-DE" sz="2800" b="1" i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Art. 15 DSGVO</a:t>
            </a:r>
            <a:r>
              <a:rPr lang="de-DE" sz="2800" b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 </a:t>
            </a:r>
            <a:endParaRPr lang="de-DE" sz="2800" b="1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466BC3D-6019-56A7-052B-A0A3C5979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0783"/>
            <a:ext cx="5181600" cy="4776180"/>
          </a:xfrm>
        </p:spPr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Anfrage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muss ein Unternehmen über folgende Punkte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 geben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 der Verarbeitung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 der Daten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Empfänger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Dauer der Speicherung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Quelle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automatisierte Entscheidungsfindung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(inkl. Logik und Tragweite, Auswirkungen)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de-DE" sz="20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1C820B6-302D-7F98-B907-9A2B847A0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0784"/>
            <a:ext cx="5181600" cy="477618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Übermittlung in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Drittländer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muss die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Rechtsgrundlage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mittgeteilt werden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Wie werden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Garantien zum Schutz der personenbezogenen Daten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geregelt?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Weiter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der Verantwortliche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die </a:t>
            </a:r>
            <a:r>
              <a:rPr lang="de-DE" sz="18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Rechte wie Berichtigung, Löschung, Einschränkung, Widerspruch, Beschwerde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hinweisen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entsprechenden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müssen dem Betroffenen als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Kopie unentgeltlich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Verfügung gestellt werden (</a:t>
            </a:r>
            <a:r>
              <a:rPr lang="de-DE" sz="18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die erste Kopie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alle weiteren entgeltlich)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800" b="1" dirty="0">
                <a:effectLst/>
                <a:ea typeface="Aptos" panose="020B0004020202020204" pitchFamily="34" charset="0"/>
              </a:rPr>
              <a:t>Vor der Auskunft</a:t>
            </a:r>
            <a:r>
              <a:rPr lang="de-DE" sz="1800" dirty="0">
                <a:effectLst/>
                <a:ea typeface="Aptos" panose="020B0004020202020204" pitchFamily="34" charset="0"/>
              </a:rPr>
              <a:t> muss die </a:t>
            </a:r>
            <a:r>
              <a:rPr lang="de-DE" sz="1800" b="1" dirty="0">
                <a:effectLst/>
                <a:ea typeface="Aptos" panose="020B0004020202020204" pitchFamily="34" charset="0"/>
              </a:rPr>
              <a:t>Identität</a:t>
            </a:r>
            <a:r>
              <a:rPr lang="de-DE" sz="1800" dirty="0">
                <a:effectLst/>
                <a:ea typeface="Aptos" panose="020B0004020202020204" pitchFamily="34" charset="0"/>
              </a:rPr>
              <a:t> umfassend </a:t>
            </a:r>
            <a:r>
              <a:rPr lang="de-DE" sz="1800" b="1" dirty="0">
                <a:effectLst/>
                <a:ea typeface="Aptos" panose="020B0004020202020204" pitchFamily="34" charset="0"/>
              </a:rPr>
              <a:t>geprüft</a:t>
            </a:r>
            <a:r>
              <a:rPr lang="de-DE" sz="1800" dirty="0">
                <a:effectLst/>
                <a:ea typeface="Aptos" panose="020B0004020202020204" pitchFamily="34" charset="0"/>
              </a:rPr>
              <a:t> werden</a:t>
            </a:r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E4AE2C-2FF7-A4A5-551D-1EAA71E0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D8725E-40CB-7909-C836-811F30EA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15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E09AF-8CD0-C517-956B-22E7F0B7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1028"/>
          </a:xfrm>
        </p:spPr>
        <p:txBody>
          <a:bodyPr>
            <a:no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Recht auf Berichtigung, Löschung und Einschränkung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1210011-41DF-8A79-E62F-92583F326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357"/>
            <a:ext cx="10515600" cy="404660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dürfen 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Richtigstellung fordern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wenn sie feststellen, dass ihre Daten falsch sind.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16 DSGVO</a:t>
            </a:r>
            <a:b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beiden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und Speicherbegrenzung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leiten das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Löschung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17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ab, dieses beinhaltet auch das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Vergessenwerden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17 (2)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4089DD-A3E2-7206-7F03-AC5F0EB6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923BC0-B5D6-7C59-CE38-7407F88B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4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4CAC678-9830-3283-0209-BD520BF6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Gründe für eine unverzügliche Löschung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56DF40A-D753-DF23-D6C6-83E5ADC3F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34"/>
            <a:ext cx="10515600" cy="486372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erarbeitungszweck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nicht mehr gegeben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wird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keine anderen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Rechtsgrundlagen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anwendbar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legt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gegen die 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liegt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unrechtmäßige 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liegt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 (nach EU/nationalem Recht)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Daten im Rahmen der Erbringung eines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Dienstes der Informationsgesellschaft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8 (1)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erhoben wurden (</a:t>
            </a:r>
            <a:r>
              <a:rPr lang="de-DE" sz="2400" b="1" kern="100" dirty="0">
                <a:solidFill>
                  <a:srgbClr val="7F7F7F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von Kindern!)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Unverzüglich</a:t>
            </a: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bedeutet ohne unangemessene Verzögerung.</a:t>
            </a:r>
            <a:endParaRPr lang="de-DE" sz="24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79A0E5-773D-C7EC-4B98-0DD74BDD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68CDFF-0FFA-39EA-8AEE-618A5FC5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23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A1FA351-2DEB-9BE6-4C2F-270A0033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024"/>
          </a:xfrm>
        </p:spPr>
        <p:txBody>
          <a:bodyPr/>
          <a:lstStyle/>
          <a:p>
            <a:r>
              <a:rPr lang="de-DE" dirty="0"/>
              <a:t>Widerruf oder Widerspruch?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671F8B6-4033-E2C3-2603-FE01462D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Einwilligung kann widerrufen werden. Gegen eine Verarbeitung auf Grund eines berechtigen Interesses oder im öffentlichen Interesse kann ein Widerspruch eingelegt werden.</a:t>
            </a:r>
            <a:endParaRPr lang="de-DE" sz="24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 ≠ Widerspruch</a:t>
            </a:r>
            <a:endParaRPr lang="de-DE" u="sng" kern="100" dirty="0">
              <a:solidFill>
                <a:srgbClr val="FF000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Widerruf: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des Widerrufs sind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Verbraucher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dazu berechtigt, abgegebene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Willenserklärungen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Rahmen eines Verbrauchervertrags rechtswirksam zurückzunehmen.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sz="2400" b="1" u="sng" dirty="0">
                <a:effectLst/>
                <a:ea typeface="Aptos" panose="020B0004020202020204" pitchFamily="34" charset="0"/>
              </a:rPr>
              <a:t>Widerspruch:</a:t>
            </a:r>
            <a:r>
              <a:rPr lang="de-DE" sz="2400" dirty="0">
                <a:effectLst/>
                <a:ea typeface="Aptos" panose="020B0004020202020204" pitchFamily="34" charset="0"/>
              </a:rPr>
              <a:t> ist die Möglichkeit </a:t>
            </a:r>
            <a:r>
              <a:rPr lang="de-DE" sz="2400" b="1" dirty="0">
                <a:effectLst/>
                <a:ea typeface="Aptos" panose="020B0004020202020204" pitchFamily="34" charset="0"/>
              </a:rPr>
              <a:t>betroffener Personen</a:t>
            </a:r>
            <a:r>
              <a:rPr lang="de-DE" sz="2400" dirty="0">
                <a:effectLst/>
                <a:ea typeface="Aptos" panose="020B0004020202020204" pitchFamily="34" charset="0"/>
              </a:rPr>
              <a:t>, eine </a:t>
            </a:r>
            <a:r>
              <a:rPr lang="de-DE" sz="2400" b="1" dirty="0">
                <a:effectLst/>
                <a:ea typeface="Aptos" panose="020B0004020202020204" pitchFamily="34" charset="0"/>
              </a:rPr>
              <a:t>Verarbeitung Ihrer Daten</a:t>
            </a:r>
            <a:r>
              <a:rPr lang="de-DE" sz="2400" dirty="0">
                <a:effectLst/>
                <a:ea typeface="Aptos" panose="020B0004020202020204" pitchFamily="34" charset="0"/>
              </a:rPr>
              <a:t> durch etwa ein Unternehmen oder eine Behörde zu unterbinden.</a:t>
            </a:r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1A89E5-8F80-0542-0AC3-32DE4462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D4A0E4-FD5C-29A7-D3AB-ECDD6197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562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5984BC7-A856-1E9E-8390-E3A465C8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 auf Vergessenwerden </a:t>
            </a:r>
            <a:r>
              <a:rPr lang="de-DE" sz="24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17 (2) DSGVO</a:t>
            </a:r>
            <a:endParaRPr lang="de-DE" sz="2400" dirty="0">
              <a:latin typeface="+mn-lt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5F010AA-9DE5-D4C9-326D-F78E2BE4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müssen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 bei Dritten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gelöscht werden, nicht nur in dem Unternehmen des Verantwortlichen.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Social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Media, Links die zum Betroffenen führen)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Vergessenwerden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gilt nur bei der Veröffentlichung von Daten z.B. im Internet.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5D38AB-4041-6274-35F3-CB2C4F8A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35F9E8-2230-F4A9-B086-F5B050D0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80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7DE16-4C09-3E3F-2BB9-A087E602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Ausnahmen: Recht auf Löschung </a:t>
            </a:r>
            <a:r>
              <a:rPr lang="de-DE" sz="24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17 (3) DSGVO</a:t>
            </a:r>
            <a:endParaRPr lang="de-DE" sz="24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C3E413-2FB3-195B-08F8-DA6D0201D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ist aus Gründen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 auf freie Meinungsäußerung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Information notwendig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ist durch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rechtliche Verpflichtung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vorgegeben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Öffentliches Interesse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vorhanden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Gründe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öffentlichen Gesundheit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wie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h +i und Art. 9 (3)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sind für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Archiv-, Forschungs- und Statistikzwecke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notwendig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Geltendmachung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für das Ausüben bzw. für die Verteidigung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Rechtsansprüchen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5F0C64-3FAA-657E-FE64-02B4142E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126F71-98E2-0C2F-CD8A-D752B79C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735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13128-B863-135B-E471-ED746932A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 auf Einschränkung </a:t>
            </a:r>
            <a:r>
              <a:rPr lang="de-DE" sz="2400" b="1" i="1" dirty="0">
                <a:solidFill>
                  <a:srgbClr val="7030A0"/>
                </a:solidFill>
                <a:latin typeface="+mn-lt"/>
              </a:rPr>
              <a:t>Art. 18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767611-9AC1-ED7D-B8BE-012513E09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Voraussetzungen: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bestreitet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ist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unrechtmäßig</a:t>
            </a:r>
            <a:endParaRPr lang="de-DE" sz="2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Personenbezogene Daten sind aufgrund des entfallenen Zwecks zu löschen, der betroffene benötigt jedoch eine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Sperrung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Geltendmachung, Ausübung oder Verteidigung von Rechtsansprüchen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hat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die DV eingelegt (</a:t>
            </a:r>
            <a:r>
              <a:rPr lang="de-DE" sz="26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DSGVO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Einschränken oder Sperren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kann erreicht werden, wenn nur noch ein 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kleiner Personenkreis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Zugang zu den Daten hat.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BA67E0-9C34-EDF1-EA89-E5052CBD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57FCFD-5CF2-7EF0-8487-C9B29794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783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D62C3-CDFE-78C7-0211-42F0C65A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Recht auf Einschränkung (2) </a:t>
            </a:r>
            <a:r>
              <a:rPr kumimoji="0" lang="de-DE" sz="2400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Art. 18 DSGVO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9175F7-CE18-7C05-EB39-E7DD226EF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7392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4 (3)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Markierung gespeicherter personenbezogener Daten mit dem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Ziel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ihre zukünftige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einzuschränken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 67: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Maßnahmen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getroffen werden sollen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Farbliche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Markierungen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Datensatz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inaktiv setzen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Feldern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Datensatz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speichern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2ED714-D0E2-66E2-3C1B-470F8801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A350EE-CB52-0778-F720-294DFBB0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56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BB773-9989-1603-B271-91C05AB9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Mitteilungspflicht </a:t>
            </a:r>
            <a:r>
              <a:rPr lang="de-DE" sz="2800" dirty="0"/>
              <a:t>(des Verantwortlichen) </a:t>
            </a:r>
            <a:r>
              <a:rPr lang="de-DE" sz="2400" b="1" i="1" dirty="0">
                <a:solidFill>
                  <a:srgbClr val="7030A0"/>
                </a:solidFill>
              </a:rPr>
              <a:t>Art. 19 DSGVO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53EEFE-23E4-6FF2-8FCC-3CEDEBC6D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5064"/>
            <a:ext cx="10515600" cy="4571899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Berichtigung, Löschung oder Einschränkung der Verarbeitung personenbezogener Daten hat der Verantwortliche ggf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anderweitigen Empfängern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 mitzuteilen.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gilt </a:t>
            </a:r>
            <a:r>
              <a:rPr lang="de-DE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die betroffene Person. Nur wenn diese das wünscht.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effectLst/>
                <a:ea typeface="Aptos" panose="020B0004020202020204" pitchFamily="34" charset="0"/>
              </a:rPr>
              <a:t>Mitteilungspflicht ist </a:t>
            </a:r>
            <a:r>
              <a:rPr lang="de-DE" b="1" u="sng" dirty="0">
                <a:effectLst/>
                <a:ea typeface="Aptos" panose="020B0004020202020204" pitchFamily="34" charset="0"/>
              </a:rPr>
              <a:t>keine </a:t>
            </a:r>
            <a:r>
              <a:rPr lang="de-DE" dirty="0">
                <a:effectLst/>
                <a:ea typeface="Aptos" panose="020B0004020202020204" pitchFamily="34" charset="0"/>
              </a:rPr>
              <a:t>Informationspflicht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765A724-93A9-1889-934C-4F9C05E1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9F2FEE-B4B9-9345-B26F-A251845E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9465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B9D97-B8C4-79E0-1B6F-B442E138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471"/>
          </a:xfrm>
        </p:spPr>
        <p:txBody>
          <a:bodyPr>
            <a:no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Datenübertragbarkeit </a:t>
            </a:r>
            <a:r>
              <a:rPr lang="de-DE" sz="2400" b="1" i="1" kern="100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Art. 20 DSGVO</a:t>
            </a:r>
            <a:endParaRPr lang="de-DE" b="1" i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7C1AD3-01C6-C585-CCFF-CFE20186D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238"/>
            <a:ext cx="10515600" cy="4756725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eigenen personenbezogenen Daten, die gespeichert sind,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 Dritte übertragen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lassen (siehe auch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20 (1)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Strukturiertes, gängiges maschinenlesbares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Format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dem Verantwortlichem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bereitgestellt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wurden</a:t>
            </a: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übermittelte Daten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nicht für Daten die der Verantwortliche selbst generiert hat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die Verarbeitung aufgrund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oder Art. 9 (2)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 DSGVO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 auf einem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b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beruht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Verarbeitung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automatisiert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stattgefunden haben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009F85-59A4-1542-7968-F1F44A3C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DE16F8-DE85-7562-2132-525CA0E6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881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461A0-2A27-4B86-59F7-D50A05DA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Widerspruchsrecht  </a:t>
            </a:r>
            <a:r>
              <a:rPr lang="de-DE" sz="2400" b="1" i="1" kern="100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Art. 21 DSGVO</a:t>
            </a:r>
            <a:endParaRPr lang="de-DE" sz="2400" b="1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BB8F9-8B0C-7D7F-0914-3132D7B0A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715"/>
            <a:ext cx="10515600" cy="420224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Dieses Recht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gilt 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Verarbeitung von Daten aufgrund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berechtigter Interessen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öffentlichen Interesses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Art. 6 (1)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e) + f)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 Direktwerbung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oder ohne </a:t>
            </a:r>
            <a:r>
              <a:rPr lang="de-DE" sz="24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gem.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(2+3)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eingelegt werden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gegen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zu wissenschaftlichen, historischen oder statistischen Zwecken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möglich, kann bei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Interessenabwägung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den Verantwortlichen allerding zu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Zurückweisung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führen (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öffentliches Interesse)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21 (6)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Art. 89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884900-D952-4D1B-B6DC-173ED4B5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286FA7-9846-82BA-8844-8C514E50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20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F237E-6F76-EF78-5F75-07E840DA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de-DE" dirty="0" err="1"/>
              <a:t>Profiling</a:t>
            </a:r>
            <a:r>
              <a:rPr lang="de-DE" dirty="0"/>
              <a:t> &amp; </a:t>
            </a:r>
            <a:r>
              <a:rPr lang="de-DE" dirty="0" err="1"/>
              <a:t>autom</a:t>
            </a:r>
            <a:r>
              <a:rPr lang="de-DE" dirty="0"/>
              <a:t>. Entscheidungsfindung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73143E-C361-46B0-FF1C-873DD73D5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970"/>
            <a:ext cx="10515600" cy="4639993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reines Online-Bewerbungsverfahren oder Online-Kreditantrag ist ohne jegliche menschlichen Eingriffe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erlaubt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22 (1)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22 (2) DSGVO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Betroffene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willigt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vorher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ausdrücklich ein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Letztendlich ein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zustande kommt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Rechtsvorschriften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Mitgliedsländer,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solche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AEs erlauben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besonderer </a:t>
            </a:r>
            <a:r>
              <a:rPr lang="de-DE" sz="24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gelten Ausnahmen, die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22 (4) </a:t>
            </a:r>
            <a:r>
              <a:rPr lang="de-DE" sz="24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i.V.m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Art. 22 (3) DSGVO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aufgeführt sind.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5806E9-479A-546A-D9E6-71074DC3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727B0A-CFA0-C23B-063C-2670261B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005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480A8-C51A-24A2-3E57-E55727FA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560"/>
          </a:xfrm>
        </p:spPr>
        <p:txBody>
          <a:bodyPr>
            <a:normAutofit/>
          </a:bodyPr>
          <a:lstStyle/>
          <a:p>
            <a:r>
              <a:rPr lang="de-DE" dirty="0"/>
              <a:t>Tatbestände „</a:t>
            </a:r>
            <a:r>
              <a:rPr lang="de-DE" dirty="0" err="1"/>
              <a:t>Profiling</a:t>
            </a:r>
            <a:r>
              <a:rPr lang="de-DE" dirty="0"/>
              <a:t>“ </a:t>
            </a:r>
            <a:r>
              <a:rPr lang="de-DE" sz="3100" dirty="0">
                <a:latin typeface="+mn-lt"/>
              </a:rPr>
              <a:t>gem. </a:t>
            </a:r>
            <a:r>
              <a:rPr lang="de-DE" sz="31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4 (4) DSGVO</a:t>
            </a:r>
            <a:endParaRPr lang="de-DE" sz="31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E32B79-61AF-476F-302C-26BEC75E7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2"/>
            <a:ext cx="10515600" cy="4955567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 Art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automatisierten Verarbeitung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Bestimmung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persönlicher Aspekte einer natürlichen Person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Bewertung, Analyse, Vorhersage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natürlichen Person (Arbeitsleistung, wirtschaftliche Lage, Gesundheit, persönliche Vorlieben, Interessen, Zuverlässigkeit, Verhalten, Aufenthaltsort, Ortswechsel)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Websurf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und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Kaufverhalten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Kreditwürdigkeit,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Scoring / Bonität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 60: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Verantwortlichen das ein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stattfindet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 63: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Mitteilungspflicht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Verantwortlichen,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Logik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Folgen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des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offen zu kommunizieren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56FA9B-36E4-4698-A6C5-BFABE45D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429954-E636-5EC9-2D09-89EC5D17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690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19993-177D-0DA4-1F02-06022F7A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Beschränkungen </a:t>
            </a:r>
            <a:r>
              <a:rPr lang="de-DE" sz="2400" b="1" i="1" dirty="0">
                <a:solidFill>
                  <a:srgbClr val="7030A0"/>
                </a:solidFill>
                <a:effectLst/>
                <a:latin typeface="+mn-lt"/>
                <a:ea typeface="Aptos" panose="020B0004020202020204" pitchFamily="34" charset="0"/>
              </a:rPr>
              <a:t>Art. 23 DSGVO</a:t>
            </a:r>
            <a:endParaRPr lang="de-DE" sz="24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958ABD-4AC8-9916-E0A3-D3ECF793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7089"/>
            <a:ext cx="10515600" cy="3929874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Mitgliedsstaaten sind befugt die Regel in den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bis 22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ggf. anzupassen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Deutschland wird das durch das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BDSG Teil 2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umgesetzt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A3AA6B-5809-8F72-9DD2-A71EA785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52DAD3-4C7E-6E0A-8074-B878920F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70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59726-2AF3-4D51-9A0B-D4459609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Recht auf Beschwerde </a:t>
            </a:r>
            <a:r>
              <a:rPr lang="de-DE" sz="2800" b="1" i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Art. 77 DSGVO</a:t>
            </a:r>
            <a:br>
              <a:rPr lang="de-DE" dirty="0"/>
            </a:br>
            <a:r>
              <a:rPr lang="de-DE" sz="2800" dirty="0">
                <a:latin typeface="+mn-lt"/>
              </a:rPr>
              <a:t>bei einer Aufsichtsbehörde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2B7E76-5D3A-F16B-E0F4-B7914D05C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905"/>
            <a:ext cx="10515600" cy="395905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Exot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unter den Betroffenenrechten, da der Artikel 77 </a:t>
            </a:r>
            <a:r>
              <a:rPr lang="de-DE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unter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den Rechten im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III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finden ist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in den Informationspflichten erwähnt werden!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kann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online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78 (2)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ermöglicht dem Betroffenen eine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wegen Untätigkeit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gegen die Behörde, wenn diese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innerhalb von 3 Monaten bearbeitet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EF56D5-EB24-4338-8749-1CD738EC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806975-43B0-CEE2-3BA0-CC16BF8E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000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ECD60-45BC-AD75-8277-C6E7D951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</a:t>
            </a:r>
            <a:r>
              <a:rPr lang="de-DE" sz="2800" dirty="0"/>
              <a:t>(Betroffenenrechte)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1B32E6-8C77-6751-4FA9-10763C96F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III der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die Rechte der betroffenen Personen erläutert. Plus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 (3) und 77 DSGVO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der Durchsetzung der Rechte sind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Fristen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wahren (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 bis 3 Monate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Mitteilungen und Umsetzungen der Rechte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müssen unentgeltlich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erfolgen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(5)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der Durchsetzung der Rechte muss die verantwortliche Stelle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Identität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 Person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geprüft werden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 unterscheidet sich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 selbst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 Dritte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420436-DA0B-0229-80DA-3F1778D0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89BCB1-3B4D-183E-A8EB-5C892AF9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279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B1E12-E9C2-63DA-0163-B5D40B96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Zusammenfassung 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(Betroffenenrechte)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6537DB-34FD-645C-59F5-F3993A214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332"/>
            <a:ext cx="10515600" cy="4688631"/>
          </a:xfrm>
        </p:spPr>
        <p:txBody>
          <a:bodyPr>
            <a:no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Folgende Rechte müssen dem Betroffenen ausdrücklich eingeräumt werden: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Datenübertragbarkeit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Berichtigung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Löschung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Einschränkung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Widerspruch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n die Verarbeitung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Beschwerde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Aufsichtsbehörde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Recht auf </a:t>
            </a:r>
            <a:r>
              <a:rPr lang="de-DE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Widerruf einer Einwilligung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2C2056-F9A3-8EAD-6B70-401C9656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69F798-303E-00AF-FA71-64DCE56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59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3E039-D48A-CFBC-796B-CC1B94B4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de-DE" sz="4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Zusammenfassung 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(Betroffenenrechte)</a:t>
            </a:r>
            <a:endParaRPr lang="de-DE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E254FA-07C5-8D1F-3FA4-997A46A6D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Wenn das Recht auf Löschung (vorübergehend) nicht umsetzbar ist, muss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 der Daten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wenigstens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eingeschränkt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Recht auf Beschwerde bei einer Aufsichtsbehörde wird im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Kap. VIII der DSGVO</a:t>
            </a:r>
            <a:r>
              <a:rPr lang="de-DE" sz="28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behandelt, genauer in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77 +78 DSGVO</a:t>
            </a:r>
            <a:b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Einwilligung kann widerrufen werden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einer Verarbeitung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aufgrund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Interesses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widersprochen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A8B6AC-C5D5-A971-9E25-FC42A0CE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8CC6FB-C1D9-E88F-7B1E-25362A6E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63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A7F45C-9A1C-48BD-AC7D-F380C6DA363B}"/>
</file>

<file path=customXml/itemProps2.xml><?xml version="1.0" encoding="utf-8"?>
<ds:datastoreItem xmlns:ds="http://schemas.openxmlformats.org/officeDocument/2006/customXml" ds:itemID="{6B677378-6843-423A-9C42-6E264412AB74}"/>
</file>

<file path=customXml/itemProps3.xml><?xml version="1.0" encoding="utf-8"?>
<ds:datastoreItem xmlns:ds="http://schemas.openxmlformats.org/officeDocument/2006/customXml" ds:itemID="{33B4B000-51E0-447F-9B11-DBAD621C501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2043</Words>
  <Application>Microsoft Office PowerPoint</Application>
  <PresentationFormat>Breitbild</PresentationFormat>
  <Paragraphs>200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</vt:lpstr>
      <vt:lpstr>DATENSCHUTZ-SCHULUNG Teil 2: Grundsätze der Verarbeitung</vt:lpstr>
      <vt:lpstr>Inhalte der Datenschutz-Themen</vt:lpstr>
      <vt:lpstr>Datenschutz Teil 2.4 </vt:lpstr>
      <vt:lpstr>Die Rechte betroffener Personen</vt:lpstr>
      <vt:lpstr>Grundsätze zu Betroffenenrechten Art. 12 DSGVO</vt:lpstr>
      <vt:lpstr>Grundsätze zu Betroffenenrechten Art. 12 DSGVO</vt:lpstr>
      <vt:lpstr>Anforderungen zu Betroffenenrechten</vt:lpstr>
      <vt:lpstr>Recht auf Auskunft nach Art. 15 DSGVO </vt:lpstr>
      <vt:lpstr>Recht auf Berichtigung, Löschung und Einschränkung</vt:lpstr>
      <vt:lpstr>Gründe für eine unverzügliche Löschung</vt:lpstr>
      <vt:lpstr>Widerruf oder Widerspruch?</vt:lpstr>
      <vt:lpstr>Recht auf Vergessenwerden Art. 17 (2) DSGVO</vt:lpstr>
      <vt:lpstr>Ausnahmen: Recht auf Löschung Art. 17 (3) DSGVO</vt:lpstr>
      <vt:lpstr>Recht auf Einschränkung Art. 18 DSGVO</vt:lpstr>
      <vt:lpstr>Recht auf Einschränkung (2) Art. 18 DSGVO</vt:lpstr>
      <vt:lpstr>Mitteilungspflicht (des Verantwortlichen) Art. 19 DSGVO</vt:lpstr>
      <vt:lpstr>Recht auf Datenübertragbarkeit Art. 20 DSGVO</vt:lpstr>
      <vt:lpstr>Widerspruchsrecht  Art. 21 DSGVO</vt:lpstr>
      <vt:lpstr>Profiling &amp; autom. Entscheidungsfindung</vt:lpstr>
      <vt:lpstr>Tatbestände „Profiling“ gem. Art. 4 (4) DSGVO</vt:lpstr>
      <vt:lpstr>Beschränkungen Art. 23 DSGVO</vt:lpstr>
      <vt:lpstr>Recht auf Beschwerde Art. 77 DSGVO bei einer Aufsichtsbehörde</vt:lpstr>
      <vt:lpstr>Zusammenfassung (Betroffenenrechte)</vt:lpstr>
      <vt:lpstr>Zusammenfassung (Betroffenenrechte)</vt:lpstr>
      <vt:lpstr>Zusammenfassung (Betroffenenrechte)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2025-09-16T12:02:07Z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