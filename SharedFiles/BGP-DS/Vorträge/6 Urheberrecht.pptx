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86" r:id="rId4"/>
    <p:sldId id="291" r:id="rId5"/>
    <p:sldId id="292" r:id="rId6"/>
    <p:sldId id="294" r:id="rId7"/>
    <p:sldId id="293" r:id="rId8"/>
    <p:sldId id="295" r:id="rId9"/>
    <p:sldId id="300" r:id="rId10"/>
    <p:sldId id="296" r:id="rId11"/>
    <p:sldId id="297" r:id="rId12"/>
    <p:sldId id="287" r:id="rId13"/>
    <p:sldId id="301" r:id="rId14"/>
    <p:sldId id="305" r:id="rId15"/>
    <p:sldId id="304" r:id="rId16"/>
    <p:sldId id="303" r:id="rId17"/>
    <p:sldId id="288" r:id="rId18"/>
    <p:sldId id="306" r:id="rId19"/>
    <p:sldId id="307" r:id="rId20"/>
    <p:sldId id="308" r:id="rId21"/>
    <p:sldId id="289" r:id="rId22"/>
    <p:sldId id="309" r:id="rId23"/>
    <p:sldId id="314" r:id="rId24"/>
    <p:sldId id="313" r:id="rId25"/>
    <p:sldId id="290" r:id="rId26"/>
    <p:sldId id="315" r:id="rId27"/>
    <p:sldId id="316" r:id="rId28"/>
    <p:sldId id="317" r:id="rId2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31" autoAdjust="0"/>
    <p:restoredTop sz="94660"/>
  </p:normalViewPr>
  <p:slideViewPr>
    <p:cSldViewPr snapToGrid="0">
      <p:cViewPr varScale="1">
        <p:scale>
          <a:sx n="60" d="100"/>
          <a:sy n="60" d="100"/>
        </p:scale>
        <p:origin x="7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37"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E2C052-91DF-4DB3-B342-3CD8D6AF7C71}" type="datetimeFigureOut">
              <a:rPr lang="de-DE" smtClean="0"/>
              <a:t>22.09.2025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4710CE-1ECF-4525-BFCD-FD2D0B83985D}" type="slidenum">
              <a:rPr lang="de-DE" smtClean="0"/>
              <a:t>‹Nr.›</a:t>
            </a:fld>
            <a:endParaRPr lang="de-DE"/>
          </a:p>
        </p:txBody>
      </p:sp>
    </p:spTree>
    <p:extLst>
      <p:ext uri="{BB962C8B-B14F-4D97-AF65-F5344CB8AC3E}">
        <p14:creationId xmlns:p14="http://schemas.microsoft.com/office/powerpoint/2010/main" val="90272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644710CE-1ECF-4525-BFCD-FD2D0B83985D}" type="slidenum">
              <a:rPr lang="de-DE" smtClean="0"/>
              <a:t>3</a:t>
            </a:fld>
            <a:endParaRPr lang="de-DE"/>
          </a:p>
        </p:txBody>
      </p:sp>
    </p:spTree>
    <p:extLst>
      <p:ext uri="{BB962C8B-B14F-4D97-AF65-F5344CB8AC3E}">
        <p14:creationId xmlns:p14="http://schemas.microsoft.com/office/powerpoint/2010/main" val="422611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FF0E2-484A-0445-5581-299E69DA902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6209D24-9157-B8D3-37D2-6A74ED6AF19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E450950-53D8-1DE5-7136-B55AE965FCD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0EA953A4-579C-D3F9-8CAB-F499B2FC272C}"/>
              </a:ext>
            </a:extLst>
          </p:cNvPr>
          <p:cNvSpPr>
            <a:spLocks noGrp="1"/>
          </p:cNvSpPr>
          <p:nvPr>
            <p:ph type="sldNum" sz="quarter" idx="5"/>
          </p:nvPr>
        </p:nvSpPr>
        <p:spPr/>
        <p:txBody>
          <a:bodyPr/>
          <a:lstStyle/>
          <a:p>
            <a:fld id="{644710CE-1ECF-4525-BFCD-FD2D0B83985D}" type="slidenum">
              <a:rPr lang="de-DE" smtClean="0"/>
              <a:t>12</a:t>
            </a:fld>
            <a:endParaRPr lang="de-DE"/>
          </a:p>
        </p:txBody>
      </p:sp>
    </p:spTree>
    <p:extLst>
      <p:ext uri="{BB962C8B-B14F-4D97-AF65-F5344CB8AC3E}">
        <p14:creationId xmlns:p14="http://schemas.microsoft.com/office/powerpoint/2010/main" val="1468674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1BAEC-9BF6-3ED6-ED98-F9330DF6D64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F54F996-1DAE-6F41-C672-32B96B7FF25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839B09E-8B52-AB64-E0CB-5A89777A52BD}"/>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69422B0-5CC4-2B15-5B10-E12C7CE3320E}"/>
              </a:ext>
            </a:extLst>
          </p:cNvPr>
          <p:cNvSpPr>
            <a:spLocks noGrp="1"/>
          </p:cNvSpPr>
          <p:nvPr>
            <p:ph type="sldNum" sz="quarter" idx="5"/>
          </p:nvPr>
        </p:nvSpPr>
        <p:spPr/>
        <p:txBody>
          <a:bodyPr/>
          <a:lstStyle/>
          <a:p>
            <a:fld id="{644710CE-1ECF-4525-BFCD-FD2D0B83985D}" type="slidenum">
              <a:rPr lang="de-DE" smtClean="0"/>
              <a:t>17</a:t>
            </a:fld>
            <a:endParaRPr lang="de-DE"/>
          </a:p>
        </p:txBody>
      </p:sp>
    </p:spTree>
    <p:extLst>
      <p:ext uri="{BB962C8B-B14F-4D97-AF65-F5344CB8AC3E}">
        <p14:creationId xmlns:p14="http://schemas.microsoft.com/office/powerpoint/2010/main" val="2949765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24830-F928-C6B7-B24A-80C160CF88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044D859-BA0C-3FB4-2C6A-F0427CABB57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DDB4A41-2C19-08C1-9E24-AA1A32F6CF1A}"/>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828BE993-4F07-CE06-3010-E414235A53B7}"/>
              </a:ext>
            </a:extLst>
          </p:cNvPr>
          <p:cNvSpPr>
            <a:spLocks noGrp="1"/>
          </p:cNvSpPr>
          <p:nvPr>
            <p:ph type="sldNum" sz="quarter" idx="5"/>
          </p:nvPr>
        </p:nvSpPr>
        <p:spPr/>
        <p:txBody>
          <a:bodyPr/>
          <a:lstStyle/>
          <a:p>
            <a:fld id="{644710CE-1ECF-4525-BFCD-FD2D0B83985D}" type="slidenum">
              <a:rPr lang="de-DE" smtClean="0"/>
              <a:t>21</a:t>
            </a:fld>
            <a:endParaRPr lang="de-DE"/>
          </a:p>
        </p:txBody>
      </p:sp>
    </p:spTree>
    <p:extLst>
      <p:ext uri="{BB962C8B-B14F-4D97-AF65-F5344CB8AC3E}">
        <p14:creationId xmlns:p14="http://schemas.microsoft.com/office/powerpoint/2010/main" val="1343821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706B9-1932-031E-4B75-C28E2C6F14B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5C3C3DC-DC78-1555-05FD-80A2F9F81CC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94399D6-05E1-9816-E097-8F42BD0E41F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8E168D3-1752-3CAA-DB12-E36F3BFB1AE7}"/>
              </a:ext>
            </a:extLst>
          </p:cNvPr>
          <p:cNvSpPr>
            <a:spLocks noGrp="1"/>
          </p:cNvSpPr>
          <p:nvPr>
            <p:ph type="sldNum" sz="quarter" idx="5"/>
          </p:nvPr>
        </p:nvSpPr>
        <p:spPr/>
        <p:txBody>
          <a:bodyPr/>
          <a:lstStyle/>
          <a:p>
            <a:fld id="{644710CE-1ECF-4525-BFCD-FD2D0B83985D}" type="slidenum">
              <a:rPr lang="de-DE" smtClean="0"/>
              <a:t>25</a:t>
            </a:fld>
            <a:endParaRPr lang="de-DE"/>
          </a:p>
        </p:txBody>
      </p:sp>
    </p:spTree>
    <p:extLst>
      <p:ext uri="{BB962C8B-B14F-4D97-AF65-F5344CB8AC3E}">
        <p14:creationId xmlns:p14="http://schemas.microsoft.com/office/powerpoint/2010/main" val="3979613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66B4CA0-0D9B-2397-636C-95227E6D191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A6CBF7D-844C-C3E8-4791-B467FDCC44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936ED5D8-D21B-2991-AD91-EF8776526101}"/>
              </a:ext>
            </a:extLst>
          </p:cNvPr>
          <p:cNvSpPr>
            <a:spLocks noGrp="1"/>
          </p:cNvSpPr>
          <p:nvPr>
            <p:ph type="dt" sz="half" idx="10"/>
          </p:nvPr>
        </p:nvSpPr>
        <p:spPr/>
        <p:txBody>
          <a:bodyPr/>
          <a:lstStyle/>
          <a:p>
            <a:fld id="{C672DB5E-9D2D-453F-9BAF-14F389B2B6FD}" type="datetime1">
              <a:rPr lang="de-DE" smtClean="0"/>
              <a:t>22.09.2025</a:t>
            </a:fld>
            <a:endParaRPr lang="de-DE"/>
          </a:p>
        </p:txBody>
      </p:sp>
      <p:sp>
        <p:nvSpPr>
          <p:cNvPr id="5" name="Fußzeilenplatzhalter 4">
            <a:extLst>
              <a:ext uri="{FF2B5EF4-FFF2-40B4-BE49-F238E27FC236}">
                <a16:creationId xmlns:a16="http://schemas.microsoft.com/office/drawing/2014/main" id="{A6662200-947A-F1EA-2C52-A9ED73D7D776}"/>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A72F66E2-E057-AD36-C3DA-CE84D739FCD5}"/>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12674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1CDB6-2205-C649-0EFF-4AF9C88089C7}"/>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02738B8-DFE1-053C-8D14-65BDC42204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9443B26-B36D-01B6-8CB3-EBCCB41DBBFE}"/>
              </a:ext>
            </a:extLst>
          </p:cNvPr>
          <p:cNvSpPr>
            <a:spLocks noGrp="1"/>
          </p:cNvSpPr>
          <p:nvPr>
            <p:ph type="dt" sz="half" idx="10"/>
          </p:nvPr>
        </p:nvSpPr>
        <p:spPr/>
        <p:txBody>
          <a:bodyPr/>
          <a:lstStyle/>
          <a:p>
            <a:fld id="{B42EE8E6-ED59-4859-B0C3-225166F39F4E}" type="datetime1">
              <a:rPr lang="de-DE" smtClean="0"/>
              <a:t>22.09.2025</a:t>
            </a:fld>
            <a:endParaRPr lang="de-DE"/>
          </a:p>
        </p:txBody>
      </p:sp>
      <p:sp>
        <p:nvSpPr>
          <p:cNvPr id="5" name="Fußzeilenplatzhalter 4">
            <a:extLst>
              <a:ext uri="{FF2B5EF4-FFF2-40B4-BE49-F238E27FC236}">
                <a16:creationId xmlns:a16="http://schemas.microsoft.com/office/drawing/2014/main" id="{257B0E11-7309-8334-C745-4B8891F30ECE}"/>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DB474E42-1956-41CB-85EE-1D92BD077AA7}"/>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488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AE3BDF-74CF-D836-BDF6-1A9E5CD1A8AC}"/>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8218F682-74D0-260C-C0FA-67608DE59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9126DB74-0B12-4E55-DFE8-11C848ADC5FF}"/>
              </a:ext>
            </a:extLst>
          </p:cNvPr>
          <p:cNvSpPr>
            <a:spLocks noGrp="1"/>
          </p:cNvSpPr>
          <p:nvPr>
            <p:ph type="dt" sz="half" idx="10"/>
          </p:nvPr>
        </p:nvSpPr>
        <p:spPr/>
        <p:txBody>
          <a:bodyPr/>
          <a:lstStyle/>
          <a:p>
            <a:fld id="{21AF14BD-9277-4F74-8DB6-09E47A4EDF52}" type="datetime1">
              <a:rPr lang="de-DE" smtClean="0"/>
              <a:t>22.09.2025</a:t>
            </a:fld>
            <a:endParaRPr lang="de-DE"/>
          </a:p>
        </p:txBody>
      </p:sp>
      <p:sp>
        <p:nvSpPr>
          <p:cNvPr id="5" name="Fußzeilenplatzhalter 4">
            <a:extLst>
              <a:ext uri="{FF2B5EF4-FFF2-40B4-BE49-F238E27FC236}">
                <a16:creationId xmlns:a16="http://schemas.microsoft.com/office/drawing/2014/main" id="{B1BD3D0A-2DD9-A6B1-1489-6F90254082FA}"/>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040CFB5-98C2-84E4-BDD3-F4C750AF4EB4}"/>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816828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A83CA-15C6-89A0-FEDA-18437CD00BEF}"/>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8D6B2365-8E78-D10D-2C7A-CFA338DFD86E}"/>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09A9C519-780B-C21A-8A0F-FF13E8BA2330}"/>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C3BD13EC-EB69-D436-B6B3-336B02A7E1E9}"/>
              </a:ext>
            </a:extLst>
          </p:cNvPr>
          <p:cNvSpPr>
            <a:spLocks noGrp="1"/>
          </p:cNvSpPr>
          <p:nvPr>
            <p:ph type="dt" sz="half" idx="10"/>
          </p:nvPr>
        </p:nvSpPr>
        <p:spPr/>
        <p:txBody>
          <a:bodyPr/>
          <a:lstStyle/>
          <a:p>
            <a:fld id="{CA11EA98-5F69-4205-B62B-A9D2FE44DC9A}" type="datetime1">
              <a:rPr lang="de-DE" smtClean="0"/>
              <a:t>22.09.2025</a:t>
            </a:fld>
            <a:endParaRPr lang="de-DE"/>
          </a:p>
        </p:txBody>
      </p:sp>
      <p:sp>
        <p:nvSpPr>
          <p:cNvPr id="6" name="Fußzeilenplatzhalter 5">
            <a:extLst>
              <a:ext uri="{FF2B5EF4-FFF2-40B4-BE49-F238E27FC236}">
                <a16:creationId xmlns:a16="http://schemas.microsoft.com/office/drawing/2014/main" id="{3F54854A-5BCA-AA61-4794-C845E8410B0B}"/>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E1D920B8-0BB6-DC20-C44A-6FE1799AC842}"/>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989295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E7B4D7-5073-8EE2-C713-A9807BC24203}"/>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4515CB72-967C-1FE1-7266-4C90A820AE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2F2685B6-6BF1-51FC-0CC5-E6B83E0349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25C1FDDC-7DF7-F143-DB9D-5224023A2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E1C4E95-7462-FA80-84AD-9D823B3D09FF}"/>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BDC635FA-7C5E-7A65-D6EA-6B07AE444101}"/>
              </a:ext>
            </a:extLst>
          </p:cNvPr>
          <p:cNvSpPr>
            <a:spLocks noGrp="1"/>
          </p:cNvSpPr>
          <p:nvPr>
            <p:ph type="dt" sz="half" idx="10"/>
          </p:nvPr>
        </p:nvSpPr>
        <p:spPr/>
        <p:txBody>
          <a:bodyPr/>
          <a:lstStyle/>
          <a:p>
            <a:fld id="{C8B5DD1B-5A4B-4D66-A112-730D2E7C9367}" type="datetime1">
              <a:rPr lang="de-DE" smtClean="0"/>
              <a:t>22.09.2025</a:t>
            </a:fld>
            <a:endParaRPr lang="de-DE"/>
          </a:p>
        </p:txBody>
      </p:sp>
      <p:sp>
        <p:nvSpPr>
          <p:cNvPr id="8" name="Fußzeilenplatzhalter 7">
            <a:extLst>
              <a:ext uri="{FF2B5EF4-FFF2-40B4-BE49-F238E27FC236}">
                <a16:creationId xmlns:a16="http://schemas.microsoft.com/office/drawing/2014/main" id="{D53E3795-8351-EACE-5649-C8A6261CFB9F}"/>
              </a:ext>
            </a:extLst>
          </p:cNvPr>
          <p:cNvSpPr>
            <a:spLocks noGrp="1"/>
          </p:cNvSpPr>
          <p:nvPr>
            <p:ph type="ftr" sz="quarter" idx="11"/>
          </p:nvPr>
        </p:nvSpPr>
        <p:spPr/>
        <p:txBody>
          <a:bodyPr/>
          <a:lstStyle/>
          <a:p>
            <a:r>
              <a:rPr lang="de-DE"/>
              <a:t>Dirk Moltzen - externer Datenschutzbeauftragter TÜV® CERT</a:t>
            </a:r>
          </a:p>
        </p:txBody>
      </p:sp>
      <p:sp>
        <p:nvSpPr>
          <p:cNvPr id="9" name="Foliennummernplatzhalter 8">
            <a:extLst>
              <a:ext uri="{FF2B5EF4-FFF2-40B4-BE49-F238E27FC236}">
                <a16:creationId xmlns:a16="http://schemas.microsoft.com/office/drawing/2014/main" id="{75980057-3041-8E66-F05F-0C6DAD687D7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02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AB809C-717E-0BE3-A852-7D6ED08D1B6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ABDE474-BB62-A15B-AF69-1F53A895DCAB}"/>
              </a:ext>
            </a:extLst>
          </p:cNvPr>
          <p:cNvSpPr>
            <a:spLocks noGrp="1"/>
          </p:cNvSpPr>
          <p:nvPr>
            <p:ph type="dt" sz="half" idx="10"/>
          </p:nvPr>
        </p:nvSpPr>
        <p:spPr/>
        <p:txBody>
          <a:bodyPr/>
          <a:lstStyle/>
          <a:p>
            <a:fld id="{78260CA9-080E-495A-8A5A-989AC8DFCC2C}" type="datetime1">
              <a:rPr lang="de-DE" smtClean="0"/>
              <a:t>22.09.2025</a:t>
            </a:fld>
            <a:endParaRPr lang="de-DE"/>
          </a:p>
        </p:txBody>
      </p:sp>
      <p:sp>
        <p:nvSpPr>
          <p:cNvPr id="4" name="Fußzeilenplatzhalter 3">
            <a:extLst>
              <a:ext uri="{FF2B5EF4-FFF2-40B4-BE49-F238E27FC236}">
                <a16:creationId xmlns:a16="http://schemas.microsoft.com/office/drawing/2014/main" id="{3F009B64-7486-6B03-109F-0A1DB878FD8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4E269A4-2AFB-0581-906E-331F89EFE6A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526675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B4EF03-31AB-6045-F997-30142EC62E78}"/>
              </a:ext>
            </a:extLst>
          </p:cNvPr>
          <p:cNvSpPr>
            <a:spLocks noGrp="1"/>
          </p:cNvSpPr>
          <p:nvPr>
            <p:ph type="dt" sz="half" idx="10"/>
          </p:nvPr>
        </p:nvSpPr>
        <p:spPr/>
        <p:txBody>
          <a:bodyPr/>
          <a:lstStyle/>
          <a:p>
            <a:fld id="{8A7D2418-5A2A-4D67-823F-EC4266F86929}" type="datetime1">
              <a:rPr lang="de-DE" smtClean="0"/>
              <a:t>22.09.2025</a:t>
            </a:fld>
            <a:endParaRPr lang="de-DE"/>
          </a:p>
        </p:txBody>
      </p:sp>
      <p:sp>
        <p:nvSpPr>
          <p:cNvPr id="3" name="Fußzeilenplatzhalter 2">
            <a:extLst>
              <a:ext uri="{FF2B5EF4-FFF2-40B4-BE49-F238E27FC236}">
                <a16:creationId xmlns:a16="http://schemas.microsoft.com/office/drawing/2014/main" id="{4BECFB2D-8F62-0045-E978-BE3C6015B8F9}"/>
              </a:ext>
            </a:extLst>
          </p:cNvPr>
          <p:cNvSpPr>
            <a:spLocks noGrp="1"/>
          </p:cNvSpPr>
          <p:nvPr>
            <p:ph type="ftr" sz="quarter" idx="11"/>
          </p:nvPr>
        </p:nvSpPr>
        <p:spPr/>
        <p:txBody>
          <a:bodyPr/>
          <a:lstStyle/>
          <a:p>
            <a:r>
              <a:rPr lang="de-DE"/>
              <a:t>Dirk Moltzen - externer Datenschutzbeauftragter TÜV® CERT</a:t>
            </a:r>
          </a:p>
        </p:txBody>
      </p:sp>
      <p:sp>
        <p:nvSpPr>
          <p:cNvPr id="4" name="Foliennummernplatzhalter 3">
            <a:extLst>
              <a:ext uri="{FF2B5EF4-FFF2-40B4-BE49-F238E27FC236}">
                <a16:creationId xmlns:a16="http://schemas.microsoft.com/office/drawing/2014/main" id="{A81E2D0D-FB5B-18D9-CA46-B17F6D7D89C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4337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14205B-67C0-3C72-1270-AB3F648C00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B82FF748-A088-071E-017D-99500D75BF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B9A7AC7C-492C-90F4-8A67-7CBC818A01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A1AFB3-C22B-78C8-5ABA-FE62DEB62C80}"/>
              </a:ext>
            </a:extLst>
          </p:cNvPr>
          <p:cNvSpPr>
            <a:spLocks noGrp="1"/>
          </p:cNvSpPr>
          <p:nvPr>
            <p:ph type="dt" sz="half" idx="10"/>
          </p:nvPr>
        </p:nvSpPr>
        <p:spPr/>
        <p:txBody>
          <a:bodyPr/>
          <a:lstStyle/>
          <a:p>
            <a:fld id="{BEA624FE-15BC-48DE-8943-3F775C222EF7}" type="datetime1">
              <a:rPr lang="de-DE" smtClean="0"/>
              <a:t>22.09.2025</a:t>
            </a:fld>
            <a:endParaRPr lang="de-DE"/>
          </a:p>
        </p:txBody>
      </p:sp>
      <p:sp>
        <p:nvSpPr>
          <p:cNvPr id="6" name="Fußzeilenplatzhalter 5">
            <a:extLst>
              <a:ext uri="{FF2B5EF4-FFF2-40B4-BE49-F238E27FC236}">
                <a16:creationId xmlns:a16="http://schemas.microsoft.com/office/drawing/2014/main" id="{70F01998-1EAE-F808-4FBE-68B2F851F599}"/>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C508FCF0-9A89-4F9E-90AA-7B6050B81313}"/>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2733478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A74FCB-7070-9042-F162-D3957EF7F7C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F661D97A-92D7-1999-21A5-2E494FE401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7CF8D34-1DA2-DB73-54B3-DE9EF87E2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3F5C852-F89D-BA31-F1F1-5908F9499CA8}"/>
              </a:ext>
            </a:extLst>
          </p:cNvPr>
          <p:cNvSpPr>
            <a:spLocks noGrp="1"/>
          </p:cNvSpPr>
          <p:nvPr>
            <p:ph type="dt" sz="half" idx="10"/>
          </p:nvPr>
        </p:nvSpPr>
        <p:spPr/>
        <p:txBody>
          <a:bodyPr/>
          <a:lstStyle/>
          <a:p>
            <a:fld id="{F1E1FB9E-692E-48A8-84C5-9952D749F23A}" type="datetime1">
              <a:rPr lang="de-DE" smtClean="0"/>
              <a:t>22.09.2025</a:t>
            </a:fld>
            <a:endParaRPr lang="de-DE"/>
          </a:p>
        </p:txBody>
      </p:sp>
      <p:sp>
        <p:nvSpPr>
          <p:cNvPr id="6" name="Fußzeilenplatzhalter 5">
            <a:extLst>
              <a:ext uri="{FF2B5EF4-FFF2-40B4-BE49-F238E27FC236}">
                <a16:creationId xmlns:a16="http://schemas.microsoft.com/office/drawing/2014/main" id="{B8837075-A10E-3C14-F3C3-2E9BE88FB3A1}"/>
              </a:ext>
            </a:extLst>
          </p:cNvPr>
          <p:cNvSpPr>
            <a:spLocks noGrp="1"/>
          </p:cNvSpPr>
          <p:nvPr>
            <p:ph type="ftr" sz="quarter" idx="11"/>
          </p:nvPr>
        </p:nvSpPr>
        <p:spPr/>
        <p:txBody>
          <a:bodyPr/>
          <a:lstStyle/>
          <a:p>
            <a:r>
              <a:rPr lang="de-DE"/>
              <a:t>Dirk Moltzen - externer Datenschutzbeauftragter TÜV® CERT</a:t>
            </a:r>
          </a:p>
        </p:txBody>
      </p:sp>
      <p:sp>
        <p:nvSpPr>
          <p:cNvPr id="7" name="Foliennummernplatzhalter 6">
            <a:extLst>
              <a:ext uri="{FF2B5EF4-FFF2-40B4-BE49-F238E27FC236}">
                <a16:creationId xmlns:a16="http://schemas.microsoft.com/office/drawing/2014/main" id="{734A5AF6-1125-19E3-786E-CE22A0A7447A}"/>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271625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3F011-39E4-FEA4-5D0F-FD25397B8C7F}"/>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DB6A2C3D-19CA-3847-73C8-76EFE13A156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660374A-9259-29AD-05FF-F3A635147932}"/>
              </a:ext>
            </a:extLst>
          </p:cNvPr>
          <p:cNvSpPr>
            <a:spLocks noGrp="1"/>
          </p:cNvSpPr>
          <p:nvPr>
            <p:ph type="dt" sz="half" idx="10"/>
          </p:nvPr>
        </p:nvSpPr>
        <p:spPr/>
        <p:txBody>
          <a:bodyPr/>
          <a:lstStyle/>
          <a:p>
            <a:fld id="{3D55D161-017C-4308-B022-23EEBD4A53E7}" type="datetime1">
              <a:rPr lang="de-DE" smtClean="0"/>
              <a:t>22.09.2025</a:t>
            </a:fld>
            <a:endParaRPr lang="de-DE"/>
          </a:p>
        </p:txBody>
      </p:sp>
      <p:sp>
        <p:nvSpPr>
          <p:cNvPr id="5" name="Fußzeilenplatzhalter 4">
            <a:extLst>
              <a:ext uri="{FF2B5EF4-FFF2-40B4-BE49-F238E27FC236}">
                <a16:creationId xmlns:a16="http://schemas.microsoft.com/office/drawing/2014/main" id="{6D3CA8E5-3D50-1482-5EA3-0AE0CCD1C7D3}"/>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9D3B4CD6-D217-6A5A-C835-ABBF8EA87231}"/>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12170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FAC6231-501D-5B6C-07CA-78E57495AD7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A6AA6BA-E9E2-41B1-CDFA-CBD87B43E1E8}"/>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405D0A-77D6-1022-E33C-FCFCDC61AC86}"/>
              </a:ext>
            </a:extLst>
          </p:cNvPr>
          <p:cNvSpPr>
            <a:spLocks noGrp="1"/>
          </p:cNvSpPr>
          <p:nvPr>
            <p:ph type="dt" sz="half" idx="10"/>
          </p:nvPr>
        </p:nvSpPr>
        <p:spPr/>
        <p:txBody>
          <a:bodyPr/>
          <a:lstStyle/>
          <a:p>
            <a:fld id="{685B6E2E-C33C-4093-9AD7-A0DDBAC742A6}" type="datetime1">
              <a:rPr lang="de-DE" smtClean="0"/>
              <a:t>22.09.2025</a:t>
            </a:fld>
            <a:endParaRPr lang="de-DE"/>
          </a:p>
        </p:txBody>
      </p:sp>
      <p:sp>
        <p:nvSpPr>
          <p:cNvPr id="5" name="Fußzeilenplatzhalter 4">
            <a:extLst>
              <a:ext uri="{FF2B5EF4-FFF2-40B4-BE49-F238E27FC236}">
                <a16:creationId xmlns:a16="http://schemas.microsoft.com/office/drawing/2014/main" id="{4BF6FBA2-0D4D-BABB-8A8B-7D96CF0C617D}"/>
              </a:ext>
            </a:extLst>
          </p:cNvPr>
          <p:cNvSpPr>
            <a:spLocks noGrp="1"/>
          </p:cNvSpPr>
          <p:nvPr>
            <p:ph type="ftr" sz="quarter" idx="11"/>
          </p:nvPr>
        </p:nvSpPr>
        <p:spPr/>
        <p:txBody>
          <a:body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814DBF3D-401F-3741-7E93-32CDCAC84CCE}"/>
              </a:ext>
            </a:extLst>
          </p:cNvPr>
          <p:cNvSpPr>
            <a:spLocks noGrp="1"/>
          </p:cNvSpPr>
          <p:nvPr>
            <p:ph type="sldNum" sz="quarter" idx="12"/>
          </p:nvPr>
        </p:nvSpPr>
        <p:spPr/>
        <p:txBody>
          <a:bodyPr/>
          <a:lstStyle/>
          <a:p>
            <a:fld id="{B4CE166D-2D50-44F1-A818-BFD238545C9D}" type="slidenum">
              <a:rPr lang="de-DE" smtClean="0"/>
              <a:t>‹Nr.›</a:t>
            </a:fld>
            <a:endParaRPr lang="de-DE"/>
          </a:p>
        </p:txBody>
      </p:sp>
    </p:spTree>
    <p:extLst>
      <p:ext uri="{BB962C8B-B14F-4D97-AF65-F5344CB8AC3E}">
        <p14:creationId xmlns:p14="http://schemas.microsoft.com/office/powerpoint/2010/main" val="3538326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FDE23AD2-A997-A50A-7B9B-51EFA4D8E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20E3F0D2-6FEC-0D1F-2B92-081695429A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BFB01D-569E-09F5-F922-327089C50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E4FBDE-3156-405F-8033-5D2AF69D6F32}" type="datetime1">
              <a:rPr lang="de-DE" smtClean="0"/>
              <a:t>22.09.2025</a:t>
            </a:fld>
            <a:endParaRPr lang="de-DE"/>
          </a:p>
        </p:txBody>
      </p:sp>
      <p:sp>
        <p:nvSpPr>
          <p:cNvPr id="5" name="Fußzeilenplatzhalter 4">
            <a:extLst>
              <a:ext uri="{FF2B5EF4-FFF2-40B4-BE49-F238E27FC236}">
                <a16:creationId xmlns:a16="http://schemas.microsoft.com/office/drawing/2014/main" id="{798C7273-F537-2E2B-2AA5-800EFD209D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Dirk Moltzen - externer Datenschutzbeauftragter TÜV® CERT</a:t>
            </a:r>
          </a:p>
        </p:txBody>
      </p:sp>
      <p:sp>
        <p:nvSpPr>
          <p:cNvPr id="6" name="Foliennummernplatzhalter 5">
            <a:extLst>
              <a:ext uri="{FF2B5EF4-FFF2-40B4-BE49-F238E27FC236}">
                <a16:creationId xmlns:a16="http://schemas.microsoft.com/office/drawing/2014/main" id="{044149FB-4F02-55E2-A3FF-E64D0BD50A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E166D-2D50-44F1-A818-BFD238545C9D}" type="slidenum">
              <a:rPr lang="de-DE" smtClean="0"/>
              <a:t>‹Nr.›</a:t>
            </a:fld>
            <a:endParaRPr lang="de-DE"/>
          </a:p>
        </p:txBody>
      </p:sp>
    </p:spTree>
    <p:extLst>
      <p:ext uri="{BB962C8B-B14F-4D97-AF65-F5344CB8AC3E}">
        <p14:creationId xmlns:p14="http://schemas.microsoft.com/office/powerpoint/2010/main" val="1999417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el 3">
            <a:extLst>
              <a:ext uri="{FF2B5EF4-FFF2-40B4-BE49-F238E27FC236}">
                <a16:creationId xmlns:a16="http://schemas.microsoft.com/office/drawing/2014/main" id="{2CA4602F-1958-AB10-C35C-5E47C9E0BE01}"/>
              </a:ext>
            </a:extLst>
          </p:cNvPr>
          <p:cNvSpPr>
            <a:spLocks noGrp="1"/>
          </p:cNvSpPr>
          <p:nvPr>
            <p:ph type="ctrTitle"/>
          </p:nvPr>
        </p:nvSpPr>
        <p:spPr>
          <a:xfrm>
            <a:off x="804672" y="5116529"/>
            <a:ext cx="10592174" cy="1000655"/>
          </a:xfrm>
        </p:spPr>
        <p:txBody>
          <a:bodyPr anchor="t">
            <a:normAutofit fontScale="90000"/>
          </a:bodyPr>
          <a:lstStyle/>
          <a:p>
            <a:pPr algn="l"/>
            <a:r>
              <a:rPr lang="de-DE" sz="4000" dirty="0">
                <a:solidFill>
                  <a:schemeClr val="tx2"/>
                </a:solidFill>
              </a:rPr>
              <a:t>DATENSCHUTZ-SCHULUNG</a:t>
            </a:r>
            <a:br>
              <a:rPr lang="de-DE" sz="4000" dirty="0">
                <a:solidFill>
                  <a:schemeClr val="tx2"/>
                </a:solidFill>
              </a:rPr>
            </a:br>
            <a:r>
              <a:rPr lang="de-DE" sz="4000" dirty="0">
                <a:solidFill>
                  <a:schemeClr val="tx2"/>
                </a:solidFill>
              </a:rPr>
              <a:t>Teil 6: Urheberrecht</a:t>
            </a:r>
          </a:p>
        </p:txBody>
      </p:sp>
      <p:pic>
        <p:nvPicPr>
          <p:cNvPr id="7" name="Grafik 6" descr="Ein Bild, das Person, Raum, Hand enthält.&#10;&#10;KI-generierte Inhalte können fehlerhaft sein.">
            <a:extLst>
              <a:ext uri="{FF2B5EF4-FFF2-40B4-BE49-F238E27FC236}">
                <a16:creationId xmlns:a16="http://schemas.microsoft.com/office/drawing/2014/main" id="{A1489AE2-F9B8-F8ED-00E3-14646775A932}"/>
              </a:ext>
            </a:extLst>
          </p:cNvPr>
          <p:cNvPicPr>
            <a:picLocks noChangeAspect="1"/>
          </p:cNvPicPr>
          <p:nvPr/>
        </p:nvPicPr>
        <p:blipFill>
          <a:blip r:embed="rId2">
            <a:extLst>
              <a:ext uri="{28A0092B-C50C-407E-A947-70E740481C1C}">
                <a14:useLocalDpi xmlns:a14="http://schemas.microsoft.com/office/drawing/2010/main" val="0"/>
              </a:ext>
            </a:extLst>
          </a:blip>
          <a:srcRect t="21567" b="33968"/>
          <a:stretch>
            <a:fillRect/>
          </a:stretch>
        </p:blipFill>
        <p:spPr>
          <a:xfrm>
            <a:off x="-1" y="10"/>
            <a:ext cx="12192001" cy="4201449"/>
          </a:xfrm>
          <a:prstGeom prst="rect">
            <a:avLst/>
          </a:prstGeom>
        </p:spPr>
      </p:pic>
      <p:grpSp>
        <p:nvGrpSpPr>
          <p:cNvPr id="14" name="Group 13">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15" name="Freeform: Shape 14">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16" name="Freeform: Shape 15">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5" name="Untertitel 4">
            <a:extLst>
              <a:ext uri="{FF2B5EF4-FFF2-40B4-BE49-F238E27FC236}">
                <a16:creationId xmlns:a16="http://schemas.microsoft.com/office/drawing/2014/main" id="{F80A9AF6-4E73-62A3-65EE-D5681D90E29C}"/>
              </a:ext>
            </a:extLst>
          </p:cNvPr>
          <p:cNvSpPr>
            <a:spLocks noGrp="1"/>
          </p:cNvSpPr>
          <p:nvPr>
            <p:ph type="subTitle" idx="1"/>
          </p:nvPr>
        </p:nvSpPr>
        <p:spPr>
          <a:xfrm>
            <a:off x="804672" y="4580785"/>
            <a:ext cx="9416898" cy="484374"/>
          </a:xfrm>
        </p:spPr>
        <p:txBody>
          <a:bodyPr anchor="b">
            <a:normAutofit/>
          </a:bodyPr>
          <a:lstStyle/>
          <a:p>
            <a:pPr algn="l"/>
            <a:r>
              <a:rPr lang="de-DE" sz="2000" dirty="0">
                <a:solidFill>
                  <a:schemeClr val="tx2"/>
                </a:solidFill>
              </a:rPr>
              <a:t>Fachinformatiker </a:t>
            </a:r>
            <a:r>
              <a:rPr lang="de-DE" sz="2000" dirty="0" err="1">
                <a:solidFill>
                  <a:schemeClr val="tx2"/>
                </a:solidFill>
              </a:rPr>
              <a:t>by</a:t>
            </a:r>
            <a:r>
              <a:rPr lang="de-DE" sz="2000" dirty="0">
                <a:solidFill>
                  <a:schemeClr val="tx2"/>
                </a:solidFill>
              </a:rPr>
              <a:t> IBB</a:t>
            </a:r>
          </a:p>
        </p:txBody>
      </p:sp>
      <p:sp>
        <p:nvSpPr>
          <p:cNvPr id="2" name="Fußzeilenplatzhalter 1">
            <a:extLst>
              <a:ext uri="{FF2B5EF4-FFF2-40B4-BE49-F238E27FC236}">
                <a16:creationId xmlns:a16="http://schemas.microsoft.com/office/drawing/2014/main" id="{B335ED99-E2A6-072A-014D-0A8A58CD67B0}"/>
              </a:ext>
            </a:extLst>
          </p:cNvPr>
          <p:cNvSpPr>
            <a:spLocks noGrp="1"/>
          </p:cNvSpPr>
          <p:nvPr>
            <p:ph type="ftr" sz="quarter" idx="11"/>
          </p:nvPr>
        </p:nvSpPr>
        <p:spPr/>
        <p:txBody>
          <a:bodyPr/>
          <a:lstStyle/>
          <a:p>
            <a:r>
              <a:rPr lang="de-DE" dirty="0"/>
              <a:t>Dirk Moltzen - externer Datenschutzbeauftragter TÜV® CERT</a:t>
            </a:r>
          </a:p>
        </p:txBody>
      </p:sp>
      <p:sp>
        <p:nvSpPr>
          <p:cNvPr id="3" name="Foliennummernplatzhalter 2">
            <a:extLst>
              <a:ext uri="{FF2B5EF4-FFF2-40B4-BE49-F238E27FC236}">
                <a16:creationId xmlns:a16="http://schemas.microsoft.com/office/drawing/2014/main" id="{3DDA28E4-EC39-8437-806C-94417B853BCB}"/>
              </a:ext>
            </a:extLst>
          </p:cNvPr>
          <p:cNvSpPr>
            <a:spLocks noGrp="1"/>
          </p:cNvSpPr>
          <p:nvPr>
            <p:ph type="sldNum" sz="quarter" idx="12"/>
          </p:nvPr>
        </p:nvSpPr>
        <p:spPr/>
        <p:txBody>
          <a:bodyPr/>
          <a:lstStyle/>
          <a:p>
            <a:fld id="{B4CE166D-2D50-44F1-A818-BFD238545C9D}" type="slidenum">
              <a:rPr lang="de-DE" smtClean="0"/>
              <a:t>1</a:t>
            </a:fld>
            <a:endParaRPr lang="de-DE"/>
          </a:p>
        </p:txBody>
      </p:sp>
    </p:spTree>
    <p:extLst>
      <p:ext uri="{BB962C8B-B14F-4D97-AF65-F5344CB8AC3E}">
        <p14:creationId xmlns:p14="http://schemas.microsoft.com/office/powerpoint/2010/main" val="744624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929679-42D7-2E29-310F-FE4FD4DA6B1D}"/>
              </a:ext>
            </a:extLst>
          </p:cNvPr>
          <p:cNvSpPr>
            <a:spLocks noGrp="1"/>
          </p:cNvSpPr>
          <p:nvPr>
            <p:ph type="title"/>
          </p:nvPr>
        </p:nvSpPr>
        <p:spPr/>
        <p:txBody>
          <a:bodyPr/>
          <a:lstStyle/>
          <a:p>
            <a:r>
              <a:rPr lang="de-DE" dirty="0"/>
              <a:t>Inhalte der Datenschutz-Themen</a:t>
            </a:r>
          </a:p>
        </p:txBody>
      </p:sp>
      <p:sp>
        <p:nvSpPr>
          <p:cNvPr id="3" name="Inhaltsplatzhalter 2">
            <a:extLst>
              <a:ext uri="{FF2B5EF4-FFF2-40B4-BE49-F238E27FC236}">
                <a16:creationId xmlns:a16="http://schemas.microsoft.com/office/drawing/2014/main" id="{CD2D697B-EB54-E541-DE6C-A8AE0056CECB}"/>
              </a:ext>
            </a:extLst>
          </p:cNvPr>
          <p:cNvSpPr>
            <a:spLocks noGrp="1"/>
          </p:cNvSpPr>
          <p:nvPr>
            <p:ph idx="1"/>
          </p:nvPr>
        </p:nvSpPr>
        <p:spPr/>
        <p:txBody>
          <a:bodyPr/>
          <a:lstStyle/>
          <a:p>
            <a:pPr marL="0" indent="0">
              <a:buNone/>
            </a:pPr>
            <a:r>
              <a:rPr lang="de-DE" b="1" dirty="0"/>
              <a:t>Teil 6: Urheberrecht</a:t>
            </a:r>
          </a:p>
          <a:p>
            <a:r>
              <a:rPr lang="de-DE" dirty="0">
                <a:solidFill>
                  <a:srgbClr val="0070C0"/>
                </a:solidFill>
              </a:rPr>
              <a:t>Teil 6.1: </a:t>
            </a:r>
            <a:r>
              <a:rPr lang="de-DE" dirty="0"/>
              <a:t>Urheberrechtgesetz, Urheber-Diensteanbieter-Gesetz</a:t>
            </a:r>
          </a:p>
          <a:p>
            <a:r>
              <a:rPr lang="de-DE" dirty="0">
                <a:solidFill>
                  <a:srgbClr val="0070C0"/>
                </a:solidFill>
              </a:rPr>
              <a:t>Teil 6.2: </a:t>
            </a:r>
            <a:r>
              <a:rPr lang="de-DE" dirty="0"/>
              <a:t>Abgrenzung zu Marken- und Patenrecht</a:t>
            </a:r>
          </a:p>
          <a:p>
            <a:r>
              <a:rPr lang="de-DE" dirty="0">
                <a:solidFill>
                  <a:srgbClr val="0070C0"/>
                </a:solidFill>
              </a:rPr>
              <a:t>Teil 6.3: </a:t>
            </a:r>
            <a:r>
              <a:rPr lang="de-DE" dirty="0"/>
              <a:t>Anwendungsbereich / Nutzungsrechte</a:t>
            </a:r>
          </a:p>
          <a:p>
            <a:r>
              <a:rPr lang="de-DE" dirty="0">
                <a:solidFill>
                  <a:srgbClr val="0070C0"/>
                </a:solidFill>
              </a:rPr>
              <a:t>Teil 6.4: </a:t>
            </a:r>
            <a:r>
              <a:rPr lang="de-DE" dirty="0"/>
              <a:t>Urheberrecht im Beschäftigungsverhältnis</a:t>
            </a:r>
          </a:p>
          <a:p>
            <a:r>
              <a:rPr lang="de-DE" dirty="0">
                <a:solidFill>
                  <a:srgbClr val="0070C0"/>
                </a:solidFill>
              </a:rPr>
              <a:t>Teil 6.5: </a:t>
            </a:r>
            <a:r>
              <a:rPr lang="de-DE" dirty="0"/>
              <a:t>Sanktionen und Strafen bei Verletzungen des Urheberrechtes</a:t>
            </a:r>
          </a:p>
        </p:txBody>
      </p:sp>
      <p:sp>
        <p:nvSpPr>
          <p:cNvPr id="4" name="Fußzeilenplatzhalter 3">
            <a:extLst>
              <a:ext uri="{FF2B5EF4-FFF2-40B4-BE49-F238E27FC236}">
                <a16:creationId xmlns:a16="http://schemas.microsoft.com/office/drawing/2014/main" id="{F170A954-FCE7-117B-EFBF-DF9AE625921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8C962AE-1470-67E5-A01D-2BFAC3ED24FA}"/>
              </a:ext>
            </a:extLst>
          </p:cNvPr>
          <p:cNvSpPr>
            <a:spLocks noGrp="1"/>
          </p:cNvSpPr>
          <p:nvPr>
            <p:ph type="sldNum" sz="quarter" idx="12"/>
          </p:nvPr>
        </p:nvSpPr>
        <p:spPr/>
        <p:txBody>
          <a:bodyPr/>
          <a:lstStyle/>
          <a:p>
            <a:fld id="{B4CE166D-2D50-44F1-A818-BFD238545C9D}" type="slidenum">
              <a:rPr lang="de-DE" smtClean="0"/>
              <a:t>2</a:t>
            </a:fld>
            <a:endParaRPr lang="de-DE"/>
          </a:p>
        </p:txBody>
      </p:sp>
    </p:spTree>
    <p:extLst>
      <p:ext uri="{BB962C8B-B14F-4D97-AF65-F5344CB8AC3E}">
        <p14:creationId xmlns:p14="http://schemas.microsoft.com/office/powerpoint/2010/main" val="2518218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3226CA-1BB5-D9E4-C2F3-0EB9B3132165}"/>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hachfigur, Statue enthält.&#10;&#10;KI-generierte Inhalte können fehlerhaft sein.">
            <a:extLst>
              <a:ext uri="{FF2B5EF4-FFF2-40B4-BE49-F238E27FC236}">
                <a16:creationId xmlns:a16="http://schemas.microsoft.com/office/drawing/2014/main" id="{5AE979B4-6BD3-BB86-0ABA-744417DBEBF3}"/>
              </a:ext>
            </a:extLst>
          </p:cNvPr>
          <p:cNvPicPr>
            <a:picLocks noChangeAspect="1"/>
          </p:cNvPicPr>
          <p:nvPr/>
        </p:nvPicPr>
        <p:blipFill>
          <a:blip r:embed="rId3">
            <a:extLst>
              <a:ext uri="{28A0092B-C50C-407E-A947-70E740481C1C}">
                <a14:useLocalDpi xmlns:a14="http://schemas.microsoft.com/office/drawing/2010/main" val="0"/>
              </a:ext>
            </a:extLst>
          </a:blip>
          <a:srcRect t="9091" r="23585"/>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F17D8F35-8BFB-3EDF-CB96-2547293B902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6.1</a:t>
            </a:r>
          </a:p>
        </p:txBody>
      </p:sp>
      <p:sp>
        <p:nvSpPr>
          <p:cNvPr id="3" name="Textplatzhalter 2">
            <a:extLst>
              <a:ext uri="{FF2B5EF4-FFF2-40B4-BE49-F238E27FC236}">
                <a16:creationId xmlns:a16="http://schemas.microsoft.com/office/drawing/2014/main" id="{B920E625-5C1D-BEF7-A788-BA5DF4D36877}"/>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Urheberrechtgesetz</a:t>
            </a:r>
            <a:br>
              <a:rPr lang="en-US" sz="2000" dirty="0">
                <a:solidFill>
                  <a:schemeClr val="tx1"/>
                </a:solidFill>
              </a:rPr>
            </a:br>
            <a:r>
              <a:rPr lang="en-US" sz="2000" dirty="0" err="1">
                <a:solidFill>
                  <a:schemeClr val="tx1"/>
                </a:solidFill>
              </a:rPr>
              <a:t>Urheber-Diensteanbietergesetz</a:t>
            </a:r>
            <a:endParaRPr lang="en-US" sz="2000" dirty="0">
              <a:solidFill>
                <a:schemeClr val="tx1"/>
              </a:solidFill>
            </a:endParaRPr>
          </a:p>
        </p:txBody>
      </p:sp>
      <p:sp>
        <p:nvSpPr>
          <p:cNvPr id="47" name="Rectangle 4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B9F10496-2CA2-8CFB-B7E3-BA229B3B9757}"/>
              </a:ext>
            </a:extLst>
          </p:cNvPr>
          <p:cNvSpPr>
            <a:spLocks noGrp="1"/>
          </p:cNvSpPr>
          <p:nvPr>
            <p:ph type="ftr" sz="quarter" idx="11"/>
          </p:nvPr>
        </p:nvSpPr>
        <p:spPr>
          <a:xfrm>
            <a:off x="593387" y="6356350"/>
            <a:ext cx="3907951"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F6FC658C-B999-DEFF-0A1A-E2F909130615}"/>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3</a:t>
            </a:fld>
            <a:endParaRPr lang="en-US">
              <a:solidFill>
                <a:schemeClr val="bg1"/>
              </a:solidFill>
              <a:latin typeface="Calibri" panose="020F0502020204030204"/>
            </a:endParaRPr>
          </a:p>
        </p:txBody>
      </p:sp>
    </p:spTree>
    <p:extLst>
      <p:ext uri="{BB962C8B-B14F-4D97-AF65-F5344CB8AC3E}">
        <p14:creationId xmlns:p14="http://schemas.microsoft.com/office/powerpoint/2010/main" val="3147331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4F45924-85A4-C66F-A302-6A244B1278D3}"/>
              </a:ext>
            </a:extLst>
          </p:cNvPr>
          <p:cNvSpPr>
            <a:spLocks noGrp="1"/>
          </p:cNvSpPr>
          <p:nvPr>
            <p:ph type="title"/>
          </p:nvPr>
        </p:nvSpPr>
        <p:spPr>
          <a:xfrm>
            <a:off x="838200" y="365126"/>
            <a:ext cx="10515600" cy="822544"/>
          </a:xfrm>
        </p:spPr>
        <p:txBody>
          <a:bodyPr/>
          <a:lstStyle/>
          <a:p>
            <a:r>
              <a:rPr lang="de-DE" dirty="0"/>
              <a:t>Rechtliche Grundlagen Urheberrechtsgesetz</a:t>
            </a:r>
          </a:p>
        </p:txBody>
      </p:sp>
      <p:sp>
        <p:nvSpPr>
          <p:cNvPr id="7" name="Inhaltsplatzhalter 6">
            <a:extLst>
              <a:ext uri="{FF2B5EF4-FFF2-40B4-BE49-F238E27FC236}">
                <a16:creationId xmlns:a16="http://schemas.microsoft.com/office/drawing/2014/main" id="{4EFFADB3-B0DA-6F23-3CE4-6AC174807559}"/>
              </a:ext>
            </a:extLst>
          </p:cNvPr>
          <p:cNvSpPr>
            <a:spLocks noGrp="1"/>
          </p:cNvSpPr>
          <p:nvPr>
            <p:ph idx="1"/>
          </p:nvPr>
        </p:nvSpPr>
        <p:spPr>
          <a:xfrm>
            <a:off x="838200" y="1857983"/>
            <a:ext cx="10515600" cy="4318980"/>
          </a:xfrm>
        </p:spPr>
        <p:txBody>
          <a:bodyPr>
            <a:normAutofit/>
          </a:bodyPr>
          <a:lstStyle/>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Das Urheberrecht schützt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ideellen und materiellen Interessen eines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Urhebers an seinem geistigen Werk</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Es regelt die Nutzung, Verbreitung und Verwertung urheberrechtlich geschützter Werke. Die rechtliche Grundlage für das Urheberrecht in Deutschland ist das Urheberrechtsgesetz (UrhG).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Urheberrechtsgesetz (UrhG):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Das Urheberrechtsgesetz ist die zentrale gesetzliche Grundlage des Urheberrechts in Deutschland. Es regelt die Schutzrechte, Nutzungsrechte und verwandte Schutzrechte.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Verfassungsrechtliche Verankerung: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Das Urheberrecht ist verfassungsrechtlich in Artikel 2, 5 und 14 des Grundgesetzes verankert. </a:t>
            </a:r>
          </a:p>
        </p:txBody>
      </p:sp>
      <p:sp>
        <p:nvSpPr>
          <p:cNvPr id="4" name="Fußzeilenplatzhalter 3">
            <a:extLst>
              <a:ext uri="{FF2B5EF4-FFF2-40B4-BE49-F238E27FC236}">
                <a16:creationId xmlns:a16="http://schemas.microsoft.com/office/drawing/2014/main" id="{23E9F7AD-4B33-1F62-6DB1-DD9CC65218C9}"/>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CD5714E6-66D3-6095-3DF8-198E8EFAAAFC}"/>
              </a:ext>
            </a:extLst>
          </p:cNvPr>
          <p:cNvSpPr>
            <a:spLocks noGrp="1"/>
          </p:cNvSpPr>
          <p:nvPr>
            <p:ph type="sldNum" sz="quarter" idx="12"/>
          </p:nvPr>
        </p:nvSpPr>
        <p:spPr/>
        <p:txBody>
          <a:bodyPr/>
          <a:lstStyle/>
          <a:p>
            <a:fld id="{B4CE166D-2D50-44F1-A818-BFD238545C9D}" type="slidenum">
              <a:rPr lang="de-DE" smtClean="0"/>
              <a:t>4</a:t>
            </a:fld>
            <a:endParaRPr lang="de-DE"/>
          </a:p>
        </p:txBody>
      </p:sp>
    </p:spTree>
    <p:extLst>
      <p:ext uri="{BB962C8B-B14F-4D97-AF65-F5344CB8AC3E}">
        <p14:creationId xmlns:p14="http://schemas.microsoft.com/office/powerpoint/2010/main" val="4099841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2B314-35F6-21C7-5764-D4A84C4A6A02}"/>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D33EEE82-DC2B-A950-0F6A-EA9E66F4F2E2}"/>
              </a:ext>
            </a:extLst>
          </p:cNvPr>
          <p:cNvSpPr>
            <a:spLocks noGrp="1"/>
          </p:cNvSpPr>
          <p:nvPr>
            <p:ph type="title"/>
          </p:nvPr>
        </p:nvSpPr>
        <p:spPr>
          <a:xfrm>
            <a:off x="838200" y="365126"/>
            <a:ext cx="10515600" cy="822544"/>
          </a:xfrm>
        </p:spPr>
        <p:txBody>
          <a:bodyPr/>
          <a:lstStyle/>
          <a:p>
            <a:r>
              <a:rPr lang="de-DE" dirty="0"/>
              <a:t>Rechtliche Grundlagen Urheberrechtsgesetz</a:t>
            </a:r>
          </a:p>
        </p:txBody>
      </p:sp>
      <p:sp>
        <p:nvSpPr>
          <p:cNvPr id="7" name="Inhaltsplatzhalter 6">
            <a:extLst>
              <a:ext uri="{FF2B5EF4-FFF2-40B4-BE49-F238E27FC236}">
                <a16:creationId xmlns:a16="http://schemas.microsoft.com/office/drawing/2014/main" id="{7103B92E-2A8A-105A-EF4A-F9D7AF152658}"/>
              </a:ext>
            </a:extLst>
          </p:cNvPr>
          <p:cNvSpPr>
            <a:spLocks noGrp="1"/>
          </p:cNvSpPr>
          <p:nvPr>
            <p:ph idx="1"/>
          </p:nvPr>
        </p:nvSpPr>
        <p:spPr>
          <a:xfrm>
            <a:off x="838200" y="1366345"/>
            <a:ext cx="10515600" cy="4810618"/>
          </a:xfrm>
        </p:spPr>
        <p:txBody>
          <a:bodyPr/>
          <a:lstStyle/>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Recht auf Urheberschaft: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Urheberpersönlichkeitsrecht umfasst das Recht zur Veröffentlichung, das Recht auf Anerkennung der Urheberschaft und das Recht zum Schutz vor Entstellung des Werkes.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Nutzungsrechte: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Der Urheber kann einem anderen die Nutzung seines Werkes auf bestimmte Arten oder alle Arten einräumen. Das Nutzungsrecht wird in einem Rechtsgeschäft, beispielsweise einem Lizenzvertrag, geregelt.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Verwertungsgesellschaften: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Verwertungsgesellschaften verwerten Urheberrechte und sorgen für die Abrechnung und Verteilung von Vergütungsansprüchen.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Urheberrechts-Diensteanbieter-Gesetz (</a:t>
            </a:r>
            <a:r>
              <a:rPr lang="de-DE" sz="2000" b="1"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a:t>
            </a:r>
            <a:r>
              <a:rPr lang="de-DE" sz="2000"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regelt die Verantwortlichkeit von Upload-Plattformen im Zusammenhang mit urheberrechtlich geschützten Werken. </a:t>
            </a:r>
          </a:p>
          <a:p>
            <a:endParaRPr lang="de-DE" dirty="0"/>
          </a:p>
        </p:txBody>
      </p:sp>
      <p:sp>
        <p:nvSpPr>
          <p:cNvPr id="4" name="Fußzeilenplatzhalter 3">
            <a:extLst>
              <a:ext uri="{FF2B5EF4-FFF2-40B4-BE49-F238E27FC236}">
                <a16:creationId xmlns:a16="http://schemas.microsoft.com/office/drawing/2014/main" id="{E6117F10-0027-068C-19E0-B18D31B89E9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7D2A5949-6190-0E04-8C56-3B9825CF6A40}"/>
              </a:ext>
            </a:extLst>
          </p:cNvPr>
          <p:cNvSpPr>
            <a:spLocks noGrp="1"/>
          </p:cNvSpPr>
          <p:nvPr>
            <p:ph type="sldNum" sz="quarter" idx="12"/>
          </p:nvPr>
        </p:nvSpPr>
        <p:spPr/>
        <p:txBody>
          <a:bodyPr/>
          <a:lstStyle/>
          <a:p>
            <a:fld id="{B4CE166D-2D50-44F1-A818-BFD238545C9D}" type="slidenum">
              <a:rPr lang="de-DE" smtClean="0"/>
              <a:t>5</a:t>
            </a:fld>
            <a:endParaRPr lang="de-DE"/>
          </a:p>
        </p:txBody>
      </p:sp>
    </p:spTree>
    <p:extLst>
      <p:ext uri="{BB962C8B-B14F-4D97-AF65-F5344CB8AC3E}">
        <p14:creationId xmlns:p14="http://schemas.microsoft.com/office/powerpoint/2010/main" val="40734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AC176-501B-8C0E-EEF0-E163F5C4F385}"/>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9AABDAB4-41E4-42B5-AB5C-06B8AD3044B3}"/>
              </a:ext>
            </a:extLst>
          </p:cNvPr>
          <p:cNvSpPr>
            <a:spLocks noGrp="1"/>
          </p:cNvSpPr>
          <p:nvPr>
            <p:ph type="title"/>
          </p:nvPr>
        </p:nvSpPr>
        <p:spPr>
          <a:xfrm>
            <a:off x="838200" y="365126"/>
            <a:ext cx="10515600" cy="822544"/>
          </a:xfrm>
        </p:spPr>
        <p:txBody>
          <a:bodyPr/>
          <a:lstStyle/>
          <a:p>
            <a:r>
              <a:rPr lang="de-DE" dirty="0"/>
              <a:t>Rechtliche Grundlagen Urheberrechtsgesetz</a:t>
            </a:r>
          </a:p>
        </p:txBody>
      </p:sp>
      <p:sp>
        <p:nvSpPr>
          <p:cNvPr id="7" name="Inhaltsplatzhalter 6">
            <a:extLst>
              <a:ext uri="{FF2B5EF4-FFF2-40B4-BE49-F238E27FC236}">
                <a16:creationId xmlns:a16="http://schemas.microsoft.com/office/drawing/2014/main" id="{CE767266-63D2-4848-78AB-5A8F7921446D}"/>
              </a:ext>
            </a:extLst>
          </p:cNvPr>
          <p:cNvSpPr>
            <a:spLocks noGrp="1"/>
          </p:cNvSpPr>
          <p:nvPr>
            <p:ph idx="1"/>
          </p:nvPr>
        </p:nvSpPr>
        <p:spPr>
          <a:xfrm>
            <a:off x="838200" y="1366345"/>
            <a:ext cx="10515600" cy="4810618"/>
          </a:xfrm>
        </p:spPr>
        <p:txBody>
          <a:bodyPr>
            <a:normAutofit/>
          </a:bodyPr>
          <a:lstStyle/>
          <a:p>
            <a:pPr>
              <a:lnSpc>
                <a:spcPct val="107000"/>
              </a:lnSpc>
              <a:spcAft>
                <a:spcPts val="800"/>
              </a:spcAft>
              <a:buNone/>
            </a:pPr>
            <a:r>
              <a:rPr lang="de-DE" b="1" kern="100" dirty="0">
                <a:effectLst/>
                <a:latin typeface="Aptos" panose="020B0004020202020204" pitchFamily="34" charset="0"/>
                <a:ea typeface="Aptos" panose="020B0004020202020204" pitchFamily="34" charset="0"/>
                <a:cs typeface="Times New Roman" panose="02020603050405020304" pitchFamily="18" charset="0"/>
              </a:rPr>
              <a:t>Arten von Werken, die urheberrechtlich geschützt sind:</a:t>
            </a: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07000"/>
              </a:lnSpc>
            </a:pPr>
            <a:r>
              <a:rPr lang="de-DE" kern="100" dirty="0">
                <a:effectLst/>
                <a:latin typeface="Aptos" panose="020B0004020202020204" pitchFamily="34" charset="0"/>
                <a:ea typeface="Aptos" panose="020B0004020202020204" pitchFamily="34" charset="0"/>
                <a:cs typeface="Times New Roman" panose="02020603050405020304" pitchFamily="18" charset="0"/>
              </a:rPr>
              <a:t>Bücher, Artikel, Gedichte, Theaterstücke, Drehbücher</a:t>
            </a:r>
          </a:p>
          <a:p>
            <a:pPr>
              <a:lnSpc>
                <a:spcPct val="107000"/>
              </a:lnSpc>
            </a:pPr>
            <a:r>
              <a:rPr lang="de-DE" kern="100" dirty="0">
                <a:effectLst/>
                <a:latin typeface="Aptos" panose="020B0004020202020204" pitchFamily="34" charset="0"/>
                <a:ea typeface="Aptos" panose="020B0004020202020204" pitchFamily="34" charset="0"/>
                <a:cs typeface="Times New Roman" panose="02020603050405020304" pitchFamily="18" charset="0"/>
              </a:rPr>
              <a:t>Kompositionen, Musikstücke</a:t>
            </a:r>
          </a:p>
          <a:p>
            <a:pPr>
              <a:lnSpc>
                <a:spcPct val="107000"/>
              </a:lnSpc>
            </a:pPr>
            <a:r>
              <a:rPr lang="de-DE" kern="100" dirty="0">
                <a:effectLst/>
                <a:latin typeface="Aptos" panose="020B0004020202020204" pitchFamily="34" charset="0"/>
                <a:ea typeface="Aptos" panose="020B0004020202020204" pitchFamily="34" charset="0"/>
                <a:cs typeface="Times New Roman" panose="02020603050405020304" pitchFamily="18" charset="0"/>
              </a:rPr>
              <a:t>Gemälde, Skulpturen, Fotografien</a:t>
            </a:r>
          </a:p>
          <a:p>
            <a:pPr>
              <a:lnSpc>
                <a:spcPct val="107000"/>
              </a:lnSpc>
            </a:pPr>
            <a:r>
              <a:rPr lang="de-DE" kern="100" dirty="0">
                <a:effectLst/>
                <a:latin typeface="Aptos" panose="020B0004020202020204" pitchFamily="34" charset="0"/>
                <a:ea typeface="Aptos" panose="020B0004020202020204" pitchFamily="34" charset="0"/>
                <a:cs typeface="Times New Roman" panose="02020603050405020304" pitchFamily="18" charset="0"/>
              </a:rPr>
              <a:t>Filme, TV-Sendungen, Online-Videos</a:t>
            </a:r>
          </a:p>
          <a:p>
            <a:pPr>
              <a:lnSpc>
                <a:spcPct val="107000"/>
              </a:lnSpc>
            </a:pPr>
            <a:r>
              <a:rPr lang="de-DE" kern="100" dirty="0">
                <a:effectLst/>
                <a:latin typeface="Aptos" panose="020B0004020202020204" pitchFamily="34" charset="0"/>
                <a:ea typeface="Aptos" panose="020B0004020202020204" pitchFamily="34" charset="0"/>
                <a:cs typeface="Times New Roman" panose="02020603050405020304" pitchFamily="18" charset="0"/>
              </a:rPr>
              <a:t>Theaterstücke, Musicals</a:t>
            </a:r>
          </a:p>
          <a:p>
            <a:pPr>
              <a:lnSpc>
                <a:spcPct val="107000"/>
              </a:lnSpc>
              <a:spcAft>
                <a:spcPts val="800"/>
              </a:spcAft>
            </a:pPr>
            <a:r>
              <a:rPr lang="de-DE" kern="100" dirty="0">
                <a:effectLst/>
                <a:latin typeface="Aptos" panose="020B0004020202020204" pitchFamily="34" charset="0"/>
                <a:ea typeface="Aptos" panose="020B0004020202020204" pitchFamily="34" charset="0"/>
                <a:cs typeface="Times New Roman" panose="02020603050405020304" pitchFamily="18" charset="0"/>
              </a:rPr>
              <a:t>Software</a:t>
            </a:r>
          </a:p>
          <a:p>
            <a:endParaRPr lang="de-DE" dirty="0"/>
          </a:p>
        </p:txBody>
      </p:sp>
      <p:sp>
        <p:nvSpPr>
          <p:cNvPr id="4" name="Fußzeilenplatzhalter 3">
            <a:extLst>
              <a:ext uri="{FF2B5EF4-FFF2-40B4-BE49-F238E27FC236}">
                <a16:creationId xmlns:a16="http://schemas.microsoft.com/office/drawing/2014/main" id="{8BE5047F-67A0-E667-F472-19608EE9F5F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DBECB53B-B837-F444-EF49-90B99121978A}"/>
              </a:ext>
            </a:extLst>
          </p:cNvPr>
          <p:cNvSpPr>
            <a:spLocks noGrp="1"/>
          </p:cNvSpPr>
          <p:nvPr>
            <p:ph type="sldNum" sz="quarter" idx="12"/>
          </p:nvPr>
        </p:nvSpPr>
        <p:spPr/>
        <p:txBody>
          <a:bodyPr/>
          <a:lstStyle/>
          <a:p>
            <a:fld id="{B4CE166D-2D50-44F1-A818-BFD238545C9D}" type="slidenum">
              <a:rPr lang="de-DE" smtClean="0"/>
              <a:t>6</a:t>
            </a:fld>
            <a:endParaRPr lang="de-DE"/>
          </a:p>
        </p:txBody>
      </p:sp>
    </p:spTree>
    <p:extLst>
      <p:ext uri="{BB962C8B-B14F-4D97-AF65-F5344CB8AC3E}">
        <p14:creationId xmlns:p14="http://schemas.microsoft.com/office/powerpoint/2010/main" val="301212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6FCB7-0CBB-423F-A6D4-9E6ED4659EFD}"/>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9E3558A-32D7-683F-C966-82C4E8FBDC7F}"/>
              </a:ext>
            </a:extLst>
          </p:cNvPr>
          <p:cNvSpPr>
            <a:spLocks noGrp="1"/>
          </p:cNvSpPr>
          <p:nvPr>
            <p:ph type="title"/>
          </p:nvPr>
        </p:nvSpPr>
        <p:spPr>
          <a:xfrm>
            <a:off x="838200" y="365126"/>
            <a:ext cx="10515600" cy="822544"/>
          </a:xfrm>
        </p:spPr>
        <p:txBody>
          <a:bodyPr/>
          <a:lstStyle/>
          <a:p>
            <a:r>
              <a:rPr lang="de-DE" dirty="0"/>
              <a:t>Voraussetzungen des Urheberrechts</a:t>
            </a:r>
          </a:p>
        </p:txBody>
      </p:sp>
      <p:sp>
        <p:nvSpPr>
          <p:cNvPr id="7" name="Inhaltsplatzhalter 6">
            <a:extLst>
              <a:ext uri="{FF2B5EF4-FFF2-40B4-BE49-F238E27FC236}">
                <a16:creationId xmlns:a16="http://schemas.microsoft.com/office/drawing/2014/main" id="{CF1DC8E9-5140-8FE3-9037-4A69562A9E5F}"/>
              </a:ext>
            </a:extLst>
          </p:cNvPr>
          <p:cNvSpPr>
            <a:spLocks noGrp="1"/>
          </p:cNvSpPr>
          <p:nvPr>
            <p:ph idx="1"/>
          </p:nvPr>
        </p:nvSpPr>
        <p:spPr>
          <a:xfrm>
            <a:off x="838200" y="1366345"/>
            <a:ext cx="10515600" cy="4810618"/>
          </a:xfrm>
        </p:spPr>
        <p:txBody>
          <a:bodyPr/>
          <a:lstStyle/>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Persönliche geistige Schöpfung: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Werk muss auf einer individuellen schöpferischen Leistung beruhen und persönliche Züge des Urhebers aufweisen.</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Gestaltungshöhe: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Werk muss über ein gewisses Maß an Individualität und geistiger Leistung hinausgehen.</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Konkrete Verkörperung: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Die Schöpfung muss in einer Form vorliegen, die wahrnehmbar ist, z.B. als Entwurf oder Niederschrift.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Dauer des Urheberrechts: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Urheberrecht besteht 70 Jahre nach dem Tod des Urhebers. Danach sind die Werke gemeinfrei und können ohne Zustimmung genutzt werden.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Beispiel: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Ein Fotograf, der ein Foto erstellt, hat das Urheberrecht an diesem Foto. Er kann bestimmen, ob und wie das Foto veröffentlicht wird, wer es nutzen darf und wie es genutzt werden darf. </a:t>
            </a:r>
          </a:p>
          <a:p>
            <a:endParaRPr lang="de-DE" dirty="0"/>
          </a:p>
        </p:txBody>
      </p:sp>
      <p:sp>
        <p:nvSpPr>
          <p:cNvPr id="4" name="Fußzeilenplatzhalter 3">
            <a:extLst>
              <a:ext uri="{FF2B5EF4-FFF2-40B4-BE49-F238E27FC236}">
                <a16:creationId xmlns:a16="http://schemas.microsoft.com/office/drawing/2014/main" id="{266F4D18-8032-E94D-65C0-E2B444556D3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C627B9C-5E92-828E-F979-1A37B2669E9F}"/>
              </a:ext>
            </a:extLst>
          </p:cNvPr>
          <p:cNvSpPr>
            <a:spLocks noGrp="1"/>
          </p:cNvSpPr>
          <p:nvPr>
            <p:ph type="sldNum" sz="quarter" idx="12"/>
          </p:nvPr>
        </p:nvSpPr>
        <p:spPr/>
        <p:txBody>
          <a:bodyPr/>
          <a:lstStyle/>
          <a:p>
            <a:fld id="{B4CE166D-2D50-44F1-A818-BFD238545C9D}" type="slidenum">
              <a:rPr lang="de-DE" smtClean="0"/>
              <a:t>7</a:t>
            </a:fld>
            <a:endParaRPr lang="de-DE"/>
          </a:p>
        </p:txBody>
      </p:sp>
    </p:spTree>
    <p:extLst>
      <p:ext uri="{BB962C8B-B14F-4D97-AF65-F5344CB8AC3E}">
        <p14:creationId xmlns:p14="http://schemas.microsoft.com/office/powerpoint/2010/main" val="349675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55EB5-7AE7-87CB-E4B9-C31D78933ADD}"/>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968B10E-4AE8-F6B0-515B-0936D0CAE562}"/>
              </a:ext>
            </a:extLst>
          </p:cNvPr>
          <p:cNvSpPr>
            <a:spLocks noGrp="1"/>
          </p:cNvSpPr>
          <p:nvPr>
            <p:ph type="title"/>
          </p:nvPr>
        </p:nvSpPr>
        <p:spPr>
          <a:xfrm>
            <a:off x="838200" y="365126"/>
            <a:ext cx="10515600" cy="822544"/>
          </a:xfrm>
        </p:spPr>
        <p:txBody>
          <a:bodyPr/>
          <a:lstStyle/>
          <a:p>
            <a:r>
              <a:rPr lang="de-DE" dirty="0"/>
              <a:t>Zusammenfassung: Urheberrechtsgesetz</a:t>
            </a:r>
          </a:p>
        </p:txBody>
      </p:sp>
      <p:sp>
        <p:nvSpPr>
          <p:cNvPr id="7" name="Inhaltsplatzhalter 6">
            <a:extLst>
              <a:ext uri="{FF2B5EF4-FFF2-40B4-BE49-F238E27FC236}">
                <a16:creationId xmlns:a16="http://schemas.microsoft.com/office/drawing/2014/main" id="{08E0F15A-816D-E084-2870-F0040406B892}"/>
              </a:ext>
            </a:extLst>
          </p:cNvPr>
          <p:cNvSpPr>
            <a:spLocks noGrp="1"/>
          </p:cNvSpPr>
          <p:nvPr>
            <p:ph idx="1"/>
          </p:nvPr>
        </p:nvSpPr>
        <p:spPr>
          <a:xfrm>
            <a:off x="838200" y="2441643"/>
            <a:ext cx="10515600" cy="3735320"/>
          </a:xfrm>
        </p:spPr>
        <p:txBody>
          <a:bodyPr/>
          <a:lstStyle/>
          <a:p>
            <a:r>
              <a:rPr lang="de-DE" kern="100" dirty="0">
                <a:effectLst/>
                <a:latin typeface="Aptos" panose="020B0004020202020204" pitchFamily="34" charset="0"/>
                <a:ea typeface="Aptos" panose="020B0004020202020204" pitchFamily="34" charset="0"/>
                <a:cs typeface="Times New Roman" panose="02020603050405020304" pitchFamily="18" charset="0"/>
              </a:rPr>
              <a:t>Das </a:t>
            </a: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 schützt</a:t>
            </a:r>
            <a:r>
              <a:rPr lang="de-DE" kern="100" dirty="0">
                <a:effectLst/>
                <a:latin typeface="Aptos" panose="020B0004020202020204" pitchFamily="34" charset="0"/>
                <a:ea typeface="Aptos" panose="020B0004020202020204" pitchFamily="34" charset="0"/>
                <a:cs typeface="Times New Roman" panose="02020603050405020304" pitchFamily="18" charset="0"/>
              </a:rPr>
              <a:t> Urheber an ihren geistigen Werken und regelt die Nutzung und Verwertung dieser Werke. </a:t>
            </a:r>
            <a:br>
              <a:rPr lang="de-DE" kern="100" dirty="0">
                <a:effectLst/>
                <a:latin typeface="Aptos" panose="020B0004020202020204" pitchFamily="34" charset="0"/>
                <a:ea typeface="Aptos" panose="020B0004020202020204" pitchFamily="34" charset="0"/>
                <a:cs typeface="Times New Roman" panose="02020603050405020304" pitchFamily="18" charset="0"/>
              </a:rPr>
            </a:b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r>
              <a:rPr lang="de-DE" kern="100" dirty="0">
                <a:effectLst/>
                <a:latin typeface="Aptos" panose="020B0004020202020204" pitchFamily="34" charset="0"/>
                <a:ea typeface="Aptos" panose="020B0004020202020204" pitchFamily="34" charset="0"/>
                <a:cs typeface="Times New Roman" panose="02020603050405020304" pitchFamily="18" charset="0"/>
              </a:rPr>
              <a:t>Die rechtlichen Grundlagen sind im </a:t>
            </a: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Urheberrechtsgesetz</a:t>
            </a:r>
            <a:r>
              <a:rPr lang="de-DE" kern="100" dirty="0">
                <a:effectLst/>
                <a:latin typeface="Aptos" panose="020B0004020202020204" pitchFamily="34" charset="0"/>
                <a:ea typeface="Aptos" panose="020B0004020202020204" pitchFamily="34" charset="0"/>
                <a:cs typeface="Times New Roman" panose="02020603050405020304" pitchFamily="18" charset="0"/>
              </a:rPr>
              <a:t>, im </a:t>
            </a: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Urheberrechts-Diensteanbieter-Gesetz</a:t>
            </a:r>
            <a:r>
              <a:rPr lang="de-DE" kern="100" dirty="0">
                <a:effectLst/>
                <a:latin typeface="Aptos" panose="020B0004020202020204" pitchFamily="34" charset="0"/>
                <a:ea typeface="Aptos" panose="020B0004020202020204" pitchFamily="34" charset="0"/>
                <a:cs typeface="Times New Roman" panose="02020603050405020304" pitchFamily="18" charset="0"/>
              </a:rPr>
              <a:t> und in den Verfassungsbestimmungen verankert</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a:t>
            </a:r>
          </a:p>
          <a:p>
            <a:endParaRPr lang="de-DE" dirty="0"/>
          </a:p>
        </p:txBody>
      </p:sp>
      <p:sp>
        <p:nvSpPr>
          <p:cNvPr id="4" name="Fußzeilenplatzhalter 3">
            <a:extLst>
              <a:ext uri="{FF2B5EF4-FFF2-40B4-BE49-F238E27FC236}">
                <a16:creationId xmlns:a16="http://schemas.microsoft.com/office/drawing/2014/main" id="{98BA65CC-79BD-1547-2058-9FA70E3B09F3}"/>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41D423A-52B7-0D0B-E3D6-CD026B1EB32C}"/>
              </a:ext>
            </a:extLst>
          </p:cNvPr>
          <p:cNvSpPr>
            <a:spLocks noGrp="1"/>
          </p:cNvSpPr>
          <p:nvPr>
            <p:ph type="sldNum" sz="quarter" idx="12"/>
          </p:nvPr>
        </p:nvSpPr>
        <p:spPr/>
        <p:txBody>
          <a:bodyPr/>
          <a:lstStyle/>
          <a:p>
            <a:fld id="{B4CE166D-2D50-44F1-A818-BFD238545C9D}" type="slidenum">
              <a:rPr lang="de-DE" smtClean="0"/>
              <a:t>8</a:t>
            </a:fld>
            <a:endParaRPr lang="de-DE"/>
          </a:p>
        </p:txBody>
      </p:sp>
    </p:spTree>
    <p:extLst>
      <p:ext uri="{BB962C8B-B14F-4D97-AF65-F5344CB8AC3E}">
        <p14:creationId xmlns:p14="http://schemas.microsoft.com/office/powerpoint/2010/main" val="15277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7BFC-FB06-A770-F43A-80E722069C9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8A4CA6-5D4E-ECAD-EDB0-5064B2DF5658}"/>
              </a:ext>
            </a:extLst>
          </p:cNvPr>
          <p:cNvSpPr>
            <a:spLocks noGrp="1"/>
          </p:cNvSpPr>
          <p:nvPr>
            <p:ph type="title"/>
          </p:nvPr>
        </p:nvSpPr>
        <p:spPr>
          <a:xfrm>
            <a:off x="838200" y="365125"/>
            <a:ext cx="10515600" cy="782739"/>
          </a:xfrm>
        </p:spPr>
        <p:txBody>
          <a:bodyPr>
            <a:normAutofit/>
          </a:bodyPr>
          <a:lstStyle/>
          <a:p>
            <a:r>
              <a:rPr lang="de-DE" kern="100" dirty="0">
                <a:effectLst/>
                <a:ea typeface="Aptos" panose="020B0004020202020204" pitchFamily="34" charset="0"/>
                <a:cs typeface="Times New Roman" panose="02020603050405020304" pitchFamily="18" charset="0"/>
              </a:rPr>
              <a:t>Urheber-Diensteanbieter-Gesetz</a:t>
            </a:r>
            <a:endParaRPr lang="de-DE" dirty="0"/>
          </a:p>
        </p:txBody>
      </p:sp>
      <p:sp>
        <p:nvSpPr>
          <p:cNvPr id="3" name="Inhaltsplatzhalter 2">
            <a:extLst>
              <a:ext uri="{FF2B5EF4-FFF2-40B4-BE49-F238E27FC236}">
                <a16:creationId xmlns:a16="http://schemas.microsoft.com/office/drawing/2014/main" id="{76426623-E25D-9BA1-12AB-89097C9063CF}"/>
              </a:ext>
            </a:extLst>
          </p:cNvPr>
          <p:cNvSpPr>
            <a:spLocks noGrp="1"/>
          </p:cNvSpPr>
          <p:nvPr>
            <p:ph idx="1"/>
          </p:nvPr>
        </p:nvSpPr>
        <p:spPr>
          <a:xfrm>
            <a:off x="838200" y="1634247"/>
            <a:ext cx="10515600" cy="4542716"/>
          </a:xfrm>
        </p:spPr>
        <p:txBody>
          <a:bodyPr>
            <a:normAutofit/>
          </a:bodyPr>
          <a:lstStyle/>
          <a:p>
            <a:pPr marL="0" indent="0">
              <a:lnSpc>
                <a:spcPct val="107000"/>
              </a:lnSpc>
              <a:spcAft>
                <a:spcPts val="800"/>
              </a:spcAft>
              <a:buNone/>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Das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Urheberrechts-Diensteanbieter-Gesetz (</a:t>
            </a:r>
            <a:r>
              <a:rPr lang="de-DE" sz="2400" b="1"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regelt die urheberrechtliche Verantwortlichkeit von Online-Diensteanbietern, insbesondere für das Teilen von Inhalten. Es verpflichtet diese, für die Nutzung urheberrechtlich geschützter Werke eine angemessene Vergütung an die Urheber zu zahlen und sicherzustellen, dass nicht lizenziertes oder gesetzlich nicht erlaubtes Material nicht online verfügbar ist.</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Das </a:t>
            </a:r>
            <a:r>
              <a:rPr lang="de-DE" sz="2400" b="1"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das am 1. August 2021 in Kraft getreten ist, ist eine wichtige Umsetzung europäischer Richtlinien im Bereich des Urheberrechts. Es betrifft vor allem Online-Plattformen, die urheberrechtlich geschützte Inhalte hochladen, teilen und verbreiten. </a:t>
            </a:r>
          </a:p>
          <a:p>
            <a:endParaRPr lang="de-DE" sz="2400" dirty="0"/>
          </a:p>
        </p:txBody>
      </p:sp>
      <p:sp>
        <p:nvSpPr>
          <p:cNvPr id="4" name="Fußzeilenplatzhalter 3">
            <a:extLst>
              <a:ext uri="{FF2B5EF4-FFF2-40B4-BE49-F238E27FC236}">
                <a16:creationId xmlns:a16="http://schemas.microsoft.com/office/drawing/2014/main" id="{489E162D-C813-EA4F-4AA4-9F32A300512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9C76635-FCFD-568F-1CE0-7A21A671E2CC}"/>
              </a:ext>
            </a:extLst>
          </p:cNvPr>
          <p:cNvSpPr>
            <a:spLocks noGrp="1"/>
          </p:cNvSpPr>
          <p:nvPr>
            <p:ph type="sldNum" sz="quarter" idx="12"/>
          </p:nvPr>
        </p:nvSpPr>
        <p:spPr/>
        <p:txBody>
          <a:bodyPr/>
          <a:lstStyle/>
          <a:p>
            <a:fld id="{B4CE166D-2D50-44F1-A818-BFD238545C9D}" type="slidenum">
              <a:rPr lang="de-DE" smtClean="0"/>
              <a:t>9</a:t>
            </a:fld>
            <a:endParaRPr lang="de-DE"/>
          </a:p>
        </p:txBody>
      </p:sp>
    </p:spTree>
    <p:extLst>
      <p:ext uri="{BB962C8B-B14F-4D97-AF65-F5344CB8AC3E}">
        <p14:creationId xmlns:p14="http://schemas.microsoft.com/office/powerpoint/2010/main" val="2022010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D2DDC7-E833-84ED-2CA3-38D1C6BFE57B}"/>
              </a:ext>
            </a:extLst>
          </p:cNvPr>
          <p:cNvSpPr>
            <a:spLocks noGrp="1"/>
          </p:cNvSpPr>
          <p:nvPr>
            <p:ph type="title"/>
          </p:nvPr>
        </p:nvSpPr>
        <p:spPr>
          <a:xfrm>
            <a:off x="838200" y="365125"/>
            <a:ext cx="10515600" cy="782739"/>
          </a:xfrm>
        </p:spPr>
        <p:txBody>
          <a:bodyPr>
            <a:normAutofit/>
          </a:bodyPr>
          <a:lstStyle/>
          <a:p>
            <a:r>
              <a:rPr lang="de-DE" kern="100" dirty="0">
                <a:effectLst/>
                <a:ea typeface="Aptos" panose="020B0004020202020204" pitchFamily="34" charset="0"/>
                <a:cs typeface="Times New Roman" panose="02020603050405020304" pitchFamily="18" charset="0"/>
              </a:rPr>
              <a:t>Urheber-Diensteanbieter-Gesetz</a:t>
            </a:r>
            <a:endParaRPr lang="de-DE" dirty="0"/>
          </a:p>
        </p:txBody>
      </p:sp>
      <p:sp>
        <p:nvSpPr>
          <p:cNvPr id="3" name="Inhaltsplatzhalter 2">
            <a:extLst>
              <a:ext uri="{FF2B5EF4-FFF2-40B4-BE49-F238E27FC236}">
                <a16:creationId xmlns:a16="http://schemas.microsoft.com/office/drawing/2014/main" id="{1A3D7B35-D4F9-18F8-79D3-0664017635FD}"/>
              </a:ext>
            </a:extLst>
          </p:cNvPr>
          <p:cNvSpPr>
            <a:spLocks noGrp="1"/>
          </p:cNvSpPr>
          <p:nvPr>
            <p:ph idx="1"/>
          </p:nvPr>
        </p:nvSpPr>
        <p:spPr>
          <a:xfrm>
            <a:off x="838200" y="1313234"/>
            <a:ext cx="10515600" cy="4863729"/>
          </a:xfrm>
        </p:spPr>
        <p:txBody>
          <a:bodyPr>
            <a:normAutofit lnSpcReduction="10000"/>
          </a:bodyPr>
          <a:lstStyle/>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Vergütungspflicht: </a:t>
            </a:r>
            <a:r>
              <a:rPr lang="de-DE" kern="100" dirty="0">
                <a:effectLst/>
                <a:latin typeface="Aptos" panose="020B0004020202020204" pitchFamily="34" charset="0"/>
                <a:ea typeface="Aptos" panose="020B0004020202020204" pitchFamily="34" charset="0"/>
                <a:cs typeface="Times New Roman" panose="02020603050405020304" pitchFamily="18" charset="0"/>
              </a:rPr>
              <a:t>Die Diensteanbieter sind verpflichtet, Urhebern eine angemessene Vergütung für die öffentliche Wiedergabe ihrer Werke zu zahlen, auch wenn diese Werke einem Dritten übertragen wurden (mit einigen Ausnahmen). </a:t>
            </a:r>
          </a:p>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Verantwortung für Inhalte: </a:t>
            </a:r>
            <a:r>
              <a:rPr lang="de-DE" kern="100" dirty="0">
                <a:effectLst/>
                <a:latin typeface="Aptos" panose="020B0004020202020204" pitchFamily="34" charset="0"/>
                <a:ea typeface="Aptos" panose="020B0004020202020204" pitchFamily="34" charset="0"/>
                <a:cs typeface="Times New Roman" panose="02020603050405020304" pitchFamily="18" charset="0"/>
              </a:rPr>
              <a:t>Die Diensteanbieter sind dafür verantwortlich, dass keine urheberrechtlich geschützten Inhalte ohne Erlaubnis hochgeladen oder weitergegeben werden. </a:t>
            </a:r>
          </a:p>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Schutz vor unbefugter Nutzung: </a:t>
            </a:r>
            <a:r>
              <a:rPr lang="de-DE" kern="100" dirty="0">
                <a:effectLst/>
                <a:latin typeface="Aptos" panose="020B0004020202020204" pitchFamily="34" charset="0"/>
                <a:ea typeface="Aptos" panose="020B0004020202020204" pitchFamily="34" charset="0"/>
                <a:cs typeface="Times New Roman" panose="02020603050405020304" pitchFamily="18" charset="0"/>
              </a:rPr>
              <a:t>Das Gesetz enthält Regelungen, um unbefugte Nutzung zu verhindern und die Rechte der Urheber zu schützen. </a:t>
            </a:r>
          </a:p>
          <a:p>
            <a:endParaRPr lang="de-DE" dirty="0"/>
          </a:p>
        </p:txBody>
      </p:sp>
      <p:sp>
        <p:nvSpPr>
          <p:cNvPr id="4" name="Fußzeilenplatzhalter 3">
            <a:extLst>
              <a:ext uri="{FF2B5EF4-FFF2-40B4-BE49-F238E27FC236}">
                <a16:creationId xmlns:a16="http://schemas.microsoft.com/office/drawing/2014/main" id="{65C842EB-1D89-DC1C-7ADE-18419568249F}"/>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965D57C-D958-FAA4-3CA0-4C2E1939FD31}"/>
              </a:ext>
            </a:extLst>
          </p:cNvPr>
          <p:cNvSpPr>
            <a:spLocks noGrp="1"/>
          </p:cNvSpPr>
          <p:nvPr>
            <p:ph type="sldNum" sz="quarter" idx="12"/>
          </p:nvPr>
        </p:nvSpPr>
        <p:spPr/>
        <p:txBody>
          <a:bodyPr/>
          <a:lstStyle/>
          <a:p>
            <a:fld id="{B4CE166D-2D50-44F1-A818-BFD238545C9D}" type="slidenum">
              <a:rPr lang="de-DE" smtClean="0"/>
              <a:t>10</a:t>
            </a:fld>
            <a:endParaRPr lang="de-DE"/>
          </a:p>
        </p:txBody>
      </p:sp>
    </p:spTree>
    <p:extLst>
      <p:ext uri="{BB962C8B-B14F-4D97-AF65-F5344CB8AC3E}">
        <p14:creationId xmlns:p14="http://schemas.microsoft.com/office/powerpoint/2010/main" val="411740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AF87E-15AD-5B31-C948-31745911DB5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7D52587-01DC-ED71-7BD6-783824F432B2}"/>
              </a:ext>
            </a:extLst>
          </p:cNvPr>
          <p:cNvSpPr>
            <a:spLocks noGrp="1"/>
          </p:cNvSpPr>
          <p:nvPr>
            <p:ph type="title"/>
          </p:nvPr>
        </p:nvSpPr>
        <p:spPr>
          <a:xfrm>
            <a:off x="838200" y="365125"/>
            <a:ext cx="10515600" cy="782739"/>
          </a:xfrm>
        </p:spPr>
        <p:txBody>
          <a:bodyPr>
            <a:normAutofit/>
          </a:bodyPr>
          <a:lstStyle/>
          <a:p>
            <a:r>
              <a:rPr lang="de-DE" kern="100" dirty="0">
                <a:effectLst/>
                <a:ea typeface="Aptos" panose="020B0004020202020204" pitchFamily="34" charset="0"/>
                <a:cs typeface="Times New Roman" panose="02020603050405020304" pitchFamily="18" charset="0"/>
              </a:rPr>
              <a:t>Urheber-Diensteanbieter-Gesetz</a:t>
            </a:r>
            <a:endParaRPr lang="de-DE" dirty="0"/>
          </a:p>
        </p:txBody>
      </p:sp>
      <p:sp>
        <p:nvSpPr>
          <p:cNvPr id="3" name="Inhaltsplatzhalter 2">
            <a:extLst>
              <a:ext uri="{FF2B5EF4-FFF2-40B4-BE49-F238E27FC236}">
                <a16:creationId xmlns:a16="http://schemas.microsoft.com/office/drawing/2014/main" id="{370301EB-A846-35D7-5A96-17BBAFCB8678}"/>
              </a:ext>
            </a:extLst>
          </p:cNvPr>
          <p:cNvSpPr>
            <a:spLocks noGrp="1"/>
          </p:cNvSpPr>
          <p:nvPr>
            <p:ph idx="1"/>
          </p:nvPr>
        </p:nvSpPr>
        <p:spPr>
          <a:xfrm>
            <a:off x="838200" y="1459149"/>
            <a:ext cx="10515600" cy="4717814"/>
          </a:xfrm>
        </p:spPr>
        <p:txBody>
          <a:bodyPr>
            <a:normAutofit lnSpcReduction="10000"/>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Internes Beschwerdeverfahren: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Diensteanbieter müssen ein wirksames Beschwerdeverfahren einrichten, bei dem Nutzer und Rechteinhaber Beschwerden gegen die Blockierung oder Wiedergabe von Werken einreichen können.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Haftung: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Diensteanbieter sind nur dann von der Haftung befreit, wenn sie ihren Pflichten aus dem </a:t>
            </a:r>
            <a:r>
              <a:rPr lang="de-DE" sz="2400"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entsprechend der branchenüblichen Standards und des Grundsatzes der Verhältnismäßigkeit nachkommen. </a:t>
            </a:r>
          </a:p>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Zusammenfassend</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lässt sich sagen, dass das </a:t>
            </a:r>
            <a:r>
              <a:rPr lang="de-DE" sz="2400" kern="100" dirty="0" err="1">
                <a:effectLst/>
                <a:latin typeface="Aptos" panose="020B0004020202020204" pitchFamily="34" charset="0"/>
                <a:ea typeface="Aptos" panose="020B0004020202020204" pitchFamily="34" charset="0"/>
                <a:cs typeface="Times New Roman" panose="02020603050405020304" pitchFamily="18" charset="0"/>
              </a:rPr>
              <a:t>UrhDaG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die urheberrechtliche Verantwortlichkeit von Online-Diensteanbietern stärkt und sie verpflichtet, die Rechte der Urheber zu respektieren und sicherzustellen, dass nur lizenziertes oder gesetzlich erlaubtes Material online verfügbar ist.</a:t>
            </a:r>
          </a:p>
          <a:p>
            <a:endParaRPr lang="de-DE" dirty="0"/>
          </a:p>
        </p:txBody>
      </p:sp>
      <p:sp>
        <p:nvSpPr>
          <p:cNvPr id="4" name="Fußzeilenplatzhalter 3">
            <a:extLst>
              <a:ext uri="{FF2B5EF4-FFF2-40B4-BE49-F238E27FC236}">
                <a16:creationId xmlns:a16="http://schemas.microsoft.com/office/drawing/2014/main" id="{581A132A-9B3C-AC20-582E-3E09116C64A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174B65E-D148-DB9A-3141-9BD5FF27E4F5}"/>
              </a:ext>
            </a:extLst>
          </p:cNvPr>
          <p:cNvSpPr>
            <a:spLocks noGrp="1"/>
          </p:cNvSpPr>
          <p:nvPr>
            <p:ph type="sldNum" sz="quarter" idx="12"/>
          </p:nvPr>
        </p:nvSpPr>
        <p:spPr/>
        <p:txBody>
          <a:bodyPr/>
          <a:lstStyle/>
          <a:p>
            <a:fld id="{B4CE166D-2D50-44F1-A818-BFD238545C9D}" type="slidenum">
              <a:rPr lang="de-DE" smtClean="0"/>
              <a:t>11</a:t>
            </a:fld>
            <a:endParaRPr lang="de-DE"/>
          </a:p>
        </p:txBody>
      </p:sp>
    </p:spTree>
    <p:extLst>
      <p:ext uri="{BB962C8B-B14F-4D97-AF65-F5344CB8AC3E}">
        <p14:creationId xmlns:p14="http://schemas.microsoft.com/office/powerpoint/2010/main" val="951833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A1BC9-C763-B30E-FBD7-70C297322984}"/>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D9BDA577-0ED4-2BB1-4AC3-5CBCFA1B6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hachfigur, Statue enthält.&#10;&#10;KI-generierte Inhalte können fehlerhaft sein.">
            <a:extLst>
              <a:ext uri="{FF2B5EF4-FFF2-40B4-BE49-F238E27FC236}">
                <a16:creationId xmlns:a16="http://schemas.microsoft.com/office/drawing/2014/main" id="{B3F6F4B4-D810-955D-FE6B-406ACFAB0843}"/>
              </a:ext>
            </a:extLst>
          </p:cNvPr>
          <p:cNvPicPr>
            <a:picLocks noChangeAspect="1"/>
          </p:cNvPicPr>
          <p:nvPr/>
        </p:nvPicPr>
        <p:blipFill>
          <a:blip r:embed="rId3">
            <a:extLst>
              <a:ext uri="{28A0092B-C50C-407E-A947-70E740481C1C}">
                <a14:useLocalDpi xmlns:a14="http://schemas.microsoft.com/office/drawing/2010/main" val="0"/>
              </a:ext>
            </a:extLst>
          </a:blip>
          <a:srcRect t="9091" r="23585"/>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BABFB2A0-F5A6-D7A1-6EA8-80B07EC64C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1BE39111-78A6-C3C6-BE86-2628DAA3337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6.2</a:t>
            </a:r>
          </a:p>
        </p:txBody>
      </p:sp>
      <p:sp>
        <p:nvSpPr>
          <p:cNvPr id="3" name="Textplatzhalter 2">
            <a:extLst>
              <a:ext uri="{FF2B5EF4-FFF2-40B4-BE49-F238E27FC236}">
                <a16:creationId xmlns:a16="http://schemas.microsoft.com/office/drawing/2014/main" id="{DC1756E4-6D47-96C8-1FD6-625556F26E2D}"/>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dirty="0" err="1">
                <a:solidFill>
                  <a:schemeClr val="tx1"/>
                </a:solidFill>
              </a:rPr>
              <a:t>Abgrenzung</a:t>
            </a:r>
            <a:r>
              <a:rPr lang="en-US" sz="2000" dirty="0">
                <a:solidFill>
                  <a:schemeClr val="tx1"/>
                </a:solidFill>
              </a:rPr>
              <a:t> </a:t>
            </a:r>
            <a:r>
              <a:rPr lang="en-US" sz="2000" dirty="0" err="1">
                <a:solidFill>
                  <a:schemeClr val="tx1"/>
                </a:solidFill>
              </a:rPr>
              <a:t>zum</a:t>
            </a:r>
            <a:r>
              <a:rPr lang="en-US" sz="2000" dirty="0">
                <a:solidFill>
                  <a:schemeClr val="tx1"/>
                </a:solidFill>
              </a:rPr>
              <a:t> </a:t>
            </a:r>
            <a:br>
              <a:rPr lang="en-US" sz="2000" dirty="0">
                <a:solidFill>
                  <a:schemeClr val="tx1"/>
                </a:solidFill>
              </a:rPr>
            </a:br>
            <a:r>
              <a:rPr lang="en-US" sz="2000" b="1" dirty="0">
                <a:solidFill>
                  <a:schemeClr val="tx1"/>
                </a:solidFill>
              </a:rPr>
              <a:t>Marken- und </a:t>
            </a:r>
            <a:r>
              <a:rPr lang="en-US" sz="2000" b="1" dirty="0" err="1">
                <a:solidFill>
                  <a:schemeClr val="tx1"/>
                </a:solidFill>
              </a:rPr>
              <a:t>Patentrecht</a:t>
            </a:r>
            <a:endParaRPr lang="en-US" sz="2000" dirty="0">
              <a:solidFill>
                <a:schemeClr val="tx1"/>
              </a:solidFill>
            </a:endParaRPr>
          </a:p>
        </p:txBody>
      </p:sp>
      <p:sp>
        <p:nvSpPr>
          <p:cNvPr id="47" name="Rectangle 46">
            <a:extLst>
              <a:ext uri="{FF2B5EF4-FFF2-40B4-BE49-F238E27FC236}">
                <a16:creationId xmlns:a16="http://schemas.microsoft.com/office/drawing/2014/main" id="{D565B361-141D-C4EC-3276-B8266E955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A4AB43AD-DF1B-B484-4814-687885B940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255BFC25-C5AC-A23A-8AF2-0B0ABFCB054E}"/>
              </a:ext>
            </a:extLst>
          </p:cNvPr>
          <p:cNvSpPr>
            <a:spLocks noGrp="1"/>
          </p:cNvSpPr>
          <p:nvPr>
            <p:ph type="ftr" sz="quarter" idx="11"/>
          </p:nvPr>
        </p:nvSpPr>
        <p:spPr>
          <a:xfrm>
            <a:off x="593387" y="6356350"/>
            <a:ext cx="3907951"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8820699E-2607-4C81-A241-BF0048929D0C}"/>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12</a:t>
            </a:fld>
            <a:endParaRPr lang="en-US">
              <a:solidFill>
                <a:schemeClr val="bg1"/>
              </a:solidFill>
              <a:latin typeface="Calibri" panose="020F0502020204030204"/>
            </a:endParaRPr>
          </a:p>
        </p:txBody>
      </p:sp>
    </p:spTree>
    <p:extLst>
      <p:ext uri="{BB962C8B-B14F-4D97-AF65-F5344CB8AC3E}">
        <p14:creationId xmlns:p14="http://schemas.microsoft.com/office/powerpoint/2010/main" val="3466859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403748AD-CB64-909D-32C9-55A8F0846618}"/>
              </a:ext>
            </a:extLst>
          </p:cNvPr>
          <p:cNvSpPr>
            <a:spLocks noGrp="1"/>
          </p:cNvSpPr>
          <p:nvPr>
            <p:ph type="title"/>
          </p:nvPr>
        </p:nvSpPr>
        <p:spPr>
          <a:xfrm>
            <a:off x="838200" y="365126"/>
            <a:ext cx="10515600" cy="833054"/>
          </a:xfrm>
        </p:spPr>
        <p:txBody>
          <a:bodyPr/>
          <a:lstStyle/>
          <a:p>
            <a:r>
              <a:rPr lang="de-DE" dirty="0"/>
              <a:t>Abgrenzung zum Marken- und Patentrecht</a:t>
            </a:r>
          </a:p>
        </p:txBody>
      </p:sp>
      <p:sp>
        <p:nvSpPr>
          <p:cNvPr id="7" name="Inhaltsplatzhalter 6">
            <a:extLst>
              <a:ext uri="{FF2B5EF4-FFF2-40B4-BE49-F238E27FC236}">
                <a16:creationId xmlns:a16="http://schemas.microsoft.com/office/drawing/2014/main" id="{57FEDE32-AEE8-5996-A9BB-95FFC8C713AA}"/>
              </a:ext>
            </a:extLst>
          </p:cNvPr>
          <p:cNvSpPr>
            <a:spLocks noGrp="1"/>
          </p:cNvSpPr>
          <p:nvPr>
            <p:ph idx="1"/>
          </p:nvPr>
        </p:nvSpPr>
        <p:spPr>
          <a:xfrm>
            <a:off x="838200" y="2130357"/>
            <a:ext cx="10515600" cy="4046606"/>
          </a:xfrm>
        </p:spPr>
        <p:txBody>
          <a:bodyPr>
            <a:normAutofit/>
          </a:bodyPr>
          <a:lstStyle/>
          <a:p>
            <a:pPr marL="0" indent="0">
              <a:buNone/>
            </a:pP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 Markenrecht und Patentrecht</a:t>
            </a:r>
            <a:r>
              <a:rPr lang="de-DE" kern="100" dirty="0">
                <a:effectLst/>
                <a:latin typeface="Aptos" panose="020B0004020202020204" pitchFamily="34" charset="0"/>
                <a:ea typeface="Aptos" panose="020B0004020202020204" pitchFamily="34" charset="0"/>
                <a:cs typeface="Times New Roman" panose="02020603050405020304" pitchFamily="18" charset="0"/>
              </a:rPr>
              <a:t> sind unterschiedliche Arten des geistigen Eigentums mit jeweils spezifischen Schutzobjekten und Anwendungsbereichen. </a:t>
            </a:r>
          </a:p>
          <a:p>
            <a:pPr marL="0" indent="0">
              <a:buNone/>
            </a:pP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r>
              <a:rPr lang="de-DE" kern="100" dirty="0">
                <a:effectLst/>
                <a:latin typeface="Aptos" panose="020B0004020202020204" pitchFamily="34" charset="0"/>
                <a:ea typeface="Aptos" panose="020B0004020202020204" pitchFamily="34" charset="0"/>
                <a:cs typeface="Times New Roman" panose="02020603050405020304" pitchFamily="18" charset="0"/>
              </a:rPr>
              <a:t>Das </a:t>
            </a: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 schützt kreative Werke</a:t>
            </a:r>
            <a:r>
              <a:rPr lang="de-DE" kern="100" dirty="0">
                <a:effectLst/>
                <a:latin typeface="Aptos" panose="020B0004020202020204" pitchFamily="34" charset="0"/>
                <a:ea typeface="Aptos" panose="020B0004020202020204" pitchFamily="34" charset="0"/>
                <a:cs typeface="Times New Roman" panose="02020603050405020304" pitchFamily="18" charset="0"/>
              </a:rPr>
              <a:t>, </a:t>
            </a:r>
            <a:br>
              <a:rPr lang="de-DE" kern="100" dirty="0">
                <a:effectLst/>
                <a:latin typeface="Aptos" panose="020B0004020202020204" pitchFamily="34" charset="0"/>
                <a:ea typeface="Aptos" panose="020B0004020202020204" pitchFamily="34" charset="0"/>
                <a:cs typeface="Times New Roman" panose="02020603050405020304" pitchFamily="18" charset="0"/>
              </a:rPr>
            </a:br>
            <a:r>
              <a:rPr lang="de-DE" kern="100" dirty="0">
                <a:effectLst/>
                <a:latin typeface="Aptos" panose="020B0004020202020204" pitchFamily="34" charset="0"/>
                <a:ea typeface="Aptos" panose="020B0004020202020204" pitchFamily="34" charset="0"/>
                <a:cs typeface="Times New Roman" panose="02020603050405020304" pitchFamily="18" charset="0"/>
              </a:rPr>
              <a:t>während das </a:t>
            </a:r>
            <a:r>
              <a:rPr lang="de-DE" b="1" kern="100" dirty="0">
                <a:effectLst/>
                <a:latin typeface="Aptos" panose="020B0004020202020204" pitchFamily="34" charset="0"/>
                <a:ea typeface="Aptos" panose="020B0004020202020204" pitchFamily="34" charset="0"/>
                <a:cs typeface="Times New Roman" panose="02020603050405020304" pitchFamily="18" charset="0"/>
              </a:rPr>
              <a:t>Markenrecht geschäftliche Kennzeichen </a:t>
            </a:r>
            <a:r>
              <a:rPr lang="de-DE" kern="100" dirty="0">
                <a:effectLst/>
                <a:latin typeface="Aptos" panose="020B0004020202020204" pitchFamily="34" charset="0"/>
                <a:ea typeface="Aptos" panose="020B0004020202020204" pitchFamily="34" charset="0"/>
                <a:cs typeface="Times New Roman" panose="02020603050405020304" pitchFamily="18" charset="0"/>
              </a:rPr>
              <a:t>und </a:t>
            </a:r>
            <a:br>
              <a:rPr lang="de-DE" kern="100" dirty="0">
                <a:effectLst/>
                <a:latin typeface="Aptos" panose="020B0004020202020204" pitchFamily="34" charset="0"/>
                <a:ea typeface="Aptos" panose="020B0004020202020204" pitchFamily="34" charset="0"/>
                <a:cs typeface="Times New Roman" panose="02020603050405020304" pitchFamily="18" charset="0"/>
              </a:rPr>
            </a:br>
            <a:r>
              <a:rPr lang="de-DE" kern="100" dirty="0">
                <a:effectLst/>
                <a:latin typeface="Aptos" panose="020B0004020202020204" pitchFamily="34" charset="0"/>
                <a:ea typeface="Aptos" panose="020B0004020202020204" pitchFamily="34" charset="0"/>
                <a:cs typeface="Times New Roman" panose="02020603050405020304" pitchFamily="18" charset="0"/>
              </a:rPr>
              <a:t>das </a:t>
            </a:r>
            <a:r>
              <a:rPr lang="de-DE" b="1" kern="100" dirty="0">
                <a:effectLst/>
                <a:latin typeface="Aptos" panose="020B0004020202020204" pitchFamily="34" charset="0"/>
                <a:ea typeface="Aptos" panose="020B0004020202020204" pitchFamily="34" charset="0"/>
                <a:cs typeface="Times New Roman" panose="02020603050405020304" pitchFamily="18" charset="0"/>
              </a:rPr>
              <a:t>Patentrecht Erfindungen und technische Lösungen </a:t>
            </a:r>
            <a:r>
              <a:rPr lang="de-DE" kern="100" dirty="0">
                <a:effectLst/>
                <a:latin typeface="Aptos" panose="020B0004020202020204" pitchFamily="34" charset="0"/>
                <a:ea typeface="Aptos" panose="020B0004020202020204" pitchFamily="34" charset="0"/>
                <a:cs typeface="Times New Roman" panose="02020603050405020304" pitchFamily="18" charset="0"/>
              </a:rPr>
              <a:t>schützt. </a:t>
            </a:r>
          </a:p>
          <a:p>
            <a:endParaRPr lang="de-DE" dirty="0"/>
          </a:p>
        </p:txBody>
      </p:sp>
      <p:sp>
        <p:nvSpPr>
          <p:cNvPr id="4" name="Fußzeilenplatzhalter 3">
            <a:extLst>
              <a:ext uri="{FF2B5EF4-FFF2-40B4-BE49-F238E27FC236}">
                <a16:creationId xmlns:a16="http://schemas.microsoft.com/office/drawing/2014/main" id="{38A6A019-CD8B-8535-D7BB-1B2FEA73CCA1}"/>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EDC7A4B-6650-F92F-3D4C-0F28F36C5C62}"/>
              </a:ext>
            </a:extLst>
          </p:cNvPr>
          <p:cNvSpPr>
            <a:spLocks noGrp="1"/>
          </p:cNvSpPr>
          <p:nvPr>
            <p:ph type="sldNum" sz="quarter" idx="12"/>
          </p:nvPr>
        </p:nvSpPr>
        <p:spPr/>
        <p:txBody>
          <a:bodyPr/>
          <a:lstStyle/>
          <a:p>
            <a:fld id="{B4CE166D-2D50-44F1-A818-BFD238545C9D}" type="slidenum">
              <a:rPr lang="de-DE" smtClean="0"/>
              <a:t>13</a:t>
            </a:fld>
            <a:endParaRPr lang="de-DE"/>
          </a:p>
        </p:txBody>
      </p:sp>
    </p:spTree>
    <p:extLst>
      <p:ext uri="{BB962C8B-B14F-4D97-AF65-F5344CB8AC3E}">
        <p14:creationId xmlns:p14="http://schemas.microsoft.com/office/powerpoint/2010/main" val="3484181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57887-E09C-66BE-5CA2-EE887F7A44D0}"/>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89AE3556-E951-9F18-D6F3-EEB2594F889F}"/>
              </a:ext>
            </a:extLst>
          </p:cNvPr>
          <p:cNvSpPr>
            <a:spLocks noGrp="1"/>
          </p:cNvSpPr>
          <p:nvPr>
            <p:ph type="title"/>
          </p:nvPr>
        </p:nvSpPr>
        <p:spPr>
          <a:xfrm>
            <a:off x="838200" y="365126"/>
            <a:ext cx="10515600" cy="833054"/>
          </a:xfrm>
        </p:spPr>
        <p:txBody>
          <a:bodyPr/>
          <a:lstStyle/>
          <a:p>
            <a:r>
              <a:rPr lang="de-DE" dirty="0"/>
              <a:t>Abgrenzung zum Marken- und Patentrecht</a:t>
            </a:r>
          </a:p>
        </p:txBody>
      </p:sp>
      <p:sp>
        <p:nvSpPr>
          <p:cNvPr id="7" name="Inhaltsplatzhalter 6">
            <a:extLst>
              <a:ext uri="{FF2B5EF4-FFF2-40B4-BE49-F238E27FC236}">
                <a16:creationId xmlns:a16="http://schemas.microsoft.com/office/drawing/2014/main" id="{34706F82-C3B5-4FC6-77DC-414B2F1B8A2C}"/>
              </a:ext>
            </a:extLst>
          </p:cNvPr>
          <p:cNvSpPr>
            <a:spLocks noGrp="1"/>
          </p:cNvSpPr>
          <p:nvPr>
            <p:ph idx="1"/>
          </p:nvPr>
        </p:nvSpPr>
        <p:spPr>
          <a:xfrm>
            <a:off x="838200" y="1345324"/>
            <a:ext cx="10515600" cy="4831639"/>
          </a:xfrm>
        </p:spPr>
        <p:txBody>
          <a:bodyPr>
            <a:normAutofit/>
          </a:bodyPr>
          <a:lstStyle/>
          <a:p>
            <a:pPr>
              <a:lnSpc>
                <a:spcPct val="107000"/>
              </a:lnSpc>
              <a:spcAft>
                <a:spcPts val="800"/>
              </a:spcAft>
              <a:buNone/>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Markenrecht:</a:t>
            </a: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Schützt geschäftliche Kennzeichen, wie Namen, Logos und Slogans.</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Dient der Unterscheidung von Waren und Dienstleistungen verschiedener Unternehmen.</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Muss beim Deutschen Patent- und Markenamt angemeldet und eingetragen werden.</a:t>
            </a:r>
          </a:p>
          <a:p>
            <a:pPr marL="342900" lvl="0" indent="-342900">
              <a:lnSpc>
                <a:spcPct val="107000"/>
              </a:lnSpc>
              <a:spcAft>
                <a:spcPts val="800"/>
              </a:spcAft>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Hat eine unbegrenzte Laufzeit, solange die Marke aktiv genutzt wird. </a:t>
            </a:r>
          </a:p>
          <a:p>
            <a:pPr>
              <a:lnSpc>
                <a:spcPct val="107000"/>
              </a:lnSpc>
              <a:spcAft>
                <a:spcPts val="800"/>
              </a:spcAft>
              <a:buNone/>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Patentrecht:</a:t>
            </a:r>
            <a:endParaRPr lang="de-DE" sz="20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Schützt technische Erfindungen und Verfahren.</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Muss die Kriterien Neuheit, erfinderische Tätigkeit und gewerbliche Anwendbarkeit erfüllen.</a:t>
            </a:r>
          </a:p>
          <a:p>
            <a:pPr marL="342900" lvl="0" indent="-342900">
              <a:lnSpc>
                <a:spcPct val="107000"/>
              </a:lnSpc>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Muss beim Deutschen Patent- und Markenamt angemeldet und eingetragen werden.</a:t>
            </a:r>
          </a:p>
          <a:p>
            <a:pPr marL="342900" lvl="0" indent="-342900">
              <a:lnSpc>
                <a:spcPct val="107000"/>
              </a:lnSpc>
              <a:spcAft>
                <a:spcPts val="800"/>
              </a:spcAft>
              <a:buFont typeface="Symbol" panose="05050102010706020507" pitchFamily="18" charset="2"/>
              <a:buChar char=""/>
            </a:pPr>
            <a:r>
              <a:rPr lang="de-DE" sz="2000" kern="100" dirty="0">
                <a:effectLst/>
                <a:latin typeface="Aptos" panose="020B0004020202020204" pitchFamily="34" charset="0"/>
                <a:ea typeface="Aptos" panose="020B0004020202020204" pitchFamily="34" charset="0"/>
                <a:cs typeface="Times New Roman" panose="02020603050405020304" pitchFamily="18" charset="0"/>
              </a:rPr>
              <a:t>Hat eine begrenzte Laufzeit, in der Regel 20 Jahre ab Anmeldedatum. </a:t>
            </a:r>
            <a:endParaRPr lang="de-DE" sz="2000" dirty="0"/>
          </a:p>
        </p:txBody>
      </p:sp>
      <p:sp>
        <p:nvSpPr>
          <p:cNvPr id="4" name="Fußzeilenplatzhalter 3">
            <a:extLst>
              <a:ext uri="{FF2B5EF4-FFF2-40B4-BE49-F238E27FC236}">
                <a16:creationId xmlns:a16="http://schemas.microsoft.com/office/drawing/2014/main" id="{A0B28CCD-3764-314F-9B2A-09D3DC10AF08}"/>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237ECC1-832A-09B4-3679-EA44C6F132FE}"/>
              </a:ext>
            </a:extLst>
          </p:cNvPr>
          <p:cNvSpPr>
            <a:spLocks noGrp="1"/>
          </p:cNvSpPr>
          <p:nvPr>
            <p:ph type="sldNum" sz="quarter" idx="12"/>
          </p:nvPr>
        </p:nvSpPr>
        <p:spPr/>
        <p:txBody>
          <a:bodyPr/>
          <a:lstStyle/>
          <a:p>
            <a:fld id="{B4CE166D-2D50-44F1-A818-BFD238545C9D}" type="slidenum">
              <a:rPr lang="de-DE" smtClean="0"/>
              <a:t>14</a:t>
            </a:fld>
            <a:endParaRPr lang="de-DE"/>
          </a:p>
        </p:txBody>
      </p:sp>
    </p:spTree>
    <p:extLst>
      <p:ext uri="{BB962C8B-B14F-4D97-AF65-F5344CB8AC3E}">
        <p14:creationId xmlns:p14="http://schemas.microsoft.com/office/powerpoint/2010/main" val="871615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D1836-B0FC-6833-15D3-B753E77C866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661056BF-A1F0-684A-6003-D2F1BEA9D996}"/>
              </a:ext>
            </a:extLst>
          </p:cNvPr>
          <p:cNvSpPr>
            <a:spLocks noGrp="1"/>
          </p:cNvSpPr>
          <p:nvPr>
            <p:ph type="title"/>
          </p:nvPr>
        </p:nvSpPr>
        <p:spPr>
          <a:xfrm>
            <a:off x="838200" y="365126"/>
            <a:ext cx="10515600" cy="833054"/>
          </a:xfrm>
        </p:spPr>
        <p:txBody>
          <a:bodyPr/>
          <a:lstStyle/>
          <a:p>
            <a:r>
              <a:rPr lang="de-DE" dirty="0"/>
              <a:t>Abgrenzung zum Marken- und Patentrecht</a:t>
            </a:r>
          </a:p>
        </p:txBody>
      </p:sp>
      <p:sp>
        <p:nvSpPr>
          <p:cNvPr id="7" name="Inhaltsplatzhalter 6">
            <a:extLst>
              <a:ext uri="{FF2B5EF4-FFF2-40B4-BE49-F238E27FC236}">
                <a16:creationId xmlns:a16="http://schemas.microsoft.com/office/drawing/2014/main" id="{AFF2F3F4-F30D-EB2F-76C6-2FB94145DE04}"/>
              </a:ext>
            </a:extLst>
          </p:cNvPr>
          <p:cNvSpPr>
            <a:spLocks noGrp="1"/>
          </p:cNvSpPr>
          <p:nvPr>
            <p:ph idx="1"/>
          </p:nvPr>
        </p:nvSpPr>
        <p:spPr>
          <a:xfrm>
            <a:off x="838200" y="2013626"/>
            <a:ext cx="10515600" cy="4163337"/>
          </a:xfrm>
        </p:spPr>
        <p:txBody>
          <a:bodyPr/>
          <a:lstStyle/>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Abgrenzung Urheberrecht vs. Markenrecht: </a:t>
            </a:r>
            <a:r>
              <a:rPr lang="de-DE" kern="100" dirty="0">
                <a:effectLst/>
                <a:latin typeface="Aptos" panose="020B0004020202020204" pitchFamily="34" charset="0"/>
                <a:ea typeface="Aptos" panose="020B0004020202020204" pitchFamily="34" charset="0"/>
                <a:cs typeface="Times New Roman" panose="02020603050405020304" pitchFamily="18" charset="0"/>
              </a:rPr>
              <a:t>Das Urheberrecht schützt kreative Werke, das Markenrecht geschäftliche Kennzeichen. Der Schutz erstreckt sich über unterschiedliche Bereiche. </a:t>
            </a:r>
          </a:p>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Abgrenzung Urheberrecht vs. Patentrecht: </a:t>
            </a:r>
            <a:r>
              <a:rPr lang="de-DE" kern="100" dirty="0">
                <a:effectLst/>
                <a:latin typeface="Aptos" panose="020B0004020202020204" pitchFamily="34" charset="0"/>
                <a:ea typeface="Aptos" panose="020B0004020202020204" pitchFamily="34" charset="0"/>
                <a:cs typeface="Times New Roman" panose="02020603050405020304" pitchFamily="18" charset="0"/>
              </a:rPr>
              <a:t>Das Urheberrecht schützt den Ausdruck von Ideen, das Patentrecht schützt die Ideen selbst in Form einer technischen Erfindung. </a:t>
            </a:r>
          </a:p>
          <a:p>
            <a:endParaRPr lang="de-DE" dirty="0"/>
          </a:p>
        </p:txBody>
      </p:sp>
      <p:sp>
        <p:nvSpPr>
          <p:cNvPr id="4" name="Fußzeilenplatzhalter 3">
            <a:extLst>
              <a:ext uri="{FF2B5EF4-FFF2-40B4-BE49-F238E27FC236}">
                <a16:creationId xmlns:a16="http://schemas.microsoft.com/office/drawing/2014/main" id="{68537C57-F5AB-D36F-08C3-61F9DE7F0123}"/>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4032210-D9BD-B1F4-AEF4-9BA34B24D3B2}"/>
              </a:ext>
            </a:extLst>
          </p:cNvPr>
          <p:cNvSpPr>
            <a:spLocks noGrp="1"/>
          </p:cNvSpPr>
          <p:nvPr>
            <p:ph type="sldNum" sz="quarter" idx="12"/>
          </p:nvPr>
        </p:nvSpPr>
        <p:spPr/>
        <p:txBody>
          <a:bodyPr/>
          <a:lstStyle/>
          <a:p>
            <a:fld id="{B4CE166D-2D50-44F1-A818-BFD238545C9D}" type="slidenum">
              <a:rPr lang="de-DE" smtClean="0"/>
              <a:t>15</a:t>
            </a:fld>
            <a:endParaRPr lang="de-DE"/>
          </a:p>
        </p:txBody>
      </p:sp>
    </p:spTree>
    <p:extLst>
      <p:ext uri="{BB962C8B-B14F-4D97-AF65-F5344CB8AC3E}">
        <p14:creationId xmlns:p14="http://schemas.microsoft.com/office/powerpoint/2010/main" val="372579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88BB5-2EE4-BE69-8AF5-CD1CCDF2A25D}"/>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D0D607C-958C-C706-33CD-9ABA6EE7CF2B}"/>
              </a:ext>
            </a:extLst>
          </p:cNvPr>
          <p:cNvSpPr>
            <a:spLocks noGrp="1"/>
          </p:cNvSpPr>
          <p:nvPr>
            <p:ph type="title"/>
          </p:nvPr>
        </p:nvSpPr>
        <p:spPr>
          <a:xfrm>
            <a:off x="838200" y="365126"/>
            <a:ext cx="10515600" cy="833054"/>
          </a:xfrm>
        </p:spPr>
        <p:txBody>
          <a:bodyPr/>
          <a:lstStyle/>
          <a:p>
            <a:r>
              <a:rPr lang="de-DE" dirty="0"/>
              <a:t>Abgrenzung zum Marken- und Patentrecht</a:t>
            </a:r>
          </a:p>
        </p:txBody>
      </p:sp>
      <p:sp>
        <p:nvSpPr>
          <p:cNvPr id="7" name="Inhaltsplatzhalter 6">
            <a:extLst>
              <a:ext uri="{FF2B5EF4-FFF2-40B4-BE49-F238E27FC236}">
                <a16:creationId xmlns:a16="http://schemas.microsoft.com/office/drawing/2014/main" id="{1F0E0160-6424-1A26-1C83-2C2A98E4B999}"/>
              </a:ext>
            </a:extLst>
          </p:cNvPr>
          <p:cNvSpPr>
            <a:spLocks noGrp="1"/>
          </p:cNvSpPr>
          <p:nvPr>
            <p:ph idx="1"/>
          </p:nvPr>
        </p:nvSpPr>
        <p:spPr>
          <a:xfrm>
            <a:off x="838200" y="1345324"/>
            <a:ext cx="10515600" cy="4831639"/>
          </a:xfrm>
        </p:spPr>
        <p:txBody>
          <a:bodyPr>
            <a:noAutofit/>
          </a:bodyPr>
          <a:lstStyle/>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Abgrenzung Markenrecht vs. Patentrecht: </a:t>
            </a:r>
            <a:r>
              <a:rPr lang="de-DE" kern="100" dirty="0">
                <a:effectLst/>
                <a:latin typeface="Aptos" panose="020B0004020202020204" pitchFamily="34" charset="0"/>
                <a:ea typeface="Aptos" panose="020B0004020202020204" pitchFamily="34" charset="0"/>
                <a:cs typeface="Times New Roman" panose="02020603050405020304" pitchFamily="18" charset="0"/>
              </a:rPr>
              <a:t>Das Markenrecht schützt geschäftliche Kennzeichen, das Patentrecht technische Erfindungen. Der Schutz erstreckt sich über unterschiedliche Bereiche. </a:t>
            </a:r>
          </a:p>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Zusammenfassend:</a:t>
            </a:r>
            <a:r>
              <a:rPr lang="de-DE" kern="100" dirty="0">
                <a:effectLst/>
                <a:latin typeface="Aptos" panose="020B0004020202020204" pitchFamily="34" charset="0"/>
                <a:ea typeface="Aptos" panose="020B0004020202020204" pitchFamily="34" charset="0"/>
                <a:cs typeface="Times New Roman" panose="02020603050405020304" pitchFamily="18" charset="0"/>
              </a:rPr>
              <a:t> Urheberrecht, Markenrecht und Patentrecht sind verschiedene Formen des geistigen Eigentums, die jeweils unterschiedliche Arten von Erfindungen und Schöpfungen schützen. Ihre jeweiligen Schutzobjekte und -bereiche sind klar abgrenzbar, was die richtige Anbringung der jeweiligen Rechte sicherstellt.</a:t>
            </a:r>
          </a:p>
          <a:p>
            <a:endParaRPr lang="de-DE" dirty="0"/>
          </a:p>
        </p:txBody>
      </p:sp>
      <p:sp>
        <p:nvSpPr>
          <p:cNvPr id="4" name="Fußzeilenplatzhalter 3">
            <a:extLst>
              <a:ext uri="{FF2B5EF4-FFF2-40B4-BE49-F238E27FC236}">
                <a16:creationId xmlns:a16="http://schemas.microsoft.com/office/drawing/2014/main" id="{5C65369F-0FC6-7B9F-3EA6-909BCB5FEEE7}"/>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9E63865C-EDF2-1A83-460F-6B1CEFC1001C}"/>
              </a:ext>
            </a:extLst>
          </p:cNvPr>
          <p:cNvSpPr>
            <a:spLocks noGrp="1"/>
          </p:cNvSpPr>
          <p:nvPr>
            <p:ph type="sldNum" sz="quarter" idx="12"/>
          </p:nvPr>
        </p:nvSpPr>
        <p:spPr/>
        <p:txBody>
          <a:bodyPr/>
          <a:lstStyle/>
          <a:p>
            <a:fld id="{B4CE166D-2D50-44F1-A818-BFD238545C9D}" type="slidenum">
              <a:rPr lang="de-DE" smtClean="0"/>
              <a:t>16</a:t>
            </a:fld>
            <a:endParaRPr lang="de-DE"/>
          </a:p>
        </p:txBody>
      </p:sp>
    </p:spTree>
    <p:extLst>
      <p:ext uri="{BB962C8B-B14F-4D97-AF65-F5344CB8AC3E}">
        <p14:creationId xmlns:p14="http://schemas.microsoft.com/office/powerpoint/2010/main" val="2096039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CA40A9-664B-FDD1-AC42-39B360CBC44F}"/>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4FCEB957-8A82-27BE-1045-4AD2DFD29C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hachfigur, Statue enthält.&#10;&#10;KI-generierte Inhalte können fehlerhaft sein.">
            <a:extLst>
              <a:ext uri="{FF2B5EF4-FFF2-40B4-BE49-F238E27FC236}">
                <a16:creationId xmlns:a16="http://schemas.microsoft.com/office/drawing/2014/main" id="{E2F439FF-53B2-3930-CA44-6CD19E87EAE4}"/>
              </a:ext>
            </a:extLst>
          </p:cNvPr>
          <p:cNvPicPr>
            <a:picLocks noChangeAspect="1"/>
          </p:cNvPicPr>
          <p:nvPr/>
        </p:nvPicPr>
        <p:blipFill>
          <a:blip r:embed="rId3">
            <a:extLst>
              <a:ext uri="{28A0092B-C50C-407E-A947-70E740481C1C}">
                <a14:useLocalDpi xmlns:a14="http://schemas.microsoft.com/office/drawing/2010/main" val="0"/>
              </a:ext>
            </a:extLst>
          </a:blip>
          <a:srcRect t="9091" r="23585"/>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16AC2F86-06A5-14A7-FDDC-955470EA4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6F0AB2C8-D1C5-FBC9-A340-96BA2D00D69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6.3</a:t>
            </a:r>
          </a:p>
        </p:txBody>
      </p:sp>
      <p:sp>
        <p:nvSpPr>
          <p:cNvPr id="3" name="Textplatzhalter 2">
            <a:extLst>
              <a:ext uri="{FF2B5EF4-FFF2-40B4-BE49-F238E27FC236}">
                <a16:creationId xmlns:a16="http://schemas.microsoft.com/office/drawing/2014/main" id="{F0EEE21A-822A-F110-3981-EB591C60BB5C}"/>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Anwendungsbereiche</a:t>
            </a:r>
            <a:r>
              <a:rPr lang="en-US" sz="2000" b="1" dirty="0">
                <a:solidFill>
                  <a:schemeClr val="tx1"/>
                </a:solidFill>
              </a:rPr>
              <a:t> &amp;</a:t>
            </a:r>
            <a:br>
              <a:rPr lang="en-US" sz="2000" b="1" dirty="0">
                <a:solidFill>
                  <a:schemeClr val="tx1"/>
                </a:solidFill>
              </a:rPr>
            </a:br>
            <a:r>
              <a:rPr lang="en-US" sz="2000" b="1" dirty="0" err="1">
                <a:solidFill>
                  <a:schemeClr val="tx1"/>
                </a:solidFill>
              </a:rPr>
              <a:t>Nutzungsrechte</a:t>
            </a:r>
            <a:endParaRPr lang="en-US" sz="2000" b="1" dirty="0">
              <a:solidFill>
                <a:schemeClr val="tx1"/>
              </a:solidFill>
            </a:endParaRPr>
          </a:p>
        </p:txBody>
      </p:sp>
      <p:sp>
        <p:nvSpPr>
          <p:cNvPr id="47" name="Rectangle 46">
            <a:extLst>
              <a:ext uri="{FF2B5EF4-FFF2-40B4-BE49-F238E27FC236}">
                <a16:creationId xmlns:a16="http://schemas.microsoft.com/office/drawing/2014/main" id="{73D60F06-2F98-03D2-6199-D38FB3698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BF902EA6-0E13-4251-8E87-077EDA6EC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B940C866-2012-4ECE-10D9-4F2109DDCC47}"/>
              </a:ext>
            </a:extLst>
          </p:cNvPr>
          <p:cNvSpPr>
            <a:spLocks noGrp="1"/>
          </p:cNvSpPr>
          <p:nvPr>
            <p:ph type="ftr" sz="quarter" idx="11"/>
          </p:nvPr>
        </p:nvSpPr>
        <p:spPr>
          <a:xfrm>
            <a:off x="593387" y="6356350"/>
            <a:ext cx="3907951"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BE776F43-80AC-B8A9-E4B7-1A86248A9F24}"/>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17</a:t>
            </a:fld>
            <a:endParaRPr lang="en-US">
              <a:solidFill>
                <a:schemeClr val="bg1"/>
              </a:solidFill>
              <a:latin typeface="Calibri" panose="020F0502020204030204"/>
            </a:endParaRPr>
          </a:p>
        </p:txBody>
      </p:sp>
    </p:spTree>
    <p:extLst>
      <p:ext uri="{BB962C8B-B14F-4D97-AF65-F5344CB8AC3E}">
        <p14:creationId xmlns:p14="http://schemas.microsoft.com/office/powerpoint/2010/main" val="1180445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869606C-E972-9626-D5DF-8DF880C210CA}"/>
              </a:ext>
            </a:extLst>
          </p:cNvPr>
          <p:cNvSpPr>
            <a:spLocks noGrp="1"/>
          </p:cNvSpPr>
          <p:nvPr>
            <p:ph type="title"/>
          </p:nvPr>
        </p:nvSpPr>
        <p:spPr>
          <a:xfrm>
            <a:off x="838200" y="365126"/>
            <a:ext cx="10515600" cy="850832"/>
          </a:xfrm>
        </p:spPr>
        <p:txBody>
          <a:bodyPr>
            <a:normAutofit/>
          </a:bodyPr>
          <a:lstStyle/>
          <a:p>
            <a:r>
              <a:rPr lang="de-DE" kern="100" dirty="0">
                <a:effectLst/>
                <a:ea typeface="Aptos" panose="020B0004020202020204" pitchFamily="34" charset="0"/>
                <a:cs typeface="Times New Roman" panose="02020603050405020304" pitchFamily="18" charset="0"/>
              </a:rPr>
              <a:t>Anwendungsbereich des Urheberrechts</a:t>
            </a:r>
            <a:endParaRPr lang="de-DE" dirty="0"/>
          </a:p>
        </p:txBody>
      </p:sp>
      <p:sp>
        <p:nvSpPr>
          <p:cNvPr id="7" name="Inhaltsplatzhalter 6">
            <a:extLst>
              <a:ext uri="{FF2B5EF4-FFF2-40B4-BE49-F238E27FC236}">
                <a16:creationId xmlns:a16="http://schemas.microsoft.com/office/drawing/2014/main" id="{F26CCFB7-8A28-802A-3F29-DE92112AF0F0}"/>
              </a:ext>
            </a:extLst>
          </p:cNvPr>
          <p:cNvSpPr>
            <a:spLocks noGrp="1"/>
          </p:cNvSpPr>
          <p:nvPr>
            <p:ph idx="1"/>
          </p:nvPr>
        </p:nvSpPr>
        <p:spPr>
          <a:xfrm>
            <a:off x="838200" y="1857983"/>
            <a:ext cx="10515600" cy="4318980"/>
          </a:xfrm>
        </p:spPr>
        <p:txBody>
          <a:bodyPr>
            <a:noAutofit/>
          </a:bodyPr>
          <a:lstStyle/>
          <a:p>
            <a:pPr marL="0" indent="0">
              <a:lnSpc>
                <a:spcPct val="107000"/>
              </a:lnSpc>
              <a:spcAft>
                <a:spcPts val="800"/>
              </a:spcAft>
              <a:buNone/>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Das Urheberrecht</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auch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Copyright</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genannt, schützt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geistiges Eigentum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wie Musik, Bücher, Filme und Software. Es regelt, wer ein Werk nutzen darf und wie. Die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Nutzungsrechte</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 definieren, </a:t>
            </a:r>
            <a:r>
              <a:rPr lang="de-DE" sz="2000" b="1" kern="100" dirty="0">
                <a:effectLst/>
                <a:latin typeface="Aptos" panose="020B0004020202020204" pitchFamily="34" charset="0"/>
                <a:ea typeface="Aptos" panose="020B0004020202020204" pitchFamily="34" charset="0"/>
                <a:cs typeface="Times New Roman" panose="02020603050405020304" pitchFamily="18" charset="0"/>
              </a:rPr>
              <a:t>in welchem Umfang Dritte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ein urheberrechtlich geschütztes Werk verwenden dürfen.</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Schutzumfang: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Urheberrecht schützt das geistige Eigentum von Autoren und anderen Schöpfern, wie z.B. Musikern, Schriftstellern, Filmproduzenten und Künstlern.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Geschützte Werke: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Die Liste der geschützten Werke ist lang und umfasst unter anderem Bücher, Filme, Musik, Fotos, Software, Webseiten und künstlerische Darstellungen. </a:t>
            </a:r>
          </a:p>
          <a:p>
            <a:pPr>
              <a:lnSpc>
                <a:spcPct val="107000"/>
              </a:lnSpc>
              <a:spcAft>
                <a:spcPts val="800"/>
              </a:spcAft>
            </a:pPr>
            <a:r>
              <a:rPr lang="de-DE" sz="2000" b="1" kern="100" dirty="0">
                <a:effectLst/>
                <a:latin typeface="Aptos" panose="020B0004020202020204" pitchFamily="34" charset="0"/>
                <a:ea typeface="Aptos" panose="020B0004020202020204" pitchFamily="34" charset="0"/>
                <a:cs typeface="Times New Roman" panose="02020603050405020304" pitchFamily="18" charset="0"/>
              </a:rPr>
              <a:t>Urheberrechte: </a:t>
            </a:r>
            <a:r>
              <a:rPr lang="de-DE" sz="2000" kern="100" dirty="0">
                <a:effectLst/>
                <a:latin typeface="Aptos" panose="020B0004020202020204" pitchFamily="34" charset="0"/>
                <a:ea typeface="Aptos" panose="020B0004020202020204" pitchFamily="34" charset="0"/>
                <a:cs typeface="Times New Roman" panose="02020603050405020304" pitchFamily="18" charset="0"/>
              </a:rPr>
              <a:t>Das Urheberrecht verleiht dem Urheber das Recht, sein Werk zu nutzen und zu verwerten. Es ist eng mit dem Persönlichkeitsrecht verbunden. </a:t>
            </a:r>
          </a:p>
          <a:p>
            <a:endParaRPr lang="de-DE" sz="2000" dirty="0"/>
          </a:p>
        </p:txBody>
      </p:sp>
      <p:sp>
        <p:nvSpPr>
          <p:cNvPr id="4" name="Fußzeilenplatzhalter 3">
            <a:extLst>
              <a:ext uri="{FF2B5EF4-FFF2-40B4-BE49-F238E27FC236}">
                <a16:creationId xmlns:a16="http://schemas.microsoft.com/office/drawing/2014/main" id="{02B5DDA6-321D-15CB-B0A5-7170812970CE}"/>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6EE64E1C-97A6-9CF6-EC6C-C5473F512143}"/>
              </a:ext>
            </a:extLst>
          </p:cNvPr>
          <p:cNvSpPr>
            <a:spLocks noGrp="1"/>
          </p:cNvSpPr>
          <p:nvPr>
            <p:ph type="sldNum" sz="quarter" idx="12"/>
          </p:nvPr>
        </p:nvSpPr>
        <p:spPr/>
        <p:txBody>
          <a:bodyPr/>
          <a:lstStyle/>
          <a:p>
            <a:fld id="{B4CE166D-2D50-44F1-A818-BFD238545C9D}" type="slidenum">
              <a:rPr lang="de-DE" smtClean="0"/>
              <a:t>18</a:t>
            </a:fld>
            <a:endParaRPr lang="de-DE"/>
          </a:p>
        </p:txBody>
      </p:sp>
    </p:spTree>
    <p:extLst>
      <p:ext uri="{BB962C8B-B14F-4D97-AF65-F5344CB8AC3E}">
        <p14:creationId xmlns:p14="http://schemas.microsoft.com/office/powerpoint/2010/main" val="1774604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43EBC2-AB00-9011-2EA5-0C29C44B4D92}"/>
              </a:ext>
            </a:extLst>
          </p:cNvPr>
          <p:cNvSpPr>
            <a:spLocks noGrp="1"/>
          </p:cNvSpPr>
          <p:nvPr>
            <p:ph type="title"/>
          </p:nvPr>
        </p:nvSpPr>
        <p:spPr>
          <a:xfrm>
            <a:off x="838200" y="365126"/>
            <a:ext cx="10515600" cy="850832"/>
          </a:xfrm>
        </p:spPr>
        <p:txBody>
          <a:bodyPr>
            <a:normAutofit/>
          </a:bodyPr>
          <a:lstStyle/>
          <a:p>
            <a:r>
              <a:rPr lang="de-DE" kern="100" dirty="0">
                <a:effectLst/>
                <a:ea typeface="Aptos" panose="020B0004020202020204" pitchFamily="34" charset="0"/>
                <a:cs typeface="Times New Roman" panose="02020603050405020304" pitchFamily="18" charset="0"/>
              </a:rPr>
              <a:t>Nutzungsrechte im Urheberrecht</a:t>
            </a:r>
            <a:endParaRPr lang="de-DE" dirty="0"/>
          </a:p>
        </p:txBody>
      </p:sp>
      <p:sp>
        <p:nvSpPr>
          <p:cNvPr id="3" name="Inhaltsplatzhalter 2">
            <a:extLst>
              <a:ext uri="{FF2B5EF4-FFF2-40B4-BE49-F238E27FC236}">
                <a16:creationId xmlns:a16="http://schemas.microsoft.com/office/drawing/2014/main" id="{4E738ED2-A4B4-619F-5261-8050128C101B}"/>
              </a:ext>
            </a:extLst>
          </p:cNvPr>
          <p:cNvSpPr>
            <a:spLocks noGrp="1"/>
          </p:cNvSpPr>
          <p:nvPr>
            <p:ph idx="1"/>
          </p:nvPr>
        </p:nvSpPr>
        <p:spPr>
          <a:xfrm>
            <a:off x="838200" y="1935803"/>
            <a:ext cx="10515600" cy="4241159"/>
          </a:xfrm>
        </p:spPr>
        <p:txBody>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Definition: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Nutzungsrechte sind die Erlaubnisse, die ein Urheber an Dritte erteilt, um ein Werk in bestimmter Art und Weise zu nutzen.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Arten: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Nutzungsrechte können einfache oder ausschließliche sein, räumlich, zeitlich oder inhaltlich beschränkt sein.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Übertragung: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Urheber kann Nutzungsrechte durch Verträge auf Dritte übertragen.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Bedeutung: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Nutzungsrechte sind wichtig für die Verwertung von Werken, da sie erlauben, dass ein Urheber ein Werk ohne Weiteres nutzen kann. </a:t>
            </a:r>
          </a:p>
          <a:p>
            <a:endParaRPr lang="de-DE" dirty="0"/>
          </a:p>
        </p:txBody>
      </p:sp>
      <p:sp>
        <p:nvSpPr>
          <p:cNvPr id="4" name="Fußzeilenplatzhalter 3">
            <a:extLst>
              <a:ext uri="{FF2B5EF4-FFF2-40B4-BE49-F238E27FC236}">
                <a16:creationId xmlns:a16="http://schemas.microsoft.com/office/drawing/2014/main" id="{CDF486C7-EB7E-9E32-11BF-8E238F83A613}"/>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257E7085-9548-939B-7C17-F2DFB99D30FD}"/>
              </a:ext>
            </a:extLst>
          </p:cNvPr>
          <p:cNvSpPr>
            <a:spLocks noGrp="1"/>
          </p:cNvSpPr>
          <p:nvPr>
            <p:ph type="sldNum" sz="quarter" idx="12"/>
          </p:nvPr>
        </p:nvSpPr>
        <p:spPr/>
        <p:txBody>
          <a:bodyPr/>
          <a:lstStyle/>
          <a:p>
            <a:fld id="{B4CE166D-2D50-44F1-A818-BFD238545C9D}" type="slidenum">
              <a:rPr lang="de-DE" smtClean="0"/>
              <a:t>19</a:t>
            </a:fld>
            <a:endParaRPr lang="de-DE"/>
          </a:p>
        </p:txBody>
      </p:sp>
    </p:spTree>
    <p:extLst>
      <p:ext uri="{BB962C8B-B14F-4D97-AF65-F5344CB8AC3E}">
        <p14:creationId xmlns:p14="http://schemas.microsoft.com/office/powerpoint/2010/main" val="2358321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56161E-CE1F-317A-6449-4301DA5073E0}"/>
              </a:ext>
            </a:extLst>
          </p:cNvPr>
          <p:cNvSpPr>
            <a:spLocks noGrp="1"/>
          </p:cNvSpPr>
          <p:nvPr>
            <p:ph type="title"/>
          </p:nvPr>
        </p:nvSpPr>
        <p:spPr>
          <a:xfrm>
            <a:off x="838200" y="365126"/>
            <a:ext cx="10515600" cy="860560"/>
          </a:xfrm>
        </p:spPr>
        <p:txBody>
          <a:bodyPr/>
          <a:lstStyle/>
          <a:p>
            <a:r>
              <a:rPr kumimoji="0" lang="de-DE" sz="4400" b="0" i="0" u="none" strike="noStrike" kern="100" cap="none" spc="0" normalizeH="0" baseline="0" noProof="0" dirty="0">
                <a:ln>
                  <a:noFill/>
                </a:ln>
                <a:solidFill>
                  <a:prstClr val="black"/>
                </a:solidFill>
                <a:effectLst/>
                <a:uLnTx/>
                <a:uFillTx/>
                <a:latin typeface="Aptos Display" panose="02110004020202020204"/>
                <a:ea typeface="Aptos" panose="020B0004020202020204" pitchFamily="34" charset="0"/>
                <a:cs typeface="Times New Roman" panose="02020603050405020304" pitchFamily="18" charset="0"/>
              </a:rPr>
              <a:t>Nutzungsrechte im Urheberrecht</a:t>
            </a:r>
            <a:endParaRPr lang="de-DE" dirty="0"/>
          </a:p>
        </p:txBody>
      </p:sp>
      <p:sp>
        <p:nvSpPr>
          <p:cNvPr id="3" name="Inhaltsplatzhalter 2">
            <a:extLst>
              <a:ext uri="{FF2B5EF4-FFF2-40B4-BE49-F238E27FC236}">
                <a16:creationId xmlns:a16="http://schemas.microsoft.com/office/drawing/2014/main" id="{34AC6152-0965-0105-4733-2BB8F7EE84CD}"/>
              </a:ext>
            </a:extLst>
          </p:cNvPr>
          <p:cNvSpPr>
            <a:spLocks noGrp="1"/>
          </p:cNvSpPr>
          <p:nvPr>
            <p:ph idx="1"/>
          </p:nvPr>
        </p:nvSpPr>
        <p:spPr>
          <a:xfrm>
            <a:off x="838200" y="1945532"/>
            <a:ext cx="10515600" cy="4231431"/>
          </a:xfrm>
        </p:spPr>
        <p:txBody>
          <a:bodyPr>
            <a:normAutofit/>
          </a:bodyPr>
          <a:lstStyle/>
          <a:p>
            <a:pPr>
              <a:lnSpc>
                <a:spcPct val="107000"/>
              </a:lnSpc>
              <a:spcAft>
                <a:spcPts val="800"/>
              </a:spcAft>
            </a:pPr>
            <a:r>
              <a:rPr lang="de-DE" b="1" kern="100" dirty="0">
                <a:effectLst/>
                <a:latin typeface="Aptos" panose="020B0004020202020204" pitchFamily="34" charset="0"/>
                <a:ea typeface="Aptos" panose="020B0004020202020204" pitchFamily="34" charset="0"/>
                <a:cs typeface="Times New Roman" panose="02020603050405020304" pitchFamily="18" charset="0"/>
              </a:rPr>
              <a:t>Beispiel: </a:t>
            </a:r>
            <a:r>
              <a:rPr lang="de-DE" kern="100" dirty="0">
                <a:effectLst/>
                <a:latin typeface="Aptos" panose="020B0004020202020204" pitchFamily="34" charset="0"/>
                <a:ea typeface="Aptos" panose="020B0004020202020204" pitchFamily="34" charset="0"/>
                <a:cs typeface="Times New Roman" panose="02020603050405020304" pitchFamily="18" charset="0"/>
              </a:rPr>
              <a:t>Ein Autor kann einem Verlag das Recht einräumen, sein Buch zu vervielfältigen und zu verbreiten. </a:t>
            </a:r>
            <a:br>
              <a:rPr lang="de-DE" kern="100" dirty="0">
                <a:effectLst/>
                <a:latin typeface="Aptos" panose="020B0004020202020204" pitchFamily="34" charset="0"/>
                <a:ea typeface="Aptos" panose="020B0004020202020204" pitchFamily="34" charset="0"/>
                <a:cs typeface="Times New Roman" panose="02020603050405020304" pitchFamily="18" charset="0"/>
              </a:rPr>
            </a:br>
            <a:endParaRPr lang="de-DE"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07000"/>
              </a:lnSpc>
              <a:spcAft>
                <a:spcPts val="800"/>
              </a:spcAft>
              <a:buNone/>
            </a:pPr>
            <a:r>
              <a:rPr lang="de-DE" b="1" kern="100" dirty="0">
                <a:effectLst/>
                <a:latin typeface="Aptos" panose="020B0004020202020204" pitchFamily="34" charset="0"/>
                <a:ea typeface="Aptos" panose="020B0004020202020204" pitchFamily="34" charset="0"/>
                <a:cs typeface="Times New Roman" panose="02020603050405020304" pitchFamily="18" charset="0"/>
              </a:rPr>
              <a:t>Zusammenfassend:</a:t>
            </a:r>
            <a:r>
              <a:rPr lang="de-DE" kern="100" dirty="0">
                <a:effectLst/>
                <a:latin typeface="Aptos" panose="020B0004020202020204" pitchFamily="34" charset="0"/>
                <a:ea typeface="Aptos" panose="020B0004020202020204" pitchFamily="34" charset="0"/>
                <a:cs typeface="Times New Roman" panose="02020603050405020304" pitchFamily="18" charset="0"/>
              </a:rPr>
              <a:t> </a:t>
            </a:r>
            <a:br>
              <a:rPr lang="de-DE" kern="100" dirty="0">
                <a:effectLst/>
                <a:latin typeface="Aptos" panose="020B0004020202020204" pitchFamily="34" charset="0"/>
                <a:ea typeface="Aptos" panose="020B0004020202020204" pitchFamily="34" charset="0"/>
                <a:cs typeface="Times New Roman" panose="02020603050405020304" pitchFamily="18" charset="0"/>
              </a:rPr>
            </a:br>
            <a:r>
              <a:rPr lang="de-DE" kern="100" dirty="0">
                <a:effectLst/>
                <a:latin typeface="Aptos" panose="020B0004020202020204" pitchFamily="34" charset="0"/>
                <a:ea typeface="Aptos" panose="020B0004020202020204" pitchFamily="34" charset="0"/>
                <a:cs typeface="Times New Roman" panose="02020603050405020304" pitchFamily="18" charset="0"/>
              </a:rPr>
              <a:t>Das </a:t>
            </a:r>
            <a:r>
              <a:rPr lang="de-DE" b="1" kern="100" dirty="0">
                <a:effectLst/>
                <a:latin typeface="Aptos" panose="020B0004020202020204" pitchFamily="34" charset="0"/>
                <a:ea typeface="Aptos" panose="020B0004020202020204" pitchFamily="34" charset="0"/>
                <a:cs typeface="Times New Roman" panose="02020603050405020304" pitchFamily="18" charset="0"/>
              </a:rPr>
              <a:t>Urheberrecht schützt Werke </a:t>
            </a:r>
            <a:r>
              <a:rPr lang="de-DE" kern="100" dirty="0">
                <a:effectLst/>
                <a:latin typeface="Aptos" panose="020B0004020202020204" pitchFamily="34" charset="0"/>
                <a:ea typeface="Aptos" panose="020B0004020202020204" pitchFamily="34" charset="0"/>
                <a:cs typeface="Times New Roman" panose="02020603050405020304" pitchFamily="18" charset="0"/>
              </a:rPr>
              <a:t>und </a:t>
            </a:r>
            <a:r>
              <a:rPr lang="de-DE" b="1" kern="100" dirty="0">
                <a:effectLst/>
                <a:latin typeface="Aptos" panose="020B0004020202020204" pitchFamily="34" charset="0"/>
                <a:ea typeface="Aptos" panose="020B0004020202020204" pitchFamily="34" charset="0"/>
                <a:cs typeface="Times New Roman" panose="02020603050405020304" pitchFamily="18" charset="0"/>
              </a:rPr>
              <a:t>verleiht</a:t>
            </a:r>
            <a:r>
              <a:rPr lang="de-DE" kern="100" dirty="0">
                <a:effectLst/>
                <a:latin typeface="Aptos" panose="020B0004020202020204" pitchFamily="34" charset="0"/>
                <a:ea typeface="Aptos" panose="020B0004020202020204" pitchFamily="34" charset="0"/>
                <a:cs typeface="Times New Roman" panose="02020603050405020304" pitchFamily="18" charset="0"/>
              </a:rPr>
              <a:t> dem Urheber bestimmte </a:t>
            </a:r>
            <a:r>
              <a:rPr lang="de-DE" b="1" kern="100" dirty="0">
                <a:effectLst/>
                <a:latin typeface="Aptos" panose="020B0004020202020204" pitchFamily="34" charset="0"/>
                <a:ea typeface="Aptos" panose="020B0004020202020204" pitchFamily="34" charset="0"/>
                <a:cs typeface="Times New Roman" panose="02020603050405020304" pitchFamily="18" charset="0"/>
              </a:rPr>
              <a:t>Rechte</a:t>
            </a:r>
            <a:r>
              <a:rPr lang="de-DE" kern="100" dirty="0">
                <a:effectLst/>
                <a:latin typeface="Aptos" panose="020B0004020202020204" pitchFamily="34" charset="0"/>
                <a:ea typeface="Aptos" panose="020B0004020202020204" pitchFamily="34" charset="0"/>
                <a:cs typeface="Times New Roman" panose="02020603050405020304" pitchFamily="18" charset="0"/>
              </a:rPr>
              <a:t>. </a:t>
            </a:r>
            <a:br>
              <a:rPr lang="de-DE" kern="100" dirty="0">
                <a:effectLst/>
                <a:latin typeface="Aptos" panose="020B0004020202020204" pitchFamily="34" charset="0"/>
                <a:ea typeface="Aptos" panose="020B0004020202020204" pitchFamily="34" charset="0"/>
                <a:cs typeface="Times New Roman" panose="02020603050405020304" pitchFamily="18" charset="0"/>
              </a:rPr>
            </a:br>
            <a:r>
              <a:rPr lang="de-DE" b="1" kern="100" dirty="0">
                <a:effectLst/>
                <a:latin typeface="Aptos" panose="020B0004020202020204" pitchFamily="34" charset="0"/>
                <a:ea typeface="Aptos" panose="020B0004020202020204" pitchFamily="34" charset="0"/>
                <a:cs typeface="Times New Roman" panose="02020603050405020304" pitchFamily="18" charset="0"/>
              </a:rPr>
              <a:t>Nutzungsrechte</a:t>
            </a:r>
            <a:r>
              <a:rPr lang="de-DE" kern="100" dirty="0">
                <a:effectLst/>
                <a:latin typeface="Aptos" panose="020B0004020202020204" pitchFamily="34" charset="0"/>
                <a:ea typeface="Aptos" panose="020B0004020202020204" pitchFamily="34" charset="0"/>
                <a:cs typeface="Times New Roman" panose="02020603050405020304" pitchFamily="18" charset="0"/>
              </a:rPr>
              <a:t> hingegen </a:t>
            </a:r>
            <a:r>
              <a:rPr lang="de-DE" b="1" kern="100" dirty="0">
                <a:effectLst/>
                <a:latin typeface="Aptos" panose="020B0004020202020204" pitchFamily="34" charset="0"/>
                <a:ea typeface="Aptos" panose="020B0004020202020204" pitchFamily="34" charset="0"/>
                <a:cs typeface="Times New Roman" panose="02020603050405020304" pitchFamily="18" charset="0"/>
              </a:rPr>
              <a:t>sind</a:t>
            </a:r>
            <a:r>
              <a:rPr lang="de-DE" kern="100" dirty="0">
                <a:effectLst/>
                <a:latin typeface="Aptos" panose="020B0004020202020204" pitchFamily="34" charset="0"/>
                <a:ea typeface="Aptos" panose="020B0004020202020204" pitchFamily="34" charset="0"/>
                <a:cs typeface="Times New Roman" panose="02020603050405020304" pitchFamily="18" charset="0"/>
              </a:rPr>
              <a:t> die </a:t>
            </a:r>
            <a:r>
              <a:rPr lang="de-DE" b="1" kern="100" dirty="0">
                <a:effectLst/>
                <a:latin typeface="Aptos" panose="020B0004020202020204" pitchFamily="34" charset="0"/>
                <a:ea typeface="Aptos" panose="020B0004020202020204" pitchFamily="34" charset="0"/>
                <a:cs typeface="Times New Roman" panose="02020603050405020304" pitchFamily="18" charset="0"/>
              </a:rPr>
              <a:t>Erlaubnisse</a:t>
            </a:r>
            <a:r>
              <a:rPr lang="de-DE" kern="100" dirty="0">
                <a:effectLst/>
                <a:latin typeface="Aptos" panose="020B0004020202020204" pitchFamily="34" charset="0"/>
                <a:ea typeface="Aptos" panose="020B0004020202020204" pitchFamily="34" charset="0"/>
                <a:cs typeface="Times New Roman" panose="02020603050405020304" pitchFamily="18" charset="0"/>
              </a:rPr>
              <a:t>, die ein Urheber </a:t>
            </a:r>
            <a:r>
              <a:rPr lang="de-DE" b="1" kern="100" dirty="0">
                <a:effectLst/>
                <a:latin typeface="Aptos" panose="020B0004020202020204" pitchFamily="34" charset="0"/>
                <a:ea typeface="Aptos" panose="020B0004020202020204" pitchFamily="34" charset="0"/>
                <a:cs typeface="Times New Roman" panose="02020603050405020304" pitchFamily="18" charset="0"/>
              </a:rPr>
              <a:t>an Dritte </a:t>
            </a:r>
            <a:r>
              <a:rPr lang="de-DE" kern="100" dirty="0">
                <a:effectLst/>
                <a:latin typeface="Aptos" panose="020B0004020202020204" pitchFamily="34" charset="0"/>
                <a:ea typeface="Aptos" panose="020B0004020202020204" pitchFamily="34" charset="0"/>
                <a:cs typeface="Times New Roman" panose="02020603050405020304" pitchFamily="18" charset="0"/>
              </a:rPr>
              <a:t>erteilt, um </a:t>
            </a:r>
            <a:r>
              <a:rPr lang="de-DE" b="1" kern="100" dirty="0">
                <a:effectLst/>
                <a:latin typeface="Aptos" panose="020B0004020202020204" pitchFamily="34" charset="0"/>
                <a:ea typeface="Aptos" panose="020B0004020202020204" pitchFamily="34" charset="0"/>
                <a:cs typeface="Times New Roman" panose="02020603050405020304" pitchFamily="18" charset="0"/>
              </a:rPr>
              <a:t>sein Werk </a:t>
            </a:r>
            <a:r>
              <a:rPr lang="de-DE" kern="100" dirty="0">
                <a:effectLst/>
                <a:latin typeface="Aptos" panose="020B0004020202020204" pitchFamily="34" charset="0"/>
                <a:ea typeface="Aptos" panose="020B0004020202020204" pitchFamily="34" charset="0"/>
                <a:cs typeface="Times New Roman" panose="02020603050405020304" pitchFamily="18" charset="0"/>
              </a:rPr>
              <a:t>in bestimmter Weise </a:t>
            </a:r>
            <a:r>
              <a:rPr lang="de-DE" b="1" kern="100" dirty="0">
                <a:effectLst/>
                <a:latin typeface="Aptos" panose="020B0004020202020204" pitchFamily="34" charset="0"/>
                <a:ea typeface="Aptos" panose="020B0004020202020204" pitchFamily="34" charset="0"/>
                <a:cs typeface="Times New Roman" panose="02020603050405020304" pitchFamily="18" charset="0"/>
              </a:rPr>
              <a:t>zu nutzen</a:t>
            </a:r>
            <a:r>
              <a:rPr lang="de-DE" kern="100" dirty="0">
                <a:effectLst/>
                <a:latin typeface="Aptos" panose="020B0004020202020204" pitchFamily="34" charset="0"/>
                <a:ea typeface="Aptos" panose="020B0004020202020204" pitchFamily="34" charset="0"/>
                <a:cs typeface="Times New Roman" panose="02020603050405020304" pitchFamily="18" charset="0"/>
              </a:rPr>
              <a:t>.</a:t>
            </a:r>
          </a:p>
          <a:p>
            <a:endParaRPr lang="de-DE" dirty="0"/>
          </a:p>
        </p:txBody>
      </p:sp>
      <p:sp>
        <p:nvSpPr>
          <p:cNvPr id="4" name="Fußzeilenplatzhalter 3">
            <a:extLst>
              <a:ext uri="{FF2B5EF4-FFF2-40B4-BE49-F238E27FC236}">
                <a16:creationId xmlns:a16="http://schemas.microsoft.com/office/drawing/2014/main" id="{F5AFE13D-8991-E67F-1400-48F1543373D3}"/>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8ACF82E-B7B9-4E34-08E7-DBB7B05A7F45}"/>
              </a:ext>
            </a:extLst>
          </p:cNvPr>
          <p:cNvSpPr>
            <a:spLocks noGrp="1"/>
          </p:cNvSpPr>
          <p:nvPr>
            <p:ph type="sldNum" sz="quarter" idx="12"/>
          </p:nvPr>
        </p:nvSpPr>
        <p:spPr/>
        <p:txBody>
          <a:bodyPr/>
          <a:lstStyle/>
          <a:p>
            <a:fld id="{B4CE166D-2D50-44F1-A818-BFD238545C9D}" type="slidenum">
              <a:rPr lang="de-DE" smtClean="0"/>
              <a:t>20</a:t>
            </a:fld>
            <a:endParaRPr lang="de-DE"/>
          </a:p>
        </p:txBody>
      </p:sp>
    </p:spTree>
    <p:extLst>
      <p:ext uri="{BB962C8B-B14F-4D97-AF65-F5344CB8AC3E}">
        <p14:creationId xmlns:p14="http://schemas.microsoft.com/office/powerpoint/2010/main" val="233822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6CCE8B-70BD-A402-B806-B729503DFD73}"/>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3981DB9-C4B2-7FAC-7F72-532786F8C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hachfigur, Statue enthält.&#10;&#10;KI-generierte Inhalte können fehlerhaft sein.">
            <a:extLst>
              <a:ext uri="{FF2B5EF4-FFF2-40B4-BE49-F238E27FC236}">
                <a16:creationId xmlns:a16="http://schemas.microsoft.com/office/drawing/2014/main" id="{4E576C25-8E25-E542-67E5-EC9249678DD0}"/>
              </a:ext>
            </a:extLst>
          </p:cNvPr>
          <p:cNvPicPr>
            <a:picLocks noChangeAspect="1"/>
          </p:cNvPicPr>
          <p:nvPr/>
        </p:nvPicPr>
        <p:blipFill>
          <a:blip r:embed="rId3">
            <a:extLst>
              <a:ext uri="{28A0092B-C50C-407E-A947-70E740481C1C}">
                <a14:useLocalDpi xmlns:a14="http://schemas.microsoft.com/office/drawing/2010/main" val="0"/>
              </a:ext>
            </a:extLst>
          </a:blip>
          <a:srcRect t="9091" r="23585"/>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31F1B838-9383-3EE6-AC85-6C77E2C4E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7B72ADC8-5D73-6613-A360-951DCCFD133B}"/>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6.4</a:t>
            </a:r>
          </a:p>
        </p:txBody>
      </p:sp>
      <p:sp>
        <p:nvSpPr>
          <p:cNvPr id="3" name="Textplatzhalter 2">
            <a:extLst>
              <a:ext uri="{FF2B5EF4-FFF2-40B4-BE49-F238E27FC236}">
                <a16:creationId xmlns:a16="http://schemas.microsoft.com/office/drawing/2014/main" id="{B54DD82E-F8C0-BEC2-79B3-8128773535F6}"/>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Urheberrecht</a:t>
            </a:r>
            <a:br>
              <a:rPr lang="en-US" sz="2000" dirty="0">
                <a:solidFill>
                  <a:schemeClr val="tx1"/>
                </a:solidFill>
              </a:rPr>
            </a:br>
            <a:r>
              <a:rPr lang="en-US" sz="2000" dirty="0" err="1">
                <a:solidFill>
                  <a:schemeClr val="tx1"/>
                </a:solidFill>
              </a:rPr>
              <a:t>im</a:t>
            </a:r>
            <a:r>
              <a:rPr lang="en-US" sz="2000" dirty="0">
                <a:solidFill>
                  <a:schemeClr val="tx1"/>
                </a:solidFill>
              </a:rPr>
              <a:t> </a:t>
            </a:r>
            <a:r>
              <a:rPr lang="en-US" sz="2000" dirty="0" err="1">
                <a:solidFill>
                  <a:schemeClr val="tx1"/>
                </a:solidFill>
              </a:rPr>
              <a:t>Beschäftigungsverhältnis</a:t>
            </a:r>
            <a:endParaRPr lang="en-US" sz="2000" dirty="0">
              <a:solidFill>
                <a:schemeClr val="tx1"/>
              </a:solidFill>
            </a:endParaRPr>
          </a:p>
        </p:txBody>
      </p:sp>
      <p:sp>
        <p:nvSpPr>
          <p:cNvPr id="47" name="Rectangle 46">
            <a:extLst>
              <a:ext uri="{FF2B5EF4-FFF2-40B4-BE49-F238E27FC236}">
                <a16:creationId xmlns:a16="http://schemas.microsoft.com/office/drawing/2014/main" id="{36C58B72-7B46-A4F0-798D-CCFBA4836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0CE75963-7994-48F3-7679-D39E412A8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F1C02394-76EE-00EE-15AC-18A2CBFB7841}"/>
              </a:ext>
            </a:extLst>
          </p:cNvPr>
          <p:cNvSpPr>
            <a:spLocks noGrp="1"/>
          </p:cNvSpPr>
          <p:nvPr>
            <p:ph type="ftr" sz="quarter" idx="11"/>
          </p:nvPr>
        </p:nvSpPr>
        <p:spPr>
          <a:xfrm>
            <a:off x="593387" y="6356350"/>
            <a:ext cx="3907951"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B580675A-0B9D-5C06-D331-8A9924B848D1}"/>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21</a:t>
            </a:fld>
            <a:endParaRPr lang="en-US">
              <a:solidFill>
                <a:schemeClr val="bg1"/>
              </a:solidFill>
              <a:latin typeface="Calibri" panose="020F0502020204030204"/>
            </a:endParaRPr>
          </a:p>
        </p:txBody>
      </p:sp>
    </p:spTree>
    <p:extLst>
      <p:ext uri="{BB962C8B-B14F-4D97-AF65-F5344CB8AC3E}">
        <p14:creationId xmlns:p14="http://schemas.microsoft.com/office/powerpoint/2010/main" val="269632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24378724-F057-2F32-6448-221904F2720B}"/>
              </a:ext>
            </a:extLst>
          </p:cNvPr>
          <p:cNvSpPr>
            <a:spLocks noGrp="1"/>
          </p:cNvSpPr>
          <p:nvPr>
            <p:ph type="title"/>
          </p:nvPr>
        </p:nvSpPr>
        <p:spPr>
          <a:xfrm>
            <a:off x="838200" y="365125"/>
            <a:ext cx="10515600" cy="864585"/>
          </a:xfrm>
        </p:spPr>
        <p:txBody>
          <a:bodyPr/>
          <a:lstStyle/>
          <a:p>
            <a:r>
              <a:rPr lang="de-DE" dirty="0"/>
              <a:t>Urheberrecht im Beschäftigungsverhältnis</a:t>
            </a:r>
          </a:p>
        </p:txBody>
      </p:sp>
      <p:sp>
        <p:nvSpPr>
          <p:cNvPr id="7" name="Inhaltsplatzhalter 6">
            <a:extLst>
              <a:ext uri="{FF2B5EF4-FFF2-40B4-BE49-F238E27FC236}">
                <a16:creationId xmlns:a16="http://schemas.microsoft.com/office/drawing/2014/main" id="{19C81687-F0BD-1D3C-CAAC-BCE211D73921}"/>
              </a:ext>
            </a:extLst>
          </p:cNvPr>
          <p:cNvSpPr>
            <a:spLocks noGrp="1"/>
          </p:cNvSpPr>
          <p:nvPr>
            <p:ph idx="1"/>
          </p:nvPr>
        </p:nvSpPr>
        <p:spPr>
          <a:xfrm>
            <a:off x="838200" y="1857983"/>
            <a:ext cx="10515600" cy="4318980"/>
          </a:xfrm>
        </p:spPr>
        <p:txBody>
          <a:bodyPr/>
          <a:lstStyle/>
          <a:p>
            <a:pPr>
              <a:lnSpc>
                <a:spcPct val="107000"/>
              </a:lnSpc>
              <a:spcAft>
                <a:spcPts val="800"/>
              </a:spcAft>
            </a:pPr>
            <a:r>
              <a:rPr lang="de-DE" sz="2400" kern="100" dirty="0">
                <a:effectLst/>
                <a:latin typeface="Aptos" panose="020B0004020202020204" pitchFamily="34" charset="0"/>
                <a:ea typeface="Aptos" panose="020B0004020202020204" pitchFamily="34" charset="0"/>
                <a:cs typeface="Times New Roman" panose="02020603050405020304" pitchFamily="18" charset="0"/>
              </a:rPr>
              <a:t>Im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Beschäftigungsverhältnis bleibt das Urheberrecht</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an Werken, die der Arbeitnehmer im Rahmen seiner Tätigkeit erstellt, grundsätzlich beim Arbeitnehmer. Der Arbeitgeber kann jedoch durch vertragliche Vereinbarung Nutzungsrechte erhalten, um das Werk für seine Zwecke zu nutzen.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Urheber ist der Arbeitnehmer: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Arbeitnehmer ist Urheber des Werkes, das er in Ausübung seiner Tätigkeit schafft.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Nutzungsrechte: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Arbeitgeber kann sich Nutzungsrechte an dem Werk einräumen lassen, z.B. das Recht zur Veröffentlichung, Vervielfältigung oder Veränderung. </a:t>
            </a:r>
          </a:p>
          <a:p>
            <a:endParaRPr lang="de-DE" dirty="0"/>
          </a:p>
        </p:txBody>
      </p:sp>
      <p:sp>
        <p:nvSpPr>
          <p:cNvPr id="4" name="Fußzeilenplatzhalter 3">
            <a:extLst>
              <a:ext uri="{FF2B5EF4-FFF2-40B4-BE49-F238E27FC236}">
                <a16:creationId xmlns:a16="http://schemas.microsoft.com/office/drawing/2014/main" id="{3E1822AA-8DDD-D27E-7346-9EA27B79D6F5}"/>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861AB9CC-A23D-3F78-DD6C-F8312370C8CA}"/>
              </a:ext>
            </a:extLst>
          </p:cNvPr>
          <p:cNvSpPr>
            <a:spLocks noGrp="1"/>
          </p:cNvSpPr>
          <p:nvPr>
            <p:ph type="sldNum" sz="quarter" idx="12"/>
          </p:nvPr>
        </p:nvSpPr>
        <p:spPr/>
        <p:txBody>
          <a:bodyPr/>
          <a:lstStyle/>
          <a:p>
            <a:fld id="{B4CE166D-2D50-44F1-A818-BFD238545C9D}" type="slidenum">
              <a:rPr lang="de-DE" smtClean="0"/>
              <a:t>22</a:t>
            </a:fld>
            <a:endParaRPr lang="de-DE"/>
          </a:p>
        </p:txBody>
      </p:sp>
    </p:spTree>
    <p:extLst>
      <p:ext uri="{BB962C8B-B14F-4D97-AF65-F5344CB8AC3E}">
        <p14:creationId xmlns:p14="http://schemas.microsoft.com/office/powerpoint/2010/main" val="2902311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6722F-5154-9403-0AF9-69F09A5EF251}"/>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EE55939-FE9D-AFD6-D93B-DDCDB2A721C6}"/>
              </a:ext>
            </a:extLst>
          </p:cNvPr>
          <p:cNvSpPr>
            <a:spLocks noGrp="1"/>
          </p:cNvSpPr>
          <p:nvPr>
            <p:ph type="title"/>
          </p:nvPr>
        </p:nvSpPr>
        <p:spPr>
          <a:xfrm>
            <a:off x="838200" y="365125"/>
            <a:ext cx="10515600" cy="864585"/>
          </a:xfrm>
        </p:spPr>
        <p:txBody>
          <a:bodyPr/>
          <a:lstStyle/>
          <a:p>
            <a:r>
              <a:rPr lang="de-DE" dirty="0"/>
              <a:t>Urheberrecht im Beschäftigungsverhältnis</a:t>
            </a:r>
          </a:p>
        </p:txBody>
      </p:sp>
      <p:sp>
        <p:nvSpPr>
          <p:cNvPr id="7" name="Inhaltsplatzhalter 6">
            <a:extLst>
              <a:ext uri="{FF2B5EF4-FFF2-40B4-BE49-F238E27FC236}">
                <a16:creationId xmlns:a16="http://schemas.microsoft.com/office/drawing/2014/main" id="{EA6D8F21-0473-C5EE-21E7-D817A659DFFB}"/>
              </a:ext>
            </a:extLst>
          </p:cNvPr>
          <p:cNvSpPr>
            <a:spLocks noGrp="1"/>
          </p:cNvSpPr>
          <p:nvPr>
            <p:ph idx="1"/>
          </p:nvPr>
        </p:nvSpPr>
        <p:spPr>
          <a:xfrm>
            <a:off x="838200" y="1507788"/>
            <a:ext cx="10515600" cy="4669176"/>
          </a:xfrm>
        </p:spPr>
        <p:txBody>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Vertragliche Regelungen: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Rechteeinräumung kann im Arbeitsvertrag oder in einem gesonderten Vertrag geregelt werden.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Stillschweigende Rechteeinräumung: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In manchen Fällen kann auch eine stillschweigende Rechteeinräumung erfolgen, z.B. durch die Ablieferung des Werks an den Arbeitgeber.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Schranken des Urheberrechts: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Arbeitnehmer kann bestimmte Rechte, wie das Recht auf Namensnennung, nicht vertraglich verletzen. </a:t>
            </a:r>
          </a:p>
          <a:p>
            <a:r>
              <a:rPr lang="de-DE" sz="2400" b="1" kern="100" dirty="0">
                <a:effectLst/>
                <a:latin typeface="Aptos" panose="020B0004020202020204" pitchFamily="34" charset="0"/>
                <a:ea typeface="Aptos" panose="020B0004020202020204" pitchFamily="34" charset="0"/>
                <a:cs typeface="Times New Roman" panose="02020603050405020304" pitchFamily="18" charset="0"/>
              </a:rPr>
              <a:t>Schutzwürdige Interessen: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Arbeitnehmer kann auch ohne vertragliche Regelung schutzwürdige Interessen geltend machen, wenn die Nutzung seines Werkes seine Rechte verletzt. </a:t>
            </a:r>
          </a:p>
          <a:p>
            <a:endParaRPr lang="de-DE" dirty="0"/>
          </a:p>
        </p:txBody>
      </p:sp>
      <p:sp>
        <p:nvSpPr>
          <p:cNvPr id="4" name="Fußzeilenplatzhalter 3">
            <a:extLst>
              <a:ext uri="{FF2B5EF4-FFF2-40B4-BE49-F238E27FC236}">
                <a16:creationId xmlns:a16="http://schemas.microsoft.com/office/drawing/2014/main" id="{00A9D253-EF1D-AF05-02FA-DE75A24F60FF}"/>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E8E0881A-175D-088F-3103-69C12D79399C}"/>
              </a:ext>
            </a:extLst>
          </p:cNvPr>
          <p:cNvSpPr>
            <a:spLocks noGrp="1"/>
          </p:cNvSpPr>
          <p:nvPr>
            <p:ph type="sldNum" sz="quarter" idx="12"/>
          </p:nvPr>
        </p:nvSpPr>
        <p:spPr/>
        <p:txBody>
          <a:bodyPr/>
          <a:lstStyle/>
          <a:p>
            <a:fld id="{B4CE166D-2D50-44F1-A818-BFD238545C9D}" type="slidenum">
              <a:rPr lang="de-DE" smtClean="0"/>
              <a:t>23</a:t>
            </a:fld>
            <a:endParaRPr lang="de-DE"/>
          </a:p>
        </p:txBody>
      </p:sp>
    </p:spTree>
    <p:extLst>
      <p:ext uri="{BB962C8B-B14F-4D97-AF65-F5344CB8AC3E}">
        <p14:creationId xmlns:p14="http://schemas.microsoft.com/office/powerpoint/2010/main" val="3701520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06BF-F701-BE93-7949-6000FCB29415}"/>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BBE6F3FD-7613-CF3A-D4BE-5F1008A6A0FC}"/>
              </a:ext>
            </a:extLst>
          </p:cNvPr>
          <p:cNvSpPr>
            <a:spLocks noGrp="1"/>
          </p:cNvSpPr>
          <p:nvPr>
            <p:ph type="title"/>
          </p:nvPr>
        </p:nvSpPr>
        <p:spPr>
          <a:xfrm>
            <a:off x="838200" y="365125"/>
            <a:ext cx="10515600" cy="864585"/>
          </a:xfrm>
        </p:spPr>
        <p:txBody>
          <a:bodyPr/>
          <a:lstStyle/>
          <a:p>
            <a:r>
              <a:rPr lang="de-DE" dirty="0"/>
              <a:t>Urheberrecht im Beschäftigungsverhältnis</a:t>
            </a:r>
          </a:p>
        </p:txBody>
      </p:sp>
      <p:sp>
        <p:nvSpPr>
          <p:cNvPr id="7" name="Inhaltsplatzhalter 6">
            <a:extLst>
              <a:ext uri="{FF2B5EF4-FFF2-40B4-BE49-F238E27FC236}">
                <a16:creationId xmlns:a16="http://schemas.microsoft.com/office/drawing/2014/main" id="{EF4D64E7-1494-79AD-E315-0202551AD4C2}"/>
              </a:ext>
            </a:extLst>
          </p:cNvPr>
          <p:cNvSpPr>
            <a:spLocks noGrp="1"/>
          </p:cNvSpPr>
          <p:nvPr>
            <p:ph idx="1"/>
          </p:nvPr>
        </p:nvSpPr>
        <p:spPr>
          <a:xfrm>
            <a:off x="838200" y="1334814"/>
            <a:ext cx="10515600" cy="4842149"/>
          </a:xfrm>
        </p:spPr>
        <p:txBody>
          <a:bodyPr>
            <a:normAutofit lnSpcReduction="10000"/>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Umfassende Verwertungsbefugnis: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Arbeitgeber hat keine umfassende Verwertungsbefugnis, es sei denn, dies ist vertraglich ausdrücklich vereinbart.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Beweislast: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Arbeitnehmer muss darlegen, dass eine umfassende Verwertungsbefugnis des Arbeitgebers nicht vertraglich vereinbart wurde.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Vergütung: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Der Arbeitnehmer kann eine gesonderte Vergütung für die Nutzung des Werks verlangen, wenn dies nicht bereits im Arbeitsentgelt enthalten ist. </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Computerprogramme: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Die Regelungen gelten auch für Computerprogramme, die von Arbeitnehmern im Rahmen ihrer Tätigkeit erstellt werden. </a:t>
            </a:r>
          </a:p>
          <a:p>
            <a:endParaRPr lang="de-DE" dirty="0"/>
          </a:p>
        </p:txBody>
      </p:sp>
      <p:sp>
        <p:nvSpPr>
          <p:cNvPr id="4" name="Fußzeilenplatzhalter 3">
            <a:extLst>
              <a:ext uri="{FF2B5EF4-FFF2-40B4-BE49-F238E27FC236}">
                <a16:creationId xmlns:a16="http://schemas.microsoft.com/office/drawing/2014/main" id="{D9397106-AF90-F76A-EFEE-D664D041DFE0}"/>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4AED0F8E-2DCC-7A2A-27B4-E84119DBB635}"/>
              </a:ext>
            </a:extLst>
          </p:cNvPr>
          <p:cNvSpPr>
            <a:spLocks noGrp="1"/>
          </p:cNvSpPr>
          <p:nvPr>
            <p:ph type="sldNum" sz="quarter" idx="12"/>
          </p:nvPr>
        </p:nvSpPr>
        <p:spPr/>
        <p:txBody>
          <a:bodyPr/>
          <a:lstStyle/>
          <a:p>
            <a:fld id="{B4CE166D-2D50-44F1-A818-BFD238545C9D}" type="slidenum">
              <a:rPr lang="de-DE" smtClean="0"/>
              <a:t>24</a:t>
            </a:fld>
            <a:endParaRPr lang="de-DE"/>
          </a:p>
        </p:txBody>
      </p:sp>
    </p:spTree>
    <p:extLst>
      <p:ext uri="{BB962C8B-B14F-4D97-AF65-F5344CB8AC3E}">
        <p14:creationId xmlns:p14="http://schemas.microsoft.com/office/powerpoint/2010/main" val="587178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361803-3C84-F210-07F9-FE082102B5CB}"/>
            </a:ext>
          </a:extLst>
        </p:cNvPr>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CEEF71B5-3448-428C-D19D-5A2454FA4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6" descr="Ein Bild, das Schachfigur, Statue enthält.&#10;&#10;KI-generierte Inhalte können fehlerhaft sein.">
            <a:extLst>
              <a:ext uri="{FF2B5EF4-FFF2-40B4-BE49-F238E27FC236}">
                <a16:creationId xmlns:a16="http://schemas.microsoft.com/office/drawing/2014/main" id="{AF1DC3AC-9110-BE28-4226-C3A93ED483B5}"/>
              </a:ext>
            </a:extLst>
          </p:cNvPr>
          <p:cNvPicPr>
            <a:picLocks noChangeAspect="1"/>
          </p:cNvPicPr>
          <p:nvPr/>
        </p:nvPicPr>
        <p:blipFill>
          <a:blip r:embed="rId3">
            <a:extLst>
              <a:ext uri="{28A0092B-C50C-407E-A947-70E740481C1C}">
                <a14:useLocalDpi xmlns:a14="http://schemas.microsoft.com/office/drawing/2010/main" val="0"/>
              </a:ext>
            </a:extLst>
          </a:blip>
          <a:srcRect t="9091" r="23585"/>
          <a:stretch>
            <a:fillRect/>
          </a:stretch>
        </p:blipFill>
        <p:spPr>
          <a:xfrm>
            <a:off x="3523488" y="10"/>
            <a:ext cx="8668512" cy="6857990"/>
          </a:xfrm>
          <a:prstGeom prst="rect">
            <a:avLst/>
          </a:prstGeom>
        </p:spPr>
      </p:pic>
      <p:sp>
        <p:nvSpPr>
          <p:cNvPr id="45" name="Rectangle 44">
            <a:extLst>
              <a:ext uri="{FF2B5EF4-FFF2-40B4-BE49-F238E27FC236}">
                <a16:creationId xmlns:a16="http://schemas.microsoft.com/office/drawing/2014/main" id="{FCA383FE-28A3-774D-0407-E4336CBE6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A6D36F04-C68C-A4BD-8E7C-512603CFFC8B}"/>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dirty="0" err="1"/>
              <a:t>Datenschutz</a:t>
            </a:r>
            <a:r>
              <a:rPr lang="en-US" sz="4800" dirty="0"/>
              <a:t> Teil 6.5</a:t>
            </a:r>
          </a:p>
        </p:txBody>
      </p:sp>
      <p:sp>
        <p:nvSpPr>
          <p:cNvPr id="3" name="Textplatzhalter 2">
            <a:extLst>
              <a:ext uri="{FF2B5EF4-FFF2-40B4-BE49-F238E27FC236}">
                <a16:creationId xmlns:a16="http://schemas.microsoft.com/office/drawing/2014/main" id="{2ACECB02-FD86-BB31-E324-4E5AB7B07F31}"/>
              </a:ext>
            </a:extLst>
          </p:cNvPr>
          <p:cNvSpPr>
            <a:spLocks noGrp="1"/>
          </p:cNvSpPr>
          <p:nvPr>
            <p:ph type="body" idx="1"/>
          </p:nvPr>
        </p:nvSpPr>
        <p:spPr>
          <a:xfrm>
            <a:off x="477980" y="4872922"/>
            <a:ext cx="4023359" cy="1208141"/>
          </a:xfrm>
        </p:spPr>
        <p:txBody>
          <a:bodyPr vert="horz" lIns="91440" tIns="45720" rIns="91440" bIns="45720" rtlCol="0">
            <a:normAutofit/>
          </a:bodyPr>
          <a:lstStyle/>
          <a:p>
            <a:r>
              <a:rPr lang="en-US" sz="2000" b="1" dirty="0" err="1">
                <a:solidFill>
                  <a:schemeClr val="tx1"/>
                </a:solidFill>
              </a:rPr>
              <a:t>Sanktionen</a:t>
            </a:r>
            <a:r>
              <a:rPr lang="en-US" sz="2000" b="1" dirty="0">
                <a:solidFill>
                  <a:schemeClr val="tx1"/>
                </a:solidFill>
              </a:rPr>
              <a:t> und </a:t>
            </a:r>
            <a:r>
              <a:rPr lang="en-US" sz="2000" b="1" dirty="0" err="1">
                <a:solidFill>
                  <a:schemeClr val="tx1"/>
                </a:solidFill>
              </a:rPr>
              <a:t>Strafen</a:t>
            </a:r>
            <a:br>
              <a:rPr lang="en-US" sz="2000" b="1" dirty="0">
                <a:solidFill>
                  <a:schemeClr val="tx1"/>
                </a:solidFill>
              </a:rPr>
            </a:br>
            <a:r>
              <a:rPr lang="en-US" sz="2000" dirty="0" err="1">
                <a:solidFill>
                  <a:schemeClr val="tx1"/>
                </a:solidFill>
              </a:rPr>
              <a:t>bei</a:t>
            </a:r>
            <a:r>
              <a:rPr lang="en-US" sz="2000" dirty="0">
                <a:solidFill>
                  <a:schemeClr val="tx1"/>
                </a:solidFill>
              </a:rPr>
              <a:t> </a:t>
            </a:r>
            <a:r>
              <a:rPr lang="en-US" sz="2000" dirty="0" err="1">
                <a:solidFill>
                  <a:schemeClr val="tx1"/>
                </a:solidFill>
              </a:rPr>
              <a:t>Verletzungen</a:t>
            </a:r>
            <a:r>
              <a:rPr lang="en-US" sz="2000" dirty="0">
                <a:solidFill>
                  <a:schemeClr val="tx1"/>
                </a:solidFill>
              </a:rPr>
              <a:t> des </a:t>
            </a:r>
            <a:r>
              <a:rPr lang="en-US" sz="2000" dirty="0" err="1">
                <a:solidFill>
                  <a:schemeClr val="tx1"/>
                </a:solidFill>
              </a:rPr>
              <a:t>Urheberrechtes</a:t>
            </a:r>
            <a:endParaRPr lang="en-US" sz="2000" dirty="0">
              <a:solidFill>
                <a:schemeClr val="tx1"/>
              </a:solidFill>
            </a:endParaRPr>
          </a:p>
        </p:txBody>
      </p:sp>
      <p:sp>
        <p:nvSpPr>
          <p:cNvPr id="47" name="Rectangle 46">
            <a:extLst>
              <a:ext uri="{FF2B5EF4-FFF2-40B4-BE49-F238E27FC236}">
                <a16:creationId xmlns:a16="http://schemas.microsoft.com/office/drawing/2014/main" id="{3D3336A7-29BE-85F9-0047-BF95573FD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9" name="Rectangle 48">
            <a:extLst>
              <a:ext uri="{FF2B5EF4-FFF2-40B4-BE49-F238E27FC236}">
                <a16:creationId xmlns:a16="http://schemas.microsoft.com/office/drawing/2014/main" id="{B531DB11-4E93-6A50-FE58-59B205B58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ußzeilenplatzhalter 3">
            <a:extLst>
              <a:ext uri="{FF2B5EF4-FFF2-40B4-BE49-F238E27FC236}">
                <a16:creationId xmlns:a16="http://schemas.microsoft.com/office/drawing/2014/main" id="{435346A6-A281-D4D7-24A1-21A82C8522F9}"/>
              </a:ext>
            </a:extLst>
          </p:cNvPr>
          <p:cNvSpPr>
            <a:spLocks noGrp="1"/>
          </p:cNvSpPr>
          <p:nvPr>
            <p:ph type="ftr" sz="quarter" idx="11"/>
          </p:nvPr>
        </p:nvSpPr>
        <p:spPr>
          <a:xfrm>
            <a:off x="593387" y="6356350"/>
            <a:ext cx="3907951" cy="365125"/>
          </a:xfrm>
        </p:spPr>
        <p:txBody>
          <a:bodyPr vert="horz" lIns="91440" tIns="45720" rIns="91440" bIns="45720" rtlCol="0" anchor="ctr">
            <a:noAutofit/>
          </a:bodyPr>
          <a:lstStyle/>
          <a:p>
            <a:pPr algn="l">
              <a:lnSpc>
                <a:spcPct val="90000"/>
              </a:lnSpc>
              <a:spcAft>
                <a:spcPts val="600"/>
              </a:spcAft>
              <a:defRPr/>
            </a:pPr>
            <a:r>
              <a:rPr lang="en-US" sz="1100" kern="1200" dirty="0">
                <a:solidFill>
                  <a:schemeClr val="tx1">
                    <a:lumMod val="50000"/>
                    <a:lumOff val="50000"/>
                  </a:schemeClr>
                </a:solidFill>
                <a:ea typeface="+mn-ea"/>
                <a:cs typeface="+mn-cs"/>
              </a:rPr>
              <a:t>Dirk Moltzen - </a:t>
            </a:r>
            <a:r>
              <a:rPr lang="en-US" sz="1100" kern="1200" dirty="0" err="1">
                <a:solidFill>
                  <a:schemeClr val="tx1">
                    <a:lumMod val="50000"/>
                    <a:lumOff val="50000"/>
                  </a:schemeClr>
                </a:solidFill>
                <a:ea typeface="+mn-ea"/>
                <a:cs typeface="+mn-cs"/>
              </a:rPr>
              <a:t>externer</a:t>
            </a:r>
            <a:r>
              <a:rPr lang="en-US" sz="1100" kern="1200" dirty="0">
                <a:solidFill>
                  <a:schemeClr val="tx1">
                    <a:lumMod val="50000"/>
                    <a:lumOff val="50000"/>
                  </a:schemeClr>
                </a:solidFill>
                <a:ea typeface="+mn-ea"/>
                <a:cs typeface="+mn-cs"/>
              </a:rPr>
              <a:t> </a:t>
            </a:r>
            <a:r>
              <a:rPr lang="en-US" sz="1100" kern="1200" dirty="0" err="1">
                <a:solidFill>
                  <a:schemeClr val="tx1">
                    <a:lumMod val="50000"/>
                    <a:lumOff val="50000"/>
                  </a:schemeClr>
                </a:solidFill>
                <a:ea typeface="+mn-ea"/>
                <a:cs typeface="+mn-cs"/>
              </a:rPr>
              <a:t>Datenschutzbeauftragter</a:t>
            </a:r>
            <a:r>
              <a:rPr lang="en-US" sz="1100" kern="1200" dirty="0">
                <a:solidFill>
                  <a:schemeClr val="tx1">
                    <a:lumMod val="50000"/>
                    <a:lumOff val="50000"/>
                  </a:schemeClr>
                </a:solidFill>
                <a:ea typeface="+mn-ea"/>
                <a:cs typeface="+mn-cs"/>
              </a:rPr>
              <a:t> TÜV® CERT</a:t>
            </a:r>
          </a:p>
        </p:txBody>
      </p:sp>
      <p:sp>
        <p:nvSpPr>
          <p:cNvPr id="6" name="Foliennummernplatzhalter 5">
            <a:extLst>
              <a:ext uri="{FF2B5EF4-FFF2-40B4-BE49-F238E27FC236}">
                <a16:creationId xmlns:a16="http://schemas.microsoft.com/office/drawing/2014/main" id="{C11B6A03-C341-C316-E34A-B920C8EDD16D}"/>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B4CE166D-2D50-44F1-A818-BFD238545C9D}" type="slidenum">
              <a:rPr lang="en-US">
                <a:solidFill>
                  <a:schemeClr val="bg1"/>
                </a:solidFill>
                <a:latin typeface="Calibri" panose="020F0502020204030204"/>
              </a:rPr>
              <a:pPr>
                <a:spcAft>
                  <a:spcPts val="600"/>
                </a:spcAft>
                <a:defRPr/>
              </a:pPr>
              <a:t>25</a:t>
            </a:fld>
            <a:endParaRPr lang="en-US">
              <a:solidFill>
                <a:schemeClr val="bg1"/>
              </a:solidFill>
              <a:latin typeface="Calibri" panose="020F0502020204030204"/>
            </a:endParaRPr>
          </a:p>
        </p:txBody>
      </p:sp>
    </p:spTree>
    <p:extLst>
      <p:ext uri="{BB962C8B-B14F-4D97-AF65-F5344CB8AC3E}">
        <p14:creationId xmlns:p14="http://schemas.microsoft.com/office/powerpoint/2010/main" val="37233614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CAAA22F-3A22-3506-CD02-B700425B1D77}"/>
              </a:ext>
            </a:extLst>
          </p:cNvPr>
          <p:cNvSpPr>
            <a:spLocks noGrp="1"/>
          </p:cNvSpPr>
          <p:nvPr>
            <p:ph type="title"/>
          </p:nvPr>
        </p:nvSpPr>
        <p:spPr>
          <a:xfrm>
            <a:off x="838200" y="365126"/>
            <a:ext cx="10515600" cy="860560"/>
          </a:xfrm>
        </p:spPr>
        <p:txBody>
          <a:bodyPr>
            <a:normAutofit/>
          </a:bodyPr>
          <a:lstStyle/>
          <a:p>
            <a:r>
              <a:rPr lang="de-DE" kern="100" dirty="0">
                <a:effectLst/>
                <a:ea typeface="Aptos" panose="020B0004020202020204" pitchFamily="34" charset="0"/>
                <a:cs typeface="Times New Roman" panose="02020603050405020304" pitchFamily="18" charset="0"/>
              </a:rPr>
              <a:t>Strafen und Sanktionen</a:t>
            </a:r>
            <a:endParaRPr lang="de-DE" dirty="0"/>
          </a:p>
        </p:txBody>
      </p:sp>
      <p:sp>
        <p:nvSpPr>
          <p:cNvPr id="7" name="Inhaltsplatzhalter 6">
            <a:extLst>
              <a:ext uri="{FF2B5EF4-FFF2-40B4-BE49-F238E27FC236}">
                <a16:creationId xmlns:a16="http://schemas.microsoft.com/office/drawing/2014/main" id="{06437718-48DD-0649-193C-D0F42EDFC0F7}"/>
              </a:ext>
            </a:extLst>
          </p:cNvPr>
          <p:cNvSpPr>
            <a:spLocks noGrp="1"/>
          </p:cNvSpPr>
          <p:nvPr>
            <p:ph idx="1"/>
          </p:nvPr>
        </p:nvSpPr>
        <p:spPr>
          <a:xfrm>
            <a:off x="838200" y="1391055"/>
            <a:ext cx="10515600" cy="4785908"/>
          </a:xfrm>
        </p:spPr>
        <p:txBody>
          <a:bodyPr>
            <a:normAutofit/>
          </a:bodyPr>
          <a:lstStyle/>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Voraussetzung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für die folgenden Ansprüche des Urhebers ist, dass seine Urheberrechte </a:t>
            </a: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vorsätzlich oder fahrlässig verletzt </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wurden:</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Anspruch auf Unterlassung: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Wenn die Gefahr einer wiederholten Rechtsverletzung (z.B. durch weitere Verbreitung oder Aufführung) besteht, kann der Urheber eine Unterlassung verlangen. Eine Wiederholungsgefahr wird normalerweise immer angenommen, wenn bereits einmal eine Verletzungshandlung begangen wurde. Diese Gefahr kann nur durch die Abgabe einer schriftlichen „strafbewehrten Unterlassungserklärung“ beseitigt werden. Nur so kann also der Anspruch des Urhebers erfüllt werden, das bloße Unterlassen an sich reicht dafür nicht aus. </a:t>
            </a:r>
          </a:p>
          <a:p>
            <a:endParaRPr lang="de-DE" sz="2400" dirty="0"/>
          </a:p>
        </p:txBody>
      </p:sp>
      <p:sp>
        <p:nvSpPr>
          <p:cNvPr id="4" name="Fußzeilenplatzhalter 3">
            <a:extLst>
              <a:ext uri="{FF2B5EF4-FFF2-40B4-BE49-F238E27FC236}">
                <a16:creationId xmlns:a16="http://schemas.microsoft.com/office/drawing/2014/main" id="{AB86F348-E07F-E878-CFAA-D50A247BFE7D}"/>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B31B1210-982A-60D7-195B-00CE50ABC11F}"/>
              </a:ext>
            </a:extLst>
          </p:cNvPr>
          <p:cNvSpPr>
            <a:spLocks noGrp="1"/>
          </p:cNvSpPr>
          <p:nvPr>
            <p:ph type="sldNum" sz="quarter" idx="12"/>
          </p:nvPr>
        </p:nvSpPr>
        <p:spPr/>
        <p:txBody>
          <a:bodyPr/>
          <a:lstStyle/>
          <a:p>
            <a:fld id="{B4CE166D-2D50-44F1-A818-BFD238545C9D}" type="slidenum">
              <a:rPr lang="de-DE" smtClean="0"/>
              <a:t>26</a:t>
            </a:fld>
            <a:endParaRPr lang="de-DE"/>
          </a:p>
        </p:txBody>
      </p:sp>
    </p:spTree>
    <p:extLst>
      <p:ext uri="{BB962C8B-B14F-4D97-AF65-F5344CB8AC3E}">
        <p14:creationId xmlns:p14="http://schemas.microsoft.com/office/powerpoint/2010/main" val="411854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74DBF-1D77-65EE-5A7F-982E1B5A87C4}"/>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F64B1303-089D-A1F4-3366-5F318D84D45A}"/>
              </a:ext>
            </a:extLst>
          </p:cNvPr>
          <p:cNvSpPr>
            <a:spLocks noGrp="1"/>
          </p:cNvSpPr>
          <p:nvPr>
            <p:ph type="title"/>
          </p:nvPr>
        </p:nvSpPr>
        <p:spPr>
          <a:xfrm>
            <a:off x="838200" y="365126"/>
            <a:ext cx="10515600" cy="860560"/>
          </a:xfrm>
        </p:spPr>
        <p:txBody>
          <a:bodyPr>
            <a:normAutofit/>
          </a:bodyPr>
          <a:lstStyle/>
          <a:p>
            <a:r>
              <a:rPr lang="de-DE" kern="100" dirty="0">
                <a:effectLst/>
                <a:ea typeface="Aptos" panose="020B0004020202020204" pitchFamily="34" charset="0"/>
                <a:cs typeface="Times New Roman" panose="02020603050405020304" pitchFamily="18" charset="0"/>
              </a:rPr>
              <a:t>Strafen und Sanktionen</a:t>
            </a:r>
            <a:endParaRPr lang="de-DE" dirty="0"/>
          </a:p>
        </p:txBody>
      </p:sp>
      <p:sp>
        <p:nvSpPr>
          <p:cNvPr id="7" name="Inhaltsplatzhalter 6">
            <a:extLst>
              <a:ext uri="{FF2B5EF4-FFF2-40B4-BE49-F238E27FC236}">
                <a16:creationId xmlns:a16="http://schemas.microsoft.com/office/drawing/2014/main" id="{5B115E9B-EEE7-9282-1E7F-A3F1A34FF2F3}"/>
              </a:ext>
            </a:extLst>
          </p:cNvPr>
          <p:cNvSpPr>
            <a:spLocks noGrp="1"/>
          </p:cNvSpPr>
          <p:nvPr>
            <p:ph idx="1"/>
          </p:nvPr>
        </p:nvSpPr>
        <p:spPr>
          <a:xfrm>
            <a:off x="838200" y="1318437"/>
            <a:ext cx="10515600" cy="4858525"/>
          </a:xfrm>
        </p:spPr>
        <p:txBody>
          <a:bodyPr>
            <a:normAutofit/>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Anspruch auf Schadenersatz:</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Der Urheber oder Rechteinhaber hat gegenüber dem </a:t>
            </a:r>
            <a:r>
              <a:rPr lang="de-DE" sz="2400" kern="100" dirty="0" err="1">
                <a:effectLst/>
                <a:latin typeface="Aptos" panose="020B0004020202020204" pitchFamily="34" charset="0"/>
                <a:ea typeface="Aptos" panose="020B0004020202020204" pitchFamily="34" charset="0"/>
                <a:cs typeface="Times New Roman" panose="02020603050405020304" pitchFamily="18" charset="0"/>
              </a:rPr>
              <a:t>Verletzer</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des Urheberrechts außerdem einen Schadensersatzanspruch für den tatsächlich entstandenen Schaden. Da dieser in der Regel nicht genau nachweisbar ist, wird normalerweise eine fiktive Lizenzgebühr berechnet.</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Kosten der Rechtsverletzung: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Anspruch auf Kosten, die dem Urheber zur Durchsetzung seiner Rechte entstanden sind (z. B. Anwaltskosten)</a:t>
            </a:r>
          </a:p>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Vernichtung/Überlassung: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Wurden Vervielfältigungsstücke erstellt, so hat der Urheber einen Anspruch auf Vernichtung bzw. Überlassung der Vervielfältigungsstücke und der dafür verwendeten Vorrichtungen.</a:t>
            </a:r>
          </a:p>
          <a:p>
            <a:endParaRPr lang="de-DE" dirty="0"/>
          </a:p>
        </p:txBody>
      </p:sp>
      <p:sp>
        <p:nvSpPr>
          <p:cNvPr id="4" name="Fußzeilenplatzhalter 3">
            <a:extLst>
              <a:ext uri="{FF2B5EF4-FFF2-40B4-BE49-F238E27FC236}">
                <a16:creationId xmlns:a16="http://schemas.microsoft.com/office/drawing/2014/main" id="{D0F85278-E79A-38AA-B6ED-08F3A8C75D6A}"/>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56BE4CC-5F87-11A9-1EF3-295EEEB08C66}"/>
              </a:ext>
            </a:extLst>
          </p:cNvPr>
          <p:cNvSpPr>
            <a:spLocks noGrp="1"/>
          </p:cNvSpPr>
          <p:nvPr>
            <p:ph type="sldNum" sz="quarter" idx="12"/>
          </p:nvPr>
        </p:nvSpPr>
        <p:spPr/>
        <p:txBody>
          <a:bodyPr/>
          <a:lstStyle/>
          <a:p>
            <a:fld id="{B4CE166D-2D50-44F1-A818-BFD238545C9D}" type="slidenum">
              <a:rPr lang="de-DE" smtClean="0"/>
              <a:t>27</a:t>
            </a:fld>
            <a:endParaRPr lang="de-DE"/>
          </a:p>
        </p:txBody>
      </p:sp>
    </p:spTree>
    <p:extLst>
      <p:ext uri="{BB962C8B-B14F-4D97-AF65-F5344CB8AC3E}">
        <p14:creationId xmlns:p14="http://schemas.microsoft.com/office/powerpoint/2010/main" val="87142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E967C-221A-5B85-D49D-51CCDD2A865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648B8C76-052C-A5C9-F540-41AB3CB280C7}"/>
              </a:ext>
            </a:extLst>
          </p:cNvPr>
          <p:cNvSpPr>
            <a:spLocks noGrp="1"/>
          </p:cNvSpPr>
          <p:nvPr>
            <p:ph type="title"/>
          </p:nvPr>
        </p:nvSpPr>
        <p:spPr>
          <a:xfrm>
            <a:off x="838200" y="365126"/>
            <a:ext cx="10515600" cy="860560"/>
          </a:xfrm>
        </p:spPr>
        <p:txBody>
          <a:bodyPr>
            <a:normAutofit/>
          </a:bodyPr>
          <a:lstStyle/>
          <a:p>
            <a:r>
              <a:rPr lang="de-DE" kern="100" dirty="0">
                <a:effectLst/>
                <a:ea typeface="Aptos" panose="020B0004020202020204" pitchFamily="34" charset="0"/>
                <a:cs typeface="Times New Roman" panose="02020603050405020304" pitchFamily="18" charset="0"/>
              </a:rPr>
              <a:t>Strafen und Sanktionen</a:t>
            </a:r>
            <a:endParaRPr lang="de-DE" dirty="0"/>
          </a:p>
        </p:txBody>
      </p:sp>
      <p:sp>
        <p:nvSpPr>
          <p:cNvPr id="7" name="Inhaltsplatzhalter 6">
            <a:extLst>
              <a:ext uri="{FF2B5EF4-FFF2-40B4-BE49-F238E27FC236}">
                <a16:creationId xmlns:a16="http://schemas.microsoft.com/office/drawing/2014/main" id="{EA62D64A-0023-6575-2421-5884C9138A6E}"/>
              </a:ext>
            </a:extLst>
          </p:cNvPr>
          <p:cNvSpPr>
            <a:spLocks noGrp="1"/>
          </p:cNvSpPr>
          <p:nvPr>
            <p:ph idx="1"/>
          </p:nvPr>
        </p:nvSpPr>
        <p:spPr>
          <a:xfrm>
            <a:off x="838200" y="1391055"/>
            <a:ext cx="10515600" cy="4785908"/>
          </a:xfrm>
        </p:spPr>
        <p:txBody>
          <a:bodyPr>
            <a:normAutofit fontScale="92500"/>
          </a:bodyPr>
          <a:lstStyle/>
          <a:p>
            <a:pPr>
              <a:lnSpc>
                <a:spcPct val="107000"/>
              </a:lnSpc>
              <a:spcAft>
                <a:spcPts val="800"/>
              </a:spcAft>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Auskunftserteilung: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Dieser Anspruch bezieht sich auf die Herkunft und Vertriebswege der Vervielfältigungsstücke. Diese Auskünfte sind notwendig, um die Ansprüche auf Schadenersatz (Höhe) und Vernichtung/Überlassung (Stückzahl) zu berechnen.</a:t>
            </a:r>
          </a:p>
          <a:p>
            <a:pPr marL="0" indent="0">
              <a:lnSpc>
                <a:spcPct val="107000"/>
              </a:lnSpc>
              <a:spcAft>
                <a:spcPts val="800"/>
              </a:spcAft>
              <a:buNone/>
            </a:pPr>
            <a:r>
              <a:rPr lang="de-DE" sz="2400" b="1" kern="100" dirty="0">
                <a:effectLst/>
                <a:latin typeface="Aptos" panose="020B0004020202020204" pitchFamily="34" charset="0"/>
                <a:ea typeface="Aptos" panose="020B0004020202020204" pitchFamily="34" charset="0"/>
                <a:cs typeface="Times New Roman" panose="02020603050405020304" pitchFamily="18" charset="0"/>
              </a:rPr>
              <a:t>Wichtig:</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Verschulden ist dabei nicht erforderlich. Die Ansprüche auf Unterlassung, gegebenenfalls Vernichtung oder Überlassung und auf Erstattung der Rechtsverfolgungskosten bestehen in jedem Fall, auch wenn der </a:t>
            </a:r>
            <a:r>
              <a:rPr lang="de-DE" sz="2400" kern="100" dirty="0" err="1">
                <a:effectLst/>
                <a:latin typeface="Aptos" panose="020B0004020202020204" pitchFamily="34" charset="0"/>
                <a:ea typeface="Aptos" panose="020B0004020202020204" pitchFamily="34" charset="0"/>
                <a:cs typeface="Times New Roman" panose="02020603050405020304" pitchFamily="18" charset="0"/>
              </a:rPr>
              <a:t>Verletzer</a:t>
            </a:r>
            <a:r>
              <a:rPr lang="de-DE" sz="2400" kern="100" dirty="0">
                <a:effectLst/>
                <a:latin typeface="Aptos" panose="020B0004020202020204" pitchFamily="34" charset="0"/>
                <a:ea typeface="Aptos" panose="020B0004020202020204" pitchFamily="34" charset="0"/>
                <a:cs typeface="Times New Roman" panose="02020603050405020304" pitchFamily="18" charset="0"/>
              </a:rPr>
              <a:t> nichts von dem Urheberrecht wusste. Schadenersatzansprüche setzen dagegen zwar Verschulden voraus, aber das wird schon dann angenommen, wenn man damit rechnen musste, dass das betreffende Werk geschützt ist. Unkenntnis bezüglich ‎des Urheberrechts schützt also nicht vor einer Abmahnung. Im Zweifel sollte man sich vor der Nutzung fremder Werke über mögliche Urheberrechte informieren.</a:t>
            </a:r>
          </a:p>
          <a:p>
            <a:endParaRPr lang="de-DE" dirty="0"/>
          </a:p>
        </p:txBody>
      </p:sp>
      <p:sp>
        <p:nvSpPr>
          <p:cNvPr id="4" name="Fußzeilenplatzhalter 3">
            <a:extLst>
              <a:ext uri="{FF2B5EF4-FFF2-40B4-BE49-F238E27FC236}">
                <a16:creationId xmlns:a16="http://schemas.microsoft.com/office/drawing/2014/main" id="{AE0476DC-A0FB-EF53-6CB4-7B052966458C}"/>
              </a:ext>
            </a:extLst>
          </p:cNvPr>
          <p:cNvSpPr>
            <a:spLocks noGrp="1"/>
          </p:cNvSpPr>
          <p:nvPr>
            <p:ph type="ftr" sz="quarter" idx="11"/>
          </p:nvPr>
        </p:nvSpPr>
        <p:spPr/>
        <p:txBody>
          <a:bodyPr/>
          <a:lstStyle/>
          <a:p>
            <a:r>
              <a:rPr lang="de-DE"/>
              <a:t>Dirk Moltzen - externer Datenschutzbeauftragter TÜV® CERT</a:t>
            </a:r>
          </a:p>
        </p:txBody>
      </p:sp>
      <p:sp>
        <p:nvSpPr>
          <p:cNvPr id="5" name="Foliennummernplatzhalter 4">
            <a:extLst>
              <a:ext uri="{FF2B5EF4-FFF2-40B4-BE49-F238E27FC236}">
                <a16:creationId xmlns:a16="http://schemas.microsoft.com/office/drawing/2014/main" id="{023A6EF4-154B-63AA-DCD9-9D1EC934BF96}"/>
              </a:ext>
            </a:extLst>
          </p:cNvPr>
          <p:cNvSpPr>
            <a:spLocks noGrp="1"/>
          </p:cNvSpPr>
          <p:nvPr>
            <p:ph type="sldNum" sz="quarter" idx="12"/>
          </p:nvPr>
        </p:nvSpPr>
        <p:spPr/>
        <p:txBody>
          <a:bodyPr/>
          <a:lstStyle/>
          <a:p>
            <a:fld id="{B4CE166D-2D50-44F1-A818-BFD238545C9D}" type="slidenum">
              <a:rPr lang="de-DE" smtClean="0"/>
              <a:t>28</a:t>
            </a:fld>
            <a:endParaRPr lang="de-DE"/>
          </a:p>
        </p:txBody>
      </p:sp>
    </p:spTree>
    <p:extLst>
      <p:ext uri="{BB962C8B-B14F-4D97-AF65-F5344CB8AC3E}">
        <p14:creationId xmlns:p14="http://schemas.microsoft.com/office/powerpoint/2010/main" val="204238360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37B9844-38C6-48CD-A401-6E1F9F21436E}"/>
</file>

<file path=customXml/itemProps2.xml><?xml version="1.0" encoding="utf-8"?>
<ds:datastoreItem xmlns:ds="http://schemas.openxmlformats.org/officeDocument/2006/customXml" ds:itemID="{971F86DF-5100-4137-85D7-80EB630608AB}"/>
</file>

<file path=customXml/itemProps3.xml><?xml version="1.0" encoding="utf-8"?>
<ds:datastoreItem xmlns:ds="http://schemas.openxmlformats.org/officeDocument/2006/customXml" ds:itemID="{03600D04-EC0C-439C-8CD6-893DDF968541}"/>
</file>

<file path=docProps/app.xml><?xml version="1.0" encoding="utf-8"?>
<Properties xmlns="http://schemas.openxmlformats.org/officeDocument/2006/extended-properties" xmlns:vt="http://schemas.openxmlformats.org/officeDocument/2006/docPropsVTypes">
  <TotalTime>0</TotalTime>
  <Words>2137</Words>
  <Application>Microsoft Office PowerPoint</Application>
  <PresentationFormat>Breitbild</PresentationFormat>
  <Paragraphs>175</Paragraphs>
  <Slides>28</Slides>
  <Notes>5</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28</vt:i4>
      </vt:variant>
    </vt:vector>
  </HeadingPairs>
  <TitlesOfParts>
    <vt:vector size="34" baseType="lpstr">
      <vt:lpstr>Aptos</vt:lpstr>
      <vt:lpstr>Aptos Display</vt:lpstr>
      <vt:lpstr>Arial</vt:lpstr>
      <vt:lpstr>Calibri</vt:lpstr>
      <vt:lpstr>Symbol</vt:lpstr>
      <vt:lpstr>Office</vt:lpstr>
      <vt:lpstr>DATENSCHUTZ-SCHULUNG Teil 6: Urheberrecht</vt:lpstr>
      <vt:lpstr>Inhalte der Datenschutz-Themen</vt:lpstr>
      <vt:lpstr>Datenschutz Teil 6.1</vt:lpstr>
      <vt:lpstr>Rechtliche Grundlagen Urheberrechtsgesetz</vt:lpstr>
      <vt:lpstr>Rechtliche Grundlagen Urheberrechtsgesetz</vt:lpstr>
      <vt:lpstr>Rechtliche Grundlagen Urheberrechtsgesetz</vt:lpstr>
      <vt:lpstr>Voraussetzungen des Urheberrechts</vt:lpstr>
      <vt:lpstr>Zusammenfassung: Urheberrechtsgesetz</vt:lpstr>
      <vt:lpstr>Urheber-Diensteanbieter-Gesetz</vt:lpstr>
      <vt:lpstr>Urheber-Diensteanbieter-Gesetz</vt:lpstr>
      <vt:lpstr>Urheber-Diensteanbieter-Gesetz</vt:lpstr>
      <vt:lpstr>Datenschutz Teil 6.2</vt:lpstr>
      <vt:lpstr>Abgrenzung zum Marken- und Patentrecht</vt:lpstr>
      <vt:lpstr>Abgrenzung zum Marken- und Patentrecht</vt:lpstr>
      <vt:lpstr>Abgrenzung zum Marken- und Patentrecht</vt:lpstr>
      <vt:lpstr>Abgrenzung zum Marken- und Patentrecht</vt:lpstr>
      <vt:lpstr>Datenschutz Teil 6.3</vt:lpstr>
      <vt:lpstr>Anwendungsbereich des Urheberrechts</vt:lpstr>
      <vt:lpstr>Nutzungsrechte im Urheberrecht</vt:lpstr>
      <vt:lpstr>Nutzungsrechte im Urheberrecht</vt:lpstr>
      <vt:lpstr>Datenschutz Teil 6.4</vt:lpstr>
      <vt:lpstr>Urheberrecht im Beschäftigungsverhältnis</vt:lpstr>
      <vt:lpstr>Urheberrecht im Beschäftigungsverhältnis</vt:lpstr>
      <vt:lpstr>Urheberrecht im Beschäftigungsverhältnis</vt:lpstr>
      <vt:lpstr>Datenschutz Teil 6.5</vt:lpstr>
      <vt:lpstr>Strafen und Sanktionen</vt:lpstr>
      <vt:lpstr>Strafen und Sanktionen</vt:lpstr>
      <vt:lpstr>Strafen und Sanktionen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Dirk Moltzen</dc:creator>
  <cp:lastModifiedBy>Dirk Moltzen</cp:lastModifiedBy>
  <cp:revision>91</cp:revision>
  <dcterms:created xsi:type="dcterms:W3CDTF">2025-05-19T19:06:41Z</dcterms:created>
  <dcterms:modified xsi:type="dcterms:W3CDTF">2025-09-22T07:54:29Z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