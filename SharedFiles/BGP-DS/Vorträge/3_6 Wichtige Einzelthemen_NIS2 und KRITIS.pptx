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410" r:id="rId4"/>
    <p:sldId id="453" r:id="rId5"/>
    <p:sldId id="446" r:id="rId6"/>
    <p:sldId id="447" r:id="rId7"/>
    <p:sldId id="448" r:id="rId8"/>
    <p:sldId id="449" r:id="rId9"/>
    <p:sldId id="450" r:id="rId10"/>
    <p:sldId id="451" r:id="rId11"/>
    <p:sldId id="452" r:id="rId12"/>
    <p:sldId id="454" r:id="rId13"/>
    <p:sldId id="455" r:id="rId14"/>
    <p:sldId id="456" r:id="rId15"/>
    <p:sldId id="457" r:id="rId16"/>
    <p:sldId id="458" r:id="rId17"/>
    <p:sldId id="459" r:id="rId18"/>
    <p:sldId id="460" r:id="rId19"/>
    <p:sldId id="461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21.09.2025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1E32-926A-6219-E04A-27DF9FB3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C73E58A-FA6D-4834-D260-89287C741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BE0847-BB58-7381-834E-F42D812B4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F8B5A0-960E-B0E7-D450-05CD507C5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2010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BEFE3-5D60-96BB-FECE-51F2E5273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D882E1-74C3-DB5B-6DA4-256CDD9E1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CB4F086-663D-8046-B7DA-D222C0262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DCDE95-D135-DCC2-552C-0BDA152F3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9578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DBB4A-1CFB-78FF-E097-F0C65BB7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319EF18-7D01-17E8-608B-39E99834B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122D630-3DB0-EF0A-A079-1D36A0F32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2B3D27-B5B3-1CE5-8541-F3749DF60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343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21.09.2025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21.09.2025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21.09.2025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21.09.2025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21.09.2025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21.09.2025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21.09.2025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21.09.2025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21.09.2025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21.09.2025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21.09.2025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21.09.2025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-strategy.ec.europa.eu/de/policies/nis2-directiv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3: </a:t>
            </a:r>
            <a:r>
              <a:rPr lang="de-DE" sz="4000" b="1" dirty="0">
                <a:solidFill>
                  <a:srgbClr val="0070C0"/>
                </a:solidFill>
              </a:rPr>
              <a:t>Wichtige Einzelthemen </a:t>
            </a:r>
            <a:r>
              <a:rPr lang="de-DE" sz="4000">
                <a:solidFill>
                  <a:schemeClr val="tx2"/>
                </a:solidFill>
              </a:rPr>
              <a:t>für FI</a:t>
            </a:r>
            <a:endParaRPr lang="de-DE" sz="4000" dirty="0">
              <a:solidFill>
                <a:schemeClr val="tx2"/>
              </a:solidFill>
            </a:endParaRP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Teil 3: Wichtige Einzelthemen</a:t>
            </a:r>
          </a:p>
          <a:p>
            <a:r>
              <a:rPr lang="de-DE" b="1" dirty="0"/>
              <a:t>Teil 3.1: Auftragsverarbeitung</a:t>
            </a:r>
          </a:p>
          <a:p>
            <a:r>
              <a:rPr lang="de-DE" b="1" dirty="0"/>
              <a:t>Teil 3.2: Löschkonzept</a:t>
            </a:r>
          </a:p>
          <a:p>
            <a:r>
              <a:rPr lang="de-DE" b="1" dirty="0"/>
              <a:t>Teil 3.3: TDDDG und DDG</a:t>
            </a:r>
          </a:p>
          <a:p>
            <a:r>
              <a:rPr lang="de-DE" b="1" dirty="0"/>
              <a:t>Teil 3.4: Direktmarketing</a:t>
            </a:r>
          </a:p>
          <a:p>
            <a:r>
              <a:rPr lang="de-DE" b="1" dirty="0"/>
              <a:t>Teil 3.5: Risikoanalyse nach SDM 3.0</a:t>
            </a:r>
          </a:p>
          <a:p>
            <a:r>
              <a:rPr lang="de-DE" b="1" dirty="0"/>
              <a:t>Teil 3.6: KRITIS und NIS2</a:t>
            </a:r>
            <a:br>
              <a:rPr lang="de-DE" b="1" dirty="0"/>
            </a:br>
            <a:r>
              <a:rPr lang="de-DE" sz="2400" dirty="0"/>
              <a:t>Sektoren, Unternehmen, Planungs- und Sicherheitsmaßnahmen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D87BA-018C-7409-FBF5-07E69F4AB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4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Kleidung, Rüstung, Schutzausrüstung, Brustplatte enthält.&#10;&#10;KI-generierte Inhalte können fehlerhaft sein.">
            <a:extLst>
              <a:ext uri="{FF2B5EF4-FFF2-40B4-BE49-F238E27FC236}">
                <a16:creationId xmlns:a16="http://schemas.microsoft.com/office/drawing/2014/main" id="{92D90C04-CB70-2CCB-33B2-D6534F2D3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9224" b="32768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72" name="Rectangle 66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4862549-0CD2-D9C7-E989-199A7375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Datenschutz </a:t>
            </a:r>
            <a:r>
              <a:rPr lang="en-US" sz="4800" dirty="0"/>
              <a:t>Teil 3.6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5BFC09-2537-48A0-06CE-7248CCEC9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 dirty="0">
                <a:solidFill>
                  <a:schemeClr val="tx1"/>
                </a:solidFill>
              </a:rPr>
              <a:t>KRITIS und NIS2</a:t>
            </a:r>
            <a:br>
              <a:rPr lang="en-US" sz="1700" b="1" dirty="0">
                <a:solidFill>
                  <a:schemeClr val="tx1"/>
                </a:solidFill>
              </a:rPr>
            </a:br>
            <a:r>
              <a:rPr lang="en-US" sz="1700" dirty="0" err="1">
                <a:solidFill>
                  <a:schemeClr val="tx1"/>
                </a:solidFill>
              </a:rPr>
              <a:t>Sektoren</a:t>
            </a:r>
            <a:r>
              <a:rPr lang="en-US" sz="1700" dirty="0">
                <a:solidFill>
                  <a:schemeClr val="tx1"/>
                </a:solidFill>
              </a:rPr>
              <a:t> / </a:t>
            </a:r>
            <a:r>
              <a:rPr lang="en-US" sz="1700" dirty="0" err="1">
                <a:solidFill>
                  <a:schemeClr val="tx1"/>
                </a:solidFill>
              </a:rPr>
              <a:t>Unternehmen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br>
              <a:rPr lang="en-US" sz="1700" dirty="0">
                <a:solidFill>
                  <a:schemeClr val="tx1"/>
                </a:solidFill>
              </a:rPr>
            </a:br>
            <a:r>
              <a:rPr lang="en-US" sz="1700" dirty="0" err="1">
                <a:solidFill>
                  <a:schemeClr val="tx1"/>
                </a:solidFill>
              </a:rPr>
              <a:t>Planungs</a:t>
            </a:r>
            <a:r>
              <a:rPr lang="en-US" sz="1700" dirty="0">
                <a:solidFill>
                  <a:schemeClr val="tx1"/>
                </a:solidFill>
              </a:rPr>
              <a:t>- und </a:t>
            </a:r>
            <a:r>
              <a:rPr lang="en-US" sz="1700" dirty="0" err="1">
                <a:solidFill>
                  <a:schemeClr val="tx1"/>
                </a:solidFill>
              </a:rPr>
              <a:t>Sicherheitsmaßnahmen</a:t>
            </a:r>
            <a:br>
              <a:rPr lang="en-US" sz="1700" dirty="0">
                <a:solidFill>
                  <a:schemeClr val="tx1"/>
                </a:solidFill>
              </a:rPr>
            </a:b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815262-F80E-1399-9A29-3818327E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8600" y="6356350"/>
            <a:ext cx="309649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5A0F1-00CE-6DD9-D4D0-FF40BBDC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205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D8F58-0892-1287-9071-4719C977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 descr="Ein Bild, das Mast, Himmel, Turm, Elektrik enthält.&#10;&#10;KI-generierte Inhalte können fehlerhaft sein.">
            <a:extLst>
              <a:ext uri="{FF2B5EF4-FFF2-40B4-BE49-F238E27FC236}">
                <a16:creationId xmlns:a16="http://schemas.microsoft.com/office/drawing/2014/main" id="{92A4D11D-0410-3892-BEB8-F78F59DB2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4" t="9091" r="26378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C9234A-164D-2983-AD2B-0AA1CA21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3.6.1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6662AB-5171-55E0-BCE5-50D4C8896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 dirty="0">
                <a:solidFill>
                  <a:schemeClr val="tx1"/>
                </a:solidFill>
              </a:rPr>
              <a:t>KRITIS</a:t>
            </a:r>
            <a:br>
              <a:rPr lang="en-US" sz="1700" b="1" dirty="0">
                <a:solidFill>
                  <a:schemeClr val="tx1"/>
                </a:solidFill>
              </a:rPr>
            </a:br>
            <a:r>
              <a:rPr lang="en-US" sz="1700" dirty="0" err="1">
                <a:solidFill>
                  <a:schemeClr val="tx1"/>
                </a:solidFill>
              </a:rPr>
              <a:t>Sektoren</a:t>
            </a:r>
            <a:r>
              <a:rPr lang="en-US" sz="1700" dirty="0">
                <a:solidFill>
                  <a:schemeClr val="tx1"/>
                </a:solidFill>
              </a:rPr>
              <a:t> / </a:t>
            </a:r>
            <a:r>
              <a:rPr lang="en-US" sz="1700" dirty="0" err="1">
                <a:solidFill>
                  <a:schemeClr val="tx1"/>
                </a:solidFill>
              </a:rPr>
              <a:t>Unternehmen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br>
              <a:rPr lang="en-US" sz="1700" dirty="0">
                <a:solidFill>
                  <a:schemeClr val="tx1"/>
                </a:solidFill>
              </a:rPr>
            </a:br>
            <a:r>
              <a:rPr lang="en-US" sz="1700" dirty="0" err="1">
                <a:solidFill>
                  <a:schemeClr val="tx1"/>
                </a:solidFill>
              </a:rPr>
              <a:t>Planungs</a:t>
            </a:r>
            <a:r>
              <a:rPr lang="en-US" sz="1700" dirty="0">
                <a:solidFill>
                  <a:schemeClr val="tx1"/>
                </a:solidFill>
              </a:rPr>
              <a:t>- und </a:t>
            </a:r>
            <a:r>
              <a:rPr lang="en-US" sz="1700" dirty="0" err="1">
                <a:solidFill>
                  <a:schemeClr val="tx1"/>
                </a:solidFill>
              </a:rPr>
              <a:t>Sicherheitsmaßnahmen</a:t>
            </a:r>
            <a:br>
              <a:rPr lang="en-US" sz="1700" dirty="0">
                <a:solidFill>
                  <a:schemeClr val="tx1"/>
                </a:solidFill>
              </a:rPr>
            </a:b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B64FF5-9CE4-636D-6488-EF4B6B7E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85117" y="6356350"/>
            <a:ext cx="3796786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Dirk Moltzen - </a:t>
            </a:r>
            <a:r>
              <a:rPr lang="en-US" sz="1100" kern="1200" dirty="0" err="1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externer</a:t>
            </a: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Datenschutzbeauftragter</a:t>
            </a: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6AC948-BE88-790C-0656-2AA6AF72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5375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9BD38BB-A994-0209-30D2-2B8A25D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de-DE" dirty="0"/>
              <a:t>KRITIS (Kritische Infrastrukturen)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920468A-EDC9-8306-BCC2-9BE5C5DBE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511"/>
            <a:ext cx="10515600" cy="4766452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Kritische Infrastrukturen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(KRITIS) sind Organisationen und Einrichtungen mit wichtiger Bedeutung für das staatliche Gemeinwesen, bei deren Ausfall oder Beeinträchtigung nachhaltig wirkende Versorgungsengpässe,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erhebliche Störungen der öffentlichen Sicherheit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oder andere dramatische Folgen eintreten würden.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gilt für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Deutschland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NIS2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gilt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EU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-weit.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852BC0-B00D-DBFA-7022-02B9450D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7E27D7-617C-F90D-D659-6A764886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605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0B2E385-56F9-E4DE-6A53-BACE4F3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1013"/>
          </a:xfrm>
        </p:spPr>
        <p:txBody>
          <a:bodyPr/>
          <a:lstStyle/>
          <a:p>
            <a:r>
              <a:rPr lang="de-DE" dirty="0"/>
              <a:t>KRITIS Sektoren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2E85594-C5D6-384B-D264-DDD8609FF4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Energie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Informationstechnik und Telekommunikation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Transport und Verkehr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Gesundheit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Medien und Kultur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Wasser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Ernährung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Finanz- und Versicherungswesen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Siedlungsabfallentsorgung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Staat und Verwaltung</a:t>
            </a:r>
          </a:p>
          <a:p>
            <a:endParaRPr lang="de-DE" dirty="0"/>
          </a:p>
        </p:txBody>
      </p:sp>
      <p:pic>
        <p:nvPicPr>
          <p:cNvPr id="10" name="Inhaltsplatzhalter 9" descr="Ein Bild, das Kreis, Grafiken, Schwarzweiß, Screenshot enthält.&#10;&#10;KI-generierte Inhalte können fehlerhaft sein.">
            <a:extLst>
              <a:ext uri="{FF2B5EF4-FFF2-40B4-BE49-F238E27FC236}">
                <a16:creationId xmlns:a16="http://schemas.microsoft.com/office/drawing/2014/main" id="{809137D0-6A46-E5A6-8569-2E6BCA7DC9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691" y="1646238"/>
            <a:ext cx="7390337" cy="4322227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9E88AA-F47D-4CA3-FB43-CA717A37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A69C24-A5C5-92D4-C483-332319F8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136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DE46038-CA1C-6981-C9D1-1B43E99C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BSI-Gesetz (BSIG) / </a:t>
            </a:r>
            <a:br>
              <a:rPr lang="de-DE" sz="3600" dirty="0"/>
            </a:br>
            <a:r>
              <a:rPr lang="de-DE" sz="3600" dirty="0"/>
              <a:t>BSI-KRITIS-Verordnung (BSI-</a:t>
            </a:r>
            <a:r>
              <a:rPr lang="de-DE" sz="3600" dirty="0" err="1"/>
              <a:t>KritisV</a:t>
            </a:r>
            <a:r>
              <a:rPr lang="de-DE" sz="3600" dirty="0"/>
              <a:t>)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233487B-2EEF-4D81-0C7F-080AC8D1A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Alle Organisationen aus diesen Sektoren zählen unabhängig von ihrer Größe zu den Kritischen Infrastrukturen (KRITIS).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Sektoren Staat und Verwaltung 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sowie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Medien und Kultur 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unterliegen jedoch nicht der Regulierung durch das BSIG.</a:t>
            </a:r>
          </a:p>
          <a:p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Gemäß </a:t>
            </a:r>
            <a:r>
              <a:rPr lang="de-DE" sz="2000" b="1" i="1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§ 2 (10) BSIG </a:t>
            </a: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sind </a:t>
            </a:r>
            <a:r>
              <a:rPr lang="de-DE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Kritische Infrastrukturen </a:t>
            </a: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 Sinne dieses Gesetzes </a:t>
            </a:r>
            <a:r>
              <a:rPr lang="de-DE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Einrichtungen, Anlagen oder Teile davon</a:t>
            </a: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die den Sektoren Energie, Informationstechnik und Telekommunikation, Transport und Verkehr, Gesundheit, Wasser, Ernährung, Finanz- und Versicherungswesen sowie Siedlungsabfallentsorgung angehören und </a:t>
            </a:r>
            <a:r>
              <a:rPr lang="de-DE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von hoher Bedeutung für das Funktionieren des Gemeinwesens sind</a:t>
            </a: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weil durch ihren Ausfall oder ihre Beeinträchtigung erhebliche Versorgungsengpässe oder Gefährdungen für die öffentliche Sicherheit eintreten würden. Die Kritischen Infrastrukturen im Sinne dieses Gesetzes werden durch die Rechtsverordnung nach </a:t>
            </a:r>
            <a:r>
              <a:rPr lang="de-DE" sz="2000" b="1" i="1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§ 10 (1) BSIG </a:t>
            </a: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(BSI-</a:t>
            </a:r>
            <a:r>
              <a:rPr lang="de-DE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Kritisverordnung</a:t>
            </a: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näher bestimmt:</a:t>
            </a:r>
            <a:endParaRPr lang="de-DE" sz="2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ADF808-436B-CD64-6585-5F0909A0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AE751B-A1A8-6E47-907B-CBB78AF3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420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12ACE-BA56-A4BC-C3A5-FDC78266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 kritischer Dienstleistungen und Schwellenwerte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0DCB84-56FE-C495-7976-A07E6C545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Welche Einrichtungen, Anlagen oder Teile davon wegen ihrer Bedeutung für die Versorgung der Bevölkerung und damit für das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Funktionieren des Gemeinwesens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als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Kritische Infrastrukturen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 Sinne des BSIG gelten, wird durch die BSI-</a:t>
            </a:r>
            <a:r>
              <a:rPr lang="de-DE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Kritisverordnung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definiert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 ein bedeutender Versorgungsgrad vorliegt, ist vom Erreichen oder Überschreiten von in der BSI-</a:t>
            </a:r>
            <a:r>
              <a:rPr lang="de-DE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Kritisverordnung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aufgeführten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Schwellenwerten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abhängig. Werden diese Schwellenwerte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erreicht oder überschritten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gelten für KRITIS-Betreiber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gesetzlichen Melde- und Nachweispflichten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 BSIG.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338213-2D4E-FDF3-4F63-0908CCC9D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E92764-2441-C05F-63F7-8300855E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116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D484C-23E1-8727-13F3-9C63F37E3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544"/>
          </a:xfrm>
        </p:spPr>
        <p:txBody>
          <a:bodyPr>
            <a:normAutofit fontScale="90000"/>
          </a:bodyPr>
          <a:lstStyle/>
          <a:p>
            <a:r>
              <a:rPr lang="de-DE" dirty="0"/>
              <a:t>Sektor: </a:t>
            </a:r>
            <a:r>
              <a:rPr lang="de-DE" sz="4000" dirty="0"/>
              <a:t>Informationstechnik und Telekommunikation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8CE980-C274-7DD4-BA60-7218C281E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670"/>
            <a:ext cx="10515600" cy="49652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§ 5 Sektor Informationstechnik und Telekommunikation</a:t>
            </a:r>
            <a:b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(1) Wegen ihrer besonderen Bedeutung für das Funktionieren des Gemeinwesens sind im </a:t>
            </a: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Sektor Informationstechnik und Telekommunikation kritische Dienstleistungen</a:t>
            </a: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im Sinne des § 10 Absatz 1 Satz 1 des BSI-Gesetzes: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Sprach- und Datenübertragung</a:t>
            </a: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Datenspeicherung und -verarbeitung</a:t>
            </a: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(2) Die Sprach- und Datenübertragung wird in den Bereichen </a:t>
            </a: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Zugang, Übertragung, Vermittlung und Steuerung </a:t>
            </a: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erbracht.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(3) Die Datenspeicherung und -verarbeitung wird in den Bereichen </a:t>
            </a: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Housing, IT-Hosting und Vertrauensdienste </a:t>
            </a: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erbracht.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(4) Im Sektor Informationstechnik und Telekommunikation sind Kritische Infrastrukturen solche Anlagen oder Teile davon, die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 in </a:t>
            </a: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Anhang 4 Teil 3 Spalte B </a:t>
            </a: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genannten Kategorien zuzuordnen sind und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 </a:t>
            </a:r>
            <a:r>
              <a:rPr lang="de-DE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Schwellenwert nach Anhang 4 Teil 3 Spalte D </a:t>
            </a:r>
            <a:r>
              <a:rPr lang="de-D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erreichen oder überschreiten.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2800A3-B6D4-2416-5691-C683FC48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E306D9-3F45-571A-BE0C-7F4A988E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576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F99A23-83B7-1F1B-0A44-1222E3AB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4882E0-822F-D6F0-E280-1F30F7D2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6C8456C-82EF-6533-CDC2-97C080C9C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75" y="641132"/>
            <a:ext cx="10612815" cy="539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09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3FF2D7B-D037-2318-02D5-9A88FA73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777677F-1A1A-D988-926A-8B8FA5A9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  <p:pic>
        <p:nvPicPr>
          <p:cNvPr id="4" name="Grafik 3" descr="Ein Bild, das Text, Screenshot, Reihe, Zahl enthält.&#10;&#10;KI-generierte Inhalte können fehlerhaft sein.">
            <a:extLst>
              <a:ext uri="{FF2B5EF4-FFF2-40B4-BE49-F238E27FC236}">
                <a16:creationId xmlns:a16="http://schemas.microsoft.com/office/drawing/2014/main" id="{4E706DD2-8BE8-267F-FDC8-EE962859C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26" y="1513491"/>
            <a:ext cx="10905138" cy="387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20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D9846-1A7E-1A6C-DF76-5613C0F3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Kleidung, Person, Menschliches Gesicht, Brille enthält.&#10;&#10;KI-generierte Inhalte können fehlerhaft sein.">
            <a:extLst>
              <a:ext uri="{FF2B5EF4-FFF2-40B4-BE49-F238E27FC236}">
                <a16:creationId xmlns:a16="http://schemas.microsoft.com/office/drawing/2014/main" id="{9D8BDD8C-E83C-48BC-7434-6587C987A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r="-1" b="28077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6AC2A9-6CDC-34D7-E29A-6F3C1E04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Datenschutz</a:t>
            </a:r>
            <a:r>
              <a:rPr lang="en-US" sz="4800" dirty="0"/>
              <a:t> Teil 3.6.2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C472F3-12AA-C286-4ECC-C1A20D8D2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 dirty="0">
                <a:solidFill>
                  <a:schemeClr val="tx1"/>
                </a:solidFill>
              </a:rPr>
              <a:t>NIS2</a:t>
            </a:r>
            <a:br>
              <a:rPr lang="en-US" sz="1700" b="1" dirty="0">
                <a:solidFill>
                  <a:schemeClr val="tx1"/>
                </a:solidFill>
              </a:rPr>
            </a:br>
            <a:r>
              <a:rPr lang="en-US" sz="1700">
                <a:solidFill>
                  <a:schemeClr val="tx1"/>
                </a:solidFill>
              </a:rPr>
              <a:t>Sektoren</a:t>
            </a:r>
            <a:r>
              <a:rPr lang="en-US" sz="1700" dirty="0">
                <a:solidFill>
                  <a:schemeClr val="tx1"/>
                </a:solidFill>
              </a:rPr>
              <a:t> / </a:t>
            </a:r>
            <a:r>
              <a:rPr lang="en-US" sz="1700">
                <a:solidFill>
                  <a:schemeClr val="tx1"/>
                </a:solidFill>
              </a:rPr>
              <a:t>Unternehmen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br>
              <a:rPr lang="en-US" sz="1700" dirty="0">
                <a:solidFill>
                  <a:schemeClr val="tx1"/>
                </a:solidFill>
              </a:rPr>
            </a:br>
            <a:r>
              <a:rPr lang="en-US" sz="1700">
                <a:solidFill>
                  <a:schemeClr val="tx1"/>
                </a:solidFill>
              </a:rPr>
              <a:t>Planungs</a:t>
            </a:r>
            <a:r>
              <a:rPr lang="en-US" sz="1700" dirty="0">
                <a:solidFill>
                  <a:schemeClr val="tx1"/>
                </a:solidFill>
              </a:rPr>
              <a:t>- und </a:t>
            </a:r>
            <a:r>
              <a:rPr lang="en-US" sz="1700">
                <a:solidFill>
                  <a:schemeClr val="tx1"/>
                </a:solidFill>
              </a:rPr>
              <a:t>Sicherheitsmaßnahmen</a:t>
            </a:r>
            <a:br>
              <a:rPr lang="en-US" sz="1700" dirty="0">
                <a:solidFill>
                  <a:schemeClr val="tx1"/>
                </a:solidFill>
              </a:rPr>
            </a:b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B60F57-D119-095F-A392-216C23C0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8600" y="6356350"/>
            <a:ext cx="309649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B020C4-938D-ED54-6E70-2FB65225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7172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4297604-D7C3-DA5B-2433-07176AE4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1845"/>
          </a:xfrm>
        </p:spPr>
        <p:txBody>
          <a:bodyPr/>
          <a:lstStyle/>
          <a:p>
            <a:r>
              <a:rPr lang="de-DE" dirty="0"/>
              <a:t>NIS2 </a:t>
            </a:r>
            <a:r>
              <a:rPr lang="de-DE" sz="4000" dirty="0"/>
              <a:t>(Network and Information Security 2)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80C2EF2-CA23-7372-3DCC-90EEED1D8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357"/>
            <a:ext cx="10515600" cy="4046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Mit dem Ziel, ein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hohes gemeinsames Cybersicherheitsniveau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der Europäischen Union zu etablieren, trat zum 07.11.2024 die Durchführungsverordnung (EU) 2024/2690 in Kraft. Mit dieser formuliert die EU-Kommission für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Digitaler Infrastrukturen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digitaler Dienste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EU-weite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Mindestanforderungen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Risikomanagementmaßnahmen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präzisiert, ab wann ein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Sicherheitsvorfall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für diese Bereiche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als erheblich gilt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5EEA4D-BA1F-B265-C60D-8835F028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EB8274-ECAF-BC34-E64D-03FAA41E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478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5AAE6EA-BB4C-197B-DAFC-B547C60B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649"/>
          </a:xfrm>
        </p:spPr>
        <p:txBody>
          <a:bodyPr/>
          <a:lstStyle/>
          <a:p>
            <a:r>
              <a:rPr lang="de-DE" dirty="0"/>
              <a:t>NIS2-betroffene Einrichtungen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1F9BD0D-B38E-0F76-9C5C-70776ECE2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7515"/>
            <a:ext cx="5181600" cy="465944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DNS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-Diensteanbieter,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TLD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-Namenregister,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Cloud-Computing-Diensten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Rechenzentrumsdiensten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Betreiber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Inhaltszustellnetzen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verwalteter Dienste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MSP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</a:t>
            </a:r>
          </a:p>
          <a:p>
            <a:endParaRPr lang="de-DE" sz="24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8C1FF14-D445-0DB5-D8EC-18FEBE7C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7515"/>
            <a:ext cx="5181600" cy="465944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verwalteter Sicherheitsdienste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MSSP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Online-Marktplätzen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Online-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Suchmaschinen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Plattformen für Dienste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sozialer Netzwerke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de-DE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Vertrauensdienste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(Zeitstempel, elektr. Signatur)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896F42-00AE-47F7-EE15-1BFEB5C5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116A68-A4EA-1ECA-B369-6017E514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7241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66E539D-6370-D385-C456-F2DD1CE7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3479"/>
          </a:xfrm>
        </p:spPr>
        <p:txBody>
          <a:bodyPr/>
          <a:lstStyle/>
          <a:p>
            <a:r>
              <a:rPr lang="de-DE" dirty="0"/>
              <a:t>NIS2 - In Deutschland jetzt auch in Kraft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2828867-1D4C-B556-984E-3966001C9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889"/>
            <a:ext cx="10515600" cy="43870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Durchführungsverordnung gilt unmittelbar. Eine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nationalgesetzliche Ausgestaltung in Deutschland liegt </a:t>
            </a:r>
            <a:r>
              <a:rPr lang="de-DE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seit Mitte 2025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vor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wurde vom BSI in der Folge des Inkrafttretens dringend erwartet. 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NIS2 Richtlinie</a:t>
            </a:r>
            <a:b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Durchführungsverordnung formuliert und präzisiert Mindestanforderungen für die Risikomanagementmaßnahmen aus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Artikel 21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NIS-2-Richtlinie. Außerdem wird konkretisiert, welche Sicherheitsvorfälle nach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Artikel 23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NIS-2-Richtlinie als "erheblich" gelten. Sobald die NIS-2-Richtlinie in nationales Recht umgesetzt ist, gelten für die betroffenen Sektoren die Regelungen der Durchführungsverordnung. Deren Mindestanforderungen können durch nationales Recht oder durch Vorgaben des BSI weiter angehoben werden.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3DA5F7-3BAC-9AE7-EB05-62D47701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26E6F7-A814-69CA-8ED7-946E6DA8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59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30271B-E05F-EBBD-828D-FEF9A904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4296"/>
          </a:xfrm>
        </p:spPr>
        <p:txBody>
          <a:bodyPr/>
          <a:lstStyle/>
          <a:p>
            <a:r>
              <a:rPr lang="de-DE" dirty="0"/>
              <a:t>Anforderungen von NIS2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A92A86-B42F-39DB-9F6D-7B773A68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technischen und methodischen Anforderungen der festgelegten Risikomanagementmaßnahmen umfassen unter anderem eine regelmäßige Durchführung von Risikobewertungen zur Identifikation von potenziellen Sicherheitsrisiken, darauf basierend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Implementierung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geeigneten technischen und organisatorischen Sicherheitsmaßnahmen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sowie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Dokumentation und Nachverfolgbarkeit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durchgeführten Risikomanagementprozesse und implementierten Maßnahmen und die Schulung und Sensibilisierung des Personals. Die Anforderungen beruhen auf europäischen und internationalen Normen.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67B26F-79B9-8BAA-0EC4-58918772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029B91-B29B-993F-8E59-C7626DA4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697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C227C5-F1CB-1CF7-7232-9A3E3B44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NIS2-Definition: Sicherheitsvorfall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8824CB-AF30-6D1E-B043-DF58BD96D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905"/>
            <a:ext cx="10515600" cy="3959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Sicherheitsvorfall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gilt nach der Verordnung unter anderem als erheblich, wenn er potenziell eine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Beeinträchtigung kritischer Dienste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zur Folge hat und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substanzielle Auswirkungen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auf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Vertraulichkeit, Integrität oder Verfügbarkeit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Netz- und Informationssystemen drohen. Die festgelegten Kriterien wie Ausfallzeit und Nutzerbetroffenheit und deren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Schwellenwerte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für die Einstufung eines Vorfalls als erheblich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können je nach Sektor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Art der Dienstleistung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variieren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01E1C9-95E5-F14E-1DB9-0EB701E8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F688C2-B297-B740-A99B-BFE7C478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13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53BCB-0902-2A9D-97B1-AE3AEA30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837"/>
          </a:xfrm>
        </p:spPr>
        <p:txBody>
          <a:bodyPr/>
          <a:lstStyle/>
          <a:p>
            <a:r>
              <a:rPr lang="de-DE" dirty="0"/>
              <a:t>Ziele von NIS2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F4BB68-3AFE-EB5E-B1E0-2954E1C9B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962"/>
            <a:ext cx="10515600" cy="491246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Konzepte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Bezug auf die Risikoanalyse und Sicherheit für Informationssysteme;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Bewältigung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Sicherheitsvorfällen;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Aufrechterhaltung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Betriebs, wie Backup-Management und Wiederherstellung nach einem Notfall, und Krisenmanagement;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Lieferkette einschließlich sicherheitsbezogener Aspekte der Beziehungen zwischen den einzelnen Einrichtungen und ihren unmittelbaren Anbietern oder Diensteanbietern;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Sicherheitsmaßnahmen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bei Erwerb, Entwicklung und Wartung von Netz- und Informationssystemen, einschließlich Management und Offenlegung von Schwachstellen;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3AC744-1E8C-5D4E-2DD5-26355596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B155D1-BDA7-854D-0B40-994228F4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6435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EF793-BCA4-1BF5-FBD3-1C5047B4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5930"/>
          </a:xfrm>
        </p:spPr>
        <p:txBody>
          <a:bodyPr/>
          <a:lstStyle/>
          <a:p>
            <a:r>
              <a:rPr lang="de-DE" dirty="0"/>
              <a:t>Ziele von NIS2 </a:t>
            </a:r>
            <a:r>
              <a:rPr lang="de-DE" sz="2800" dirty="0"/>
              <a:t>(Fortsetzung)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8AE77E-6024-F130-4031-1CEC260C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056"/>
            <a:ext cx="10515600" cy="4965294"/>
          </a:xfrm>
        </p:spPr>
        <p:txBody>
          <a:bodyPr>
            <a:noAutofit/>
          </a:bodyPr>
          <a:lstStyle/>
          <a:p>
            <a:pPr marL="457200" lvl="0" indent="-4572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Konzepte und Verfahren zur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Bewertung der Wirksamkeit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Risikomanagementmaßnahmen im Bereich der Cybersicherheit;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grundlegende Verfahren im Bereich der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Cyberhygiene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Schulungen im Bereich der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Cybersicherheit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Konzepte und Verfahren für den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Einsatz von Kryptografie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gegebenenfalls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Verschlüsselung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Personals, Konzepte für die Zugriffskontrolle und Management von Anlagen;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Verwendung von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Lösungen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zur Multi-Faktor-Authentifizierung oder kontinuierlichen Authentifizierung, gesicherte Sprach-, Video- und Textkommunikation sowie gegebenenfalls gesicherte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Notfallkommunikationssysteme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innerhalb der Einrichtung.</a:t>
            </a:r>
          </a:p>
          <a:p>
            <a:endParaRPr lang="de-DE" sz="22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B097F-9B3B-E18F-E886-7C897232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F2CFEB-E7BA-4D28-46E9-9C7B4ECB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44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8E122C5-75C5-4120-9393-C118999155EB}"/>
</file>

<file path=customXml/itemProps2.xml><?xml version="1.0" encoding="utf-8"?>
<ds:datastoreItem xmlns:ds="http://schemas.openxmlformats.org/officeDocument/2006/customXml" ds:itemID="{AA8BD8C4-9C76-4860-B7F4-73ED9FD452F4}"/>
</file>

<file path=customXml/itemProps3.xml><?xml version="1.0" encoding="utf-8"?>
<ds:datastoreItem xmlns:ds="http://schemas.openxmlformats.org/officeDocument/2006/customXml" ds:itemID="{AF36AC9E-88A0-47D4-BB79-15594D2286C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Microsoft Office PowerPoint</Application>
  <PresentationFormat>Breitbild</PresentationFormat>
  <Paragraphs>120</Paragraphs>
  <Slides>19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Wingdings</vt:lpstr>
      <vt:lpstr>Office</vt:lpstr>
      <vt:lpstr>DATENSCHUTZ-SCHULUNG Teil 3: Wichtige Einzelthemen für FI</vt:lpstr>
      <vt:lpstr>Inhalte der Datenschutz-Themen</vt:lpstr>
      <vt:lpstr>Datenschutz Teil 3.6</vt:lpstr>
      <vt:lpstr>Datenschutz Teil 3.6.1</vt:lpstr>
      <vt:lpstr>KRITIS (Kritische Infrastrukturen)</vt:lpstr>
      <vt:lpstr>KRITIS Sektoren</vt:lpstr>
      <vt:lpstr>BSI-Gesetz (BSIG) /  BSI-KRITIS-Verordnung (BSI-KritisV)</vt:lpstr>
      <vt:lpstr>Definition kritischer Dienstleistungen und Schwellenwerte</vt:lpstr>
      <vt:lpstr>Sektor: Informationstechnik und Telekommunikation</vt:lpstr>
      <vt:lpstr>PowerPoint-Präsentation</vt:lpstr>
      <vt:lpstr>PowerPoint-Präsentation</vt:lpstr>
      <vt:lpstr>Datenschutz Teil 3.6.2</vt:lpstr>
      <vt:lpstr>NIS2 (Network and Information Security 2)</vt:lpstr>
      <vt:lpstr>NIS2-betroffene Einrichtungen</vt:lpstr>
      <vt:lpstr>NIS2 - In Deutschland jetzt auch in Kraft</vt:lpstr>
      <vt:lpstr>Anforderungen von NIS2</vt:lpstr>
      <vt:lpstr>NIS2-Definition: Sicherheitsvorfall</vt:lpstr>
      <vt:lpstr>Ziele von NIS2</vt:lpstr>
      <vt:lpstr>Ziele von NIS2 (Fortsetzung)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106</cp:revision>
  <dcterms:created xsi:type="dcterms:W3CDTF">2025-05-19T19:06:41Z</dcterms:created>
  <dcterms:modified xsi:type="dcterms:W3CDTF">2025-09-21T10:57:27Z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