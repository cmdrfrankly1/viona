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8" r:id="rId3"/>
    <p:sldId id="287" r:id="rId4"/>
    <p:sldId id="303" r:id="rId5"/>
    <p:sldId id="296" r:id="rId6"/>
    <p:sldId id="297" r:id="rId7"/>
    <p:sldId id="298" r:id="rId8"/>
    <p:sldId id="299" r:id="rId9"/>
    <p:sldId id="300" r:id="rId10"/>
    <p:sldId id="301" r:id="rId11"/>
    <p:sldId id="304" r:id="rId12"/>
    <p:sldId id="302" r:id="rId13"/>
    <p:sldId id="305" r:id="rId14"/>
    <p:sldId id="306" r:id="rId15"/>
    <p:sldId id="307" r:id="rId16"/>
    <p:sldId id="308" r:id="rId17"/>
    <p:sldId id="317"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31" autoAdjust="0"/>
    <p:restoredTop sz="94660"/>
  </p:normalViewPr>
  <p:slideViewPr>
    <p:cSldViewPr snapToGrid="0">
      <p:cViewPr varScale="1">
        <p:scale>
          <a:sx n="60" d="100"/>
          <a:sy n="60" d="100"/>
        </p:scale>
        <p:origin x="79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2C052-91DF-4DB3-B342-3CD8D6AF7C71}" type="datetimeFigureOut">
              <a:rPr lang="de-DE" smtClean="0"/>
              <a:t>18.09.2025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4710CE-1ECF-4525-BFCD-FD2D0B83985D}" type="slidenum">
              <a:rPr lang="de-DE" smtClean="0"/>
              <a:t>‹Nr.›</a:t>
            </a:fld>
            <a:endParaRPr lang="de-DE"/>
          </a:p>
        </p:txBody>
      </p:sp>
    </p:spTree>
    <p:extLst>
      <p:ext uri="{BB962C8B-B14F-4D97-AF65-F5344CB8AC3E}">
        <p14:creationId xmlns:p14="http://schemas.microsoft.com/office/powerpoint/2010/main" val="902725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64729-7536-8BBB-489B-24F549E67FD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E730C87-A2ED-FCD2-B912-9B8EB1FBC8E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FCEE863-1194-346D-2B1A-71154130229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94BC9433-D27B-85D1-2072-FC82F05EA150}"/>
              </a:ext>
            </a:extLst>
          </p:cNvPr>
          <p:cNvSpPr>
            <a:spLocks noGrp="1"/>
          </p:cNvSpPr>
          <p:nvPr>
            <p:ph type="sldNum" sz="quarter" idx="5"/>
          </p:nvPr>
        </p:nvSpPr>
        <p:spPr/>
        <p:txBody>
          <a:bodyPr/>
          <a:lstStyle/>
          <a:p>
            <a:fld id="{644710CE-1ECF-4525-BFCD-FD2D0B83985D}" type="slidenum">
              <a:rPr lang="de-DE" smtClean="0"/>
              <a:t>3</a:t>
            </a:fld>
            <a:endParaRPr lang="de-DE"/>
          </a:p>
        </p:txBody>
      </p:sp>
    </p:spTree>
    <p:extLst>
      <p:ext uri="{BB962C8B-B14F-4D97-AF65-F5344CB8AC3E}">
        <p14:creationId xmlns:p14="http://schemas.microsoft.com/office/powerpoint/2010/main" val="1414677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98ACD-BD3D-7B68-60CE-E7A6599B26F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0298D75-CA09-8702-6CD6-35D41215F7A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FC3247B-F4DD-F9AC-3F1F-1693E13F7F0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6881D089-F919-31CE-8FAA-CEB39511C9CC}"/>
              </a:ext>
            </a:extLst>
          </p:cNvPr>
          <p:cNvSpPr>
            <a:spLocks noGrp="1"/>
          </p:cNvSpPr>
          <p:nvPr>
            <p:ph type="sldNum" sz="quarter" idx="5"/>
          </p:nvPr>
        </p:nvSpPr>
        <p:spPr/>
        <p:txBody>
          <a:bodyPr/>
          <a:lstStyle/>
          <a:p>
            <a:fld id="{644710CE-1ECF-4525-BFCD-FD2D0B83985D}" type="slidenum">
              <a:rPr lang="de-DE" smtClean="0"/>
              <a:t>4</a:t>
            </a:fld>
            <a:endParaRPr lang="de-DE"/>
          </a:p>
        </p:txBody>
      </p:sp>
    </p:spTree>
    <p:extLst>
      <p:ext uri="{BB962C8B-B14F-4D97-AF65-F5344CB8AC3E}">
        <p14:creationId xmlns:p14="http://schemas.microsoft.com/office/powerpoint/2010/main" val="90232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950F6-2DAA-20E6-B757-3CC7A062D8C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4814734-31AC-D6A5-D0D4-AB4E6AFB239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F0194FB-8A39-A0E2-C934-E7965B612E36}"/>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74BE7408-2A52-F643-FEF2-782B34E8C9D9}"/>
              </a:ext>
            </a:extLst>
          </p:cNvPr>
          <p:cNvSpPr>
            <a:spLocks noGrp="1"/>
          </p:cNvSpPr>
          <p:nvPr>
            <p:ph type="sldNum" sz="quarter" idx="5"/>
          </p:nvPr>
        </p:nvSpPr>
        <p:spPr/>
        <p:txBody>
          <a:bodyPr/>
          <a:lstStyle/>
          <a:p>
            <a:fld id="{644710CE-1ECF-4525-BFCD-FD2D0B83985D}" type="slidenum">
              <a:rPr lang="de-DE" smtClean="0"/>
              <a:t>11</a:t>
            </a:fld>
            <a:endParaRPr lang="de-DE"/>
          </a:p>
        </p:txBody>
      </p:sp>
    </p:spTree>
    <p:extLst>
      <p:ext uri="{BB962C8B-B14F-4D97-AF65-F5344CB8AC3E}">
        <p14:creationId xmlns:p14="http://schemas.microsoft.com/office/powerpoint/2010/main" val="1232961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6B4CA0-0D9B-2397-636C-95227E6D191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8A6CBF7D-844C-C3E8-4791-B467FDCC44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936ED5D8-D21B-2991-AD91-EF8776526101}"/>
              </a:ext>
            </a:extLst>
          </p:cNvPr>
          <p:cNvSpPr>
            <a:spLocks noGrp="1"/>
          </p:cNvSpPr>
          <p:nvPr>
            <p:ph type="dt" sz="half" idx="10"/>
          </p:nvPr>
        </p:nvSpPr>
        <p:spPr/>
        <p:txBody>
          <a:bodyPr/>
          <a:lstStyle/>
          <a:p>
            <a:fld id="{C672DB5E-9D2D-453F-9BAF-14F389B2B6FD}" type="datetime1">
              <a:rPr lang="de-DE" smtClean="0"/>
              <a:t>18.09.2025</a:t>
            </a:fld>
            <a:endParaRPr lang="de-DE"/>
          </a:p>
        </p:txBody>
      </p:sp>
      <p:sp>
        <p:nvSpPr>
          <p:cNvPr id="5" name="Fußzeilenplatzhalter 4">
            <a:extLst>
              <a:ext uri="{FF2B5EF4-FFF2-40B4-BE49-F238E27FC236}">
                <a16:creationId xmlns:a16="http://schemas.microsoft.com/office/drawing/2014/main" id="{A6662200-947A-F1EA-2C52-A9ED73D7D776}"/>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A72F66E2-E057-AD36-C3DA-CE84D739FCD5}"/>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12674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21CDB6-2205-C649-0EFF-4AF9C88089C7}"/>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02738B8-DFE1-053C-8D14-65BDC42204E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9443B26-B36D-01B6-8CB3-EBCCB41DBBFE}"/>
              </a:ext>
            </a:extLst>
          </p:cNvPr>
          <p:cNvSpPr>
            <a:spLocks noGrp="1"/>
          </p:cNvSpPr>
          <p:nvPr>
            <p:ph type="dt" sz="half" idx="10"/>
          </p:nvPr>
        </p:nvSpPr>
        <p:spPr/>
        <p:txBody>
          <a:bodyPr/>
          <a:lstStyle/>
          <a:p>
            <a:fld id="{B42EE8E6-ED59-4859-B0C3-225166F39F4E}" type="datetime1">
              <a:rPr lang="de-DE" smtClean="0"/>
              <a:t>18.09.2025</a:t>
            </a:fld>
            <a:endParaRPr lang="de-DE"/>
          </a:p>
        </p:txBody>
      </p:sp>
      <p:sp>
        <p:nvSpPr>
          <p:cNvPr id="5" name="Fußzeilenplatzhalter 4">
            <a:extLst>
              <a:ext uri="{FF2B5EF4-FFF2-40B4-BE49-F238E27FC236}">
                <a16:creationId xmlns:a16="http://schemas.microsoft.com/office/drawing/2014/main" id="{257B0E11-7309-8334-C745-4B8891F30ECE}"/>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DB474E42-1956-41CB-85EE-1D92BD077AA7}"/>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748882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AE3BDF-74CF-D836-BDF6-1A9E5CD1A8AC}"/>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8218F682-74D0-260C-C0FA-67608DE59C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9126DB74-0B12-4E55-DFE8-11C848ADC5FF}"/>
              </a:ext>
            </a:extLst>
          </p:cNvPr>
          <p:cNvSpPr>
            <a:spLocks noGrp="1"/>
          </p:cNvSpPr>
          <p:nvPr>
            <p:ph type="dt" sz="half" idx="10"/>
          </p:nvPr>
        </p:nvSpPr>
        <p:spPr/>
        <p:txBody>
          <a:bodyPr/>
          <a:lstStyle/>
          <a:p>
            <a:fld id="{21AF14BD-9277-4F74-8DB6-09E47A4EDF52}" type="datetime1">
              <a:rPr lang="de-DE" smtClean="0"/>
              <a:t>18.09.2025</a:t>
            </a:fld>
            <a:endParaRPr lang="de-DE"/>
          </a:p>
        </p:txBody>
      </p:sp>
      <p:sp>
        <p:nvSpPr>
          <p:cNvPr id="5" name="Fußzeilenplatzhalter 4">
            <a:extLst>
              <a:ext uri="{FF2B5EF4-FFF2-40B4-BE49-F238E27FC236}">
                <a16:creationId xmlns:a16="http://schemas.microsoft.com/office/drawing/2014/main" id="{B1BD3D0A-2DD9-A6B1-1489-6F90254082FA}"/>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9040CFB5-98C2-84E4-BDD3-F4C750AF4EB4}"/>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816828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EA83CA-15C6-89A0-FEDA-18437CD00BE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D6B2365-8E78-D10D-2C7A-CFA338DFD86E}"/>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9A9C519-780B-C21A-8A0F-FF13E8BA233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C3BD13EC-EB69-D436-B6B3-336B02A7E1E9}"/>
              </a:ext>
            </a:extLst>
          </p:cNvPr>
          <p:cNvSpPr>
            <a:spLocks noGrp="1"/>
          </p:cNvSpPr>
          <p:nvPr>
            <p:ph type="dt" sz="half" idx="10"/>
          </p:nvPr>
        </p:nvSpPr>
        <p:spPr/>
        <p:txBody>
          <a:bodyPr/>
          <a:lstStyle/>
          <a:p>
            <a:fld id="{CA11EA98-5F69-4205-B62B-A9D2FE44DC9A}" type="datetime1">
              <a:rPr lang="de-DE" smtClean="0"/>
              <a:t>18.09.2025</a:t>
            </a:fld>
            <a:endParaRPr lang="de-DE"/>
          </a:p>
        </p:txBody>
      </p:sp>
      <p:sp>
        <p:nvSpPr>
          <p:cNvPr id="6" name="Fußzeilenplatzhalter 5">
            <a:extLst>
              <a:ext uri="{FF2B5EF4-FFF2-40B4-BE49-F238E27FC236}">
                <a16:creationId xmlns:a16="http://schemas.microsoft.com/office/drawing/2014/main" id="{3F54854A-5BCA-AA61-4794-C845E8410B0B}"/>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E1D920B8-0BB6-DC20-C44A-6FE1799AC842}"/>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989295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E7B4D7-5073-8EE2-C713-A9807BC24203}"/>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4515CB72-967C-1FE1-7266-4C90A820AE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F2685B6-6BF1-51FC-0CC5-E6B83E0349D3}"/>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25C1FDDC-7DF7-F143-DB9D-5224023A2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E1C4E95-7462-FA80-84AD-9D823B3D09F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BDC635FA-7C5E-7A65-D6EA-6B07AE444101}"/>
              </a:ext>
            </a:extLst>
          </p:cNvPr>
          <p:cNvSpPr>
            <a:spLocks noGrp="1"/>
          </p:cNvSpPr>
          <p:nvPr>
            <p:ph type="dt" sz="half" idx="10"/>
          </p:nvPr>
        </p:nvSpPr>
        <p:spPr/>
        <p:txBody>
          <a:bodyPr/>
          <a:lstStyle/>
          <a:p>
            <a:fld id="{C8B5DD1B-5A4B-4D66-A112-730D2E7C9367}" type="datetime1">
              <a:rPr lang="de-DE" smtClean="0"/>
              <a:t>18.09.2025</a:t>
            </a:fld>
            <a:endParaRPr lang="de-DE"/>
          </a:p>
        </p:txBody>
      </p:sp>
      <p:sp>
        <p:nvSpPr>
          <p:cNvPr id="8" name="Fußzeilenplatzhalter 7">
            <a:extLst>
              <a:ext uri="{FF2B5EF4-FFF2-40B4-BE49-F238E27FC236}">
                <a16:creationId xmlns:a16="http://schemas.microsoft.com/office/drawing/2014/main" id="{D53E3795-8351-EACE-5649-C8A6261CFB9F}"/>
              </a:ext>
            </a:extLst>
          </p:cNvPr>
          <p:cNvSpPr>
            <a:spLocks noGrp="1"/>
          </p:cNvSpPr>
          <p:nvPr>
            <p:ph type="ftr" sz="quarter" idx="11"/>
          </p:nvPr>
        </p:nvSpPr>
        <p:spPr/>
        <p:txBody>
          <a:bodyPr/>
          <a:lstStyle/>
          <a:p>
            <a:r>
              <a:rPr lang="de-DE"/>
              <a:t>Dirk Moltzen - externer Datenschutzbeauftragter TÜV® CERT</a:t>
            </a:r>
          </a:p>
        </p:txBody>
      </p:sp>
      <p:sp>
        <p:nvSpPr>
          <p:cNvPr id="9" name="Foliennummernplatzhalter 8">
            <a:extLst>
              <a:ext uri="{FF2B5EF4-FFF2-40B4-BE49-F238E27FC236}">
                <a16:creationId xmlns:a16="http://schemas.microsoft.com/office/drawing/2014/main" id="{75980057-3041-8E66-F05F-0C6DAD687D7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02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AB809C-717E-0BE3-A852-7D6ED08D1B60}"/>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CABDE474-BB62-A15B-AF69-1F53A895DCAB}"/>
              </a:ext>
            </a:extLst>
          </p:cNvPr>
          <p:cNvSpPr>
            <a:spLocks noGrp="1"/>
          </p:cNvSpPr>
          <p:nvPr>
            <p:ph type="dt" sz="half" idx="10"/>
          </p:nvPr>
        </p:nvSpPr>
        <p:spPr/>
        <p:txBody>
          <a:bodyPr/>
          <a:lstStyle/>
          <a:p>
            <a:fld id="{78260CA9-080E-495A-8A5A-989AC8DFCC2C}" type="datetime1">
              <a:rPr lang="de-DE" smtClean="0"/>
              <a:t>18.09.2025</a:t>
            </a:fld>
            <a:endParaRPr lang="de-DE"/>
          </a:p>
        </p:txBody>
      </p:sp>
      <p:sp>
        <p:nvSpPr>
          <p:cNvPr id="4" name="Fußzeilenplatzhalter 3">
            <a:extLst>
              <a:ext uri="{FF2B5EF4-FFF2-40B4-BE49-F238E27FC236}">
                <a16:creationId xmlns:a16="http://schemas.microsoft.com/office/drawing/2014/main" id="{3F009B64-7486-6B03-109F-0A1DB878FD8A}"/>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84E269A4-2AFB-0581-906E-331F89EFE6A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526675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BB4EF03-31AB-6045-F997-30142EC62E78}"/>
              </a:ext>
            </a:extLst>
          </p:cNvPr>
          <p:cNvSpPr>
            <a:spLocks noGrp="1"/>
          </p:cNvSpPr>
          <p:nvPr>
            <p:ph type="dt" sz="half" idx="10"/>
          </p:nvPr>
        </p:nvSpPr>
        <p:spPr/>
        <p:txBody>
          <a:bodyPr/>
          <a:lstStyle/>
          <a:p>
            <a:fld id="{8A7D2418-5A2A-4D67-823F-EC4266F86929}" type="datetime1">
              <a:rPr lang="de-DE" smtClean="0"/>
              <a:t>18.09.2025</a:t>
            </a:fld>
            <a:endParaRPr lang="de-DE"/>
          </a:p>
        </p:txBody>
      </p:sp>
      <p:sp>
        <p:nvSpPr>
          <p:cNvPr id="3" name="Fußzeilenplatzhalter 2">
            <a:extLst>
              <a:ext uri="{FF2B5EF4-FFF2-40B4-BE49-F238E27FC236}">
                <a16:creationId xmlns:a16="http://schemas.microsoft.com/office/drawing/2014/main" id="{4BECFB2D-8F62-0045-E978-BE3C6015B8F9}"/>
              </a:ext>
            </a:extLst>
          </p:cNvPr>
          <p:cNvSpPr>
            <a:spLocks noGrp="1"/>
          </p:cNvSpPr>
          <p:nvPr>
            <p:ph type="ftr" sz="quarter" idx="11"/>
          </p:nvPr>
        </p:nvSpPr>
        <p:spPr/>
        <p:txBody>
          <a:bodyPr/>
          <a:lstStyle/>
          <a:p>
            <a:r>
              <a:rPr lang="de-DE"/>
              <a:t>Dirk Moltzen - externer Datenschutzbeauftragter TÜV® CERT</a:t>
            </a:r>
          </a:p>
        </p:txBody>
      </p:sp>
      <p:sp>
        <p:nvSpPr>
          <p:cNvPr id="4" name="Foliennummernplatzhalter 3">
            <a:extLst>
              <a:ext uri="{FF2B5EF4-FFF2-40B4-BE49-F238E27FC236}">
                <a16:creationId xmlns:a16="http://schemas.microsoft.com/office/drawing/2014/main" id="{A81E2D0D-FB5B-18D9-CA46-B17F6D7D89C3}"/>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4337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14205B-67C0-3C72-1270-AB3F648C00E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B82FF748-A088-071E-017D-99500D75BF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B9A7AC7C-492C-90F4-8A67-7CBC818A01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3A1AFB3-C22B-78C8-5ABA-FE62DEB62C80}"/>
              </a:ext>
            </a:extLst>
          </p:cNvPr>
          <p:cNvSpPr>
            <a:spLocks noGrp="1"/>
          </p:cNvSpPr>
          <p:nvPr>
            <p:ph type="dt" sz="half" idx="10"/>
          </p:nvPr>
        </p:nvSpPr>
        <p:spPr/>
        <p:txBody>
          <a:bodyPr/>
          <a:lstStyle/>
          <a:p>
            <a:fld id="{BEA624FE-15BC-48DE-8943-3F775C222EF7}" type="datetime1">
              <a:rPr lang="de-DE" smtClean="0"/>
              <a:t>18.09.2025</a:t>
            </a:fld>
            <a:endParaRPr lang="de-DE"/>
          </a:p>
        </p:txBody>
      </p:sp>
      <p:sp>
        <p:nvSpPr>
          <p:cNvPr id="6" name="Fußzeilenplatzhalter 5">
            <a:extLst>
              <a:ext uri="{FF2B5EF4-FFF2-40B4-BE49-F238E27FC236}">
                <a16:creationId xmlns:a16="http://schemas.microsoft.com/office/drawing/2014/main" id="{70F01998-1EAE-F808-4FBE-68B2F851F599}"/>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C508FCF0-9A89-4F9E-90AA-7B6050B81313}"/>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733478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A74FCB-7070-9042-F162-D3957EF7F7C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661D97A-92D7-1999-21A5-2E494FE401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7CF8D34-1DA2-DB73-54B3-DE9EF87E2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3F5C852-F89D-BA31-F1F1-5908F9499CA8}"/>
              </a:ext>
            </a:extLst>
          </p:cNvPr>
          <p:cNvSpPr>
            <a:spLocks noGrp="1"/>
          </p:cNvSpPr>
          <p:nvPr>
            <p:ph type="dt" sz="half" idx="10"/>
          </p:nvPr>
        </p:nvSpPr>
        <p:spPr/>
        <p:txBody>
          <a:bodyPr/>
          <a:lstStyle/>
          <a:p>
            <a:fld id="{F1E1FB9E-692E-48A8-84C5-9952D749F23A}" type="datetime1">
              <a:rPr lang="de-DE" smtClean="0"/>
              <a:t>18.09.2025</a:t>
            </a:fld>
            <a:endParaRPr lang="de-DE"/>
          </a:p>
        </p:txBody>
      </p:sp>
      <p:sp>
        <p:nvSpPr>
          <p:cNvPr id="6" name="Fußzeilenplatzhalter 5">
            <a:extLst>
              <a:ext uri="{FF2B5EF4-FFF2-40B4-BE49-F238E27FC236}">
                <a16:creationId xmlns:a16="http://schemas.microsoft.com/office/drawing/2014/main" id="{B8837075-A10E-3C14-F3C3-2E9BE88FB3A1}"/>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734A5AF6-1125-19E3-786E-CE22A0A7447A}"/>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271625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D3F011-39E4-FEA4-5D0F-FD25397B8C7F}"/>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DB6A2C3D-19CA-3847-73C8-76EFE13A156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660374A-9259-29AD-05FF-F3A635147932}"/>
              </a:ext>
            </a:extLst>
          </p:cNvPr>
          <p:cNvSpPr>
            <a:spLocks noGrp="1"/>
          </p:cNvSpPr>
          <p:nvPr>
            <p:ph type="dt" sz="half" idx="10"/>
          </p:nvPr>
        </p:nvSpPr>
        <p:spPr/>
        <p:txBody>
          <a:bodyPr/>
          <a:lstStyle/>
          <a:p>
            <a:fld id="{3D55D161-017C-4308-B022-23EEBD4A53E7}" type="datetime1">
              <a:rPr lang="de-DE" smtClean="0"/>
              <a:t>18.09.2025</a:t>
            </a:fld>
            <a:endParaRPr lang="de-DE"/>
          </a:p>
        </p:txBody>
      </p:sp>
      <p:sp>
        <p:nvSpPr>
          <p:cNvPr id="5" name="Fußzeilenplatzhalter 4">
            <a:extLst>
              <a:ext uri="{FF2B5EF4-FFF2-40B4-BE49-F238E27FC236}">
                <a16:creationId xmlns:a16="http://schemas.microsoft.com/office/drawing/2014/main" id="{6D3CA8E5-3D50-1482-5EA3-0AE0CCD1C7D3}"/>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9D3B4CD6-D217-6A5A-C835-ABBF8EA87231}"/>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21701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FAC6231-501D-5B6C-07CA-78E57495AD79}"/>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A6AA6BA-E9E2-41B1-CDFA-CBD87B43E1E8}"/>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9405D0A-77D6-1022-E33C-FCFCDC61AC86}"/>
              </a:ext>
            </a:extLst>
          </p:cNvPr>
          <p:cNvSpPr>
            <a:spLocks noGrp="1"/>
          </p:cNvSpPr>
          <p:nvPr>
            <p:ph type="dt" sz="half" idx="10"/>
          </p:nvPr>
        </p:nvSpPr>
        <p:spPr/>
        <p:txBody>
          <a:bodyPr/>
          <a:lstStyle/>
          <a:p>
            <a:fld id="{685B6E2E-C33C-4093-9AD7-A0DDBAC742A6}" type="datetime1">
              <a:rPr lang="de-DE" smtClean="0"/>
              <a:t>18.09.2025</a:t>
            </a:fld>
            <a:endParaRPr lang="de-DE"/>
          </a:p>
        </p:txBody>
      </p:sp>
      <p:sp>
        <p:nvSpPr>
          <p:cNvPr id="5" name="Fußzeilenplatzhalter 4">
            <a:extLst>
              <a:ext uri="{FF2B5EF4-FFF2-40B4-BE49-F238E27FC236}">
                <a16:creationId xmlns:a16="http://schemas.microsoft.com/office/drawing/2014/main" id="{4BF6FBA2-0D4D-BABB-8A8B-7D96CF0C617D}"/>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814DBF3D-401F-3741-7E93-32CDCAC84CC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38326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DE23AD2-A997-A50A-7B9B-51EFA4D8E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20E3F0D2-6FEC-0D1F-2B92-081695429A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4BFB01D-569E-09F5-F922-327089C50D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E4FBDE-3156-405F-8033-5D2AF69D6F32}" type="datetime1">
              <a:rPr lang="de-DE" smtClean="0"/>
              <a:t>18.09.2025</a:t>
            </a:fld>
            <a:endParaRPr lang="de-DE"/>
          </a:p>
        </p:txBody>
      </p:sp>
      <p:sp>
        <p:nvSpPr>
          <p:cNvPr id="5" name="Fußzeilenplatzhalter 4">
            <a:extLst>
              <a:ext uri="{FF2B5EF4-FFF2-40B4-BE49-F238E27FC236}">
                <a16:creationId xmlns:a16="http://schemas.microsoft.com/office/drawing/2014/main" id="{798C7273-F537-2E2B-2AA5-800EFD209D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044149FB-4F02-55E2-A3FF-E64D0BD50A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CE166D-2D50-44F1-A818-BFD238545C9D}" type="slidenum">
              <a:rPr lang="de-DE" smtClean="0"/>
              <a:t>‹Nr.›</a:t>
            </a:fld>
            <a:endParaRPr lang="de-DE"/>
          </a:p>
        </p:txBody>
      </p:sp>
    </p:spTree>
    <p:extLst>
      <p:ext uri="{BB962C8B-B14F-4D97-AF65-F5344CB8AC3E}">
        <p14:creationId xmlns:p14="http://schemas.microsoft.com/office/powerpoint/2010/main" val="1999417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el 3">
            <a:extLst>
              <a:ext uri="{FF2B5EF4-FFF2-40B4-BE49-F238E27FC236}">
                <a16:creationId xmlns:a16="http://schemas.microsoft.com/office/drawing/2014/main" id="{2CA4602F-1958-AB10-C35C-5E47C9E0BE01}"/>
              </a:ext>
            </a:extLst>
          </p:cNvPr>
          <p:cNvSpPr>
            <a:spLocks noGrp="1"/>
          </p:cNvSpPr>
          <p:nvPr>
            <p:ph type="ctrTitle"/>
          </p:nvPr>
        </p:nvSpPr>
        <p:spPr>
          <a:xfrm>
            <a:off x="804672" y="5116529"/>
            <a:ext cx="10592174" cy="1000655"/>
          </a:xfrm>
        </p:spPr>
        <p:txBody>
          <a:bodyPr anchor="t">
            <a:normAutofit fontScale="90000"/>
          </a:bodyPr>
          <a:lstStyle/>
          <a:p>
            <a:pPr algn="l"/>
            <a:r>
              <a:rPr lang="de-DE" sz="4000" dirty="0">
                <a:solidFill>
                  <a:schemeClr val="tx2"/>
                </a:solidFill>
              </a:rPr>
              <a:t>DATENSCHUTZ-SCHULUNG</a:t>
            </a:r>
            <a:br>
              <a:rPr lang="de-DE" sz="4000" dirty="0">
                <a:solidFill>
                  <a:schemeClr val="tx2"/>
                </a:solidFill>
              </a:rPr>
            </a:br>
            <a:r>
              <a:rPr lang="de-DE" sz="4000" dirty="0">
                <a:solidFill>
                  <a:schemeClr val="tx2"/>
                </a:solidFill>
              </a:rPr>
              <a:t>Teil 4: Umsetzung im Unternehmen</a:t>
            </a:r>
          </a:p>
        </p:txBody>
      </p:sp>
      <p:pic>
        <p:nvPicPr>
          <p:cNvPr id="7" name="Grafik 6" descr="Ein Bild, das Person, Raum, Hand enthält.&#10;&#10;KI-generierte Inhalte können fehlerhaft sein.">
            <a:extLst>
              <a:ext uri="{FF2B5EF4-FFF2-40B4-BE49-F238E27FC236}">
                <a16:creationId xmlns:a16="http://schemas.microsoft.com/office/drawing/2014/main" id="{A1489AE2-F9B8-F8ED-00E3-14646775A932}"/>
              </a:ext>
            </a:extLst>
          </p:cNvPr>
          <p:cNvPicPr>
            <a:picLocks noChangeAspect="1"/>
          </p:cNvPicPr>
          <p:nvPr/>
        </p:nvPicPr>
        <p:blipFill>
          <a:blip r:embed="rId2">
            <a:extLst>
              <a:ext uri="{28A0092B-C50C-407E-A947-70E740481C1C}">
                <a14:useLocalDpi xmlns:a14="http://schemas.microsoft.com/office/drawing/2010/main" val="0"/>
              </a:ext>
            </a:extLst>
          </a:blip>
          <a:srcRect t="21567" b="33968"/>
          <a:stretch>
            <a:fillRect/>
          </a:stretch>
        </p:blipFill>
        <p:spPr>
          <a:xfrm>
            <a:off x="-1" y="10"/>
            <a:ext cx="12192001" cy="4201449"/>
          </a:xfrm>
          <a:prstGeom prst="rect">
            <a:avLst/>
          </a:prstGeom>
        </p:spPr>
      </p:pic>
      <p:grpSp>
        <p:nvGrpSpPr>
          <p:cNvPr id="14" name="Group 13">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15" name="Freeform: Shape 14">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5" name="Untertitel 4">
            <a:extLst>
              <a:ext uri="{FF2B5EF4-FFF2-40B4-BE49-F238E27FC236}">
                <a16:creationId xmlns:a16="http://schemas.microsoft.com/office/drawing/2014/main" id="{F80A9AF6-4E73-62A3-65EE-D5681D90E29C}"/>
              </a:ext>
            </a:extLst>
          </p:cNvPr>
          <p:cNvSpPr>
            <a:spLocks noGrp="1"/>
          </p:cNvSpPr>
          <p:nvPr>
            <p:ph type="subTitle" idx="1"/>
          </p:nvPr>
        </p:nvSpPr>
        <p:spPr>
          <a:xfrm>
            <a:off x="804672" y="4580785"/>
            <a:ext cx="9416898" cy="484374"/>
          </a:xfrm>
        </p:spPr>
        <p:txBody>
          <a:bodyPr anchor="b">
            <a:normAutofit/>
          </a:bodyPr>
          <a:lstStyle/>
          <a:p>
            <a:pPr algn="l"/>
            <a:r>
              <a:rPr lang="de-DE" sz="2000" dirty="0">
                <a:solidFill>
                  <a:schemeClr val="tx2"/>
                </a:solidFill>
              </a:rPr>
              <a:t>Fachinformatiker </a:t>
            </a:r>
            <a:r>
              <a:rPr lang="de-DE" sz="2000" dirty="0" err="1">
                <a:solidFill>
                  <a:schemeClr val="tx2"/>
                </a:solidFill>
              </a:rPr>
              <a:t>by</a:t>
            </a:r>
            <a:r>
              <a:rPr lang="de-DE" sz="2000" dirty="0">
                <a:solidFill>
                  <a:schemeClr val="tx2"/>
                </a:solidFill>
              </a:rPr>
              <a:t> IBB</a:t>
            </a:r>
          </a:p>
        </p:txBody>
      </p:sp>
      <p:sp>
        <p:nvSpPr>
          <p:cNvPr id="2" name="Fußzeilenplatzhalter 1">
            <a:extLst>
              <a:ext uri="{FF2B5EF4-FFF2-40B4-BE49-F238E27FC236}">
                <a16:creationId xmlns:a16="http://schemas.microsoft.com/office/drawing/2014/main" id="{B335ED99-E2A6-072A-014D-0A8A58CD67B0}"/>
              </a:ext>
            </a:extLst>
          </p:cNvPr>
          <p:cNvSpPr>
            <a:spLocks noGrp="1"/>
          </p:cNvSpPr>
          <p:nvPr>
            <p:ph type="ftr" sz="quarter" idx="11"/>
          </p:nvPr>
        </p:nvSpPr>
        <p:spPr/>
        <p:txBody>
          <a:bodyPr/>
          <a:lstStyle/>
          <a:p>
            <a:r>
              <a:rPr lang="de-DE"/>
              <a:t>Dirk Moltzen - externer Datenschutzbeauftragter TÜV® CERT</a:t>
            </a:r>
          </a:p>
        </p:txBody>
      </p:sp>
      <p:sp>
        <p:nvSpPr>
          <p:cNvPr id="3" name="Foliennummernplatzhalter 2">
            <a:extLst>
              <a:ext uri="{FF2B5EF4-FFF2-40B4-BE49-F238E27FC236}">
                <a16:creationId xmlns:a16="http://schemas.microsoft.com/office/drawing/2014/main" id="{3DDA28E4-EC39-8437-806C-94417B853BCB}"/>
              </a:ext>
            </a:extLst>
          </p:cNvPr>
          <p:cNvSpPr>
            <a:spLocks noGrp="1"/>
          </p:cNvSpPr>
          <p:nvPr>
            <p:ph type="sldNum" sz="quarter" idx="12"/>
          </p:nvPr>
        </p:nvSpPr>
        <p:spPr/>
        <p:txBody>
          <a:bodyPr/>
          <a:lstStyle/>
          <a:p>
            <a:fld id="{B4CE166D-2D50-44F1-A818-BFD238545C9D}" type="slidenum">
              <a:rPr lang="de-DE" smtClean="0"/>
              <a:t>1</a:t>
            </a:fld>
            <a:endParaRPr lang="de-DE"/>
          </a:p>
        </p:txBody>
      </p:sp>
    </p:spTree>
    <p:extLst>
      <p:ext uri="{BB962C8B-B14F-4D97-AF65-F5344CB8AC3E}">
        <p14:creationId xmlns:p14="http://schemas.microsoft.com/office/powerpoint/2010/main" val="744624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929679-42D7-2E29-310F-FE4FD4DA6B1D}"/>
              </a:ext>
            </a:extLst>
          </p:cNvPr>
          <p:cNvSpPr>
            <a:spLocks noGrp="1"/>
          </p:cNvSpPr>
          <p:nvPr>
            <p:ph type="title"/>
          </p:nvPr>
        </p:nvSpPr>
        <p:spPr/>
        <p:txBody>
          <a:bodyPr/>
          <a:lstStyle/>
          <a:p>
            <a:r>
              <a:rPr lang="de-DE" dirty="0"/>
              <a:t>Inhalte der Datenschutz-Themen</a:t>
            </a:r>
          </a:p>
        </p:txBody>
      </p:sp>
      <p:sp>
        <p:nvSpPr>
          <p:cNvPr id="3" name="Inhaltsplatzhalter 2">
            <a:extLst>
              <a:ext uri="{FF2B5EF4-FFF2-40B4-BE49-F238E27FC236}">
                <a16:creationId xmlns:a16="http://schemas.microsoft.com/office/drawing/2014/main" id="{CD2D697B-EB54-E541-DE6C-A8AE0056CECB}"/>
              </a:ext>
            </a:extLst>
          </p:cNvPr>
          <p:cNvSpPr>
            <a:spLocks noGrp="1"/>
          </p:cNvSpPr>
          <p:nvPr>
            <p:ph idx="1"/>
          </p:nvPr>
        </p:nvSpPr>
        <p:spPr/>
        <p:txBody>
          <a:bodyPr/>
          <a:lstStyle/>
          <a:p>
            <a:pPr marL="0" indent="0">
              <a:buNone/>
            </a:pPr>
            <a:r>
              <a:rPr lang="de-DE" b="1" dirty="0"/>
              <a:t>Teil 4: Umsetzung im Unternehmen</a:t>
            </a:r>
          </a:p>
          <a:p>
            <a:pPr marL="0" indent="0">
              <a:buNone/>
            </a:pPr>
            <a:r>
              <a:rPr lang="de-DE" b="1" dirty="0"/>
              <a:t>Teil 4.1: DSMS (Datenschutz-Managementsysteme)</a:t>
            </a:r>
          </a:p>
          <a:p>
            <a:pPr marL="0" indent="0">
              <a:buNone/>
            </a:pPr>
            <a:r>
              <a:rPr lang="de-DE" b="1" dirty="0"/>
              <a:t>Teil 4.2: Zuständigkeiten / Verantwortlichkeiten</a:t>
            </a:r>
          </a:p>
          <a:p>
            <a:pPr marL="0" indent="0">
              <a:buNone/>
            </a:pPr>
            <a:r>
              <a:rPr lang="de-DE" b="1" dirty="0"/>
              <a:t>Teil 4.3: Datenpanne / Datenschutzverstoß</a:t>
            </a:r>
          </a:p>
          <a:p>
            <a:pPr marL="0" indent="0">
              <a:buNone/>
            </a:pPr>
            <a:r>
              <a:rPr lang="de-DE" b="1" dirty="0"/>
              <a:t>Teil 4.4: Vom Gesetz zur Richtlinie</a:t>
            </a:r>
          </a:p>
        </p:txBody>
      </p:sp>
      <p:sp>
        <p:nvSpPr>
          <p:cNvPr id="4" name="Fußzeilenplatzhalter 3">
            <a:extLst>
              <a:ext uri="{FF2B5EF4-FFF2-40B4-BE49-F238E27FC236}">
                <a16:creationId xmlns:a16="http://schemas.microsoft.com/office/drawing/2014/main" id="{F170A954-FCE7-117B-EFBF-DF9AE6259215}"/>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8C962AE-1470-67E5-A01D-2BFAC3ED24FA}"/>
              </a:ext>
            </a:extLst>
          </p:cNvPr>
          <p:cNvSpPr>
            <a:spLocks noGrp="1"/>
          </p:cNvSpPr>
          <p:nvPr>
            <p:ph type="sldNum" sz="quarter" idx="12"/>
          </p:nvPr>
        </p:nvSpPr>
        <p:spPr/>
        <p:txBody>
          <a:bodyPr/>
          <a:lstStyle/>
          <a:p>
            <a:fld id="{B4CE166D-2D50-44F1-A818-BFD238545C9D}" type="slidenum">
              <a:rPr lang="de-DE" smtClean="0"/>
              <a:t>2</a:t>
            </a:fld>
            <a:endParaRPr lang="de-DE"/>
          </a:p>
        </p:txBody>
      </p:sp>
    </p:spTree>
    <p:extLst>
      <p:ext uri="{BB962C8B-B14F-4D97-AF65-F5344CB8AC3E}">
        <p14:creationId xmlns:p14="http://schemas.microsoft.com/office/powerpoint/2010/main" val="2518218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3D0947-5EAA-8849-5363-E49463C125CE}"/>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24C46883-BA4A-4544-0AC0-E3A9A4DB5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fik 6" descr="Ein Bild, das Person, Kleidung, Finger, Halten enthält.&#10;&#10;KI-generierte Inhalte können fehlerhaft sein.">
            <a:extLst>
              <a:ext uri="{FF2B5EF4-FFF2-40B4-BE49-F238E27FC236}">
                <a16:creationId xmlns:a16="http://schemas.microsoft.com/office/drawing/2014/main" id="{51B534C1-2D17-45D4-1172-427FE4BA027D}"/>
              </a:ext>
            </a:extLst>
          </p:cNvPr>
          <p:cNvPicPr>
            <a:picLocks noChangeAspect="1"/>
          </p:cNvPicPr>
          <p:nvPr/>
        </p:nvPicPr>
        <p:blipFill>
          <a:blip r:embed="rId3">
            <a:extLst>
              <a:ext uri="{28A0092B-C50C-407E-A947-70E740481C1C}">
                <a14:useLocalDpi xmlns:a14="http://schemas.microsoft.com/office/drawing/2010/main" val="0"/>
              </a:ext>
            </a:extLst>
          </a:blip>
          <a:srcRect l="24528" t="249" r="4549"/>
          <a:stretch>
            <a:fillRect/>
          </a:stretch>
        </p:blipFill>
        <p:spPr>
          <a:xfrm>
            <a:off x="3523488" y="10"/>
            <a:ext cx="8668512" cy="6857990"/>
          </a:xfrm>
          <a:prstGeom prst="rect">
            <a:avLst/>
          </a:prstGeom>
        </p:spPr>
      </p:pic>
      <p:sp>
        <p:nvSpPr>
          <p:cNvPr id="45" name="Rectangle 44">
            <a:extLst>
              <a:ext uri="{FF2B5EF4-FFF2-40B4-BE49-F238E27FC236}">
                <a16:creationId xmlns:a16="http://schemas.microsoft.com/office/drawing/2014/main" id="{2CB5E6EB-97E4-A456-E2E5-90DDEB0A8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FB7ECBC5-2367-B6A2-3A7D-C44C7F1A3C7E}"/>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err="1"/>
              <a:t>Datenschutz</a:t>
            </a:r>
            <a:r>
              <a:rPr lang="en-US" sz="4800" dirty="0"/>
              <a:t> Teil 4.2</a:t>
            </a:r>
          </a:p>
        </p:txBody>
      </p:sp>
      <p:sp>
        <p:nvSpPr>
          <p:cNvPr id="3" name="Textplatzhalter 2">
            <a:extLst>
              <a:ext uri="{FF2B5EF4-FFF2-40B4-BE49-F238E27FC236}">
                <a16:creationId xmlns:a16="http://schemas.microsoft.com/office/drawing/2014/main" id="{4772B6F7-E709-48D0-0F50-AA4626D42CB5}"/>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b="1" dirty="0" err="1">
                <a:solidFill>
                  <a:schemeClr val="tx1"/>
                </a:solidFill>
              </a:rPr>
              <a:t>Zuständigkeiten</a:t>
            </a:r>
            <a:r>
              <a:rPr lang="en-US" sz="2000" b="1" dirty="0">
                <a:solidFill>
                  <a:schemeClr val="tx1"/>
                </a:solidFill>
              </a:rPr>
              <a:t> / </a:t>
            </a:r>
            <a:r>
              <a:rPr lang="en-US" sz="2000" b="1" dirty="0" err="1">
                <a:solidFill>
                  <a:schemeClr val="tx1"/>
                </a:solidFill>
              </a:rPr>
              <a:t>Verantwortlichkeiten</a:t>
            </a:r>
            <a:br>
              <a:rPr lang="en-US" sz="2000" b="1" dirty="0">
                <a:solidFill>
                  <a:schemeClr val="tx1"/>
                </a:solidFill>
              </a:rPr>
            </a:br>
            <a:r>
              <a:rPr lang="en-US" sz="2000" dirty="0" err="1">
                <a:solidFill>
                  <a:schemeClr val="tx1"/>
                </a:solidFill>
              </a:rPr>
              <a:t>im</a:t>
            </a:r>
            <a:r>
              <a:rPr lang="en-US" sz="2000" dirty="0">
                <a:solidFill>
                  <a:schemeClr val="tx1"/>
                </a:solidFill>
              </a:rPr>
              <a:t> </a:t>
            </a:r>
            <a:r>
              <a:rPr lang="en-US" sz="2000" dirty="0" err="1">
                <a:solidFill>
                  <a:schemeClr val="tx1"/>
                </a:solidFill>
              </a:rPr>
              <a:t>Unternehmen</a:t>
            </a:r>
            <a:endParaRPr lang="en-US" sz="2000" dirty="0">
              <a:solidFill>
                <a:schemeClr val="tx1"/>
              </a:solidFill>
            </a:endParaRPr>
          </a:p>
        </p:txBody>
      </p:sp>
      <p:sp>
        <p:nvSpPr>
          <p:cNvPr id="47" name="Rectangle 46">
            <a:extLst>
              <a:ext uri="{FF2B5EF4-FFF2-40B4-BE49-F238E27FC236}">
                <a16:creationId xmlns:a16="http://schemas.microsoft.com/office/drawing/2014/main" id="{EE2A9617-42A5-7DB2-8AB5-CA53D36F7F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BEB74EE3-70E5-D65B-E4CE-E125258E4B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ußzeilenplatzhalter 3">
            <a:extLst>
              <a:ext uri="{FF2B5EF4-FFF2-40B4-BE49-F238E27FC236}">
                <a16:creationId xmlns:a16="http://schemas.microsoft.com/office/drawing/2014/main" id="{CE41E438-0382-2440-CBB5-D1B27F63A749}"/>
              </a:ext>
            </a:extLst>
          </p:cNvPr>
          <p:cNvSpPr>
            <a:spLocks noGrp="1"/>
          </p:cNvSpPr>
          <p:nvPr>
            <p:ph type="ftr" sz="quarter" idx="11"/>
          </p:nvPr>
        </p:nvSpPr>
        <p:spPr>
          <a:xfrm>
            <a:off x="548087" y="6232317"/>
            <a:ext cx="3774624" cy="365125"/>
          </a:xfrm>
        </p:spPr>
        <p:txBody>
          <a:bodyPr vert="horz" lIns="91440" tIns="45720" rIns="91440" bIns="45720" rtlCol="0" anchor="ctr">
            <a:noAutofit/>
          </a:bodyPr>
          <a:lstStyle/>
          <a:p>
            <a:pPr algn="l">
              <a:lnSpc>
                <a:spcPct val="90000"/>
              </a:lnSpc>
              <a:spcAft>
                <a:spcPts val="600"/>
              </a:spcAft>
              <a:defRPr/>
            </a:pPr>
            <a:r>
              <a:rPr lang="en-US" sz="1000" kern="1200" dirty="0">
                <a:solidFill>
                  <a:schemeClr val="tx1">
                    <a:lumMod val="50000"/>
                    <a:lumOff val="50000"/>
                  </a:schemeClr>
                </a:solidFill>
                <a:ea typeface="+mn-ea"/>
                <a:cs typeface="+mn-cs"/>
              </a:rPr>
              <a:t>Dirk Moltzen - </a:t>
            </a:r>
            <a:r>
              <a:rPr lang="en-US" sz="1000" kern="1200" dirty="0" err="1">
                <a:solidFill>
                  <a:schemeClr val="tx1">
                    <a:lumMod val="50000"/>
                    <a:lumOff val="50000"/>
                  </a:schemeClr>
                </a:solidFill>
                <a:ea typeface="+mn-ea"/>
                <a:cs typeface="+mn-cs"/>
              </a:rPr>
              <a:t>externer</a:t>
            </a:r>
            <a:r>
              <a:rPr lang="en-US" sz="1000" kern="1200" dirty="0">
                <a:solidFill>
                  <a:schemeClr val="tx1">
                    <a:lumMod val="50000"/>
                    <a:lumOff val="50000"/>
                  </a:schemeClr>
                </a:solidFill>
                <a:ea typeface="+mn-ea"/>
                <a:cs typeface="+mn-cs"/>
              </a:rPr>
              <a:t> </a:t>
            </a:r>
            <a:r>
              <a:rPr lang="en-US" sz="1000" kern="1200" dirty="0" err="1">
                <a:solidFill>
                  <a:schemeClr val="tx1">
                    <a:lumMod val="50000"/>
                    <a:lumOff val="50000"/>
                  </a:schemeClr>
                </a:solidFill>
                <a:ea typeface="+mn-ea"/>
                <a:cs typeface="+mn-cs"/>
              </a:rPr>
              <a:t>Datenschutzbeauftragter</a:t>
            </a:r>
            <a:r>
              <a:rPr lang="en-US" sz="1000" kern="1200" dirty="0">
                <a:solidFill>
                  <a:schemeClr val="tx1">
                    <a:lumMod val="50000"/>
                    <a:lumOff val="50000"/>
                  </a:schemeClr>
                </a:solidFill>
                <a:ea typeface="+mn-ea"/>
                <a:cs typeface="+mn-cs"/>
              </a:rPr>
              <a:t> TÜV® CERT</a:t>
            </a:r>
          </a:p>
        </p:txBody>
      </p:sp>
      <p:sp>
        <p:nvSpPr>
          <p:cNvPr id="6" name="Foliennummernplatzhalter 5">
            <a:extLst>
              <a:ext uri="{FF2B5EF4-FFF2-40B4-BE49-F238E27FC236}">
                <a16:creationId xmlns:a16="http://schemas.microsoft.com/office/drawing/2014/main" id="{64BBD018-B060-2006-D7B0-15A0AB97BEB0}"/>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B4CE166D-2D50-44F1-A818-BFD238545C9D}" type="slidenum">
              <a:rPr lang="en-US">
                <a:solidFill>
                  <a:schemeClr val="bg1"/>
                </a:solidFill>
                <a:latin typeface="Calibri" panose="020F0502020204030204"/>
              </a:rPr>
              <a:pPr>
                <a:spcAft>
                  <a:spcPts val="600"/>
                </a:spcAft>
                <a:defRPr/>
              </a:pPr>
              <a:t>3</a:t>
            </a:fld>
            <a:endParaRPr lang="en-US">
              <a:solidFill>
                <a:schemeClr val="bg1"/>
              </a:solidFill>
              <a:latin typeface="Calibri" panose="020F0502020204030204"/>
            </a:endParaRPr>
          </a:p>
        </p:txBody>
      </p:sp>
    </p:spTree>
    <p:extLst>
      <p:ext uri="{BB962C8B-B14F-4D97-AF65-F5344CB8AC3E}">
        <p14:creationId xmlns:p14="http://schemas.microsoft.com/office/powerpoint/2010/main" val="2997639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9F90E4-50AE-2A5E-CE83-1B5065E5C52D}"/>
            </a:ext>
          </a:extLst>
        </p:cNvPr>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fik 7" descr="Ein Bild, das Kunst, Klassische Skulptur, Artefakt, Skulptur enthält.&#10;&#10;KI-generierte Inhalte können fehlerhaft sein.">
            <a:extLst>
              <a:ext uri="{FF2B5EF4-FFF2-40B4-BE49-F238E27FC236}">
                <a16:creationId xmlns:a16="http://schemas.microsoft.com/office/drawing/2014/main" id="{3B0FEE64-78B9-581E-AB74-CF53A7585782}"/>
              </a:ext>
            </a:extLst>
          </p:cNvPr>
          <p:cNvPicPr>
            <a:picLocks noChangeAspect="1"/>
          </p:cNvPicPr>
          <p:nvPr/>
        </p:nvPicPr>
        <p:blipFill>
          <a:blip r:embed="rId3">
            <a:extLst>
              <a:ext uri="{28A0092B-C50C-407E-A947-70E740481C1C}">
                <a14:useLocalDpi xmlns:a14="http://schemas.microsoft.com/office/drawing/2010/main" val="0"/>
              </a:ext>
            </a:extLst>
          </a:blip>
          <a:srcRect r="13529" b="9089"/>
          <a:stretch>
            <a:fillRect/>
          </a:stretch>
        </p:blipFill>
        <p:spPr>
          <a:xfrm>
            <a:off x="3523488" y="10"/>
            <a:ext cx="8668512" cy="6857990"/>
          </a:xfrm>
          <a:prstGeom prst="rect">
            <a:avLst/>
          </a:prstGeom>
        </p:spPr>
      </p:pic>
      <p:sp>
        <p:nvSpPr>
          <p:cNvPr id="56" name="Rectangle 55">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84B5822A-DF25-504E-FEBB-0500EA005D47}"/>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t>Datenschutz</a:t>
            </a:r>
            <a:r>
              <a:rPr lang="en-US" sz="4800" dirty="0"/>
              <a:t> Teil 4.2.1</a:t>
            </a:r>
          </a:p>
        </p:txBody>
      </p:sp>
      <p:sp>
        <p:nvSpPr>
          <p:cNvPr id="3" name="Textplatzhalter 2">
            <a:extLst>
              <a:ext uri="{FF2B5EF4-FFF2-40B4-BE49-F238E27FC236}">
                <a16:creationId xmlns:a16="http://schemas.microsoft.com/office/drawing/2014/main" id="{3085C9A2-4CD6-681E-E365-543F92F757E1}"/>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b="1">
                <a:solidFill>
                  <a:schemeClr val="tx1"/>
                </a:solidFill>
              </a:rPr>
              <a:t>Zuständigkeiten</a:t>
            </a:r>
            <a:r>
              <a:rPr lang="en-US" sz="2000" b="1" dirty="0">
                <a:solidFill>
                  <a:schemeClr val="tx1"/>
                </a:solidFill>
              </a:rPr>
              <a:t> / </a:t>
            </a:r>
            <a:r>
              <a:rPr lang="en-US" sz="2000" b="1">
                <a:solidFill>
                  <a:schemeClr val="tx1"/>
                </a:solidFill>
              </a:rPr>
              <a:t>Verantwortlichkeiten</a:t>
            </a:r>
            <a:br>
              <a:rPr lang="en-US" sz="2000" b="1" dirty="0">
                <a:solidFill>
                  <a:schemeClr val="tx1"/>
                </a:solidFill>
              </a:rPr>
            </a:br>
            <a:r>
              <a:rPr lang="en-US" sz="2000">
                <a:solidFill>
                  <a:schemeClr val="tx1"/>
                </a:solidFill>
              </a:rPr>
              <a:t>im</a:t>
            </a:r>
            <a:r>
              <a:rPr lang="en-US" sz="2000" dirty="0">
                <a:solidFill>
                  <a:schemeClr val="tx1"/>
                </a:solidFill>
              </a:rPr>
              <a:t> </a:t>
            </a:r>
            <a:r>
              <a:rPr lang="en-US" sz="2000">
                <a:solidFill>
                  <a:schemeClr val="tx1"/>
                </a:solidFill>
              </a:rPr>
              <a:t>Unternehmen</a:t>
            </a:r>
            <a:r>
              <a:rPr lang="en-US" sz="2000" dirty="0">
                <a:solidFill>
                  <a:schemeClr val="tx1"/>
                </a:solidFill>
              </a:rPr>
              <a:t>, </a:t>
            </a:r>
            <a:r>
              <a:rPr lang="en-US" sz="2000">
                <a:solidFill>
                  <a:schemeClr val="tx1"/>
                </a:solidFill>
              </a:rPr>
              <a:t>bezogen</a:t>
            </a:r>
            <a:r>
              <a:rPr lang="en-US" sz="2000" dirty="0">
                <a:solidFill>
                  <a:schemeClr val="tx1"/>
                </a:solidFill>
              </a:rPr>
              <a:t> auf den </a:t>
            </a:r>
            <a:r>
              <a:rPr lang="en-US" sz="2000">
                <a:solidFill>
                  <a:schemeClr val="tx1"/>
                </a:solidFill>
              </a:rPr>
              <a:t>Datenschutz</a:t>
            </a:r>
            <a:endParaRPr lang="en-US" sz="2000" dirty="0">
              <a:solidFill>
                <a:schemeClr val="tx1"/>
              </a:solidFill>
            </a:endParaRPr>
          </a:p>
        </p:txBody>
      </p:sp>
      <p:sp>
        <p:nvSpPr>
          <p:cNvPr id="58" name="Rectangle 5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0" name="Rectangle 5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ußzeilenplatzhalter 3">
            <a:extLst>
              <a:ext uri="{FF2B5EF4-FFF2-40B4-BE49-F238E27FC236}">
                <a16:creationId xmlns:a16="http://schemas.microsoft.com/office/drawing/2014/main" id="{EDAA48DD-6742-1030-C781-CF56A6B10BEF}"/>
              </a:ext>
            </a:extLst>
          </p:cNvPr>
          <p:cNvSpPr>
            <a:spLocks noGrp="1"/>
          </p:cNvSpPr>
          <p:nvPr>
            <p:ph type="ftr" sz="quarter" idx="11"/>
          </p:nvPr>
        </p:nvSpPr>
        <p:spPr>
          <a:xfrm>
            <a:off x="477980" y="6341083"/>
            <a:ext cx="4113475" cy="365125"/>
          </a:xfrm>
        </p:spPr>
        <p:txBody>
          <a:bodyPr vert="horz" lIns="91440" tIns="45720" rIns="91440" bIns="45720" rtlCol="0" anchor="ctr">
            <a:normAutofit/>
          </a:bodyPr>
          <a:lstStyle/>
          <a:p>
            <a:pPr algn="l">
              <a:lnSpc>
                <a:spcPct val="90000"/>
              </a:lnSpc>
              <a:spcAft>
                <a:spcPts val="600"/>
              </a:spcAft>
              <a:defRPr/>
            </a:pPr>
            <a:r>
              <a:rPr lang="en-US" sz="1000" kern="1200" dirty="0">
                <a:solidFill>
                  <a:schemeClr val="tx1">
                    <a:lumMod val="50000"/>
                    <a:lumOff val="50000"/>
                  </a:schemeClr>
                </a:solidFill>
                <a:ea typeface="+mn-ea"/>
                <a:cs typeface="+mn-cs"/>
              </a:rPr>
              <a:t>Dirk Moltzen - </a:t>
            </a:r>
            <a:r>
              <a:rPr lang="en-US" sz="1000" kern="1200" dirty="0" err="1">
                <a:solidFill>
                  <a:schemeClr val="tx1">
                    <a:lumMod val="50000"/>
                    <a:lumOff val="50000"/>
                  </a:schemeClr>
                </a:solidFill>
                <a:ea typeface="+mn-ea"/>
                <a:cs typeface="+mn-cs"/>
              </a:rPr>
              <a:t>externer</a:t>
            </a:r>
            <a:r>
              <a:rPr lang="en-US" sz="1000" kern="1200" dirty="0">
                <a:solidFill>
                  <a:schemeClr val="tx1">
                    <a:lumMod val="50000"/>
                    <a:lumOff val="50000"/>
                  </a:schemeClr>
                </a:solidFill>
                <a:ea typeface="+mn-ea"/>
                <a:cs typeface="+mn-cs"/>
              </a:rPr>
              <a:t> </a:t>
            </a:r>
            <a:r>
              <a:rPr lang="en-US" sz="1000" kern="1200" dirty="0" err="1">
                <a:solidFill>
                  <a:schemeClr val="tx1">
                    <a:lumMod val="50000"/>
                    <a:lumOff val="50000"/>
                  </a:schemeClr>
                </a:solidFill>
                <a:ea typeface="+mn-ea"/>
                <a:cs typeface="+mn-cs"/>
              </a:rPr>
              <a:t>Datenschutzbeauftragter</a:t>
            </a:r>
            <a:r>
              <a:rPr lang="en-US" sz="1000" kern="1200" dirty="0">
                <a:solidFill>
                  <a:schemeClr val="tx1">
                    <a:lumMod val="50000"/>
                    <a:lumOff val="50000"/>
                  </a:schemeClr>
                </a:solidFill>
                <a:ea typeface="+mn-ea"/>
                <a:cs typeface="+mn-cs"/>
              </a:rPr>
              <a:t> TÜV® CERT</a:t>
            </a:r>
          </a:p>
        </p:txBody>
      </p:sp>
      <p:sp>
        <p:nvSpPr>
          <p:cNvPr id="6" name="Foliennummernplatzhalter 5">
            <a:extLst>
              <a:ext uri="{FF2B5EF4-FFF2-40B4-BE49-F238E27FC236}">
                <a16:creationId xmlns:a16="http://schemas.microsoft.com/office/drawing/2014/main" id="{F2D50BD0-E356-56D7-AD7B-2D4A2B58B03B}"/>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B4CE166D-2D50-44F1-A818-BFD238545C9D}" type="slidenum">
              <a:rPr lang="en-US">
                <a:solidFill>
                  <a:schemeClr val="bg1"/>
                </a:solidFill>
                <a:latin typeface="Calibri" panose="020F0502020204030204"/>
              </a:rPr>
              <a:pPr>
                <a:spcAft>
                  <a:spcPts val="600"/>
                </a:spcAft>
                <a:defRPr/>
              </a:pPr>
              <a:t>4</a:t>
            </a:fld>
            <a:endParaRPr lang="en-US">
              <a:solidFill>
                <a:schemeClr val="bg1"/>
              </a:solidFill>
              <a:latin typeface="Calibri" panose="020F0502020204030204"/>
            </a:endParaRPr>
          </a:p>
        </p:txBody>
      </p:sp>
    </p:spTree>
    <p:extLst>
      <p:ext uri="{BB962C8B-B14F-4D97-AF65-F5344CB8AC3E}">
        <p14:creationId xmlns:p14="http://schemas.microsoft.com/office/powerpoint/2010/main" val="997409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A6E93A02-8CC9-E859-1544-1E96934BB7DC}"/>
              </a:ext>
            </a:extLst>
          </p:cNvPr>
          <p:cNvSpPr>
            <a:spLocks noGrp="1"/>
          </p:cNvSpPr>
          <p:nvPr>
            <p:ph type="title"/>
          </p:nvPr>
        </p:nvSpPr>
        <p:spPr>
          <a:xfrm>
            <a:off x="838200" y="365126"/>
            <a:ext cx="10515600" cy="977292"/>
          </a:xfrm>
        </p:spPr>
        <p:txBody>
          <a:bodyPr/>
          <a:lstStyle/>
          <a:p>
            <a:r>
              <a:rPr lang="de-DE" dirty="0"/>
              <a:t>Verantwortlichkeiten im Datenschutz</a:t>
            </a:r>
          </a:p>
        </p:txBody>
      </p:sp>
      <p:sp>
        <p:nvSpPr>
          <p:cNvPr id="7" name="Inhaltsplatzhalter 6">
            <a:extLst>
              <a:ext uri="{FF2B5EF4-FFF2-40B4-BE49-F238E27FC236}">
                <a16:creationId xmlns:a16="http://schemas.microsoft.com/office/drawing/2014/main" id="{295730C8-1C04-086D-BB0C-2A938666CA21}"/>
              </a:ext>
            </a:extLst>
          </p:cNvPr>
          <p:cNvSpPr>
            <a:spLocks noGrp="1"/>
          </p:cNvSpPr>
          <p:nvPr>
            <p:ph idx="1"/>
          </p:nvPr>
        </p:nvSpPr>
        <p:spPr>
          <a:xfrm>
            <a:off x="838200" y="1488332"/>
            <a:ext cx="10515600" cy="4688631"/>
          </a:xfrm>
        </p:spPr>
        <p:txBody>
          <a:bodyPr>
            <a:normAutofit/>
          </a:bodyPr>
          <a:lstStyle/>
          <a:p>
            <a:r>
              <a:rPr lang="de-DE" kern="100" dirty="0">
                <a:effectLst/>
                <a:latin typeface="Aptos" panose="020B0004020202020204" pitchFamily="34" charset="0"/>
                <a:ea typeface="Aptos" panose="020B0004020202020204" pitchFamily="34" charset="0"/>
                <a:cs typeface="Times New Roman" panose="02020603050405020304" pitchFamily="18" charset="0"/>
              </a:rPr>
              <a:t>Im Rahmen der DSGVO sind die Zuständigkeiten und Verantwortlichkeiten im Unternehmen klar geregelt. </a:t>
            </a:r>
          </a:p>
          <a:p>
            <a:pPr marL="0" indent="0">
              <a:buNone/>
            </a:pPr>
            <a:endParaRPr lang="de-DE" kern="100" dirty="0">
              <a:effectLst/>
              <a:latin typeface="Aptos" panose="020B0004020202020204" pitchFamily="34" charset="0"/>
              <a:ea typeface="Aptos" panose="020B0004020202020204" pitchFamily="34" charset="0"/>
              <a:cs typeface="Times New Roman" panose="02020603050405020304" pitchFamily="18" charset="0"/>
            </a:endParaRPr>
          </a:p>
          <a:p>
            <a:r>
              <a:rPr lang="de-DE" kern="100" dirty="0">
                <a:effectLst/>
                <a:latin typeface="Aptos" panose="020B0004020202020204" pitchFamily="34" charset="0"/>
                <a:ea typeface="Aptos" panose="020B0004020202020204" pitchFamily="34" charset="0"/>
                <a:cs typeface="Times New Roman" panose="02020603050405020304" pitchFamily="18" charset="0"/>
              </a:rPr>
              <a:t>Der </a:t>
            </a:r>
            <a:r>
              <a:rPr lang="de-DE" b="1" kern="100" dirty="0">
                <a:effectLst/>
                <a:latin typeface="Aptos" panose="020B0004020202020204" pitchFamily="34" charset="0"/>
                <a:ea typeface="Aptos" panose="020B0004020202020204" pitchFamily="34" charset="0"/>
                <a:cs typeface="Times New Roman" panose="02020603050405020304" pitchFamily="18" charset="0"/>
              </a:rPr>
              <a:t>Verantwortliche ist für die Datenverarbeitung</a:t>
            </a:r>
            <a:r>
              <a:rPr lang="de-DE" kern="100" dirty="0">
                <a:effectLst/>
                <a:latin typeface="Aptos" panose="020B0004020202020204" pitchFamily="34" charset="0"/>
                <a:ea typeface="Aptos" panose="020B0004020202020204" pitchFamily="34" charset="0"/>
                <a:cs typeface="Times New Roman" panose="02020603050405020304" pitchFamily="18" charset="0"/>
              </a:rPr>
              <a:t> zuständig und haftet für die Einhaltung der DSGVO-Bestimmungen. </a:t>
            </a:r>
          </a:p>
          <a:p>
            <a:pPr marL="0" indent="0">
              <a:buNone/>
            </a:pPr>
            <a:endParaRPr lang="de-DE" kern="100" dirty="0">
              <a:effectLst/>
              <a:latin typeface="Aptos" panose="020B0004020202020204" pitchFamily="34" charset="0"/>
              <a:ea typeface="Aptos" panose="020B0004020202020204" pitchFamily="34" charset="0"/>
              <a:cs typeface="Times New Roman" panose="02020603050405020304" pitchFamily="18" charset="0"/>
            </a:endParaRPr>
          </a:p>
          <a:p>
            <a:r>
              <a:rPr lang="de-DE" b="1" kern="100" dirty="0">
                <a:effectLst/>
                <a:latin typeface="Aptos" panose="020B0004020202020204" pitchFamily="34" charset="0"/>
                <a:ea typeface="Aptos" panose="020B0004020202020204" pitchFamily="34" charset="0"/>
                <a:cs typeface="Times New Roman" panose="02020603050405020304" pitchFamily="18" charset="0"/>
              </a:rPr>
              <a:t>Der Datenschutzbeauftragte</a:t>
            </a:r>
            <a:r>
              <a:rPr lang="de-DE" kern="100" dirty="0">
                <a:effectLst/>
                <a:latin typeface="Aptos" panose="020B0004020202020204" pitchFamily="34" charset="0"/>
                <a:ea typeface="Aptos" panose="020B0004020202020204" pitchFamily="34" charset="0"/>
                <a:cs typeface="Times New Roman" panose="02020603050405020304" pitchFamily="18" charset="0"/>
              </a:rPr>
              <a:t> unterstützt den Verantwortlichen bei der Umsetzung und Überwachung der DSGVO, ist aber nicht der alleinige Verantwortliche. </a:t>
            </a:r>
          </a:p>
          <a:p>
            <a:endParaRPr lang="de-DE" dirty="0"/>
          </a:p>
        </p:txBody>
      </p:sp>
      <p:sp>
        <p:nvSpPr>
          <p:cNvPr id="4" name="Fußzeilenplatzhalter 3">
            <a:extLst>
              <a:ext uri="{FF2B5EF4-FFF2-40B4-BE49-F238E27FC236}">
                <a16:creationId xmlns:a16="http://schemas.microsoft.com/office/drawing/2014/main" id="{1F251953-E705-E96B-2D9F-B78F4418B020}"/>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3F30981-665F-0693-08C9-65A5F67A923C}"/>
              </a:ext>
            </a:extLst>
          </p:cNvPr>
          <p:cNvSpPr>
            <a:spLocks noGrp="1"/>
          </p:cNvSpPr>
          <p:nvPr>
            <p:ph type="sldNum" sz="quarter" idx="12"/>
          </p:nvPr>
        </p:nvSpPr>
        <p:spPr/>
        <p:txBody>
          <a:bodyPr/>
          <a:lstStyle/>
          <a:p>
            <a:fld id="{B4CE166D-2D50-44F1-A818-BFD238545C9D}" type="slidenum">
              <a:rPr lang="de-DE" smtClean="0"/>
              <a:t>5</a:t>
            </a:fld>
            <a:endParaRPr lang="de-DE"/>
          </a:p>
        </p:txBody>
      </p:sp>
    </p:spTree>
    <p:extLst>
      <p:ext uri="{BB962C8B-B14F-4D97-AF65-F5344CB8AC3E}">
        <p14:creationId xmlns:p14="http://schemas.microsoft.com/office/powerpoint/2010/main" val="2319007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AA60C8-A379-013E-2E5C-982384FA301A}"/>
              </a:ext>
            </a:extLst>
          </p:cNvPr>
          <p:cNvSpPr>
            <a:spLocks noGrp="1"/>
          </p:cNvSpPr>
          <p:nvPr>
            <p:ph type="title"/>
          </p:nvPr>
        </p:nvSpPr>
        <p:spPr/>
        <p:txBody>
          <a:bodyPr/>
          <a:lstStyle/>
          <a:p>
            <a:r>
              <a:rPr lang="de-DE" dirty="0"/>
              <a:t>Verantwortlichkeiten im Datenschutz</a:t>
            </a:r>
          </a:p>
        </p:txBody>
      </p:sp>
      <p:sp>
        <p:nvSpPr>
          <p:cNvPr id="3" name="Inhaltsplatzhalter 2">
            <a:extLst>
              <a:ext uri="{FF2B5EF4-FFF2-40B4-BE49-F238E27FC236}">
                <a16:creationId xmlns:a16="http://schemas.microsoft.com/office/drawing/2014/main" id="{D872BE23-E3B2-1F9D-CDFE-34C172EC36D8}"/>
              </a:ext>
            </a:extLst>
          </p:cNvPr>
          <p:cNvSpPr>
            <a:spLocks noGrp="1"/>
          </p:cNvSpPr>
          <p:nvPr>
            <p:ph idx="1"/>
          </p:nvPr>
        </p:nvSpPr>
        <p:spPr/>
        <p:txBody>
          <a:bodyPr>
            <a:normAutofit/>
          </a:bodyPr>
          <a:lstStyle/>
          <a:p>
            <a:pPr>
              <a:lnSpc>
                <a:spcPct val="107000"/>
              </a:lnSpc>
              <a:spcAft>
                <a:spcPts val="800"/>
              </a:spcAft>
              <a:buNone/>
            </a:pPr>
            <a:r>
              <a:rPr lang="de-DE" sz="2400" kern="100" dirty="0">
                <a:effectLst/>
                <a:latin typeface="Aptos" panose="020B0004020202020204" pitchFamily="34" charset="0"/>
                <a:ea typeface="Aptos" panose="020B0004020202020204" pitchFamily="34" charset="0"/>
                <a:cs typeface="Times New Roman" panose="02020603050405020304" pitchFamily="18" charset="0"/>
              </a:rPr>
              <a:t>1. </a:t>
            </a:r>
            <a:r>
              <a:rPr lang="de-DE" sz="2400" b="1" u="sng" kern="100" dirty="0">
                <a:effectLst/>
                <a:latin typeface="Aptos" panose="020B0004020202020204" pitchFamily="34" charset="0"/>
                <a:ea typeface="Aptos" panose="020B0004020202020204" pitchFamily="34" charset="0"/>
                <a:cs typeface="Times New Roman" panose="02020603050405020304" pitchFamily="18" charset="0"/>
              </a:rPr>
              <a:t>Verantwortlicher</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(Controller):</a:t>
            </a:r>
          </a:p>
          <a:p>
            <a:pPr marL="342900" lvl="0" indent="-342900">
              <a:lnSpc>
                <a:spcPct val="107000"/>
              </a:lnSpc>
              <a:buFont typeface="Symbol" panose="05050102010706020507" pitchFamily="18" charset="2"/>
              <a:buChar char=""/>
            </a:pPr>
            <a:r>
              <a:rPr lang="de-DE" sz="2400" kern="100" dirty="0">
                <a:effectLst/>
                <a:latin typeface="Aptos" panose="020B0004020202020204" pitchFamily="34" charset="0"/>
                <a:ea typeface="Aptos" panose="020B0004020202020204" pitchFamily="34" charset="0"/>
                <a:cs typeface="Times New Roman" panose="02020603050405020304" pitchFamily="18" charset="0"/>
              </a:rPr>
              <a:t>Ist die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natürliche oder juristische Person</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die über die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Zwecke und Mittel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der Verarbeitung personenbezogener Daten entscheidet. </a:t>
            </a:r>
          </a:p>
          <a:p>
            <a:pPr marL="342900" lvl="0" indent="-342900">
              <a:lnSpc>
                <a:spcPct val="107000"/>
              </a:lnSpc>
              <a:buFont typeface="Symbol" panose="05050102010706020507" pitchFamily="18" charset="2"/>
              <a:buChar char=""/>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Haftet</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für die Einhaltung der DSGVO-Bestimmungen und muss geeignete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technische und organisatorische Maßnahmen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zum Schutz der Daten treffen. </a:t>
            </a:r>
          </a:p>
          <a:p>
            <a:pPr marL="342900" lvl="0" indent="-342900">
              <a:lnSpc>
                <a:spcPct val="107000"/>
              </a:lnSpc>
              <a:spcAft>
                <a:spcPts val="800"/>
              </a:spcAft>
              <a:buFont typeface="Symbol" panose="05050102010706020507" pitchFamily="18" charset="2"/>
              <a:buChar char=""/>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Kann</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seine Aufgaben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delegieren</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bleibt</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aber letztendlich selbst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verantwortlich</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a:t>
            </a:r>
          </a:p>
        </p:txBody>
      </p:sp>
      <p:sp>
        <p:nvSpPr>
          <p:cNvPr id="4" name="Fußzeilenplatzhalter 3">
            <a:extLst>
              <a:ext uri="{FF2B5EF4-FFF2-40B4-BE49-F238E27FC236}">
                <a16:creationId xmlns:a16="http://schemas.microsoft.com/office/drawing/2014/main" id="{F95645A3-6F10-4BFE-4EE6-E3CBC5ADEE70}"/>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10D8AD45-DFE7-E9A6-AB3E-913421E82551}"/>
              </a:ext>
            </a:extLst>
          </p:cNvPr>
          <p:cNvSpPr>
            <a:spLocks noGrp="1"/>
          </p:cNvSpPr>
          <p:nvPr>
            <p:ph type="sldNum" sz="quarter" idx="12"/>
          </p:nvPr>
        </p:nvSpPr>
        <p:spPr/>
        <p:txBody>
          <a:bodyPr/>
          <a:lstStyle/>
          <a:p>
            <a:fld id="{B4CE166D-2D50-44F1-A818-BFD238545C9D}" type="slidenum">
              <a:rPr lang="de-DE" smtClean="0"/>
              <a:t>6</a:t>
            </a:fld>
            <a:endParaRPr lang="de-DE"/>
          </a:p>
        </p:txBody>
      </p:sp>
    </p:spTree>
    <p:extLst>
      <p:ext uri="{BB962C8B-B14F-4D97-AF65-F5344CB8AC3E}">
        <p14:creationId xmlns:p14="http://schemas.microsoft.com/office/powerpoint/2010/main" val="787152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AC854F-4D70-B16A-549F-2C83E46004F4}"/>
              </a:ext>
            </a:extLst>
          </p:cNvPr>
          <p:cNvSpPr>
            <a:spLocks noGrp="1"/>
          </p:cNvSpPr>
          <p:nvPr>
            <p:ph type="title"/>
          </p:nvPr>
        </p:nvSpPr>
        <p:spPr>
          <a:xfrm>
            <a:off x="838200" y="365126"/>
            <a:ext cx="10515600" cy="743828"/>
          </a:xfrm>
        </p:spPr>
        <p:txBody>
          <a:bodyPr/>
          <a:lstStyle/>
          <a:p>
            <a:r>
              <a:rPr lang="de-DE" dirty="0"/>
              <a:t>Verantwortlichkeiten im Datenschutz</a:t>
            </a:r>
          </a:p>
        </p:txBody>
      </p:sp>
      <p:sp>
        <p:nvSpPr>
          <p:cNvPr id="3" name="Inhaltsplatzhalter 2">
            <a:extLst>
              <a:ext uri="{FF2B5EF4-FFF2-40B4-BE49-F238E27FC236}">
                <a16:creationId xmlns:a16="http://schemas.microsoft.com/office/drawing/2014/main" id="{619147FF-2328-C101-CE8E-70394DF28C41}"/>
              </a:ext>
            </a:extLst>
          </p:cNvPr>
          <p:cNvSpPr>
            <a:spLocks noGrp="1"/>
          </p:cNvSpPr>
          <p:nvPr>
            <p:ph idx="1"/>
          </p:nvPr>
        </p:nvSpPr>
        <p:spPr>
          <a:xfrm>
            <a:off x="838200" y="1108954"/>
            <a:ext cx="10515600" cy="5068009"/>
          </a:xfrm>
        </p:spPr>
        <p:txBody>
          <a:bodyPr>
            <a:normAutofit lnSpcReduction="10000"/>
          </a:bodyPr>
          <a:lstStyle/>
          <a:p>
            <a:pPr>
              <a:lnSpc>
                <a:spcPct val="107000"/>
              </a:lnSpc>
              <a:spcAft>
                <a:spcPts val="800"/>
              </a:spcAft>
              <a:buNone/>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2. </a:t>
            </a:r>
            <a:r>
              <a:rPr lang="de-DE" sz="1800" b="1" u="sng" kern="100" dirty="0">
                <a:effectLst/>
                <a:latin typeface="Aptos" panose="020B0004020202020204" pitchFamily="34" charset="0"/>
                <a:ea typeface="Aptos" panose="020B0004020202020204" pitchFamily="34" charset="0"/>
                <a:cs typeface="Times New Roman" panose="02020603050405020304" pitchFamily="18" charset="0"/>
              </a:rPr>
              <a:t>Datenschutzbeauftragter</a:t>
            </a:r>
            <a:r>
              <a:rPr lang="de-DE" sz="1800" u="sng" kern="100" dirty="0">
                <a:effectLst/>
                <a:latin typeface="Aptos" panose="020B0004020202020204" pitchFamily="34" charset="0"/>
                <a:ea typeface="Aptos" panose="020B0004020202020204" pitchFamily="34" charset="0"/>
                <a:cs typeface="Times New Roman" panose="02020603050405020304" pitchFamily="18" charset="0"/>
              </a:rPr>
              <a:t> (</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Data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Protection</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Officer - DPO):</a:t>
            </a:r>
          </a:p>
          <a:p>
            <a:pPr>
              <a:lnSpc>
                <a:spcPct val="107000"/>
              </a:lnSpc>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Unterstützt</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den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Verantwortlichen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bei der Umsetzung und Überwachung der DSGVO-Bestimmungen und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aller Prozesse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im Unternehmen. Er hat im Rahmen seiner Tätigkeit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Zugang zu allen Ressourcen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und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Räumen</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oder diese müssen ihm ermöglicht werden.</a:t>
            </a:r>
          </a:p>
          <a:p>
            <a:pPr>
              <a:lnSpc>
                <a:spcPct val="107000"/>
              </a:lnSpc>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Hat eine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Beratungs- und Überwachungsfunktion</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ist aber nicht für die Entscheidung über die Datenverarbeitung zuständig. Der DSB arbeitet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weisungsfrei</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und gibt auch keine Weisungen, sondern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berät</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die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Geschäftsführung, die Mitarbeiter</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und auch die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Kunden</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in seinem Fachgebiet.</a:t>
            </a:r>
          </a:p>
          <a:p>
            <a:pPr>
              <a:lnSpc>
                <a:spcPct val="107000"/>
              </a:lnSpc>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Muss</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von der Geschäftsführung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bestellt werden</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Seine Aufgaben sind in der DSGVO festgelegt. </a:t>
            </a:r>
          </a:p>
          <a:p>
            <a:pPr>
              <a:lnSpc>
                <a:spcPct val="107000"/>
              </a:lnSpc>
              <a:spcAft>
                <a:spcPts val="800"/>
              </a:spcAft>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Hat die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Pflicht</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die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Einhaltung der Datenschutzbestimmungen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zu überwachen und den Verantwortlichen zu beraten. </a:t>
            </a:r>
          </a:p>
          <a:p>
            <a:r>
              <a:rPr lang="de-DE" sz="2000" dirty="0">
                <a:effectLst/>
                <a:latin typeface="Aptos" panose="020B0004020202020204" pitchFamily="34" charset="0"/>
                <a:ea typeface="Aptos" panose="020B0004020202020204" pitchFamily="34" charset="0"/>
                <a:cs typeface="Times New Roman" panose="02020603050405020304" pitchFamily="18" charset="0"/>
              </a:rPr>
              <a:t>Ist in seiner Rolle als DSB </a:t>
            </a:r>
            <a:r>
              <a:rPr lang="de-DE" sz="2000" b="1" dirty="0">
                <a:effectLst/>
                <a:latin typeface="Aptos" panose="020B0004020202020204" pitchFamily="34" charset="0"/>
                <a:ea typeface="Aptos" panose="020B0004020202020204" pitchFamily="34" charset="0"/>
                <a:cs typeface="Times New Roman" panose="02020603050405020304" pitchFamily="18" charset="0"/>
              </a:rPr>
              <a:t>zur Vertraulichkeit verpflichtet</a:t>
            </a:r>
            <a:endParaRPr lang="de-DE" sz="2000" b="1" dirty="0"/>
          </a:p>
        </p:txBody>
      </p:sp>
      <p:sp>
        <p:nvSpPr>
          <p:cNvPr id="4" name="Fußzeilenplatzhalter 3">
            <a:extLst>
              <a:ext uri="{FF2B5EF4-FFF2-40B4-BE49-F238E27FC236}">
                <a16:creationId xmlns:a16="http://schemas.microsoft.com/office/drawing/2014/main" id="{1E24F94B-735F-F0CA-EF59-B39BBB60128D}"/>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807FF2C-3F1F-792F-CE68-FBB4AF5628EA}"/>
              </a:ext>
            </a:extLst>
          </p:cNvPr>
          <p:cNvSpPr>
            <a:spLocks noGrp="1"/>
          </p:cNvSpPr>
          <p:nvPr>
            <p:ph type="sldNum" sz="quarter" idx="12"/>
          </p:nvPr>
        </p:nvSpPr>
        <p:spPr/>
        <p:txBody>
          <a:bodyPr/>
          <a:lstStyle/>
          <a:p>
            <a:fld id="{B4CE166D-2D50-44F1-A818-BFD238545C9D}" type="slidenum">
              <a:rPr lang="de-DE" smtClean="0"/>
              <a:t>7</a:t>
            </a:fld>
            <a:endParaRPr lang="de-DE"/>
          </a:p>
        </p:txBody>
      </p:sp>
    </p:spTree>
    <p:extLst>
      <p:ext uri="{BB962C8B-B14F-4D97-AF65-F5344CB8AC3E}">
        <p14:creationId xmlns:p14="http://schemas.microsoft.com/office/powerpoint/2010/main" val="3212608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277AF5-D65A-7670-2B09-B8D33398B0E6}"/>
              </a:ext>
            </a:extLst>
          </p:cNvPr>
          <p:cNvSpPr>
            <a:spLocks noGrp="1"/>
          </p:cNvSpPr>
          <p:nvPr>
            <p:ph type="title"/>
          </p:nvPr>
        </p:nvSpPr>
        <p:spPr>
          <a:xfrm>
            <a:off x="838200" y="365125"/>
            <a:ext cx="10515600" cy="831377"/>
          </a:xfrm>
        </p:spPr>
        <p:txBody>
          <a:bodyPr/>
          <a:lstStyle/>
          <a:p>
            <a:r>
              <a:rPr lang="de-DE" dirty="0"/>
              <a:t>Verantwortlichkeiten im Datenschutz</a:t>
            </a:r>
          </a:p>
        </p:txBody>
      </p:sp>
      <p:sp>
        <p:nvSpPr>
          <p:cNvPr id="3" name="Inhaltsplatzhalter 2">
            <a:extLst>
              <a:ext uri="{FF2B5EF4-FFF2-40B4-BE49-F238E27FC236}">
                <a16:creationId xmlns:a16="http://schemas.microsoft.com/office/drawing/2014/main" id="{21FA5F48-80FB-792C-8DDF-CFE57A8C4BCB}"/>
              </a:ext>
            </a:extLst>
          </p:cNvPr>
          <p:cNvSpPr>
            <a:spLocks noGrp="1"/>
          </p:cNvSpPr>
          <p:nvPr>
            <p:ph idx="1"/>
          </p:nvPr>
        </p:nvSpPr>
        <p:spPr>
          <a:xfrm>
            <a:off x="838200" y="1585609"/>
            <a:ext cx="10515600" cy="4591354"/>
          </a:xfrm>
        </p:spPr>
        <p:txBody>
          <a:bodyPr>
            <a:noAutofit/>
          </a:bodyPr>
          <a:lstStyle/>
          <a:p>
            <a:pPr>
              <a:lnSpc>
                <a:spcPct val="107000"/>
              </a:lnSpc>
              <a:spcAft>
                <a:spcPts val="800"/>
              </a:spcAft>
              <a:buNone/>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3</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 </a:t>
            </a:r>
            <a:r>
              <a:rPr lang="de-DE" sz="2000" b="1" u="sng" kern="100" dirty="0">
                <a:effectLst/>
                <a:latin typeface="Aptos" panose="020B0004020202020204" pitchFamily="34" charset="0"/>
                <a:ea typeface="Aptos" panose="020B0004020202020204" pitchFamily="34" charset="0"/>
                <a:cs typeface="Times New Roman" panose="02020603050405020304" pitchFamily="18" charset="0"/>
              </a:rPr>
              <a:t>Auftragsverarbeiter</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a:t>
            </a:r>
            <a:r>
              <a:rPr lang="de-DE" sz="2000" kern="100" dirty="0" err="1">
                <a:effectLst/>
                <a:latin typeface="Aptos" panose="020B0004020202020204" pitchFamily="34" charset="0"/>
                <a:ea typeface="Aptos" panose="020B0004020202020204" pitchFamily="34" charset="0"/>
                <a:cs typeface="Times New Roman" panose="02020603050405020304" pitchFamily="18" charset="0"/>
              </a:rPr>
              <a:t>Processor</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07000"/>
              </a:lnSpc>
              <a:buFont typeface="Symbol" panose="05050102010706020507" pitchFamily="18" charset="2"/>
              <a:buChar char=""/>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Verarbeitet personenbezogene Daten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im Auftrag des Verantwortlichen</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07000"/>
              </a:lnSpc>
              <a:spcAft>
                <a:spcPts val="800"/>
              </a:spcAft>
              <a:buFont typeface="Symbol" panose="05050102010706020507" pitchFamily="18" charset="2"/>
              <a:buChar char=""/>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Haftet mit dem Verantwortlichen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für die Einhaltung der DSGVO. </a:t>
            </a:r>
          </a:p>
          <a:p>
            <a:pPr>
              <a:lnSpc>
                <a:spcPct val="107000"/>
              </a:lnSpc>
              <a:spcAft>
                <a:spcPts val="800"/>
              </a:spcAft>
              <a:buNone/>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4. </a:t>
            </a:r>
            <a:r>
              <a:rPr lang="de-DE" sz="2000" b="1" u="sng" kern="100" dirty="0">
                <a:effectLst/>
                <a:latin typeface="Aptos" panose="020B0004020202020204" pitchFamily="34" charset="0"/>
                <a:ea typeface="Aptos" panose="020B0004020202020204" pitchFamily="34" charset="0"/>
                <a:cs typeface="Times New Roman" panose="02020603050405020304" pitchFamily="18" charset="0"/>
              </a:rPr>
              <a:t>Gemeinsam Verantwortliche</a:t>
            </a:r>
            <a:r>
              <a:rPr lang="de-DE" sz="2000" u="sng" kern="100" dirty="0">
                <a:effectLst/>
                <a:latin typeface="Aptos" panose="020B0004020202020204" pitchFamily="34" charset="0"/>
                <a:ea typeface="Aptos" panose="020B0004020202020204" pitchFamily="34" charset="0"/>
                <a:cs typeface="Times New Roman" panose="02020603050405020304" pitchFamily="18" charset="0"/>
              </a:rPr>
              <a:t>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(Joint Controllers):</a:t>
            </a:r>
          </a:p>
          <a:p>
            <a:pPr marL="342900" lvl="0" indent="-342900">
              <a:lnSpc>
                <a:spcPct val="107000"/>
              </a:lnSpc>
              <a:buFont typeface="Symbol" panose="05050102010706020507" pitchFamily="18" charset="2"/>
              <a:buChar char=""/>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Wenn zwei oder mehr Verantwortliche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gemeinsam die Zwecke und Mittel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der Verarbeitung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festlegen</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sind sie gemeinsam Verantwortliche.</a:t>
            </a:r>
          </a:p>
          <a:p>
            <a:pPr marL="342900" lvl="0" indent="-342900">
              <a:lnSpc>
                <a:spcPct val="107000"/>
              </a:lnSpc>
              <a:buFont typeface="Symbol" panose="05050102010706020507" pitchFamily="18" charset="2"/>
              <a:buChar char=""/>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Sie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müssen</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in einer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Vereinbarung festlegen</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wer welche Verpflichtungen nach der DSGVO erfüllt.</a:t>
            </a:r>
          </a:p>
          <a:p>
            <a:pPr marL="342900" lvl="0" indent="-342900">
              <a:lnSpc>
                <a:spcPct val="107000"/>
              </a:lnSpc>
              <a:spcAft>
                <a:spcPts val="800"/>
              </a:spcAft>
              <a:buFont typeface="Symbol" panose="05050102010706020507" pitchFamily="18" charset="2"/>
              <a:buChar char=""/>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Betroffene Personen können ihre Rechte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bei jedem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der gemeinsam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Verantwortlichen</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geltend machen</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a:t>
            </a:r>
          </a:p>
        </p:txBody>
      </p:sp>
      <p:sp>
        <p:nvSpPr>
          <p:cNvPr id="4" name="Fußzeilenplatzhalter 3">
            <a:extLst>
              <a:ext uri="{FF2B5EF4-FFF2-40B4-BE49-F238E27FC236}">
                <a16:creationId xmlns:a16="http://schemas.microsoft.com/office/drawing/2014/main" id="{18C617CB-3BFB-A276-9923-B2EA6216FE50}"/>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805399F5-CA73-AB72-9896-1BD3C4CB8222}"/>
              </a:ext>
            </a:extLst>
          </p:cNvPr>
          <p:cNvSpPr>
            <a:spLocks noGrp="1"/>
          </p:cNvSpPr>
          <p:nvPr>
            <p:ph type="sldNum" sz="quarter" idx="12"/>
          </p:nvPr>
        </p:nvSpPr>
        <p:spPr/>
        <p:txBody>
          <a:bodyPr/>
          <a:lstStyle/>
          <a:p>
            <a:fld id="{B4CE166D-2D50-44F1-A818-BFD238545C9D}" type="slidenum">
              <a:rPr lang="de-DE" smtClean="0"/>
              <a:t>8</a:t>
            </a:fld>
            <a:endParaRPr lang="de-DE"/>
          </a:p>
        </p:txBody>
      </p:sp>
    </p:spTree>
    <p:extLst>
      <p:ext uri="{BB962C8B-B14F-4D97-AF65-F5344CB8AC3E}">
        <p14:creationId xmlns:p14="http://schemas.microsoft.com/office/powerpoint/2010/main" val="3144147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272810-64C9-C65D-A8FE-185BC0504481}"/>
              </a:ext>
            </a:extLst>
          </p:cNvPr>
          <p:cNvSpPr>
            <a:spLocks noGrp="1"/>
          </p:cNvSpPr>
          <p:nvPr>
            <p:ph type="title"/>
          </p:nvPr>
        </p:nvSpPr>
        <p:spPr>
          <a:xfrm>
            <a:off x="838200" y="365126"/>
            <a:ext cx="10515600" cy="918926"/>
          </a:xfrm>
        </p:spPr>
        <p:txBody>
          <a:bodyPr/>
          <a:lstStyle/>
          <a:p>
            <a:r>
              <a:rPr lang="de-DE" dirty="0"/>
              <a:t>Verantwortlichkeiten im Datenschutz</a:t>
            </a:r>
          </a:p>
        </p:txBody>
      </p:sp>
      <p:sp>
        <p:nvSpPr>
          <p:cNvPr id="3" name="Inhaltsplatzhalter 2">
            <a:extLst>
              <a:ext uri="{FF2B5EF4-FFF2-40B4-BE49-F238E27FC236}">
                <a16:creationId xmlns:a16="http://schemas.microsoft.com/office/drawing/2014/main" id="{BFD9D596-2448-74E3-D19C-8AD2F037D5A4}"/>
              </a:ext>
            </a:extLst>
          </p:cNvPr>
          <p:cNvSpPr>
            <a:spLocks noGrp="1"/>
          </p:cNvSpPr>
          <p:nvPr>
            <p:ph idx="1"/>
          </p:nvPr>
        </p:nvSpPr>
        <p:spPr>
          <a:xfrm>
            <a:off x="838200" y="1449421"/>
            <a:ext cx="10515600" cy="4727542"/>
          </a:xfrm>
        </p:spPr>
        <p:txBody>
          <a:bodyPr/>
          <a:lstStyle/>
          <a:p>
            <a:pPr marL="342900" lvl="0" indent="-342900">
              <a:lnSpc>
                <a:spcPct val="107000"/>
              </a:lnSpc>
              <a:buFont typeface="+mj-lt"/>
              <a:buAutoNum type="arabicPeriod" startAt="5"/>
            </a:pPr>
            <a:r>
              <a:rPr lang="de-DE" sz="1800" b="1" kern="100" dirty="0">
                <a:effectLst/>
                <a:latin typeface="Aptos" panose="020B0004020202020204" pitchFamily="34" charset="0"/>
                <a:ea typeface="Aptos" panose="020B0004020202020204" pitchFamily="34" charset="0"/>
                <a:cs typeface="Times New Roman" panose="02020603050405020304" pitchFamily="18" charset="0"/>
              </a:rPr>
              <a:t>Datenschutzkoordinatoren</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sind Mitarbeiter, die im Datenschutz </a:t>
            </a:r>
            <a:r>
              <a:rPr lang="de-DE" sz="1800" b="1" kern="100" dirty="0">
                <a:effectLst/>
                <a:latin typeface="Aptos" panose="020B0004020202020204" pitchFamily="34" charset="0"/>
                <a:ea typeface="Aptos" panose="020B0004020202020204" pitchFamily="34" charset="0"/>
                <a:cs typeface="Times New Roman" panose="02020603050405020304" pitchFamily="18" charset="0"/>
              </a:rPr>
              <a:t>speziell geschult </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sind und den </a:t>
            </a:r>
            <a:r>
              <a:rPr lang="de-DE" sz="1800" b="1" kern="100" dirty="0">
                <a:effectLst/>
                <a:latin typeface="Aptos" panose="020B0004020202020204" pitchFamily="34" charset="0"/>
                <a:ea typeface="Aptos" panose="020B0004020202020204" pitchFamily="34" charset="0"/>
                <a:cs typeface="Times New Roman" panose="02020603050405020304" pitchFamily="18" charset="0"/>
              </a:rPr>
              <a:t>DSB bei seiner Arbeit unterstützen</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und diesem zuarbeiten.</a:t>
            </a:r>
          </a:p>
          <a:p>
            <a:pPr marL="457200">
              <a:lnSpc>
                <a:spcPct val="107000"/>
              </a:lnSpc>
              <a:spcAft>
                <a:spcPts val="800"/>
              </a:spcAft>
              <a:buNone/>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07000"/>
              </a:lnSpc>
              <a:spcAft>
                <a:spcPts val="800"/>
              </a:spcAft>
              <a:buNone/>
            </a:pPr>
            <a:r>
              <a:rPr lang="de-DE" sz="1800" b="1" kern="100" dirty="0">
                <a:effectLst/>
                <a:latin typeface="Aptos" panose="020B0004020202020204" pitchFamily="34" charset="0"/>
                <a:ea typeface="Aptos" panose="020B0004020202020204" pitchFamily="34" charset="0"/>
                <a:cs typeface="Times New Roman" panose="02020603050405020304" pitchFamily="18" charset="0"/>
              </a:rPr>
              <a:t>6. </a:t>
            </a:r>
            <a:r>
              <a:rPr lang="de-DE" sz="1800" b="1" u="sng" kern="100" dirty="0">
                <a:effectLst/>
                <a:latin typeface="Aptos" panose="020B0004020202020204" pitchFamily="34" charset="0"/>
                <a:ea typeface="Aptos" panose="020B0004020202020204" pitchFamily="34" charset="0"/>
                <a:cs typeface="Times New Roman" panose="02020603050405020304" pitchFamily="18" charset="0"/>
              </a:rPr>
              <a:t>Weitere Verantwortlichkeiten</a:t>
            </a:r>
            <a:r>
              <a:rPr lang="de-DE"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de-DE"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mj-lt"/>
              <a:buAutoNum type="arabicPeriod"/>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Die </a:t>
            </a:r>
            <a:r>
              <a:rPr lang="de-DE" sz="1800" b="1" kern="100" dirty="0">
                <a:effectLst/>
                <a:latin typeface="Aptos" panose="020B0004020202020204" pitchFamily="34" charset="0"/>
                <a:ea typeface="Aptos" panose="020B0004020202020204" pitchFamily="34" charset="0"/>
                <a:cs typeface="Times New Roman" panose="02020603050405020304" pitchFamily="18" charset="0"/>
              </a:rPr>
              <a:t>Geschäftsführung</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a:t>
            </a:r>
            <a:r>
              <a:rPr lang="de-DE" sz="1800" b="1" kern="100" dirty="0">
                <a:effectLst/>
                <a:latin typeface="Aptos" panose="020B0004020202020204" pitchFamily="34" charset="0"/>
                <a:ea typeface="Aptos" panose="020B0004020202020204" pitchFamily="34" charset="0"/>
                <a:cs typeface="Times New Roman" panose="02020603050405020304" pitchFamily="18" charset="0"/>
              </a:rPr>
              <a:t>muss</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die Einhaltung der DSGVO sicherstellen und die entsprechenden </a:t>
            </a:r>
            <a:r>
              <a:rPr lang="de-DE" sz="1800" b="1" kern="100" dirty="0">
                <a:effectLst/>
                <a:latin typeface="Aptos" panose="020B0004020202020204" pitchFamily="34" charset="0"/>
                <a:ea typeface="Aptos" panose="020B0004020202020204" pitchFamily="34" charset="0"/>
                <a:cs typeface="Times New Roman" panose="02020603050405020304" pitchFamily="18" charset="0"/>
              </a:rPr>
              <a:t>Maßnahmen planen und umsetzen</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lvl="0" indent="-342900">
              <a:lnSpc>
                <a:spcPct val="107000"/>
              </a:lnSpc>
              <a:spcAft>
                <a:spcPts val="800"/>
              </a:spcAft>
              <a:buFont typeface="+mj-lt"/>
              <a:buAutoNum type="arabicPeriod"/>
            </a:pPr>
            <a:r>
              <a:rPr lang="de-DE" sz="1800" b="1" kern="100" dirty="0">
                <a:effectLst/>
                <a:latin typeface="Aptos" panose="020B0004020202020204" pitchFamily="34" charset="0"/>
                <a:ea typeface="Aptos" panose="020B0004020202020204" pitchFamily="34" charset="0"/>
                <a:cs typeface="Times New Roman" panose="02020603050405020304" pitchFamily="18" charset="0"/>
              </a:rPr>
              <a:t>Mitarbeiter</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die mit der Verarbeitung personenbezogener Daten beschäftigt sind, </a:t>
            </a:r>
            <a:r>
              <a:rPr lang="de-DE" sz="1800" b="1" kern="100" dirty="0">
                <a:effectLst/>
                <a:latin typeface="Aptos" panose="020B0004020202020204" pitchFamily="34" charset="0"/>
                <a:ea typeface="Aptos" panose="020B0004020202020204" pitchFamily="34" charset="0"/>
                <a:cs typeface="Times New Roman" panose="02020603050405020304" pitchFamily="18" charset="0"/>
              </a:rPr>
              <a:t>müssen entsprechend geschult und sensibilisiert werden. </a:t>
            </a:r>
          </a:p>
          <a:p>
            <a:endParaRPr lang="de-DE" dirty="0"/>
          </a:p>
        </p:txBody>
      </p:sp>
      <p:sp>
        <p:nvSpPr>
          <p:cNvPr id="4" name="Fußzeilenplatzhalter 3">
            <a:extLst>
              <a:ext uri="{FF2B5EF4-FFF2-40B4-BE49-F238E27FC236}">
                <a16:creationId xmlns:a16="http://schemas.microsoft.com/office/drawing/2014/main" id="{8C1D1B81-4E80-3784-920E-E1E4DC0A6896}"/>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2CA3593C-4110-7DF7-5EE4-AB5E26F4B38C}"/>
              </a:ext>
            </a:extLst>
          </p:cNvPr>
          <p:cNvSpPr>
            <a:spLocks noGrp="1"/>
          </p:cNvSpPr>
          <p:nvPr>
            <p:ph type="sldNum" sz="quarter" idx="12"/>
          </p:nvPr>
        </p:nvSpPr>
        <p:spPr/>
        <p:txBody>
          <a:bodyPr/>
          <a:lstStyle/>
          <a:p>
            <a:fld id="{B4CE166D-2D50-44F1-A818-BFD238545C9D}" type="slidenum">
              <a:rPr lang="de-DE" smtClean="0"/>
              <a:t>9</a:t>
            </a:fld>
            <a:endParaRPr lang="de-DE"/>
          </a:p>
        </p:txBody>
      </p:sp>
    </p:spTree>
    <p:extLst>
      <p:ext uri="{BB962C8B-B14F-4D97-AF65-F5344CB8AC3E}">
        <p14:creationId xmlns:p14="http://schemas.microsoft.com/office/powerpoint/2010/main" val="2812226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71EB32-A1DB-5ED6-4C5F-15466361D781}"/>
              </a:ext>
            </a:extLst>
          </p:cNvPr>
          <p:cNvSpPr>
            <a:spLocks noGrp="1"/>
          </p:cNvSpPr>
          <p:nvPr>
            <p:ph type="title"/>
          </p:nvPr>
        </p:nvSpPr>
        <p:spPr>
          <a:xfrm>
            <a:off x="838200" y="365125"/>
            <a:ext cx="10515600" cy="1055113"/>
          </a:xfrm>
        </p:spPr>
        <p:txBody>
          <a:bodyPr/>
          <a:lstStyle/>
          <a:p>
            <a:r>
              <a:rPr lang="de-DE" dirty="0"/>
              <a:t>Zusammenfassung </a:t>
            </a:r>
            <a:r>
              <a:rPr lang="de-DE" sz="2800" dirty="0"/>
              <a:t>Datenschutz-Verantwortlichkeiten</a:t>
            </a:r>
          </a:p>
        </p:txBody>
      </p:sp>
      <p:sp>
        <p:nvSpPr>
          <p:cNvPr id="3" name="Inhaltsplatzhalter 2">
            <a:extLst>
              <a:ext uri="{FF2B5EF4-FFF2-40B4-BE49-F238E27FC236}">
                <a16:creationId xmlns:a16="http://schemas.microsoft.com/office/drawing/2014/main" id="{9E28850F-C41C-B6CA-F7ED-13311057C518}"/>
              </a:ext>
            </a:extLst>
          </p:cNvPr>
          <p:cNvSpPr>
            <a:spLocks noGrp="1"/>
          </p:cNvSpPr>
          <p:nvPr>
            <p:ph idx="1"/>
          </p:nvPr>
        </p:nvSpPr>
        <p:spPr>
          <a:xfrm>
            <a:off x="838200" y="1546698"/>
            <a:ext cx="10515600" cy="4630265"/>
          </a:xfrm>
        </p:spPr>
        <p:txBody>
          <a:bodyPr>
            <a:normAutofit/>
          </a:bodyPr>
          <a:lstStyle/>
          <a:p>
            <a:r>
              <a:rPr lang="de-DE" kern="100" dirty="0">
                <a:effectLst/>
                <a:latin typeface="Aptos" panose="020B0004020202020204" pitchFamily="34" charset="0"/>
                <a:ea typeface="Aptos" panose="020B0004020202020204" pitchFamily="34" charset="0"/>
                <a:cs typeface="Times New Roman" panose="02020603050405020304" pitchFamily="18" charset="0"/>
              </a:rPr>
              <a:t>Der </a:t>
            </a:r>
            <a:r>
              <a:rPr lang="de-DE" b="1" kern="100" dirty="0">
                <a:effectLst/>
                <a:latin typeface="Aptos" panose="020B0004020202020204" pitchFamily="34" charset="0"/>
                <a:ea typeface="Aptos" panose="020B0004020202020204" pitchFamily="34" charset="0"/>
                <a:cs typeface="Times New Roman" panose="02020603050405020304" pitchFamily="18" charset="0"/>
              </a:rPr>
              <a:t>Verantwortliche</a:t>
            </a:r>
            <a:r>
              <a:rPr lang="de-DE" kern="100" dirty="0">
                <a:effectLst/>
                <a:latin typeface="Aptos" panose="020B0004020202020204" pitchFamily="34" charset="0"/>
                <a:ea typeface="Aptos" panose="020B0004020202020204" pitchFamily="34" charset="0"/>
                <a:cs typeface="Times New Roman" panose="02020603050405020304" pitchFamily="18" charset="0"/>
              </a:rPr>
              <a:t> ist die zentrale Ansprechperson für den Datenschutz und haftet für die Einhaltung der DSGVO-Bestimmungen. </a:t>
            </a:r>
            <a:br>
              <a:rPr lang="de-DE" kern="100" dirty="0">
                <a:effectLst/>
                <a:latin typeface="Aptos" panose="020B0004020202020204" pitchFamily="34" charset="0"/>
                <a:ea typeface="Aptos" panose="020B0004020202020204" pitchFamily="34" charset="0"/>
                <a:cs typeface="Times New Roman" panose="02020603050405020304" pitchFamily="18" charset="0"/>
              </a:rPr>
            </a:br>
            <a:endParaRPr lang="de-DE" kern="100" dirty="0">
              <a:effectLst/>
              <a:latin typeface="Aptos" panose="020B0004020202020204" pitchFamily="34" charset="0"/>
              <a:ea typeface="Aptos" panose="020B0004020202020204" pitchFamily="34" charset="0"/>
              <a:cs typeface="Times New Roman" panose="02020603050405020304" pitchFamily="18" charset="0"/>
            </a:endParaRPr>
          </a:p>
          <a:p>
            <a:r>
              <a:rPr lang="de-DE" kern="100" dirty="0">
                <a:effectLst/>
                <a:latin typeface="Aptos" panose="020B0004020202020204" pitchFamily="34" charset="0"/>
                <a:ea typeface="Aptos" panose="020B0004020202020204" pitchFamily="34" charset="0"/>
                <a:cs typeface="Times New Roman" panose="02020603050405020304" pitchFamily="18" charset="0"/>
              </a:rPr>
              <a:t>Der </a:t>
            </a:r>
            <a:r>
              <a:rPr lang="de-DE" b="1" kern="100" dirty="0">
                <a:effectLst/>
                <a:latin typeface="Aptos" panose="020B0004020202020204" pitchFamily="34" charset="0"/>
                <a:ea typeface="Aptos" panose="020B0004020202020204" pitchFamily="34" charset="0"/>
                <a:cs typeface="Times New Roman" panose="02020603050405020304" pitchFamily="18" charset="0"/>
              </a:rPr>
              <a:t>Datenschutzbeauftragte</a:t>
            </a:r>
            <a:r>
              <a:rPr lang="de-DE" kern="100" dirty="0">
                <a:effectLst/>
                <a:latin typeface="Aptos" panose="020B0004020202020204" pitchFamily="34" charset="0"/>
                <a:ea typeface="Aptos" panose="020B0004020202020204" pitchFamily="34" charset="0"/>
                <a:cs typeface="Times New Roman" panose="02020603050405020304" pitchFamily="18" charset="0"/>
              </a:rPr>
              <a:t> unterstützt ihn dabei, indem er beratend und überwachend tätig ist. Die DSGVO regelt die Verantwortlichkeiten und Zuständigkeiten im Detail und stellt sicher, dass die Datenverarbeitung im Einklang mit den Datenschutzgrundsätzen erfolgt.</a:t>
            </a:r>
          </a:p>
          <a:p>
            <a:endParaRPr lang="de-DE" dirty="0"/>
          </a:p>
        </p:txBody>
      </p:sp>
      <p:sp>
        <p:nvSpPr>
          <p:cNvPr id="4" name="Fußzeilenplatzhalter 3">
            <a:extLst>
              <a:ext uri="{FF2B5EF4-FFF2-40B4-BE49-F238E27FC236}">
                <a16:creationId xmlns:a16="http://schemas.microsoft.com/office/drawing/2014/main" id="{BCF1C985-138B-557A-7720-14B23CE065DD}"/>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18EFBFBA-4209-E8D6-17F3-DD6C80D4416B}"/>
              </a:ext>
            </a:extLst>
          </p:cNvPr>
          <p:cNvSpPr>
            <a:spLocks noGrp="1"/>
          </p:cNvSpPr>
          <p:nvPr>
            <p:ph type="sldNum" sz="quarter" idx="12"/>
          </p:nvPr>
        </p:nvSpPr>
        <p:spPr/>
        <p:txBody>
          <a:bodyPr/>
          <a:lstStyle/>
          <a:p>
            <a:fld id="{B4CE166D-2D50-44F1-A818-BFD238545C9D}" type="slidenum">
              <a:rPr lang="de-DE" smtClean="0"/>
              <a:t>10</a:t>
            </a:fld>
            <a:endParaRPr lang="de-DE"/>
          </a:p>
        </p:txBody>
      </p:sp>
    </p:spTree>
    <p:extLst>
      <p:ext uri="{BB962C8B-B14F-4D97-AF65-F5344CB8AC3E}">
        <p14:creationId xmlns:p14="http://schemas.microsoft.com/office/powerpoint/2010/main" val="806165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6DE304-4D2D-4AC9-2F60-64AACDC488B4}"/>
            </a:ext>
          </a:extLst>
        </p:cNvPr>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fik 9" descr="Ein Bild, das Menschliches Gesicht, Computer, computer, Im Haus enthält.&#10;&#10;KI-generierte Inhalte können fehlerhaft sein.">
            <a:extLst>
              <a:ext uri="{FF2B5EF4-FFF2-40B4-BE49-F238E27FC236}">
                <a16:creationId xmlns:a16="http://schemas.microsoft.com/office/drawing/2014/main" id="{8344EF3E-71BB-C22F-2B6E-F92696CF1BA0}"/>
              </a:ext>
            </a:extLst>
          </p:cNvPr>
          <p:cNvPicPr>
            <a:picLocks noChangeAspect="1"/>
          </p:cNvPicPr>
          <p:nvPr/>
        </p:nvPicPr>
        <p:blipFill>
          <a:blip r:embed="rId3">
            <a:extLst>
              <a:ext uri="{28A0092B-C50C-407E-A947-70E740481C1C}">
                <a14:useLocalDpi xmlns:a14="http://schemas.microsoft.com/office/drawing/2010/main" val="0"/>
              </a:ext>
            </a:extLst>
          </a:blip>
          <a:srcRect r="23298" b="9091"/>
          <a:stretch>
            <a:fillRect/>
          </a:stretch>
        </p:blipFill>
        <p:spPr>
          <a:xfrm>
            <a:off x="3523488" y="10"/>
            <a:ext cx="8668512" cy="6857990"/>
          </a:xfrm>
          <a:prstGeom prst="rect">
            <a:avLst/>
          </a:prstGeom>
        </p:spPr>
      </p:pic>
      <p:sp>
        <p:nvSpPr>
          <p:cNvPr id="67" name="Rectangle 66">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5A6AC723-38DF-EA3E-8AE5-ECEAC2E2668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t>Datenschutz</a:t>
            </a:r>
            <a:r>
              <a:rPr lang="en-US" sz="4800" dirty="0"/>
              <a:t> Teil 4.2.2</a:t>
            </a:r>
          </a:p>
        </p:txBody>
      </p:sp>
      <p:sp>
        <p:nvSpPr>
          <p:cNvPr id="3" name="Textplatzhalter 2">
            <a:extLst>
              <a:ext uri="{FF2B5EF4-FFF2-40B4-BE49-F238E27FC236}">
                <a16:creationId xmlns:a16="http://schemas.microsoft.com/office/drawing/2014/main" id="{300CCD6A-7546-C4CA-ABE8-D80263250750}"/>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b="1" dirty="0" err="1">
                <a:solidFill>
                  <a:schemeClr val="tx1"/>
                </a:solidFill>
              </a:rPr>
              <a:t>Zuständigkeiten</a:t>
            </a:r>
            <a:r>
              <a:rPr lang="en-US" sz="2000" b="1" dirty="0">
                <a:solidFill>
                  <a:schemeClr val="tx1"/>
                </a:solidFill>
              </a:rPr>
              <a:t> / </a:t>
            </a:r>
            <a:r>
              <a:rPr lang="en-US" sz="2000" b="1" dirty="0" err="1">
                <a:solidFill>
                  <a:schemeClr val="tx1"/>
                </a:solidFill>
              </a:rPr>
              <a:t>Verantwortlichkeiten</a:t>
            </a:r>
            <a:br>
              <a:rPr lang="en-US" sz="2000" b="1" dirty="0">
                <a:solidFill>
                  <a:schemeClr val="tx1"/>
                </a:solidFill>
              </a:rPr>
            </a:br>
            <a:r>
              <a:rPr lang="en-US" sz="2000" dirty="0" err="1">
                <a:solidFill>
                  <a:schemeClr val="tx1"/>
                </a:solidFill>
              </a:rPr>
              <a:t>im</a:t>
            </a:r>
            <a:r>
              <a:rPr lang="en-US" sz="2000" dirty="0">
                <a:solidFill>
                  <a:schemeClr val="tx1"/>
                </a:solidFill>
              </a:rPr>
              <a:t> </a:t>
            </a:r>
            <a:r>
              <a:rPr lang="en-US" sz="2000" dirty="0" err="1">
                <a:solidFill>
                  <a:schemeClr val="tx1"/>
                </a:solidFill>
              </a:rPr>
              <a:t>Unternehmen</a:t>
            </a:r>
            <a:r>
              <a:rPr lang="en-US" sz="2000" dirty="0">
                <a:solidFill>
                  <a:schemeClr val="tx1"/>
                </a:solidFill>
              </a:rPr>
              <a:t>, </a:t>
            </a:r>
            <a:r>
              <a:rPr lang="en-US" sz="2000" dirty="0" err="1">
                <a:solidFill>
                  <a:schemeClr val="tx1"/>
                </a:solidFill>
              </a:rPr>
              <a:t>bezogen</a:t>
            </a:r>
            <a:r>
              <a:rPr lang="en-US" sz="2000" dirty="0">
                <a:solidFill>
                  <a:schemeClr val="tx1"/>
                </a:solidFill>
              </a:rPr>
              <a:t> auf die </a:t>
            </a:r>
            <a:r>
              <a:rPr lang="en-US" sz="2000" b="1" dirty="0" err="1">
                <a:solidFill>
                  <a:schemeClr val="tx1"/>
                </a:solidFill>
              </a:rPr>
              <a:t>Informationssicherheit</a:t>
            </a:r>
            <a:endParaRPr lang="en-US" sz="2000" b="1" dirty="0">
              <a:solidFill>
                <a:schemeClr val="tx1"/>
              </a:solidFill>
            </a:endParaRPr>
          </a:p>
        </p:txBody>
      </p:sp>
      <p:sp>
        <p:nvSpPr>
          <p:cNvPr id="69" name="Rectangle 6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1" name="Rectangle 7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ußzeilenplatzhalter 3">
            <a:extLst>
              <a:ext uri="{FF2B5EF4-FFF2-40B4-BE49-F238E27FC236}">
                <a16:creationId xmlns:a16="http://schemas.microsoft.com/office/drawing/2014/main" id="{A0F1EDEE-6468-8492-C07F-A4433C581C04}"/>
              </a:ext>
            </a:extLst>
          </p:cNvPr>
          <p:cNvSpPr>
            <a:spLocks noGrp="1"/>
          </p:cNvSpPr>
          <p:nvPr>
            <p:ph type="ftr" sz="quarter" idx="11"/>
          </p:nvPr>
        </p:nvSpPr>
        <p:spPr>
          <a:xfrm>
            <a:off x="477980" y="6356349"/>
            <a:ext cx="3532798" cy="365125"/>
          </a:xfrm>
        </p:spPr>
        <p:txBody>
          <a:bodyPr vert="horz" lIns="91440" tIns="45720" rIns="91440" bIns="45720" rtlCol="0" anchor="ctr">
            <a:noAutofit/>
          </a:bodyPr>
          <a:lstStyle/>
          <a:p>
            <a:pPr algn="l">
              <a:lnSpc>
                <a:spcPct val="90000"/>
              </a:lnSpc>
              <a:spcAft>
                <a:spcPts val="600"/>
              </a:spcAft>
              <a:defRPr/>
            </a:pPr>
            <a:r>
              <a:rPr lang="en-US" sz="1000" kern="1200" dirty="0">
                <a:solidFill>
                  <a:schemeClr val="tx1">
                    <a:lumMod val="50000"/>
                    <a:lumOff val="50000"/>
                  </a:schemeClr>
                </a:solidFill>
                <a:ea typeface="+mn-ea"/>
                <a:cs typeface="+mn-cs"/>
              </a:rPr>
              <a:t>Dirk Moltzen - </a:t>
            </a:r>
            <a:r>
              <a:rPr lang="en-US" sz="1000" kern="1200" dirty="0" err="1">
                <a:solidFill>
                  <a:schemeClr val="tx1">
                    <a:lumMod val="50000"/>
                    <a:lumOff val="50000"/>
                  </a:schemeClr>
                </a:solidFill>
                <a:ea typeface="+mn-ea"/>
                <a:cs typeface="+mn-cs"/>
              </a:rPr>
              <a:t>externer</a:t>
            </a:r>
            <a:r>
              <a:rPr lang="en-US" sz="1000" kern="1200" dirty="0">
                <a:solidFill>
                  <a:schemeClr val="tx1">
                    <a:lumMod val="50000"/>
                    <a:lumOff val="50000"/>
                  </a:schemeClr>
                </a:solidFill>
                <a:ea typeface="+mn-ea"/>
                <a:cs typeface="+mn-cs"/>
              </a:rPr>
              <a:t> </a:t>
            </a:r>
            <a:r>
              <a:rPr lang="en-US" sz="1000" kern="1200" dirty="0" err="1">
                <a:solidFill>
                  <a:schemeClr val="tx1">
                    <a:lumMod val="50000"/>
                    <a:lumOff val="50000"/>
                  </a:schemeClr>
                </a:solidFill>
                <a:ea typeface="+mn-ea"/>
                <a:cs typeface="+mn-cs"/>
              </a:rPr>
              <a:t>Datenschutzbeauftragter</a:t>
            </a:r>
            <a:r>
              <a:rPr lang="en-US" sz="1000" kern="1200" dirty="0">
                <a:solidFill>
                  <a:schemeClr val="tx1">
                    <a:lumMod val="50000"/>
                    <a:lumOff val="50000"/>
                  </a:schemeClr>
                </a:solidFill>
                <a:ea typeface="+mn-ea"/>
                <a:cs typeface="+mn-cs"/>
              </a:rPr>
              <a:t> TÜV® CERT</a:t>
            </a:r>
          </a:p>
        </p:txBody>
      </p:sp>
      <p:sp>
        <p:nvSpPr>
          <p:cNvPr id="6" name="Foliennummernplatzhalter 5">
            <a:extLst>
              <a:ext uri="{FF2B5EF4-FFF2-40B4-BE49-F238E27FC236}">
                <a16:creationId xmlns:a16="http://schemas.microsoft.com/office/drawing/2014/main" id="{0BE11A59-7C7E-4EA9-2658-9C24727C2115}"/>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B4CE166D-2D50-44F1-A818-BFD238545C9D}" type="slidenum">
              <a:rPr lang="en-US">
                <a:solidFill>
                  <a:schemeClr val="bg1"/>
                </a:solidFill>
                <a:latin typeface="Calibri" panose="020F0502020204030204"/>
              </a:rPr>
              <a:pPr>
                <a:spcAft>
                  <a:spcPts val="600"/>
                </a:spcAft>
                <a:defRPr/>
              </a:pPr>
              <a:t>11</a:t>
            </a:fld>
            <a:endParaRPr lang="en-US">
              <a:solidFill>
                <a:schemeClr val="bg1"/>
              </a:solidFill>
              <a:latin typeface="Calibri" panose="020F0502020204030204"/>
            </a:endParaRPr>
          </a:p>
        </p:txBody>
      </p:sp>
    </p:spTree>
    <p:extLst>
      <p:ext uri="{BB962C8B-B14F-4D97-AF65-F5344CB8AC3E}">
        <p14:creationId xmlns:p14="http://schemas.microsoft.com/office/powerpoint/2010/main" val="739184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AF7192-28D6-5D74-BA3E-D213230574F8}"/>
              </a:ext>
            </a:extLst>
          </p:cNvPr>
          <p:cNvSpPr>
            <a:spLocks noGrp="1"/>
          </p:cNvSpPr>
          <p:nvPr>
            <p:ph type="title"/>
          </p:nvPr>
        </p:nvSpPr>
        <p:spPr/>
        <p:txBody>
          <a:bodyPr/>
          <a:lstStyle/>
          <a:p>
            <a:r>
              <a:rPr lang="de-DE" dirty="0"/>
              <a:t>Verantwortlichkeiten </a:t>
            </a:r>
            <a:r>
              <a:rPr lang="de-DE" sz="3200" dirty="0"/>
              <a:t>in der Informationssicherheit</a:t>
            </a:r>
          </a:p>
        </p:txBody>
      </p:sp>
      <p:sp>
        <p:nvSpPr>
          <p:cNvPr id="3" name="Inhaltsplatzhalter 2">
            <a:extLst>
              <a:ext uri="{FF2B5EF4-FFF2-40B4-BE49-F238E27FC236}">
                <a16:creationId xmlns:a16="http://schemas.microsoft.com/office/drawing/2014/main" id="{FF8D75FB-352C-4B0F-6FE1-68B1C7AC9B53}"/>
              </a:ext>
            </a:extLst>
          </p:cNvPr>
          <p:cNvSpPr>
            <a:spLocks noGrp="1"/>
          </p:cNvSpPr>
          <p:nvPr>
            <p:ph idx="1"/>
          </p:nvPr>
        </p:nvSpPr>
        <p:spPr>
          <a:xfrm>
            <a:off x="838200" y="1690689"/>
            <a:ext cx="10515600" cy="4486274"/>
          </a:xfrm>
        </p:spPr>
        <p:txBody>
          <a:bodyPr>
            <a:normAutofit lnSpcReduction="10000"/>
          </a:bodyPr>
          <a:lstStyle/>
          <a:p>
            <a:r>
              <a:rPr lang="de-DE" kern="100" dirty="0">
                <a:effectLst/>
                <a:latin typeface="Aptos" panose="020B0004020202020204" pitchFamily="34" charset="0"/>
                <a:ea typeface="Aptos" panose="020B0004020202020204" pitchFamily="34" charset="0"/>
                <a:cs typeface="Times New Roman" panose="02020603050405020304" pitchFamily="18" charset="0"/>
              </a:rPr>
              <a:t>Im Unternehmen tragen verschiedene Akteure Zuständigkeiten und Verantwortlichkeiten in Bezug auf die </a:t>
            </a:r>
            <a:r>
              <a:rPr lang="de-DE" b="1" kern="100" dirty="0">
                <a:effectLst/>
                <a:latin typeface="Aptos" panose="020B0004020202020204" pitchFamily="34" charset="0"/>
                <a:ea typeface="Aptos" panose="020B0004020202020204" pitchFamily="34" charset="0"/>
                <a:cs typeface="Times New Roman" panose="02020603050405020304" pitchFamily="18" charset="0"/>
              </a:rPr>
              <a:t>Informationssicherheit</a:t>
            </a:r>
            <a:r>
              <a:rPr lang="de-DE" kern="100" dirty="0">
                <a:effectLst/>
                <a:latin typeface="Aptos" panose="020B0004020202020204" pitchFamily="34" charset="0"/>
                <a:ea typeface="Aptos" panose="020B0004020202020204" pitchFamily="34" charset="0"/>
                <a:cs typeface="Times New Roman" panose="02020603050405020304" pitchFamily="18" charset="0"/>
              </a:rPr>
              <a:t>. </a:t>
            </a:r>
          </a:p>
          <a:p>
            <a:r>
              <a:rPr lang="de-DE" kern="100" dirty="0">
                <a:effectLst/>
                <a:latin typeface="Aptos" panose="020B0004020202020204" pitchFamily="34" charset="0"/>
                <a:ea typeface="Aptos" panose="020B0004020202020204" pitchFamily="34" charset="0"/>
                <a:cs typeface="Times New Roman" panose="02020603050405020304" pitchFamily="18" charset="0"/>
              </a:rPr>
              <a:t>Der </a:t>
            </a:r>
            <a:r>
              <a:rPr lang="de-DE" b="1" kern="100" dirty="0">
                <a:effectLst/>
                <a:latin typeface="Aptos" panose="020B0004020202020204" pitchFamily="34" charset="0"/>
                <a:ea typeface="Aptos" panose="020B0004020202020204" pitchFamily="34" charset="0"/>
                <a:cs typeface="Times New Roman" panose="02020603050405020304" pitchFamily="18" charset="0"/>
              </a:rPr>
              <a:t>Informationssicherheitsbeauftragte</a:t>
            </a:r>
            <a:r>
              <a:rPr lang="de-DE" kern="100" dirty="0">
                <a:effectLst/>
                <a:latin typeface="Aptos" panose="020B0004020202020204" pitchFamily="34" charset="0"/>
                <a:ea typeface="Aptos" panose="020B0004020202020204" pitchFamily="34" charset="0"/>
                <a:cs typeface="Times New Roman" panose="02020603050405020304" pitchFamily="18" charset="0"/>
              </a:rPr>
              <a:t> (</a:t>
            </a:r>
            <a:r>
              <a:rPr lang="de-DE" b="1" kern="100" dirty="0">
                <a:effectLst/>
                <a:latin typeface="Aptos" panose="020B0004020202020204" pitchFamily="34" charset="0"/>
                <a:ea typeface="Aptos" panose="020B0004020202020204" pitchFamily="34" charset="0"/>
                <a:cs typeface="Times New Roman" panose="02020603050405020304" pitchFamily="18" charset="0"/>
              </a:rPr>
              <a:t>ISB</a:t>
            </a:r>
            <a:r>
              <a:rPr lang="de-DE" kern="100" dirty="0">
                <a:effectLst/>
                <a:latin typeface="Aptos" panose="020B0004020202020204" pitchFamily="34" charset="0"/>
                <a:ea typeface="Aptos" panose="020B0004020202020204" pitchFamily="34" charset="0"/>
                <a:cs typeface="Times New Roman" panose="02020603050405020304" pitchFamily="18" charset="0"/>
              </a:rPr>
              <a:t>), auch </a:t>
            </a:r>
            <a:r>
              <a:rPr lang="de-DE" b="1" kern="100" dirty="0">
                <a:effectLst/>
                <a:latin typeface="Aptos" panose="020B0004020202020204" pitchFamily="34" charset="0"/>
                <a:ea typeface="Aptos" panose="020B0004020202020204" pitchFamily="34" charset="0"/>
                <a:cs typeface="Times New Roman" panose="02020603050405020304" pitchFamily="18" charset="0"/>
              </a:rPr>
              <a:t>CISO (Chief Information Security Officer)</a:t>
            </a:r>
            <a:r>
              <a:rPr lang="de-DE" kern="100" dirty="0">
                <a:effectLst/>
                <a:latin typeface="Aptos" panose="020B0004020202020204" pitchFamily="34" charset="0"/>
                <a:ea typeface="Aptos" panose="020B0004020202020204" pitchFamily="34" charset="0"/>
                <a:cs typeface="Times New Roman" panose="02020603050405020304" pitchFamily="18" charset="0"/>
              </a:rPr>
              <a:t> genannt, ist primär für die Umsetzung und Steuerung des Sicherheitsmanagementsystems zuständig. </a:t>
            </a:r>
          </a:p>
          <a:p>
            <a:r>
              <a:rPr lang="de-DE" kern="100" dirty="0">
                <a:effectLst/>
                <a:latin typeface="Aptos" panose="020B0004020202020204" pitchFamily="34" charset="0"/>
                <a:ea typeface="Aptos" panose="020B0004020202020204" pitchFamily="34" charset="0"/>
                <a:cs typeface="Times New Roman" panose="02020603050405020304" pitchFamily="18" charset="0"/>
              </a:rPr>
              <a:t>Die </a:t>
            </a:r>
            <a:r>
              <a:rPr lang="de-DE" b="1" kern="100" dirty="0">
                <a:effectLst/>
                <a:latin typeface="Aptos" panose="020B0004020202020204" pitchFamily="34" charset="0"/>
                <a:ea typeface="Aptos" panose="020B0004020202020204" pitchFamily="34" charset="0"/>
                <a:cs typeface="Times New Roman" panose="02020603050405020304" pitchFamily="18" charset="0"/>
              </a:rPr>
              <a:t>Geschäftsführung ist verantwortlich</a:t>
            </a:r>
            <a:r>
              <a:rPr lang="de-DE" kern="100" dirty="0">
                <a:effectLst/>
                <a:latin typeface="Aptos" panose="020B0004020202020204" pitchFamily="34" charset="0"/>
                <a:ea typeface="Aptos" panose="020B0004020202020204" pitchFamily="34" charset="0"/>
                <a:cs typeface="Times New Roman" panose="02020603050405020304" pitchFamily="18" charset="0"/>
              </a:rPr>
              <a:t> für die Gesamtstrategie und die Bereitstellung der notwendigen Ressourcen. Die Mitarbeiter haben die Pflicht, </a:t>
            </a:r>
            <a:r>
              <a:rPr lang="de-DE" b="1" kern="100" dirty="0">
                <a:effectLst/>
                <a:latin typeface="Aptos" panose="020B0004020202020204" pitchFamily="34" charset="0"/>
                <a:ea typeface="Aptos" panose="020B0004020202020204" pitchFamily="34" charset="0"/>
                <a:cs typeface="Times New Roman" panose="02020603050405020304" pitchFamily="18" charset="0"/>
              </a:rPr>
              <a:t>Sicherheitsrichtlinien zu beachten</a:t>
            </a:r>
            <a:r>
              <a:rPr lang="de-DE" kern="100" dirty="0">
                <a:effectLst/>
                <a:latin typeface="Aptos" panose="020B0004020202020204" pitchFamily="34" charset="0"/>
                <a:ea typeface="Aptos" panose="020B0004020202020204" pitchFamily="34" charset="0"/>
                <a:cs typeface="Times New Roman" panose="02020603050405020304" pitchFamily="18" charset="0"/>
              </a:rPr>
              <a:t> und Vorfälle zu melden. </a:t>
            </a:r>
          </a:p>
          <a:p>
            <a:pPr marL="0" indent="0">
              <a:buNone/>
            </a:pPr>
            <a:endParaRPr lang="de-DE" dirty="0"/>
          </a:p>
        </p:txBody>
      </p:sp>
      <p:sp>
        <p:nvSpPr>
          <p:cNvPr id="4" name="Fußzeilenplatzhalter 3">
            <a:extLst>
              <a:ext uri="{FF2B5EF4-FFF2-40B4-BE49-F238E27FC236}">
                <a16:creationId xmlns:a16="http://schemas.microsoft.com/office/drawing/2014/main" id="{A55B8110-BA75-D2D8-FBCD-79EA1BBF71A8}"/>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DC4C6A8B-B0F9-F58A-ED1B-1D36E471C1DC}"/>
              </a:ext>
            </a:extLst>
          </p:cNvPr>
          <p:cNvSpPr>
            <a:spLocks noGrp="1"/>
          </p:cNvSpPr>
          <p:nvPr>
            <p:ph type="sldNum" sz="quarter" idx="12"/>
          </p:nvPr>
        </p:nvSpPr>
        <p:spPr/>
        <p:txBody>
          <a:bodyPr/>
          <a:lstStyle/>
          <a:p>
            <a:fld id="{B4CE166D-2D50-44F1-A818-BFD238545C9D}" type="slidenum">
              <a:rPr lang="de-DE" smtClean="0"/>
              <a:t>12</a:t>
            </a:fld>
            <a:endParaRPr lang="de-DE"/>
          </a:p>
        </p:txBody>
      </p:sp>
    </p:spTree>
    <p:extLst>
      <p:ext uri="{BB962C8B-B14F-4D97-AF65-F5344CB8AC3E}">
        <p14:creationId xmlns:p14="http://schemas.microsoft.com/office/powerpoint/2010/main" val="542424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A1E60A-4192-7698-6278-F78E3A7308F8}"/>
              </a:ext>
            </a:extLst>
          </p:cNvPr>
          <p:cNvSpPr>
            <a:spLocks noGrp="1"/>
          </p:cNvSpPr>
          <p:nvPr>
            <p:ph type="title"/>
          </p:nvPr>
        </p:nvSpPr>
        <p:spPr>
          <a:xfrm>
            <a:off x="838200" y="365125"/>
            <a:ext cx="10515600" cy="714645"/>
          </a:xfrm>
        </p:spPr>
        <p:txBody>
          <a:bodyPr/>
          <a:lstStyle/>
          <a:p>
            <a:r>
              <a:rPr kumimoji="0" lang="de-DE" sz="4400" b="0" i="0" u="none" strike="noStrike" kern="1200" cap="none" spc="0" normalizeH="0" baseline="0" noProof="0" dirty="0">
                <a:ln>
                  <a:noFill/>
                </a:ln>
                <a:solidFill>
                  <a:prstClr val="black"/>
                </a:solidFill>
                <a:effectLst/>
                <a:uLnTx/>
                <a:uFillTx/>
                <a:latin typeface="Aptos Display" panose="02110004020202020204"/>
                <a:ea typeface="+mj-ea"/>
                <a:cs typeface="+mj-cs"/>
              </a:rPr>
              <a:t>Verantwortlichkeiten </a:t>
            </a:r>
            <a:r>
              <a:rPr kumimoji="0" lang="de-DE" sz="3200" b="0" i="0" u="none" strike="noStrike" kern="1200" cap="none" spc="0" normalizeH="0" baseline="0" noProof="0" dirty="0">
                <a:ln>
                  <a:noFill/>
                </a:ln>
                <a:solidFill>
                  <a:prstClr val="black"/>
                </a:solidFill>
                <a:effectLst/>
                <a:uLnTx/>
                <a:uFillTx/>
                <a:latin typeface="Aptos Display" panose="02110004020202020204"/>
                <a:ea typeface="+mj-ea"/>
                <a:cs typeface="+mj-cs"/>
              </a:rPr>
              <a:t>in der Informationssicherheit</a:t>
            </a:r>
            <a:endParaRPr lang="de-DE" dirty="0"/>
          </a:p>
        </p:txBody>
      </p:sp>
      <p:sp>
        <p:nvSpPr>
          <p:cNvPr id="3" name="Inhaltsplatzhalter 2">
            <a:extLst>
              <a:ext uri="{FF2B5EF4-FFF2-40B4-BE49-F238E27FC236}">
                <a16:creationId xmlns:a16="http://schemas.microsoft.com/office/drawing/2014/main" id="{9512DAA0-7B04-2ADC-B643-212D8CEA6266}"/>
              </a:ext>
            </a:extLst>
          </p:cNvPr>
          <p:cNvSpPr>
            <a:spLocks noGrp="1"/>
          </p:cNvSpPr>
          <p:nvPr>
            <p:ph idx="1"/>
          </p:nvPr>
        </p:nvSpPr>
        <p:spPr>
          <a:xfrm>
            <a:off x="838200" y="1595336"/>
            <a:ext cx="10515600" cy="4581627"/>
          </a:xfrm>
        </p:spPr>
        <p:txBody>
          <a:bodyPr>
            <a:noAutofit/>
          </a:bodyPr>
          <a:lstStyle/>
          <a:p>
            <a:pPr marL="0" indent="0">
              <a:lnSpc>
                <a:spcPct val="107000"/>
              </a:lnSpc>
              <a:buNone/>
            </a:pPr>
            <a:r>
              <a:rPr lang="de-DE" sz="2400" b="1" u="sng" kern="100" dirty="0">
                <a:effectLst/>
                <a:latin typeface="Aptos" panose="020B0004020202020204" pitchFamily="34" charset="0"/>
                <a:ea typeface="Aptos" panose="020B0004020202020204" pitchFamily="34" charset="0"/>
                <a:cs typeface="Times New Roman" panose="02020603050405020304" pitchFamily="18" charset="0"/>
              </a:rPr>
              <a:t>Informationssicherheitsbeauftragter</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(ISB) / </a:t>
            </a:r>
            <a:br>
              <a:rPr lang="de-DE" sz="2400" kern="100" dirty="0">
                <a:effectLst/>
                <a:latin typeface="Aptos" panose="020B0004020202020204" pitchFamily="34" charset="0"/>
                <a:ea typeface="Aptos" panose="020B0004020202020204" pitchFamily="34" charset="0"/>
                <a:cs typeface="Times New Roman" panose="02020603050405020304" pitchFamily="18" charset="0"/>
              </a:rPr>
            </a:br>
            <a:r>
              <a:rPr lang="de-DE" sz="2400" kern="100" dirty="0">
                <a:effectLst/>
                <a:latin typeface="Aptos" panose="020B0004020202020204" pitchFamily="34" charset="0"/>
                <a:ea typeface="Aptos" panose="020B0004020202020204" pitchFamily="34" charset="0"/>
                <a:cs typeface="Times New Roman" panose="02020603050405020304" pitchFamily="18" charset="0"/>
              </a:rPr>
              <a:t>Chief Information Security Officer (CISO):</a:t>
            </a:r>
            <a:br>
              <a:rPr lang="de-DE" sz="2400" kern="100" dirty="0">
                <a:effectLst/>
                <a:latin typeface="Aptos" panose="020B0004020202020204" pitchFamily="34" charset="0"/>
                <a:ea typeface="Aptos" panose="020B0004020202020204" pitchFamily="34" charset="0"/>
                <a:cs typeface="Times New Roman" panose="02020603050405020304" pitchFamily="18" charset="0"/>
              </a:rPr>
            </a:br>
            <a:endParaRPr lang="de-DE" sz="24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Sicherstellung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der Einhaltung von Gesetzen und Standards. </a:t>
            </a:r>
          </a:p>
          <a:p>
            <a:pPr marL="342900" lvl="0" indent="-342900">
              <a:lnSpc>
                <a:spcPct val="107000"/>
              </a:lnSpc>
              <a:buFont typeface="Symbol" panose="05050102010706020507" pitchFamily="18" charset="2"/>
              <a:buChar char=""/>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Entwicklung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und Implementierung von Sicherheitsrichtlinien. </a:t>
            </a:r>
          </a:p>
          <a:p>
            <a:pPr marL="342900" lvl="0" indent="-342900">
              <a:lnSpc>
                <a:spcPct val="107000"/>
              </a:lnSpc>
              <a:buFont typeface="Symbol" panose="05050102010706020507" pitchFamily="18" charset="2"/>
              <a:buChar char=""/>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Durchführung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von Risikoanalysen und -bewertungen. </a:t>
            </a:r>
          </a:p>
          <a:p>
            <a:pPr marL="342900" lvl="0" indent="-342900">
              <a:lnSpc>
                <a:spcPct val="107000"/>
              </a:lnSpc>
              <a:buFont typeface="Symbol" panose="05050102010706020507" pitchFamily="18" charset="2"/>
              <a:buChar char=""/>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Steuerung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und Koordination des Sicherheitsprozesses. </a:t>
            </a:r>
          </a:p>
          <a:p>
            <a:pPr marL="342900" lvl="0" indent="-342900">
              <a:lnSpc>
                <a:spcPct val="107000"/>
              </a:lnSpc>
              <a:buFont typeface="Symbol" panose="05050102010706020507" pitchFamily="18" charset="2"/>
              <a:buChar char=""/>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Meldung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von Sicherheitsvorfällen. </a:t>
            </a:r>
          </a:p>
          <a:p>
            <a:pPr marL="342900" lvl="0" indent="-342900">
              <a:lnSpc>
                <a:spcPct val="107000"/>
              </a:lnSpc>
              <a:buFont typeface="Symbol" panose="05050102010706020507" pitchFamily="18" charset="2"/>
              <a:buChar char=""/>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Sensibilisierung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und Schulung der Mitarbeiter. </a:t>
            </a:r>
          </a:p>
        </p:txBody>
      </p:sp>
      <p:sp>
        <p:nvSpPr>
          <p:cNvPr id="4" name="Fußzeilenplatzhalter 3">
            <a:extLst>
              <a:ext uri="{FF2B5EF4-FFF2-40B4-BE49-F238E27FC236}">
                <a16:creationId xmlns:a16="http://schemas.microsoft.com/office/drawing/2014/main" id="{9EB3D031-5FE0-E6C4-DE2C-87A430AEEC0C}"/>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DB1CC8E6-8206-0870-EB3B-D336FA6EF7AF}"/>
              </a:ext>
            </a:extLst>
          </p:cNvPr>
          <p:cNvSpPr>
            <a:spLocks noGrp="1"/>
          </p:cNvSpPr>
          <p:nvPr>
            <p:ph type="sldNum" sz="quarter" idx="12"/>
          </p:nvPr>
        </p:nvSpPr>
        <p:spPr/>
        <p:txBody>
          <a:bodyPr/>
          <a:lstStyle/>
          <a:p>
            <a:fld id="{B4CE166D-2D50-44F1-A818-BFD238545C9D}" type="slidenum">
              <a:rPr lang="de-DE" smtClean="0"/>
              <a:t>13</a:t>
            </a:fld>
            <a:endParaRPr lang="de-DE"/>
          </a:p>
        </p:txBody>
      </p:sp>
    </p:spTree>
    <p:extLst>
      <p:ext uri="{BB962C8B-B14F-4D97-AF65-F5344CB8AC3E}">
        <p14:creationId xmlns:p14="http://schemas.microsoft.com/office/powerpoint/2010/main" val="1194026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EB6D90-9D96-0724-C032-A9F6BA4E8098}"/>
              </a:ext>
            </a:extLst>
          </p:cNvPr>
          <p:cNvSpPr>
            <a:spLocks noGrp="1"/>
          </p:cNvSpPr>
          <p:nvPr>
            <p:ph type="title"/>
          </p:nvPr>
        </p:nvSpPr>
        <p:spPr/>
        <p:txBody>
          <a:bodyPr/>
          <a:lstStyle/>
          <a:p>
            <a:r>
              <a:rPr kumimoji="0" lang="de-DE" sz="4400" b="0" i="0" u="none" strike="noStrike" kern="1200" cap="none" spc="0" normalizeH="0" baseline="0" noProof="0" dirty="0">
                <a:ln>
                  <a:noFill/>
                </a:ln>
                <a:solidFill>
                  <a:prstClr val="black"/>
                </a:solidFill>
                <a:effectLst/>
                <a:uLnTx/>
                <a:uFillTx/>
                <a:latin typeface="Aptos Display" panose="02110004020202020204"/>
                <a:ea typeface="+mj-ea"/>
                <a:cs typeface="+mj-cs"/>
              </a:rPr>
              <a:t>Verantwortlichkeiten </a:t>
            </a:r>
            <a:r>
              <a:rPr kumimoji="0" lang="de-DE" sz="3200" b="0" i="0" u="none" strike="noStrike" kern="1200" cap="none" spc="0" normalizeH="0" baseline="0" noProof="0" dirty="0">
                <a:ln>
                  <a:noFill/>
                </a:ln>
                <a:solidFill>
                  <a:prstClr val="black"/>
                </a:solidFill>
                <a:effectLst/>
                <a:uLnTx/>
                <a:uFillTx/>
                <a:latin typeface="Aptos Display" panose="02110004020202020204"/>
                <a:ea typeface="+mj-ea"/>
                <a:cs typeface="+mj-cs"/>
              </a:rPr>
              <a:t>in der Informationssicherheit</a:t>
            </a:r>
            <a:endParaRPr lang="de-DE" dirty="0"/>
          </a:p>
        </p:txBody>
      </p:sp>
      <p:sp>
        <p:nvSpPr>
          <p:cNvPr id="3" name="Inhaltsplatzhalter 2">
            <a:extLst>
              <a:ext uri="{FF2B5EF4-FFF2-40B4-BE49-F238E27FC236}">
                <a16:creationId xmlns:a16="http://schemas.microsoft.com/office/drawing/2014/main" id="{5ED58FE0-216E-4058-3639-E8F448A5EB8A}"/>
              </a:ext>
            </a:extLst>
          </p:cNvPr>
          <p:cNvSpPr>
            <a:spLocks noGrp="1"/>
          </p:cNvSpPr>
          <p:nvPr>
            <p:ph idx="1"/>
          </p:nvPr>
        </p:nvSpPr>
        <p:spPr/>
        <p:txBody>
          <a:bodyPr/>
          <a:lstStyle/>
          <a:p>
            <a:pPr marL="0" lvl="0" indent="0">
              <a:lnSpc>
                <a:spcPct val="107000"/>
              </a:lnSpc>
              <a:buNone/>
            </a:pPr>
            <a:r>
              <a:rPr lang="de-DE" sz="2800" b="1" u="sng" kern="100" dirty="0">
                <a:effectLst/>
                <a:latin typeface="Aptos" panose="020B0004020202020204" pitchFamily="34" charset="0"/>
                <a:ea typeface="Aptos" panose="020B0004020202020204" pitchFamily="34" charset="0"/>
                <a:cs typeface="Times New Roman" panose="02020603050405020304" pitchFamily="18" charset="0"/>
              </a:rPr>
              <a:t>Geschäftsführung:</a:t>
            </a:r>
          </a:p>
          <a:p>
            <a:pPr marL="342900" lvl="0" indent="-342900">
              <a:lnSpc>
                <a:spcPct val="107000"/>
              </a:lnSpc>
              <a:buFont typeface="Symbol" panose="05050102010706020507" pitchFamily="18" charset="2"/>
              <a:buChar char=""/>
            </a:pPr>
            <a:r>
              <a:rPr lang="de-DE" sz="2800" kern="100" dirty="0">
                <a:effectLst/>
                <a:latin typeface="Aptos" panose="020B0004020202020204" pitchFamily="34" charset="0"/>
                <a:ea typeface="Aptos" panose="020B0004020202020204" pitchFamily="34" charset="0"/>
                <a:cs typeface="Times New Roman" panose="02020603050405020304" pitchFamily="18" charset="0"/>
              </a:rPr>
              <a:t>Festlegung der Sicherheitsstrategie. </a:t>
            </a:r>
          </a:p>
          <a:p>
            <a:pPr marL="342900" lvl="0" indent="-342900">
              <a:lnSpc>
                <a:spcPct val="107000"/>
              </a:lnSpc>
              <a:buFont typeface="Symbol" panose="05050102010706020507" pitchFamily="18" charset="2"/>
              <a:buChar char=""/>
            </a:pPr>
            <a:r>
              <a:rPr lang="de-DE" sz="2800" kern="100" dirty="0">
                <a:effectLst/>
                <a:latin typeface="Aptos" panose="020B0004020202020204" pitchFamily="34" charset="0"/>
                <a:ea typeface="Aptos" panose="020B0004020202020204" pitchFamily="34" charset="0"/>
                <a:cs typeface="Times New Roman" panose="02020603050405020304" pitchFamily="18" charset="0"/>
              </a:rPr>
              <a:t>Bereitstellung der notwendigen Ressourcen </a:t>
            </a:r>
            <a:br>
              <a:rPr lang="de-DE" sz="2800" kern="100" dirty="0">
                <a:effectLst/>
                <a:latin typeface="Aptos" panose="020B0004020202020204" pitchFamily="34" charset="0"/>
                <a:ea typeface="Aptos" panose="020B0004020202020204" pitchFamily="34" charset="0"/>
                <a:cs typeface="Times New Roman" panose="02020603050405020304" pitchFamily="18" charset="0"/>
              </a:rPr>
            </a:br>
            <a:r>
              <a:rPr lang="de-DE" sz="2800" kern="100" dirty="0">
                <a:effectLst/>
                <a:latin typeface="Aptos" panose="020B0004020202020204" pitchFamily="34" charset="0"/>
                <a:ea typeface="Aptos" panose="020B0004020202020204" pitchFamily="34" charset="0"/>
                <a:cs typeface="Times New Roman" panose="02020603050405020304" pitchFamily="18" charset="0"/>
              </a:rPr>
              <a:t>(Personal, Budget, Zeit). </a:t>
            </a:r>
          </a:p>
          <a:p>
            <a:pPr marL="342900" lvl="0" indent="-342900">
              <a:lnSpc>
                <a:spcPct val="107000"/>
              </a:lnSpc>
              <a:buFont typeface="Symbol" panose="05050102010706020507" pitchFamily="18" charset="2"/>
              <a:buChar char=""/>
            </a:pPr>
            <a:r>
              <a:rPr lang="de-DE" sz="2800" kern="100" dirty="0">
                <a:effectLst/>
                <a:latin typeface="Aptos" panose="020B0004020202020204" pitchFamily="34" charset="0"/>
                <a:ea typeface="Aptos" panose="020B0004020202020204" pitchFamily="34" charset="0"/>
                <a:cs typeface="Times New Roman" panose="02020603050405020304" pitchFamily="18" charset="0"/>
              </a:rPr>
              <a:t>Einführung und Überwachung des Informationssicherheitsmanagementsystems. </a:t>
            </a:r>
          </a:p>
          <a:p>
            <a:pPr marL="342900" lvl="0" indent="-342900">
              <a:lnSpc>
                <a:spcPct val="107000"/>
              </a:lnSpc>
              <a:spcAft>
                <a:spcPts val="800"/>
              </a:spcAft>
              <a:buFont typeface="Symbol" panose="05050102010706020507" pitchFamily="18" charset="2"/>
              <a:buChar char=""/>
            </a:pPr>
            <a:r>
              <a:rPr lang="de-DE" sz="2800" kern="100" dirty="0">
                <a:effectLst/>
                <a:latin typeface="Aptos" panose="020B0004020202020204" pitchFamily="34" charset="0"/>
                <a:ea typeface="Aptos" panose="020B0004020202020204" pitchFamily="34" charset="0"/>
                <a:cs typeface="Times New Roman" panose="02020603050405020304" pitchFamily="18" charset="0"/>
              </a:rPr>
              <a:t>Entscheidung über sicherheitsrelevante Maßnahmen. </a:t>
            </a:r>
          </a:p>
          <a:p>
            <a:endParaRPr lang="de-DE" dirty="0"/>
          </a:p>
        </p:txBody>
      </p:sp>
      <p:sp>
        <p:nvSpPr>
          <p:cNvPr id="4" name="Fußzeilenplatzhalter 3">
            <a:extLst>
              <a:ext uri="{FF2B5EF4-FFF2-40B4-BE49-F238E27FC236}">
                <a16:creationId xmlns:a16="http://schemas.microsoft.com/office/drawing/2014/main" id="{57CE4F0F-A33E-2C52-1F29-1EAE2F857D14}"/>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08BE3C39-3870-EDC9-9912-C59E0E63D710}"/>
              </a:ext>
            </a:extLst>
          </p:cNvPr>
          <p:cNvSpPr>
            <a:spLocks noGrp="1"/>
          </p:cNvSpPr>
          <p:nvPr>
            <p:ph type="sldNum" sz="quarter" idx="12"/>
          </p:nvPr>
        </p:nvSpPr>
        <p:spPr/>
        <p:txBody>
          <a:bodyPr/>
          <a:lstStyle/>
          <a:p>
            <a:fld id="{B4CE166D-2D50-44F1-A818-BFD238545C9D}" type="slidenum">
              <a:rPr lang="de-DE" smtClean="0"/>
              <a:t>14</a:t>
            </a:fld>
            <a:endParaRPr lang="de-DE"/>
          </a:p>
        </p:txBody>
      </p:sp>
    </p:spTree>
    <p:extLst>
      <p:ext uri="{BB962C8B-B14F-4D97-AF65-F5344CB8AC3E}">
        <p14:creationId xmlns:p14="http://schemas.microsoft.com/office/powerpoint/2010/main" val="1830569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549DFB-2546-546D-C106-8862AC481BE2}"/>
              </a:ext>
            </a:extLst>
          </p:cNvPr>
          <p:cNvSpPr>
            <a:spLocks noGrp="1"/>
          </p:cNvSpPr>
          <p:nvPr>
            <p:ph type="title"/>
          </p:nvPr>
        </p:nvSpPr>
        <p:spPr>
          <a:xfrm>
            <a:off x="838200" y="365126"/>
            <a:ext cx="10515600" cy="811922"/>
          </a:xfrm>
        </p:spPr>
        <p:txBody>
          <a:bodyPr/>
          <a:lstStyle/>
          <a:p>
            <a:r>
              <a:rPr kumimoji="0" lang="de-DE" sz="4400" b="0" i="0" u="none" strike="noStrike" kern="1200" cap="none" spc="0" normalizeH="0" baseline="0" noProof="0" dirty="0">
                <a:ln>
                  <a:noFill/>
                </a:ln>
                <a:solidFill>
                  <a:prstClr val="black"/>
                </a:solidFill>
                <a:effectLst/>
                <a:uLnTx/>
                <a:uFillTx/>
                <a:latin typeface="Aptos Display" panose="02110004020202020204"/>
                <a:ea typeface="+mj-ea"/>
                <a:cs typeface="+mj-cs"/>
              </a:rPr>
              <a:t>Verantwortlichkeiten </a:t>
            </a:r>
            <a:r>
              <a:rPr kumimoji="0" lang="de-DE" sz="3200" b="0" i="0" u="none" strike="noStrike" kern="1200" cap="none" spc="0" normalizeH="0" baseline="0" noProof="0" dirty="0">
                <a:ln>
                  <a:noFill/>
                </a:ln>
                <a:solidFill>
                  <a:prstClr val="black"/>
                </a:solidFill>
                <a:effectLst/>
                <a:uLnTx/>
                <a:uFillTx/>
                <a:latin typeface="Aptos Display" panose="02110004020202020204"/>
                <a:ea typeface="+mj-ea"/>
                <a:cs typeface="+mj-cs"/>
              </a:rPr>
              <a:t>in der Informationssicherheit</a:t>
            </a:r>
            <a:endParaRPr lang="de-DE" dirty="0"/>
          </a:p>
        </p:txBody>
      </p:sp>
      <p:sp>
        <p:nvSpPr>
          <p:cNvPr id="3" name="Inhaltsplatzhalter 2">
            <a:extLst>
              <a:ext uri="{FF2B5EF4-FFF2-40B4-BE49-F238E27FC236}">
                <a16:creationId xmlns:a16="http://schemas.microsoft.com/office/drawing/2014/main" id="{35236E37-1E08-27B7-C2F0-02BA3A0E9B95}"/>
              </a:ext>
            </a:extLst>
          </p:cNvPr>
          <p:cNvSpPr>
            <a:spLocks noGrp="1"/>
          </p:cNvSpPr>
          <p:nvPr>
            <p:ph idx="1"/>
          </p:nvPr>
        </p:nvSpPr>
        <p:spPr>
          <a:xfrm>
            <a:off x="838200" y="1177048"/>
            <a:ext cx="10515600" cy="4999915"/>
          </a:xfrm>
        </p:spPr>
        <p:txBody>
          <a:bodyPr>
            <a:normAutofit/>
          </a:bodyPr>
          <a:lstStyle/>
          <a:p>
            <a:pPr>
              <a:lnSpc>
                <a:spcPct val="107000"/>
              </a:lnSpc>
              <a:spcAft>
                <a:spcPts val="800"/>
              </a:spcAft>
              <a:buNone/>
            </a:pPr>
            <a:r>
              <a:rPr lang="de-DE" sz="2400" b="1" u="sng" kern="100" dirty="0">
                <a:effectLst/>
                <a:latin typeface="Aptos" panose="020B0004020202020204" pitchFamily="34" charset="0"/>
                <a:ea typeface="Aptos" panose="020B0004020202020204" pitchFamily="34" charset="0"/>
                <a:cs typeface="Times New Roman" panose="02020603050405020304" pitchFamily="18" charset="0"/>
              </a:rPr>
              <a:t>Mitarbeiter:</a:t>
            </a:r>
            <a:endParaRPr lang="de-DE" sz="2400" u="sng"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Einhaltung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der Sicherheitsrichtlinien. </a:t>
            </a:r>
          </a:p>
          <a:p>
            <a:pPr>
              <a:lnSpc>
                <a:spcPct val="107000"/>
              </a:lnSpc>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Melden</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von Sicherheitsvorfällen und Schwachstellen. </a:t>
            </a:r>
          </a:p>
          <a:p>
            <a:pPr>
              <a:lnSpc>
                <a:spcPct val="107000"/>
              </a:lnSpc>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Teilnahme</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an Sicherheitsschulungen.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Verwendung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von sicherheitsrelevanten Werkzeugen (z.B. Antivirus). </a:t>
            </a:r>
          </a:p>
          <a:p>
            <a:pPr>
              <a:lnSpc>
                <a:spcPct val="107000"/>
              </a:lnSpc>
              <a:spcAft>
                <a:spcPts val="800"/>
              </a:spcAft>
              <a:buNone/>
            </a:pPr>
            <a:r>
              <a:rPr lang="de-DE" sz="2400" kern="100" dirty="0">
                <a:effectLst/>
                <a:latin typeface="Aptos" panose="020B0004020202020204" pitchFamily="34" charset="0"/>
                <a:ea typeface="Aptos" panose="020B0004020202020204" pitchFamily="34" charset="0"/>
                <a:cs typeface="Times New Roman" panose="02020603050405020304" pitchFamily="18" charset="0"/>
              </a:rPr>
              <a:t> </a:t>
            </a:r>
            <a:r>
              <a:rPr lang="de-DE" sz="2400" b="1" u="sng" kern="100" dirty="0">
                <a:effectLst/>
                <a:latin typeface="Aptos" panose="020B0004020202020204" pitchFamily="34" charset="0"/>
                <a:ea typeface="Aptos" panose="020B0004020202020204" pitchFamily="34" charset="0"/>
                <a:cs typeface="Times New Roman" panose="02020603050405020304" pitchFamily="18" charset="0"/>
              </a:rPr>
              <a:t>IT-Abteilung:</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 </a:t>
            </a:r>
            <a:r>
              <a:rPr lang="de-DE" sz="2400" b="1" i="1"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rPr>
              <a:t>DSB arbeitet eng mit dem IT-Team + ISB zusammen</a:t>
            </a:r>
            <a:endParaRPr lang="de-DE" sz="2400" i="1" kern="100" dirty="0">
              <a:solidFill>
                <a:srgbClr val="0070C0"/>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pPr>
            <a:r>
              <a:rPr lang="de-DE" sz="2400" kern="100" dirty="0">
                <a:effectLst/>
                <a:latin typeface="Aptos" panose="020B0004020202020204" pitchFamily="34" charset="0"/>
                <a:ea typeface="Aptos" panose="020B0004020202020204" pitchFamily="34" charset="0"/>
                <a:cs typeface="Times New Roman" panose="02020603050405020304" pitchFamily="18" charset="0"/>
              </a:rPr>
              <a:t>Technischer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Aufbau und Betrieb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der IT-Systeme.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Umsetzung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von Sicherheitsmaßnahmen. </a:t>
            </a:r>
          </a:p>
          <a:p>
            <a:r>
              <a:rPr lang="de-DE" sz="2400" b="1" dirty="0">
                <a:effectLst/>
                <a:latin typeface="Aptos" panose="020B0004020202020204" pitchFamily="34" charset="0"/>
                <a:ea typeface="Aptos" panose="020B0004020202020204" pitchFamily="34" charset="0"/>
                <a:cs typeface="Times New Roman" panose="02020603050405020304" pitchFamily="18" charset="0"/>
              </a:rPr>
              <a:t>Unterstützung des ISB </a:t>
            </a:r>
            <a:r>
              <a:rPr lang="de-DE" sz="2400" dirty="0">
                <a:effectLst/>
                <a:latin typeface="Aptos" panose="020B0004020202020204" pitchFamily="34" charset="0"/>
                <a:ea typeface="Aptos" panose="020B0004020202020204" pitchFamily="34" charset="0"/>
                <a:cs typeface="Times New Roman" panose="02020603050405020304" pitchFamily="18" charset="0"/>
              </a:rPr>
              <a:t>bei der Umsetzung von Sicherheitsrichtlinien.</a:t>
            </a:r>
            <a:endParaRPr lang="de-DE" sz="2400" dirty="0"/>
          </a:p>
        </p:txBody>
      </p:sp>
      <p:sp>
        <p:nvSpPr>
          <p:cNvPr id="4" name="Fußzeilenplatzhalter 3">
            <a:extLst>
              <a:ext uri="{FF2B5EF4-FFF2-40B4-BE49-F238E27FC236}">
                <a16:creationId xmlns:a16="http://schemas.microsoft.com/office/drawing/2014/main" id="{96B3F823-56F7-F8AC-CDA7-AB0671FE740B}"/>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12DF912-5C7D-F5E4-8BC8-887CC9C1D41B}"/>
              </a:ext>
            </a:extLst>
          </p:cNvPr>
          <p:cNvSpPr>
            <a:spLocks noGrp="1"/>
          </p:cNvSpPr>
          <p:nvPr>
            <p:ph type="sldNum" sz="quarter" idx="12"/>
          </p:nvPr>
        </p:nvSpPr>
        <p:spPr/>
        <p:txBody>
          <a:bodyPr/>
          <a:lstStyle/>
          <a:p>
            <a:fld id="{B4CE166D-2D50-44F1-A818-BFD238545C9D}" type="slidenum">
              <a:rPr lang="de-DE" smtClean="0"/>
              <a:t>15</a:t>
            </a:fld>
            <a:endParaRPr lang="de-DE"/>
          </a:p>
        </p:txBody>
      </p:sp>
    </p:spTree>
    <p:extLst>
      <p:ext uri="{BB962C8B-B14F-4D97-AF65-F5344CB8AC3E}">
        <p14:creationId xmlns:p14="http://schemas.microsoft.com/office/powerpoint/2010/main" val="1413744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142E4E-E2ED-3535-73AD-4A035E50B851}"/>
              </a:ext>
            </a:extLst>
          </p:cNvPr>
          <p:cNvSpPr>
            <a:spLocks noGrp="1"/>
          </p:cNvSpPr>
          <p:nvPr>
            <p:ph type="title"/>
          </p:nvPr>
        </p:nvSpPr>
        <p:spPr/>
        <p:txBody>
          <a:bodyPr/>
          <a:lstStyle/>
          <a:p>
            <a:r>
              <a:rPr kumimoji="0" lang="de-DE" sz="4400" b="0" i="0" u="none" strike="noStrike" kern="1200" cap="none" spc="0" normalizeH="0" baseline="0" noProof="0" dirty="0">
                <a:ln>
                  <a:noFill/>
                </a:ln>
                <a:solidFill>
                  <a:prstClr val="black"/>
                </a:solidFill>
                <a:effectLst/>
                <a:uLnTx/>
                <a:uFillTx/>
                <a:latin typeface="Aptos Display" panose="02110004020202020204"/>
                <a:ea typeface="+mj-ea"/>
                <a:cs typeface="+mj-cs"/>
              </a:rPr>
              <a:t>Verantwortlichkeiten </a:t>
            </a:r>
            <a:r>
              <a:rPr kumimoji="0" lang="de-DE" sz="3200" b="0" i="0" u="none" strike="noStrike" kern="1200" cap="none" spc="0" normalizeH="0" baseline="0" noProof="0" dirty="0">
                <a:ln>
                  <a:noFill/>
                </a:ln>
                <a:solidFill>
                  <a:prstClr val="black"/>
                </a:solidFill>
                <a:effectLst/>
                <a:uLnTx/>
                <a:uFillTx/>
                <a:latin typeface="Aptos Display" panose="02110004020202020204"/>
                <a:ea typeface="+mj-ea"/>
                <a:cs typeface="+mj-cs"/>
              </a:rPr>
              <a:t>in der Informationssicherheit</a:t>
            </a:r>
            <a:endParaRPr lang="de-DE" dirty="0"/>
          </a:p>
        </p:txBody>
      </p:sp>
      <p:sp>
        <p:nvSpPr>
          <p:cNvPr id="6" name="Inhaltsplatzhalter 5">
            <a:extLst>
              <a:ext uri="{FF2B5EF4-FFF2-40B4-BE49-F238E27FC236}">
                <a16:creationId xmlns:a16="http://schemas.microsoft.com/office/drawing/2014/main" id="{6DD80F80-4C0E-3FA1-9732-ADE35FC8FC8C}"/>
              </a:ext>
            </a:extLst>
          </p:cNvPr>
          <p:cNvSpPr>
            <a:spLocks noGrp="1"/>
          </p:cNvSpPr>
          <p:nvPr>
            <p:ph sz="half" idx="1"/>
          </p:nvPr>
        </p:nvSpPr>
        <p:spPr/>
        <p:txBody>
          <a:bodyPr>
            <a:normAutofit fontScale="85000" lnSpcReduction="10000"/>
          </a:bodyPr>
          <a:lstStyle/>
          <a:p>
            <a:pPr>
              <a:lnSpc>
                <a:spcPct val="107000"/>
              </a:lnSpc>
              <a:spcAft>
                <a:spcPts val="800"/>
              </a:spcAft>
              <a:buNone/>
            </a:pPr>
            <a:r>
              <a:rPr lang="de-DE" b="1" kern="100" dirty="0">
                <a:effectLst/>
                <a:latin typeface="Aptos" panose="020B0004020202020204" pitchFamily="34" charset="0"/>
                <a:ea typeface="Aptos" panose="020B0004020202020204" pitchFamily="34" charset="0"/>
                <a:cs typeface="Times New Roman" panose="02020603050405020304" pitchFamily="18" charset="0"/>
              </a:rPr>
              <a:t>Sonstige Abteilungen:</a:t>
            </a:r>
            <a:endParaRPr lang="de-DE"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pPr>
            <a:r>
              <a:rPr lang="de-DE" b="1" kern="100" dirty="0">
                <a:effectLst/>
                <a:latin typeface="Aptos" panose="020B0004020202020204" pitchFamily="34" charset="0"/>
                <a:ea typeface="Aptos" panose="020B0004020202020204" pitchFamily="34" charset="0"/>
                <a:cs typeface="Times New Roman" panose="02020603050405020304" pitchFamily="18" charset="0"/>
              </a:rPr>
              <a:t>Verantwortung für die Sicherheit </a:t>
            </a:r>
            <a:r>
              <a:rPr lang="de-DE" kern="100" dirty="0">
                <a:effectLst/>
                <a:latin typeface="Aptos" panose="020B0004020202020204" pitchFamily="34" charset="0"/>
                <a:ea typeface="Aptos" panose="020B0004020202020204" pitchFamily="34" charset="0"/>
                <a:cs typeface="Times New Roman" panose="02020603050405020304" pitchFamily="18" charset="0"/>
              </a:rPr>
              <a:t>ihrer jeweiligen Bereiche. </a:t>
            </a:r>
          </a:p>
          <a:p>
            <a:pPr>
              <a:lnSpc>
                <a:spcPct val="107000"/>
              </a:lnSpc>
            </a:pPr>
            <a:r>
              <a:rPr lang="de-DE" b="1" kern="100" dirty="0">
                <a:effectLst/>
                <a:latin typeface="Aptos" panose="020B0004020202020204" pitchFamily="34" charset="0"/>
                <a:ea typeface="Aptos" panose="020B0004020202020204" pitchFamily="34" charset="0"/>
                <a:cs typeface="Times New Roman" panose="02020603050405020304" pitchFamily="18" charset="0"/>
              </a:rPr>
              <a:t>Zusammenarbeit mit dem ISB </a:t>
            </a:r>
            <a:r>
              <a:rPr lang="de-DE" kern="100" dirty="0">
                <a:effectLst/>
                <a:latin typeface="Aptos" panose="020B0004020202020204" pitchFamily="34" charset="0"/>
                <a:ea typeface="Aptos" panose="020B0004020202020204" pitchFamily="34" charset="0"/>
                <a:cs typeface="Times New Roman" panose="02020603050405020304" pitchFamily="18" charset="0"/>
              </a:rPr>
              <a:t>bei der Umsetzung von Sicherheitsmaßnahmen. </a:t>
            </a:r>
          </a:p>
          <a:p>
            <a:pPr marL="457200">
              <a:lnSpc>
                <a:spcPct val="107000"/>
              </a:lnSpc>
              <a:spcAft>
                <a:spcPts val="800"/>
              </a:spcAft>
              <a:buNone/>
            </a:pPr>
            <a:r>
              <a:rPr lang="de-DE" sz="3300" kern="100" dirty="0">
                <a:effectLst/>
                <a:latin typeface="Aptos" panose="020B0004020202020204" pitchFamily="34" charset="0"/>
                <a:ea typeface="Aptos" panose="020B0004020202020204" pitchFamily="34" charset="0"/>
                <a:cs typeface="Times New Roman" panose="02020603050405020304" pitchFamily="18" charset="0"/>
              </a:rPr>
              <a:t> </a:t>
            </a:r>
          </a:p>
          <a:p>
            <a:endParaRPr lang="de-DE" dirty="0"/>
          </a:p>
        </p:txBody>
      </p:sp>
      <p:sp>
        <p:nvSpPr>
          <p:cNvPr id="7" name="Inhaltsplatzhalter 6">
            <a:extLst>
              <a:ext uri="{FF2B5EF4-FFF2-40B4-BE49-F238E27FC236}">
                <a16:creationId xmlns:a16="http://schemas.microsoft.com/office/drawing/2014/main" id="{30C0E43F-85C0-9E84-09F2-AB76653EDD19}"/>
              </a:ext>
            </a:extLst>
          </p:cNvPr>
          <p:cNvSpPr>
            <a:spLocks noGrp="1"/>
          </p:cNvSpPr>
          <p:nvPr>
            <p:ph sz="half" idx="2"/>
          </p:nvPr>
        </p:nvSpPr>
        <p:spPr/>
        <p:txBody>
          <a:bodyPr>
            <a:normAutofit fontScale="85000" lnSpcReduction="10000"/>
          </a:bodyPr>
          <a:lstStyle/>
          <a:p>
            <a:pPr>
              <a:lnSpc>
                <a:spcPct val="107000"/>
              </a:lnSpc>
              <a:spcAft>
                <a:spcPts val="800"/>
              </a:spcAft>
              <a:buNone/>
            </a:pPr>
            <a:r>
              <a:rPr lang="de-DE" b="1" kern="100" dirty="0">
                <a:effectLst/>
                <a:latin typeface="Aptos" panose="020B0004020202020204" pitchFamily="34" charset="0"/>
                <a:ea typeface="Aptos" panose="020B0004020202020204" pitchFamily="34" charset="0"/>
                <a:cs typeface="Times New Roman" panose="02020603050405020304" pitchFamily="18" charset="0"/>
              </a:rPr>
              <a:t>Zusammenfassung: </a:t>
            </a:r>
            <a:endParaRPr lang="de-DE"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de-DE" kern="100" dirty="0">
                <a:effectLst/>
                <a:latin typeface="Aptos" panose="020B0004020202020204" pitchFamily="34" charset="0"/>
                <a:ea typeface="Aptos" panose="020B0004020202020204" pitchFamily="34" charset="0"/>
                <a:cs typeface="Times New Roman" panose="02020603050405020304" pitchFamily="18" charset="0"/>
              </a:rPr>
              <a:t>Die </a:t>
            </a:r>
            <a:r>
              <a:rPr lang="de-DE" b="1" kern="100" dirty="0">
                <a:effectLst/>
                <a:latin typeface="Aptos" panose="020B0004020202020204" pitchFamily="34" charset="0"/>
                <a:ea typeface="Aptos" panose="020B0004020202020204" pitchFamily="34" charset="0"/>
                <a:cs typeface="Times New Roman" panose="02020603050405020304" pitchFamily="18" charset="0"/>
              </a:rPr>
              <a:t>Informationssicherheit ist eine gemeinsame Verantwortung</a:t>
            </a:r>
            <a:r>
              <a:rPr lang="de-DE" kern="100" dirty="0">
                <a:effectLst/>
                <a:latin typeface="Aptos" panose="020B0004020202020204" pitchFamily="34" charset="0"/>
                <a:ea typeface="Aptos" panose="020B0004020202020204" pitchFamily="34" charset="0"/>
                <a:cs typeface="Times New Roman" panose="02020603050405020304" pitchFamily="18" charset="0"/>
              </a:rPr>
              <a:t>, die von der Geschäftsführung bis zu den Mitarbeitern reicht. </a:t>
            </a:r>
          </a:p>
          <a:p>
            <a:pPr>
              <a:lnSpc>
                <a:spcPct val="107000"/>
              </a:lnSpc>
              <a:spcAft>
                <a:spcPts val="800"/>
              </a:spcAft>
            </a:pPr>
            <a:r>
              <a:rPr lang="de-DE" kern="100" dirty="0">
                <a:effectLst/>
                <a:latin typeface="Aptos" panose="020B0004020202020204" pitchFamily="34" charset="0"/>
                <a:ea typeface="Aptos" panose="020B0004020202020204" pitchFamily="34" charset="0"/>
                <a:cs typeface="Times New Roman" panose="02020603050405020304" pitchFamily="18" charset="0"/>
              </a:rPr>
              <a:t>Der </a:t>
            </a:r>
            <a:r>
              <a:rPr lang="de-DE" b="1" kern="100" dirty="0">
                <a:effectLst/>
                <a:latin typeface="Aptos" panose="020B0004020202020204" pitchFamily="34" charset="0"/>
                <a:ea typeface="Aptos" panose="020B0004020202020204" pitchFamily="34" charset="0"/>
                <a:cs typeface="Times New Roman" panose="02020603050405020304" pitchFamily="18" charset="0"/>
              </a:rPr>
              <a:t>ISB</a:t>
            </a:r>
            <a:r>
              <a:rPr lang="de-DE" kern="100" dirty="0">
                <a:effectLst/>
                <a:latin typeface="Aptos" panose="020B0004020202020204" pitchFamily="34" charset="0"/>
                <a:ea typeface="Aptos" panose="020B0004020202020204" pitchFamily="34" charset="0"/>
                <a:cs typeface="Times New Roman" panose="02020603050405020304" pitchFamily="18" charset="0"/>
              </a:rPr>
              <a:t> ist der </a:t>
            </a:r>
            <a:r>
              <a:rPr lang="de-DE" b="1" kern="100" dirty="0">
                <a:effectLst/>
                <a:latin typeface="Aptos" panose="020B0004020202020204" pitchFamily="34" charset="0"/>
                <a:ea typeface="Aptos" panose="020B0004020202020204" pitchFamily="34" charset="0"/>
                <a:cs typeface="Times New Roman" panose="02020603050405020304" pitchFamily="18" charset="0"/>
              </a:rPr>
              <a:t>zentrale Ansprechpartner</a:t>
            </a:r>
            <a:r>
              <a:rPr lang="de-DE" kern="100" dirty="0">
                <a:effectLst/>
                <a:latin typeface="Aptos" panose="020B0004020202020204" pitchFamily="34" charset="0"/>
                <a:ea typeface="Aptos" panose="020B0004020202020204" pitchFamily="34" charset="0"/>
                <a:cs typeface="Times New Roman" panose="02020603050405020304" pitchFamily="18" charset="0"/>
              </a:rPr>
              <a:t> und </a:t>
            </a:r>
            <a:r>
              <a:rPr lang="de-DE" b="1" kern="100" dirty="0">
                <a:effectLst/>
                <a:latin typeface="Aptos" panose="020B0004020202020204" pitchFamily="34" charset="0"/>
                <a:ea typeface="Aptos" panose="020B0004020202020204" pitchFamily="34" charset="0"/>
                <a:cs typeface="Times New Roman" panose="02020603050405020304" pitchFamily="18" charset="0"/>
              </a:rPr>
              <a:t>Koordinator</a:t>
            </a:r>
            <a:r>
              <a:rPr lang="de-DE" kern="100" dirty="0">
                <a:effectLst/>
                <a:latin typeface="Aptos" panose="020B0004020202020204" pitchFamily="34" charset="0"/>
                <a:ea typeface="Aptos" panose="020B0004020202020204" pitchFamily="34" charset="0"/>
                <a:cs typeface="Times New Roman" panose="02020603050405020304" pitchFamily="18" charset="0"/>
              </a:rPr>
              <a:t>, aber jeder Mitarbeiter hat eine Rolle bei der Wahrung der Informationssicherheit.</a:t>
            </a:r>
          </a:p>
          <a:p>
            <a:endParaRPr lang="de-DE" dirty="0"/>
          </a:p>
        </p:txBody>
      </p:sp>
      <p:sp>
        <p:nvSpPr>
          <p:cNvPr id="4" name="Fußzeilenplatzhalter 3">
            <a:extLst>
              <a:ext uri="{FF2B5EF4-FFF2-40B4-BE49-F238E27FC236}">
                <a16:creationId xmlns:a16="http://schemas.microsoft.com/office/drawing/2014/main" id="{9D3226B6-CE5C-7911-F9C6-8BE7705F4F08}"/>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DBD0282B-DF63-442B-C74C-F62585475210}"/>
              </a:ext>
            </a:extLst>
          </p:cNvPr>
          <p:cNvSpPr>
            <a:spLocks noGrp="1"/>
          </p:cNvSpPr>
          <p:nvPr>
            <p:ph type="sldNum" sz="quarter" idx="12"/>
          </p:nvPr>
        </p:nvSpPr>
        <p:spPr/>
        <p:txBody>
          <a:bodyPr/>
          <a:lstStyle/>
          <a:p>
            <a:fld id="{B4CE166D-2D50-44F1-A818-BFD238545C9D}" type="slidenum">
              <a:rPr lang="de-DE" smtClean="0"/>
              <a:t>16</a:t>
            </a:fld>
            <a:endParaRPr lang="de-DE"/>
          </a:p>
        </p:txBody>
      </p:sp>
    </p:spTree>
    <p:extLst>
      <p:ext uri="{BB962C8B-B14F-4D97-AF65-F5344CB8AC3E}">
        <p14:creationId xmlns:p14="http://schemas.microsoft.com/office/powerpoint/2010/main" val="2886677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B863C2-1E06-A333-DC8D-F6F95D73F97A}"/>
              </a:ext>
            </a:extLst>
          </p:cNvPr>
          <p:cNvSpPr>
            <a:spLocks noGrp="1"/>
          </p:cNvSpPr>
          <p:nvPr>
            <p:ph type="title"/>
          </p:nvPr>
        </p:nvSpPr>
        <p:spPr>
          <a:xfrm>
            <a:off x="838200" y="365126"/>
            <a:ext cx="10515600" cy="928654"/>
          </a:xfrm>
        </p:spPr>
        <p:txBody>
          <a:bodyPr/>
          <a:lstStyle/>
          <a:p>
            <a:r>
              <a:rPr lang="de-DE" dirty="0"/>
              <a:t>Ziele von Unternehmensrichtlinien</a:t>
            </a:r>
          </a:p>
        </p:txBody>
      </p:sp>
      <p:sp>
        <p:nvSpPr>
          <p:cNvPr id="3" name="Inhaltsplatzhalter 2">
            <a:extLst>
              <a:ext uri="{FF2B5EF4-FFF2-40B4-BE49-F238E27FC236}">
                <a16:creationId xmlns:a16="http://schemas.microsoft.com/office/drawing/2014/main" id="{CC9543BB-15B8-40C9-939C-4A4EAAC9F940}"/>
              </a:ext>
            </a:extLst>
          </p:cNvPr>
          <p:cNvSpPr>
            <a:spLocks noGrp="1"/>
          </p:cNvSpPr>
          <p:nvPr>
            <p:ph idx="1"/>
          </p:nvPr>
        </p:nvSpPr>
        <p:spPr>
          <a:xfrm>
            <a:off x="838200" y="1585609"/>
            <a:ext cx="10515600" cy="4591354"/>
          </a:xfrm>
        </p:spPr>
        <p:txBody>
          <a:bodyPr>
            <a:normAutofit lnSpcReduction="10000"/>
          </a:bodyPr>
          <a:lstStyle/>
          <a:p>
            <a:pPr>
              <a:lnSpc>
                <a:spcPct val="107000"/>
              </a:lnSpc>
              <a:spcAft>
                <a:spcPts val="800"/>
              </a:spcAft>
            </a:pPr>
            <a:r>
              <a:rPr lang="de-DE" sz="2400" b="1" u="sng" kern="100" dirty="0">
                <a:effectLst/>
                <a:latin typeface="Aptos" panose="020B0004020202020204" pitchFamily="34" charset="0"/>
                <a:ea typeface="Aptos" panose="020B0004020202020204" pitchFamily="34" charset="0"/>
                <a:cs typeface="Times New Roman" panose="02020603050405020304" pitchFamily="18" charset="0"/>
              </a:rPr>
              <a:t>Ziele:</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Die Umsetzung von Gesetzen und Richtlinien in Unternehmensrichtlinien dient dazu, ein Unternehmen rechtlich absichern, das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Risikomanagement zu verbessern</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und die Einhaltung gesetzlicher Bestimmungen zu gewährleisten. </a:t>
            </a:r>
          </a:p>
          <a:p>
            <a:pPr>
              <a:lnSpc>
                <a:spcPct val="107000"/>
              </a:lnSpc>
              <a:spcAft>
                <a:spcPts val="800"/>
              </a:spcAft>
            </a:pPr>
            <a:r>
              <a:rPr lang="de-DE" sz="2400" b="1" u="sng" kern="100" dirty="0">
                <a:effectLst/>
                <a:latin typeface="Aptos" panose="020B0004020202020204" pitchFamily="34" charset="0"/>
                <a:ea typeface="Aptos" panose="020B0004020202020204" pitchFamily="34" charset="0"/>
                <a:cs typeface="Times New Roman" panose="02020603050405020304" pitchFamily="18" charset="0"/>
              </a:rPr>
              <a:t>Verbindlichkeit:</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Unternehmensrichtlinien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sind in der Regel verbindlich</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solange sie im Einklang mit den gesetzlichen Bestimmungen und den individuellen Arbeitsverträgen der Mitarbeiter stehen. Die Verbindlichkeit hängt auch von ihrer Kommunikation und Implementierung ab.</a:t>
            </a:r>
          </a:p>
          <a:p>
            <a:pPr>
              <a:lnSpc>
                <a:spcPct val="107000"/>
              </a:lnSpc>
              <a:spcAft>
                <a:spcPts val="800"/>
              </a:spcAft>
            </a:pPr>
            <a:r>
              <a:rPr lang="de-DE" sz="2400" b="1" u="sng" kern="100" dirty="0">
                <a:effectLst/>
                <a:latin typeface="Aptos" panose="020B0004020202020204" pitchFamily="34" charset="0"/>
                <a:ea typeface="Aptos" panose="020B0004020202020204" pitchFamily="34" charset="0"/>
                <a:cs typeface="Times New Roman" panose="02020603050405020304" pitchFamily="18" charset="0"/>
              </a:rPr>
              <a:t>Konsequenz</a:t>
            </a:r>
            <a:r>
              <a:rPr lang="de-DE" sz="2400" u="sng" kern="100" dirty="0">
                <a:effectLst/>
                <a:latin typeface="Aptos" panose="020B0004020202020204" pitchFamily="34" charset="0"/>
                <a:ea typeface="Aptos" panose="020B0004020202020204" pitchFamily="34" charset="0"/>
                <a:cs typeface="Times New Roman" panose="02020603050405020304" pitchFamily="18" charset="0"/>
              </a:rPr>
              <a:t>:</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Gem. </a:t>
            </a:r>
            <a:r>
              <a:rPr lang="de-DE" sz="2400" b="1" i="1" kern="1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Art. 29 DSGVO</a:t>
            </a:r>
            <a:r>
              <a:rPr lang="de-DE" sz="2400" kern="1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arbeiten Sie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auf Weisung des Verantwortlichen</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Tun Sie es nicht, begehen Sie einen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Exzess</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und werden für ihr Tun selbst zum Verantwortlichen und damit auch sanktionierbar.</a:t>
            </a:r>
          </a:p>
          <a:p>
            <a:endParaRPr lang="de-DE" dirty="0"/>
          </a:p>
        </p:txBody>
      </p:sp>
      <p:sp>
        <p:nvSpPr>
          <p:cNvPr id="4" name="Fußzeilenplatzhalter 3">
            <a:extLst>
              <a:ext uri="{FF2B5EF4-FFF2-40B4-BE49-F238E27FC236}">
                <a16:creationId xmlns:a16="http://schemas.microsoft.com/office/drawing/2014/main" id="{B5EC20DA-1706-4F74-7A9D-41307CD76C21}"/>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046A07CE-76BE-AA94-74A0-0D99D61022B9}"/>
              </a:ext>
            </a:extLst>
          </p:cNvPr>
          <p:cNvSpPr>
            <a:spLocks noGrp="1"/>
          </p:cNvSpPr>
          <p:nvPr>
            <p:ph type="sldNum" sz="quarter" idx="12"/>
          </p:nvPr>
        </p:nvSpPr>
        <p:spPr/>
        <p:txBody>
          <a:bodyPr/>
          <a:lstStyle/>
          <a:p>
            <a:fld id="{B4CE166D-2D50-44F1-A818-BFD238545C9D}" type="slidenum">
              <a:rPr lang="de-DE" smtClean="0"/>
              <a:t>17</a:t>
            </a:fld>
            <a:endParaRPr lang="de-DE"/>
          </a:p>
        </p:txBody>
      </p:sp>
    </p:spTree>
    <p:extLst>
      <p:ext uri="{BB962C8B-B14F-4D97-AF65-F5344CB8AC3E}">
        <p14:creationId xmlns:p14="http://schemas.microsoft.com/office/powerpoint/2010/main" val="158598275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955DCE652C8AD4696A873B53CCA776C" ma:contentTypeVersion="9" ma:contentTypeDescription="Ein neues Dokument erstellen." ma:contentTypeScope="" ma:versionID="a75b0d271db8e156752fd3af9960f3e7">
  <xsd:schema xmlns:xsd="http://www.w3.org/2001/XMLSchema" xmlns:xs="http://www.w3.org/2001/XMLSchema" xmlns:p="http://schemas.microsoft.com/office/2006/metadata/properties" xmlns:ns2="b2bcf77a-db99-4c6d-8596-ee1fc4b01288" xmlns:ns3="ce9d32c5-4bd0-492d-a196-e5e973bfded0" targetNamespace="http://schemas.microsoft.com/office/2006/metadata/properties" ma:root="true" ma:fieldsID="0cebbb3c6120016de2a0a64c84ca3718" ns2:_="" ns3:_="">
    <xsd:import namespace="b2bcf77a-db99-4c6d-8596-ee1fc4b01288"/>
    <xsd:import namespace="ce9d32c5-4bd0-492d-a196-e5e973bfde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bcf77a-db99-4c6d-8596-ee1fc4b012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8af48a06-ed4b-42ab-a976-5013053131a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9d32c5-4bd0-492d-a196-e5e973bfded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6403cb9-dd32-4e21-bcc3-676a3ed5dd23}" ma:internalName="TaxCatchAll" ma:showField="CatchAllData" ma:web="ce9d32c5-4bd0-492d-a196-e5e973bfde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e9d32c5-4bd0-492d-a196-e5e973bfded0" xsi:nil="true"/>
    <lcf76f155ced4ddcb4097134ff3c332f xmlns="b2bcf77a-db99-4c6d-8596-ee1fc4b012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211AD97-EB17-449D-8AAB-DDBD415FF43E}"/>
</file>

<file path=customXml/itemProps2.xml><?xml version="1.0" encoding="utf-8"?>
<ds:datastoreItem xmlns:ds="http://schemas.openxmlformats.org/officeDocument/2006/customXml" ds:itemID="{E6D2EC6E-8DC7-4F4F-AE03-B3DE0D8B3ECB}"/>
</file>

<file path=customXml/itemProps3.xml><?xml version="1.0" encoding="utf-8"?>
<ds:datastoreItem xmlns:ds="http://schemas.openxmlformats.org/officeDocument/2006/customXml" ds:itemID="{0FEEA1F4-1EBF-4AED-AF66-3B3AB226B704}"/>
</file>

<file path=docProps/app.xml><?xml version="1.0" encoding="utf-8"?>
<Properties xmlns="http://schemas.openxmlformats.org/officeDocument/2006/extended-properties" xmlns:vt="http://schemas.openxmlformats.org/officeDocument/2006/docPropsVTypes">
  <TotalTime>0</TotalTime>
  <Words>1077</Words>
  <Application>Microsoft Office PowerPoint</Application>
  <PresentationFormat>Breitbild</PresentationFormat>
  <Paragraphs>126</Paragraphs>
  <Slides>17</Slides>
  <Notes>3</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17</vt:i4>
      </vt:variant>
    </vt:vector>
  </HeadingPairs>
  <TitlesOfParts>
    <vt:vector size="23" baseType="lpstr">
      <vt:lpstr>Aptos</vt:lpstr>
      <vt:lpstr>Aptos Display</vt:lpstr>
      <vt:lpstr>Arial</vt:lpstr>
      <vt:lpstr>Calibri</vt:lpstr>
      <vt:lpstr>Symbol</vt:lpstr>
      <vt:lpstr>Office</vt:lpstr>
      <vt:lpstr>DATENSCHUTZ-SCHULUNG Teil 4: Umsetzung im Unternehmen</vt:lpstr>
      <vt:lpstr>Inhalte der Datenschutz-Themen</vt:lpstr>
      <vt:lpstr>Datenschutz Teil 4.2</vt:lpstr>
      <vt:lpstr>Datenschutz Teil 4.2.1</vt:lpstr>
      <vt:lpstr>Verantwortlichkeiten im Datenschutz</vt:lpstr>
      <vt:lpstr>Verantwortlichkeiten im Datenschutz</vt:lpstr>
      <vt:lpstr>Verantwortlichkeiten im Datenschutz</vt:lpstr>
      <vt:lpstr>Verantwortlichkeiten im Datenschutz</vt:lpstr>
      <vt:lpstr>Verantwortlichkeiten im Datenschutz</vt:lpstr>
      <vt:lpstr>Zusammenfassung Datenschutz-Verantwortlichkeiten</vt:lpstr>
      <vt:lpstr>Datenschutz Teil 4.2.2</vt:lpstr>
      <vt:lpstr>Verantwortlichkeiten in der Informationssicherheit</vt:lpstr>
      <vt:lpstr>Verantwortlichkeiten in der Informationssicherheit</vt:lpstr>
      <vt:lpstr>Verantwortlichkeiten in der Informationssicherheit</vt:lpstr>
      <vt:lpstr>Verantwortlichkeiten in der Informationssicherheit</vt:lpstr>
      <vt:lpstr>Verantwortlichkeiten in der Informationssicherheit</vt:lpstr>
      <vt:lpstr>Ziele von Unternehmensrichtlinien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Dirk Moltzen</dc:creator>
  <cp:lastModifiedBy>Dirk Moltzen</cp:lastModifiedBy>
  <cp:revision>89</cp:revision>
  <dcterms:created xsi:type="dcterms:W3CDTF">2025-05-19T19:06:41Z</dcterms:created>
  <dcterms:modified xsi:type="dcterms:W3CDTF">2025-09-18T06:58:18Z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0x010100A955DCE652C8AD4696A873B53CCA776C</vt:lpwstr>
  </property>
</Properties>
</file>