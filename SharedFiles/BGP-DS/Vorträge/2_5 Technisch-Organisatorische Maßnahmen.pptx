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406" r:id="rId3"/>
    <p:sldId id="297" r:id="rId4"/>
    <p:sldId id="298" r:id="rId5"/>
    <p:sldId id="299" r:id="rId6"/>
    <p:sldId id="300" r:id="rId7"/>
    <p:sldId id="301" r:id="rId8"/>
    <p:sldId id="302" r:id="rId9"/>
    <p:sldId id="303" r:id="rId10"/>
    <p:sldId id="304" r:id="rId11"/>
    <p:sldId id="305" r:id="rId12"/>
    <p:sldId id="306" r:id="rId13"/>
    <p:sldId id="307" r:id="rId14"/>
    <p:sldId id="308" r:id="rId15"/>
    <p:sldId id="316" r:id="rId16"/>
    <p:sldId id="317" r:id="rId17"/>
    <p:sldId id="347" r:id="rId18"/>
    <p:sldId id="349" r:id="rId19"/>
    <p:sldId id="348" r:id="rId20"/>
    <p:sldId id="350" r:id="rId21"/>
    <p:sldId id="318" r:id="rId22"/>
    <p:sldId id="319" r:id="rId23"/>
    <p:sldId id="320" r:id="rId24"/>
    <p:sldId id="336" r:id="rId25"/>
    <p:sldId id="337" r:id="rId26"/>
    <p:sldId id="338" r:id="rId27"/>
    <p:sldId id="339" r:id="rId28"/>
    <p:sldId id="340" r:id="rId29"/>
    <p:sldId id="341" r:id="rId30"/>
    <p:sldId id="342" r:id="rId31"/>
    <p:sldId id="343" r:id="rId3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1" autoAdjust="0"/>
    <p:restoredTop sz="94660"/>
  </p:normalViewPr>
  <p:slideViewPr>
    <p:cSldViewPr snapToGrid="0">
      <p:cViewPr varScale="1">
        <p:scale>
          <a:sx n="60" d="100"/>
          <a:sy n="60" d="100"/>
        </p:scale>
        <p:origin x="7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2C052-91DF-4DB3-B342-3CD8D6AF7C71}" type="datetimeFigureOut">
              <a:rPr lang="de-DE" smtClean="0"/>
              <a:t>16.09.2025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4710CE-1ECF-4525-BFCD-FD2D0B83985D}" type="slidenum">
              <a:rPr lang="de-DE" smtClean="0"/>
              <a:t>‹Nr.›</a:t>
            </a:fld>
            <a:endParaRPr lang="de-DE"/>
          </a:p>
        </p:txBody>
      </p:sp>
    </p:spTree>
    <p:extLst>
      <p:ext uri="{BB962C8B-B14F-4D97-AF65-F5344CB8AC3E}">
        <p14:creationId xmlns:p14="http://schemas.microsoft.com/office/powerpoint/2010/main" val="90272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6B4CA0-0D9B-2397-636C-95227E6D191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A6CBF7D-844C-C3E8-4791-B467FDCC44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936ED5D8-D21B-2991-AD91-EF8776526101}"/>
              </a:ext>
            </a:extLst>
          </p:cNvPr>
          <p:cNvSpPr>
            <a:spLocks noGrp="1"/>
          </p:cNvSpPr>
          <p:nvPr>
            <p:ph type="dt" sz="half" idx="10"/>
          </p:nvPr>
        </p:nvSpPr>
        <p:spPr/>
        <p:txBody>
          <a:bodyPr/>
          <a:lstStyle/>
          <a:p>
            <a:fld id="{C672DB5E-9D2D-453F-9BAF-14F389B2B6FD}" type="datetime1">
              <a:rPr lang="de-DE" smtClean="0"/>
              <a:t>16.09.2025</a:t>
            </a:fld>
            <a:endParaRPr lang="de-DE"/>
          </a:p>
        </p:txBody>
      </p:sp>
      <p:sp>
        <p:nvSpPr>
          <p:cNvPr id="5" name="Fußzeilenplatzhalter 4">
            <a:extLst>
              <a:ext uri="{FF2B5EF4-FFF2-40B4-BE49-F238E27FC236}">
                <a16:creationId xmlns:a16="http://schemas.microsoft.com/office/drawing/2014/main" id="{A6662200-947A-F1EA-2C52-A9ED73D7D776}"/>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A72F66E2-E057-AD36-C3DA-CE84D739FCD5}"/>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12674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21CDB6-2205-C649-0EFF-4AF9C88089C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02738B8-DFE1-053C-8D14-65BDC42204E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9443B26-B36D-01B6-8CB3-EBCCB41DBBFE}"/>
              </a:ext>
            </a:extLst>
          </p:cNvPr>
          <p:cNvSpPr>
            <a:spLocks noGrp="1"/>
          </p:cNvSpPr>
          <p:nvPr>
            <p:ph type="dt" sz="half" idx="10"/>
          </p:nvPr>
        </p:nvSpPr>
        <p:spPr/>
        <p:txBody>
          <a:bodyPr/>
          <a:lstStyle/>
          <a:p>
            <a:fld id="{B42EE8E6-ED59-4859-B0C3-225166F39F4E}" type="datetime1">
              <a:rPr lang="de-DE" smtClean="0"/>
              <a:t>16.09.2025</a:t>
            </a:fld>
            <a:endParaRPr lang="de-DE"/>
          </a:p>
        </p:txBody>
      </p:sp>
      <p:sp>
        <p:nvSpPr>
          <p:cNvPr id="5" name="Fußzeilenplatzhalter 4">
            <a:extLst>
              <a:ext uri="{FF2B5EF4-FFF2-40B4-BE49-F238E27FC236}">
                <a16:creationId xmlns:a16="http://schemas.microsoft.com/office/drawing/2014/main" id="{257B0E11-7309-8334-C745-4B8891F30ECE}"/>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DB474E42-1956-41CB-85EE-1D92BD077AA7}"/>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488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AE3BDF-74CF-D836-BDF6-1A9E5CD1A8A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8218F682-74D0-260C-C0FA-67608DE59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9126DB74-0B12-4E55-DFE8-11C848ADC5FF}"/>
              </a:ext>
            </a:extLst>
          </p:cNvPr>
          <p:cNvSpPr>
            <a:spLocks noGrp="1"/>
          </p:cNvSpPr>
          <p:nvPr>
            <p:ph type="dt" sz="half" idx="10"/>
          </p:nvPr>
        </p:nvSpPr>
        <p:spPr/>
        <p:txBody>
          <a:bodyPr/>
          <a:lstStyle/>
          <a:p>
            <a:fld id="{21AF14BD-9277-4F74-8DB6-09E47A4EDF52}" type="datetime1">
              <a:rPr lang="de-DE" smtClean="0"/>
              <a:t>16.09.2025</a:t>
            </a:fld>
            <a:endParaRPr lang="de-DE"/>
          </a:p>
        </p:txBody>
      </p:sp>
      <p:sp>
        <p:nvSpPr>
          <p:cNvPr id="5" name="Fußzeilenplatzhalter 4">
            <a:extLst>
              <a:ext uri="{FF2B5EF4-FFF2-40B4-BE49-F238E27FC236}">
                <a16:creationId xmlns:a16="http://schemas.microsoft.com/office/drawing/2014/main" id="{B1BD3D0A-2DD9-A6B1-1489-6F90254082FA}"/>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040CFB5-98C2-84E4-BDD3-F4C750AF4EB4}"/>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816828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EA83CA-15C6-89A0-FEDA-18437CD00BE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D6B2365-8E78-D10D-2C7A-CFA338DFD86E}"/>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9A9C519-780B-C21A-8A0F-FF13E8BA233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3BD13EC-EB69-D436-B6B3-336B02A7E1E9}"/>
              </a:ext>
            </a:extLst>
          </p:cNvPr>
          <p:cNvSpPr>
            <a:spLocks noGrp="1"/>
          </p:cNvSpPr>
          <p:nvPr>
            <p:ph type="dt" sz="half" idx="10"/>
          </p:nvPr>
        </p:nvSpPr>
        <p:spPr/>
        <p:txBody>
          <a:bodyPr/>
          <a:lstStyle/>
          <a:p>
            <a:fld id="{CA11EA98-5F69-4205-B62B-A9D2FE44DC9A}" type="datetime1">
              <a:rPr lang="de-DE" smtClean="0"/>
              <a:t>16.09.2025</a:t>
            </a:fld>
            <a:endParaRPr lang="de-DE"/>
          </a:p>
        </p:txBody>
      </p:sp>
      <p:sp>
        <p:nvSpPr>
          <p:cNvPr id="6" name="Fußzeilenplatzhalter 5">
            <a:extLst>
              <a:ext uri="{FF2B5EF4-FFF2-40B4-BE49-F238E27FC236}">
                <a16:creationId xmlns:a16="http://schemas.microsoft.com/office/drawing/2014/main" id="{3F54854A-5BCA-AA61-4794-C845E8410B0B}"/>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E1D920B8-0BB6-DC20-C44A-6FE1799AC842}"/>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98929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E7B4D7-5073-8EE2-C713-A9807BC2420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515CB72-967C-1FE1-7266-4C90A820AE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F2685B6-6BF1-51FC-0CC5-E6B83E0349D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5C1FDDC-7DF7-F143-DB9D-5224023A2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E1C4E95-7462-FA80-84AD-9D823B3D09F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DC635FA-7C5E-7A65-D6EA-6B07AE444101}"/>
              </a:ext>
            </a:extLst>
          </p:cNvPr>
          <p:cNvSpPr>
            <a:spLocks noGrp="1"/>
          </p:cNvSpPr>
          <p:nvPr>
            <p:ph type="dt" sz="half" idx="10"/>
          </p:nvPr>
        </p:nvSpPr>
        <p:spPr/>
        <p:txBody>
          <a:bodyPr/>
          <a:lstStyle/>
          <a:p>
            <a:fld id="{C8B5DD1B-5A4B-4D66-A112-730D2E7C9367}" type="datetime1">
              <a:rPr lang="de-DE" smtClean="0"/>
              <a:t>16.09.2025</a:t>
            </a:fld>
            <a:endParaRPr lang="de-DE"/>
          </a:p>
        </p:txBody>
      </p:sp>
      <p:sp>
        <p:nvSpPr>
          <p:cNvPr id="8" name="Fußzeilenplatzhalter 7">
            <a:extLst>
              <a:ext uri="{FF2B5EF4-FFF2-40B4-BE49-F238E27FC236}">
                <a16:creationId xmlns:a16="http://schemas.microsoft.com/office/drawing/2014/main" id="{D53E3795-8351-EACE-5649-C8A6261CFB9F}"/>
              </a:ext>
            </a:extLst>
          </p:cNvPr>
          <p:cNvSpPr>
            <a:spLocks noGrp="1"/>
          </p:cNvSpPr>
          <p:nvPr>
            <p:ph type="ftr" sz="quarter" idx="11"/>
          </p:nvPr>
        </p:nvSpPr>
        <p:spPr/>
        <p:txBody>
          <a:bodyPr/>
          <a:lstStyle/>
          <a:p>
            <a:r>
              <a:rPr lang="de-DE"/>
              <a:t>Dirk Moltzen - externer Datenschutzbeauftragter TÜV® CERT</a:t>
            </a:r>
          </a:p>
        </p:txBody>
      </p:sp>
      <p:sp>
        <p:nvSpPr>
          <p:cNvPr id="9" name="Foliennummernplatzhalter 8">
            <a:extLst>
              <a:ext uri="{FF2B5EF4-FFF2-40B4-BE49-F238E27FC236}">
                <a16:creationId xmlns:a16="http://schemas.microsoft.com/office/drawing/2014/main" id="{75980057-3041-8E66-F05F-0C6DAD687D7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0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AB809C-717E-0BE3-A852-7D6ED08D1B6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ABDE474-BB62-A15B-AF69-1F53A895DCAB}"/>
              </a:ext>
            </a:extLst>
          </p:cNvPr>
          <p:cNvSpPr>
            <a:spLocks noGrp="1"/>
          </p:cNvSpPr>
          <p:nvPr>
            <p:ph type="dt" sz="half" idx="10"/>
          </p:nvPr>
        </p:nvSpPr>
        <p:spPr/>
        <p:txBody>
          <a:bodyPr/>
          <a:lstStyle/>
          <a:p>
            <a:fld id="{78260CA9-080E-495A-8A5A-989AC8DFCC2C}" type="datetime1">
              <a:rPr lang="de-DE" smtClean="0"/>
              <a:t>16.09.2025</a:t>
            </a:fld>
            <a:endParaRPr lang="de-DE"/>
          </a:p>
        </p:txBody>
      </p:sp>
      <p:sp>
        <p:nvSpPr>
          <p:cNvPr id="4" name="Fußzeilenplatzhalter 3">
            <a:extLst>
              <a:ext uri="{FF2B5EF4-FFF2-40B4-BE49-F238E27FC236}">
                <a16:creationId xmlns:a16="http://schemas.microsoft.com/office/drawing/2014/main" id="{3F009B64-7486-6B03-109F-0A1DB878FD8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4E269A4-2AFB-0581-906E-331F89EFE6A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52667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BB4EF03-31AB-6045-F997-30142EC62E78}"/>
              </a:ext>
            </a:extLst>
          </p:cNvPr>
          <p:cNvSpPr>
            <a:spLocks noGrp="1"/>
          </p:cNvSpPr>
          <p:nvPr>
            <p:ph type="dt" sz="half" idx="10"/>
          </p:nvPr>
        </p:nvSpPr>
        <p:spPr/>
        <p:txBody>
          <a:bodyPr/>
          <a:lstStyle/>
          <a:p>
            <a:fld id="{8A7D2418-5A2A-4D67-823F-EC4266F86929}" type="datetime1">
              <a:rPr lang="de-DE" smtClean="0"/>
              <a:t>16.09.2025</a:t>
            </a:fld>
            <a:endParaRPr lang="de-DE"/>
          </a:p>
        </p:txBody>
      </p:sp>
      <p:sp>
        <p:nvSpPr>
          <p:cNvPr id="3" name="Fußzeilenplatzhalter 2">
            <a:extLst>
              <a:ext uri="{FF2B5EF4-FFF2-40B4-BE49-F238E27FC236}">
                <a16:creationId xmlns:a16="http://schemas.microsoft.com/office/drawing/2014/main" id="{4BECFB2D-8F62-0045-E978-BE3C6015B8F9}"/>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A81E2D0D-FB5B-18D9-CA46-B17F6D7D89C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4337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14205B-67C0-3C72-1270-AB3F648C00E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B82FF748-A088-071E-017D-99500D75B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9A7AC7C-492C-90F4-8A67-7CBC818A0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3A1AFB3-C22B-78C8-5ABA-FE62DEB62C80}"/>
              </a:ext>
            </a:extLst>
          </p:cNvPr>
          <p:cNvSpPr>
            <a:spLocks noGrp="1"/>
          </p:cNvSpPr>
          <p:nvPr>
            <p:ph type="dt" sz="half" idx="10"/>
          </p:nvPr>
        </p:nvSpPr>
        <p:spPr/>
        <p:txBody>
          <a:bodyPr/>
          <a:lstStyle/>
          <a:p>
            <a:fld id="{BEA624FE-15BC-48DE-8943-3F775C222EF7}" type="datetime1">
              <a:rPr lang="de-DE" smtClean="0"/>
              <a:t>16.09.2025</a:t>
            </a:fld>
            <a:endParaRPr lang="de-DE"/>
          </a:p>
        </p:txBody>
      </p:sp>
      <p:sp>
        <p:nvSpPr>
          <p:cNvPr id="6" name="Fußzeilenplatzhalter 5">
            <a:extLst>
              <a:ext uri="{FF2B5EF4-FFF2-40B4-BE49-F238E27FC236}">
                <a16:creationId xmlns:a16="http://schemas.microsoft.com/office/drawing/2014/main" id="{70F01998-1EAE-F808-4FBE-68B2F851F599}"/>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C508FCF0-9A89-4F9E-90AA-7B6050B8131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3347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A74FCB-7070-9042-F162-D3957EF7F7C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661D97A-92D7-1999-21A5-2E494FE401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7CF8D34-1DA2-DB73-54B3-DE9EF87E2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3F5C852-F89D-BA31-F1F1-5908F9499CA8}"/>
              </a:ext>
            </a:extLst>
          </p:cNvPr>
          <p:cNvSpPr>
            <a:spLocks noGrp="1"/>
          </p:cNvSpPr>
          <p:nvPr>
            <p:ph type="dt" sz="half" idx="10"/>
          </p:nvPr>
        </p:nvSpPr>
        <p:spPr/>
        <p:txBody>
          <a:bodyPr/>
          <a:lstStyle/>
          <a:p>
            <a:fld id="{F1E1FB9E-692E-48A8-84C5-9952D749F23A}" type="datetime1">
              <a:rPr lang="de-DE" smtClean="0"/>
              <a:t>16.09.2025</a:t>
            </a:fld>
            <a:endParaRPr lang="de-DE"/>
          </a:p>
        </p:txBody>
      </p:sp>
      <p:sp>
        <p:nvSpPr>
          <p:cNvPr id="6" name="Fußzeilenplatzhalter 5">
            <a:extLst>
              <a:ext uri="{FF2B5EF4-FFF2-40B4-BE49-F238E27FC236}">
                <a16:creationId xmlns:a16="http://schemas.microsoft.com/office/drawing/2014/main" id="{B8837075-A10E-3C14-F3C3-2E9BE88FB3A1}"/>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734A5AF6-1125-19E3-786E-CE22A0A7447A}"/>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271625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3F011-39E4-FEA4-5D0F-FD25397B8C7F}"/>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DB6A2C3D-19CA-3847-73C8-76EFE13A156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660374A-9259-29AD-05FF-F3A635147932}"/>
              </a:ext>
            </a:extLst>
          </p:cNvPr>
          <p:cNvSpPr>
            <a:spLocks noGrp="1"/>
          </p:cNvSpPr>
          <p:nvPr>
            <p:ph type="dt" sz="half" idx="10"/>
          </p:nvPr>
        </p:nvSpPr>
        <p:spPr/>
        <p:txBody>
          <a:bodyPr/>
          <a:lstStyle/>
          <a:p>
            <a:fld id="{3D55D161-017C-4308-B022-23EEBD4A53E7}" type="datetime1">
              <a:rPr lang="de-DE" smtClean="0"/>
              <a:t>16.09.2025</a:t>
            </a:fld>
            <a:endParaRPr lang="de-DE"/>
          </a:p>
        </p:txBody>
      </p:sp>
      <p:sp>
        <p:nvSpPr>
          <p:cNvPr id="5" name="Fußzeilenplatzhalter 4">
            <a:extLst>
              <a:ext uri="{FF2B5EF4-FFF2-40B4-BE49-F238E27FC236}">
                <a16:creationId xmlns:a16="http://schemas.microsoft.com/office/drawing/2014/main" id="{6D3CA8E5-3D50-1482-5EA3-0AE0CCD1C7D3}"/>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D3B4CD6-D217-6A5A-C835-ABBF8EA87231}"/>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2170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FAC6231-501D-5B6C-07CA-78E57495AD7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A6AA6BA-E9E2-41B1-CDFA-CBD87B43E1E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405D0A-77D6-1022-E33C-FCFCDC61AC86}"/>
              </a:ext>
            </a:extLst>
          </p:cNvPr>
          <p:cNvSpPr>
            <a:spLocks noGrp="1"/>
          </p:cNvSpPr>
          <p:nvPr>
            <p:ph type="dt" sz="half" idx="10"/>
          </p:nvPr>
        </p:nvSpPr>
        <p:spPr/>
        <p:txBody>
          <a:bodyPr/>
          <a:lstStyle/>
          <a:p>
            <a:fld id="{685B6E2E-C33C-4093-9AD7-A0DDBAC742A6}" type="datetime1">
              <a:rPr lang="de-DE" smtClean="0"/>
              <a:t>16.09.2025</a:t>
            </a:fld>
            <a:endParaRPr lang="de-DE"/>
          </a:p>
        </p:txBody>
      </p:sp>
      <p:sp>
        <p:nvSpPr>
          <p:cNvPr id="5" name="Fußzeilenplatzhalter 4">
            <a:extLst>
              <a:ext uri="{FF2B5EF4-FFF2-40B4-BE49-F238E27FC236}">
                <a16:creationId xmlns:a16="http://schemas.microsoft.com/office/drawing/2014/main" id="{4BF6FBA2-0D4D-BABB-8A8B-7D96CF0C617D}"/>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814DBF3D-401F-3741-7E93-32CDCAC84CC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3832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DE23AD2-A997-A50A-7B9B-51EFA4D8E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20E3F0D2-6FEC-0D1F-2B92-081695429A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4BFB01D-569E-09F5-F922-327089C50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E4FBDE-3156-405F-8033-5D2AF69D6F32}" type="datetime1">
              <a:rPr lang="de-DE" smtClean="0"/>
              <a:t>16.09.2025</a:t>
            </a:fld>
            <a:endParaRPr lang="de-DE"/>
          </a:p>
        </p:txBody>
      </p:sp>
      <p:sp>
        <p:nvSpPr>
          <p:cNvPr id="5" name="Fußzeilenplatzhalter 4">
            <a:extLst>
              <a:ext uri="{FF2B5EF4-FFF2-40B4-BE49-F238E27FC236}">
                <a16:creationId xmlns:a16="http://schemas.microsoft.com/office/drawing/2014/main" id="{798C7273-F537-2E2B-2AA5-800EFD209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044149FB-4F02-55E2-A3FF-E64D0BD50A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CE166D-2D50-44F1-A818-BFD238545C9D}" type="slidenum">
              <a:rPr lang="de-DE" smtClean="0"/>
              <a:t>‹Nr.›</a:t>
            </a:fld>
            <a:endParaRPr lang="de-DE"/>
          </a:p>
        </p:txBody>
      </p:sp>
    </p:spTree>
    <p:extLst>
      <p:ext uri="{BB962C8B-B14F-4D97-AF65-F5344CB8AC3E}">
        <p14:creationId xmlns:p14="http://schemas.microsoft.com/office/powerpoint/2010/main" val="1999417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el 3">
            <a:extLst>
              <a:ext uri="{FF2B5EF4-FFF2-40B4-BE49-F238E27FC236}">
                <a16:creationId xmlns:a16="http://schemas.microsoft.com/office/drawing/2014/main" id="{2CA4602F-1958-AB10-C35C-5E47C9E0BE01}"/>
              </a:ext>
            </a:extLst>
          </p:cNvPr>
          <p:cNvSpPr>
            <a:spLocks noGrp="1"/>
          </p:cNvSpPr>
          <p:nvPr>
            <p:ph type="ctrTitle"/>
          </p:nvPr>
        </p:nvSpPr>
        <p:spPr>
          <a:xfrm>
            <a:off x="804672" y="5116529"/>
            <a:ext cx="10592174" cy="1000655"/>
          </a:xfrm>
        </p:spPr>
        <p:txBody>
          <a:bodyPr anchor="t">
            <a:normAutofit fontScale="90000"/>
          </a:bodyPr>
          <a:lstStyle/>
          <a:p>
            <a:pPr algn="l"/>
            <a:r>
              <a:rPr lang="de-DE" sz="4000" dirty="0">
                <a:solidFill>
                  <a:schemeClr val="tx2"/>
                </a:solidFill>
              </a:rPr>
              <a:t>DATENSCHUTZ-SCHULUNG</a:t>
            </a:r>
            <a:br>
              <a:rPr lang="de-DE" sz="4000" dirty="0">
                <a:solidFill>
                  <a:schemeClr val="tx2"/>
                </a:solidFill>
              </a:rPr>
            </a:br>
            <a:r>
              <a:rPr lang="de-DE" sz="4000" dirty="0">
                <a:solidFill>
                  <a:schemeClr val="tx2"/>
                </a:solidFill>
              </a:rPr>
              <a:t>Teil 2: Grundsätze der Verarbeitung</a:t>
            </a:r>
          </a:p>
        </p:txBody>
      </p:sp>
      <p:pic>
        <p:nvPicPr>
          <p:cNvPr id="7" name="Grafik 6" descr="Ein Bild, das Person, Raum, Hand enthält.&#10;&#10;KI-generierte Inhalte können fehlerhaft sein.">
            <a:extLst>
              <a:ext uri="{FF2B5EF4-FFF2-40B4-BE49-F238E27FC236}">
                <a16:creationId xmlns:a16="http://schemas.microsoft.com/office/drawing/2014/main" id="{A1489AE2-F9B8-F8ED-00E3-14646775A932}"/>
              </a:ext>
            </a:extLst>
          </p:cNvPr>
          <p:cNvPicPr>
            <a:picLocks noChangeAspect="1"/>
          </p:cNvPicPr>
          <p:nvPr/>
        </p:nvPicPr>
        <p:blipFill>
          <a:blip r:embed="rId2">
            <a:extLst>
              <a:ext uri="{28A0092B-C50C-407E-A947-70E740481C1C}">
                <a14:useLocalDpi xmlns:a14="http://schemas.microsoft.com/office/drawing/2010/main" val="0"/>
              </a:ext>
            </a:extLst>
          </a:blip>
          <a:srcRect t="21567" b="33968"/>
          <a:stretch>
            <a:fillRect/>
          </a:stretch>
        </p:blipFill>
        <p:spPr>
          <a:xfrm>
            <a:off x="-1" y="10"/>
            <a:ext cx="12192001" cy="4201449"/>
          </a:xfrm>
          <a:prstGeom prst="rect">
            <a:avLst/>
          </a:prstGeom>
        </p:spPr>
      </p:pic>
      <p:grpSp>
        <p:nvGrpSpPr>
          <p:cNvPr id="14" name="Group 13">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5" name="Freeform: Shape 14">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5" name="Untertitel 4">
            <a:extLst>
              <a:ext uri="{FF2B5EF4-FFF2-40B4-BE49-F238E27FC236}">
                <a16:creationId xmlns:a16="http://schemas.microsoft.com/office/drawing/2014/main" id="{F80A9AF6-4E73-62A3-65EE-D5681D90E29C}"/>
              </a:ext>
            </a:extLst>
          </p:cNvPr>
          <p:cNvSpPr>
            <a:spLocks noGrp="1"/>
          </p:cNvSpPr>
          <p:nvPr>
            <p:ph type="subTitle" idx="1"/>
          </p:nvPr>
        </p:nvSpPr>
        <p:spPr>
          <a:xfrm>
            <a:off x="804672" y="4580785"/>
            <a:ext cx="9416898" cy="484374"/>
          </a:xfrm>
        </p:spPr>
        <p:txBody>
          <a:bodyPr anchor="b">
            <a:normAutofit/>
          </a:bodyPr>
          <a:lstStyle/>
          <a:p>
            <a:pPr algn="l"/>
            <a:r>
              <a:rPr lang="de-DE" sz="2000" dirty="0">
                <a:solidFill>
                  <a:schemeClr val="tx2"/>
                </a:solidFill>
              </a:rPr>
              <a:t>Fachinformatiker </a:t>
            </a:r>
            <a:r>
              <a:rPr lang="de-DE" sz="2000" dirty="0" err="1">
                <a:solidFill>
                  <a:schemeClr val="tx2"/>
                </a:solidFill>
              </a:rPr>
              <a:t>by</a:t>
            </a:r>
            <a:r>
              <a:rPr lang="de-DE" sz="2000" dirty="0">
                <a:solidFill>
                  <a:schemeClr val="tx2"/>
                </a:solidFill>
              </a:rPr>
              <a:t> IBB</a:t>
            </a:r>
          </a:p>
        </p:txBody>
      </p:sp>
      <p:sp>
        <p:nvSpPr>
          <p:cNvPr id="2" name="Fußzeilenplatzhalter 1">
            <a:extLst>
              <a:ext uri="{FF2B5EF4-FFF2-40B4-BE49-F238E27FC236}">
                <a16:creationId xmlns:a16="http://schemas.microsoft.com/office/drawing/2014/main" id="{B335ED99-E2A6-072A-014D-0A8A58CD67B0}"/>
              </a:ext>
            </a:extLst>
          </p:cNvPr>
          <p:cNvSpPr>
            <a:spLocks noGrp="1"/>
          </p:cNvSpPr>
          <p:nvPr>
            <p:ph type="ftr" sz="quarter" idx="11"/>
          </p:nvPr>
        </p:nvSpPr>
        <p:spPr/>
        <p:txBody>
          <a:bodyPr/>
          <a:lstStyle/>
          <a:p>
            <a:r>
              <a:rPr lang="de-DE"/>
              <a:t>Dirk Moltzen - externer Datenschutzbeauftragter TÜV® CERT</a:t>
            </a:r>
          </a:p>
        </p:txBody>
      </p:sp>
      <p:sp>
        <p:nvSpPr>
          <p:cNvPr id="3" name="Foliennummernplatzhalter 2">
            <a:extLst>
              <a:ext uri="{FF2B5EF4-FFF2-40B4-BE49-F238E27FC236}">
                <a16:creationId xmlns:a16="http://schemas.microsoft.com/office/drawing/2014/main" id="{3DDA28E4-EC39-8437-806C-94417B853BCB}"/>
              </a:ext>
            </a:extLst>
          </p:cNvPr>
          <p:cNvSpPr>
            <a:spLocks noGrp="1"/>
          </p:cNvSpPr>
          <p:nvPr>
            <p:ph type="sldNum" sz="quarter" idx="12"/>
          </p:nvPr>
        </p:nvSpPr>
        <p:spPr/>
        <p:txBody>
          <a:bodyPr/>
          <a:lstStyle/>
          <a:p>
            <a:fld id="{B4CE166D-2D50-44F1-A818-BFD238545C9D}" type="slidenum">
              <a:rPr lang="de-DE" smtClean="0"/>
              <a:t>1</a:t>
            </a:fld>
            <a:endParaRPr lang="de-DE"/>
          </a:p>
        </p:txBody>
      </p:sp>
    </p:spTree>
    <p:extLst>
      <p:ext uri="{BB962C8B-B14F-4D97-AF65-F5344CB8AC3E}">
        <p14:creationId xmlns:p14="http://schemas.microsoft.com/office/powerpoint/2010/main" val="744624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DC7A6-25DE-2B51-B038-D7965BE0828C}"/>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A95CDC3F-8576-7A1D-50A2-F91534F00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Ein Bild, das Screenshot, Dunkelheit, Text, Schwarz enthält.&#10;&#10;KI-generierte Inhalte können fehlerhaft sein.">
            <a:extLst>
              <a:ext uri="{FF2B5EF4-FFF2-40B4-BE49-F238E27FC236}">
                <a16:creationId xmlns:a16="http://schemas.microsoft.com/office/drawing/2014/main" id="{5F10BC03-53B4-B702-B9CF-C3011CBF6058}"/>
              </a:ext>
            </a:extLst>
          </p:cNvPr>
          <p:cNvPicPr>
            <a:picLocks noChangeAspect="1"/>
          </p:cNvPicPr>
          <p:nvPr/>
        </p:nvPicPr>
        <p:blipFill>
          <a:blip r:embed="rId2">
            <a:extLst>
              <a:ext uri="{28A0092B-C50C-407E-A947-70E740481C1C}">
                <a14:useLocalDpi xmlns:a14="http://schemas.microsoft.com/office/drawing/2010/main" val="0"/>
              </a:ext>
            </a:extLst>
          </a:blip>
          <a:srcRect l="51169" t="4154" r="371"/>
          <a:stretch>
            <a:fillRect/>
          </a:stretch>
        </p:blipFill>
        <p:spPr>
          <a:xfrm>
            <a:off x="3523488" y="10"/>
            <a:ext cx="8668512" cy="6857990"/>
          </a:xfrm>
          <a:prstGeom prst="rect">
            <a:avLst/>
          </a:prstGeom>
        </p:spPr>
      </p:pic>
      <p:sp>
        <p:nvSpPr>
          <p:cNvPr id="45" name="Rectangle 44">
            <a:extLst>
              <a:ext uri="{FF2B5EF4-FFF2-40B4-BE49-F238E27FC236}">
                <a16:creationId xmlns:a16="http://schemas.microsoft.com/office/drawing/2014/main" id="{93DF34C1-4DEB-FD6E-BC12-4CB12B467A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3C04F726-99FD-7067-1C2C-6DFF13BF1DB9}"/>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2.5</a:t>
            </a:r>
          </a:p>
        </p:txBody>
      </p:sp>
      <p:sp>
        <p:nvSpPr>
          <p:cNvPr id="3" name="Textplatzhalter 2">
            <a:extLst>
              <a:ext uri="{FF2B5EF4-FFF2-40B4-BE49-F238E27FC236}">
                <a16:creationId xmlns:a16="http://schemas.microsoft.com/office/drawing/2014/main" id="{290ECA1F-1BD0-B8CE-3BB2-BB764E62F521}"/>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dirty="0" err="1">
                <a:solidFill>
                  <a:schemeClr val="tx1"/>
                </a:solidFill>
              </a:rPr>
              <a:t>Technisch-Organisatorische</a:t>
            </a:r>
            <a:r>
              <a:rPr lang="en-US" sz="2000" b="1" dirty="0">
                <a:solidFill>
                  <a:schemeClr val="tx1"/>
                </a:solidFill>
              </a:rPr>
              <a:t> </a:t>
            </a:r>
            <a:r>
              <a:rPr lang="en-US" sz="2000" b="1" dirty="0" err="1">
                <a:solidFill>
                  <a:schemeClr val="tx1"/>
                </a:solidFill>
              </a:rPr>
              <a:t>Maßnahmen</a:t>
            </a:r>
            <a:r>
              <a:rPr lang="en-US" sz="2000" b="1" dirty="0">
                <a:solidFill>
                  <a:schemeClr val="tx1"/>
                </a:solidFill>
              </a:rPr>
              <a:t> (TOM)</a:t>
            </a:r>
            <a:endParaRPr lang="en-US" sz="2000" dirty="0">
              <a:solidFill>
                <a:schemeClr val="tx1"/>
              </a:solidFill>
            </a:endParaRPr>
          </a:p>
        </p:txBody>
      </p:sp>
      <p:sp>
        <p:nvSpPr>
          <p:cNvPr id="47" name="Rectangle 46">
            <a:extLst>
              <a:ext uri="{FF2B5EF4-FFF2-40B4-BE49-F238E27FC236}">
                <a16:creationId xmlns:a16="http://schemas.microsoft.com/office/drawing/2014/main" id="{1D249D1E-4D67-E2F6-E188-906B70CB58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72CEB652-DF9D-C9C2-674B-1401DF11C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2153D06D-C320-F12C-4B4B-D690C06D5689}"/>
              </a:ext>
            </a:extLst>
          </p:cNvPr>
          <p:cNvSpPr>
            <a:spLocks noGrp="1"/>
          </p:cNvSpPr>
          <p:nvPr>
            <p:ph type="ftr" sz="quarter" idx="11"/>
          </p:nvPr>
        </p:nvSpPr>
        <p:spPr>
          <a:xfrm>
            <a:off x="1692321" y="6356350"/>
            <a:ext cx="3035322" cy="365125"/>
          </a:xfrm>
        </p:spPr>
        <p:txBody>
          <a:bodyPr vert="horz" lIns="91440" tIns="45720" rIns="91440" bIns="45720" rtlCol="0" anchor="ctr">
            <a:normAutofit/>
          </a:bodyPr>
          <a:lstStyle/>
          <a:p>
            <a:pPr algn="r">
              <a:lnSpc>
                <a:spcPct val="90000"/>
              </a:lnSpc>
              <a:spcAft>
                <a:spcPts val="600"/>
              </a:spcAft>
              <a:defRPr/>
            </a:pPr>
            <a:r>
              <a:rPr lang="en-US" sz="900" kern="1200" dirty="0">
                <a:solidFill>
                  <a:schemeClr val="tx1">
                    <a:lumMod val="50000"/>
                    <a:lumOff val="50000"/>
                  </a:schemeClr>
                </a:solidFill>
                <a:latin typeface="Calibri" panose="020F0502020204030204"/>
                <a:ea typeface="+mn-ea"/>
                <a:cs typeface="+mn-cs"/>
              </a:rPr>
              <a:t>Dirk Moltzen - </a:t>
            </a:r>
            <a:r>
              <a:rPr lang="en-US" sz="900" kern="1200" dirty="0" err="1">
                <a:solidFill>
                  <a:schemeClr val="tx1">
                    <a:lumMod val="50000"/>
                    <a:lumOff val="50000"/>
                  </a:schemeClr>
                </a:solidFill>
                <a:latin typeface="Calibri" panose="020F0502020204030204"/>
                <a:ea typeface="+mn-ea"/>
                <a:cs typeface="+mn-cs"/>
              </a:rPr>
              <a:t>externer</a:t>
            </a:r>
            <a:r>
              <a:rPr lang="en-US" sz="900" kern="1200" dirty="0">
                <a:solidFill>
                  <a:schemeClr val="tx1">
                    <a:lumMod val="50000"/>
                    <a:lumOff val="50000"/>
                  </a:schemeClr>
                </a:solidFill>
                <a:latin typeface="Calibri" panose="020F0502020204030204"/>
                <a:ea typeface="+mn-ea"/>
                <a:cs typeface="+mn-cs"/>
              </a:rPr>
              <a:t> </a:t>
            </a:r>
            <a:r>
              <a:rPr lang="en-US" sz="900" kern="1200" dirty="0" err="1">
                <a:solidFill>
                  <a:schemeClr val="tx1">
                    <a:lumMod val="50000"/>
                    <a:lumOff val="50000"/>
                  </a:schemeClr>
                </a:solidFill>
                <a:latin typeface="Calibri" panose="020F0502020204030204"/>
                <a:ea typeface="+mn-ea"/>
                <a:cs typeface="+mn-cs"/>
              </a:rPr>
              <a:t>Datenschutzbeauftragter</a:t>
            </a:r>
            <a:r>
              <a:rPr lang="en-US" sz="900" kern="1200" dirty="0">
                <a:solidFill>
                  <a:schemeClr val="tx1">
                    <a:lumMod val="50000"/>
                    <a:lumOff val="50000"/>
                  </a:schemeClr>
                </a:solidFill>
                <a:latin typeface="Calibri" panose="020F0502020204030204"/>
                <a:ea typeface="+mn-ea"/>
                <a:cs typeface="+mn-cs"/>
              </a:rPr>
              <a:t> TÜV® CERT</a:t>
            </a:r>
          </a:p>
        </p:txBody>
      </p:sp>
      <p:sp>
        <p:nvSpPr>
          <p:cNvPr id="6" name="Foliennummernplatzhalter 5">
            <a:extLst>
              <a:ext uri="{FF2B5EF4-FFF2-40B4-BE49-F238E27FC236}">
                <a16:creationId xmlns:a16="http://schemas.microsoft.com/office/drawing/2014/main" id="{BF5C39FD-51DB-D948-5151-FD769136BC5A}"/>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2</a:t>
            </a:fld>
            <a:endParaRPr lang="en-US">
              <a:solidFill>
                <a:schemeClr val="bg1"/>
              </a:solidFill>
              <a:latin typeface="Calibri" panose="020F0502020204030204"/>
            </a:endParaRPr>
          </a:p>
        </p:txBody>
      </p:sp>
    </p:spTree>
    <p:extLst>
      <p:ext uri="{BB962C8B-B14F-4D97-AF65-F5344CB8AC3E}">
        <p14:creationId xmlns:p14="http://schemas.microsoft.com/office/powerpoint/2010/main" val="2513923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6C42B-90E9-24FB-119A-7D1C9FD7CAF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D0C5B4C-836B-FE3B-2FE0-B88E2E6B4E5E}"/>
              </a:ext>
            </a:extLst>
          </p:cNvPr>
          <p:cNvSpPr>
            <a:spLocks noGrp="1"/>
          </p:cNvSpPr>
          <p:nvPr>
            <p:ph type="title"/>
          </p:nvPr>
        </p:nvSpPr>
        <p:spPr>
          <a:xfrm>
            <a:off x="838200" y="365125"/>
            <a:ext cx="10515600" cy="841105"/>
          </a:xfrm>
        </p:spPr>
        <p:txBody>
          <a:bodyPr>
            <a:normAutofit fontScale="90000"/>
          </a:bodyPr>
          <a:lstStyle/>
          <a:p>
            <a:r>
              <a:rPr lang="en-US" dirty="0"/>
              <a:t>TOMs (</a:t>
            </a:r>
            <a:r>
              <a:rPr lang="en-US" dirty="0" err="1"/>
              <a:t>technisch-organisatorische</a:t>
            </a:r>
            <a:r>
              <a:rPr lang="en-US" dirty="0"/>
              <a:t> </a:t>
            </a:r>
            <a:r>
              <a:rPr lang="en-US" dirty="0" err="1"/>
              <a:t>Maßnahmen</a:t>
            </a:r>
            <a:r>
              <a:rPr lang="en-US" dirty="0"/>
              <a:t>)</a:t>
            </a:r>
            <a:endParaRPr lang="de-DE" dirty="0"/>
          </a:p>
        </p:txBody>
      </p:sp>
      <p:sp>
        <p:nvSpPr>
          <p:cNvPr id="3" name="Inhaltsplatzhalter 2">
            <a:extLst>
              <a:ext uri="{FF2B5EF4-FFF2-40B4-BE49-F238E27FC236}">
                <a16:creationId xmlns:a16="http://schemas.microsoft.com/office/drawing/2014/main" id="{8E1E2BCE-E605-20B8-A150-EE1575AC2D35}"/>
              </a:ext>
            </a:extLst>
          </p:cNvPr>
          <p:cNvSpPr>
            <a:spLocks noGrp="1"/>
          </p:cNvSpPr>
          <p:nvPr>
            <p:ph idx="1"/>
          </p:nvPr>
        </p:nvSpPr>
        <p:spPr>
          <a:xfrm>
            <a:off x="838200" y="1303506"/>
            <a:ext cx="10515600" cy="4873457"/>
          </a:xfrm>
        </p:spPr>
        <p:txBody>
          <a:bodyPr>
            <a:normAutofit/>
          </a:bodyPr>
          <a:lstStyle/>
          <a:p>
            <a:pPr marL="0" indent="0">
              <a:lnSpc>
                <a:spcPct val="107000"/>
              </a:lnSpc>
              <a:buNone/>
            </a:pPr>
            <a:endParaRPr lang="de-DE" kern="100" dirty="0">
              <a:ea typeface="Aptos" panose="020B0004020202020204" pitchFamily="34" charset="0"/>
              <a:cs typeface="Times New Roman" panose="02020603050405020304" pitchFamily="18" charset="0"/>
            </a:endParaRPr>
          </a:p>
          <a:p>
            <a:pPr>
              <a:lnSpc>
                <a:spcPct val="107000"/>
              </a:lnSpc>
            </a:pPr>
            <a:r>
              <a:rPr lang="de-DE" kern="100" dirty="0">
                <a:effectLst/>
                <a:ea typeface="Aptos" panose="020B0004020202020204" pitchFamily="34" charset="0"/>
                <a:cs typeface="Times New Roman" panose="02020603050405020304" pitchFamily="18" charset="0"/>
              </a:rPr>
              <a:t>Zur Verhinderung </a:t>
            </a:r>
            <a:r>
              <a:rPr lang="de-DE" b="1" kern="100" dirty="0">
                <a:effectLst/>
                <a:ea typeface="Aptos" panose="020B0004020202020204" pitchFamily="34" charset="0"/>
                <a:cs typeface="Times New Roman" panose="02020603050405020304" pitchFamily="18" charset="0"/>
              </a:rPr>
              <a:t>unberechtigter Manipulation</a:t>
            </a:r>
            <a:br>
              <a:rPr lang="de-DE" b="1" kern="100" dirty="0">
                <a:effectLst/>
                <a:ea typeface="Aptos" panose="020B0004020202020204" pitchFamily="34" charset="0"/>
                <a:cs typeface="Times New Roman" panose="02020603050405020304" pitchFamily="18" charset="0"/>
              </a:rPr>
            </a:br>
            <a:endParaRPr lang="de-DE" kern="100" dirty="0">
              <a:effectLst/>
              <a:ea typeface="Aptos" panose="020B0004020202020204" pitchFamily="34" charset="0"/>
              <a:cs typeface="Times New Roman" panose="02020603050405020304" pitchFamily="18" charset="0"/>
            </a:endParaRPr>
          </a:p>
          <a:p>
            <a:pPr>
              <a:lnSpc>
                <a:spcPct val="107000"/>
              </a:lnSpc>
            </a:pPr>
            <a:r>
              <a:rPr lang="de-DE" kern="100" dirty="0">
                <a:effectLst/>
                <a:ea typeface="Aptos" panose="020B0004020202020204" pitchFamily="34" charset="0"/>
                <a:cs typeface="Times New Roman" panose="02020603050405020304" pitchFamily="18" charset="0"/>
              </a:rPr>
              <a:t>Sicherstellung der </a:t>
            </a:r>
            <a:r>
              <a:rPr lang="de-DE" b="1" kern="100" dirty="0">
                <a:effectLst/>
                <a:ea typeface="Aptos" panose="020B0004020202020204" pitchFamily="34" charset="0"/>
                <a:cs typeface="Times New Roman" panose="02020603050405020304" pitchFamily="18" charset="0"/>
              </a:rPr>
              <a:t>Integrität</a:t>
            </a:r>
            <a:r>
              <a:rPr lang="de-DE" kern="100" dirty="0">
                <a:effectLst/>
                <a:ea typeface="Aptos" panose="020B0004020202020204" pitchFamily="34" charset="0"/>
                <a:cs typeface="Times New Roman" panose="02020603050405020304" pitchFamily="18" charset="0"/>
              </a:rPr>
              <a:t> von Daten</a:t>
            </a:r>
            <a:br>
              <a:rPr lang="de-DE" kern="100" dirty="0">
                <a:effectLst/>
                <a:ea typeface="Aptos" panose="020B0004020202020204" pitchFamily="34" charset="0"/>
                <a:cs typeface="Times New Roman" panose="02020603050405020304" pitchFamily="18" charset="0"/>
              </a:rPr>
            </a:br>
            <a:endParaRPr lang="de-DE"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kern="100" dirty="0">
                <a:effectLst/>
                <a:ea typeface="Aptos" panose="020B0004020202020204" pitchFamily="34" charset="0"/>
                <a:cs typeface="Times New Roman" panose="02020603050405020304" pitchFamily="18" charset="0"/>
              </a:rPr>
              <a:t>Verhinderung </a:t>
            </a:r>
            <a:r>
              <a:rPr lang="de-DE" b="1" kern="100" dirty="0">
                <a:effectLst/>
                <a:ea typeface="Aptos" panose="020B0004020202020204" pitchFamily="34" charset="0"/>
                <a:cs typeface="Times New Roman" panose="02020603050405020304" pitchFamily="18" charset="0"/>
              </a:rPr>
              <a:t>unberechtigten Zugriffs</a:t>
            </a:r>
            <a:r>
              <a:rPr lang="de-DE" kern="100" dirty="0">
                <a:effectLst/>
                <a:ea typeface="Aptos" panose="020B0004020202020204" pitchFamily="34" charset="0"/>
                <a:cs typeface="Times New Roman" panose="02020603050405020304" pitchFamily="18" charset="0"/>
              </a:rPr>
              <a:t> auf Daten</a:t>
            </a:r>
            <a:br>
              <a:rPr lang="de-DE" kern="100" dirty="0">
                <a:effectLst/>
                <a:ea typeface="Aptos" panose="020B0004020202020204" pitchFamily="34" charset="0"/>
                <a:cs typeface="Times New Roman" panose="02020603050405020304" pitchFamily="18" charset="0"/>
              </a:rPr>
            </a:br>
            <a:endParaRPr lang="de-DE" kern="100" dirty="0">
              <a:effectLst/>
              <a:ea typeface="Aptos" panose="020B0004020202020204" pitchFamily="34" charset="0"/>
              <a:cs typeface="Times New Roman" panose="02020603050405020304" pitchFamily="18" charset="0"/>
            </a:endParaRPr>
          </a:p>
          <a:p>
            <a:r>
              <a:rPr lang="de-DE" dirty="0">
                <a:effectLst/>
                <a:ea typeface="Aptos" panose="020B0004020202020204" pitchFamily="34" charset="0"/>
              </a:rPr>
              <a:t>Regelung des </a:t>
            </a:r>
            <a:r>
              <a:rPr lang="de-DE" b="1" dirty="0">
                <a:effectLst/>
                <a:ea typeface="Aptos" panose="020B0004020202020204" pitchFamily="34" charset="0"/>
              </a:rPr>
              <a:t>Zugangs und Zugriffs</a:t>
            </a:r>
            <a:r>
              <a:rPr lang="de-DE" dirty="0">
                <a:effectLst/>
                <a:ea typeface="Aptos" panose="020B0004020202020204" pitchFamily="34" charset="0"/>
              </a:rPr>
              <a:t> auf technische Systeme</a:t>
            </a:r>
            <a:endParaRPr lang="de-DE"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35F0FCBF-8481-8F2B-C44A-07D41D2A7D0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09D433A3-EBA6-016D-5304-1EB817FFE39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56044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68934-3FB8-7BC1-4114-91AC9F3F667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2B02625-6A89-8F98-AA9A-29EAC63A6745}"/>
              </a:ext>
            </a:extLst>
          </p:cNvPr>
          <p:cNvSpPr>
            <a:spLocks noGrp="1"/>
          </p:cNvSpPr>
          <p:nvPr>
            <p:ph type="title"/>
          </p:nvPr>
        </p:nvSpPr>
        <p:spPr>
          <a:xfrm>
            <a:off x="838200" y="365125"/>
            <a:ext cx="10515600" cy="841105"/>
          </a:xfrm>
        </p:spPr>
        <p:txBody>
          <a:bodyPr>
            <a:normAutofit/>
          </a:bodyPr>
          <a:lstStyle/>
          <a:p>
            <a:r>
              <a:rPr lang="en-US" dirty="0" err="1"/>
              <a:t>Herausforderungen</a:t>
            </a:r>
            <a:r>
              <a:rPr lang="en-US" dirty="0"/>
              <a:t> </a:t>
            </a:r>
            <a:r>
              <a:rPr lang="en-US" dirty="0" err="1"/>
              <a:t>im</a:t>
            </a:r>
            <a:r>
              <a:rPr lang="en-US" dirty="0"/>
              <a:t> </a:t>
            </a:r>
            <a:r>
              <a:rPr lang="en-US" dirty="0" err="1"/>
              <a:t>Datenschutz</a:t>
            </a:r>
            <a:endParaRPr lang="de-DE" dirty="0"/>
          </a:p>
        </p:txBody>
      </p:sp>
      <p:sp>
        <p:nvSpPr>
          <p:cNvPr id="3" name="Inhaltsplatzhalter 2">
            <a:extLst>
              <a:ext uri="{FF2B5EF4-FFF2-40B4-BE49-F238E27FC236}">
                <a16:creationId xmlns:a16="http://schemas.microsoft.com/office/drawing/2014/main" id="{D5558F22-32E1-7E01-AF25-572E564B854D}"/>
              </a:ext>
            </a:extLst>
          </p:cNvPr>
          <p:cNvSpPr>
            <a:spLocks noGrp="1"/>
          </p:cNvSpPr>
          <p:nvPr>
            <p:ph idx="1"/>
          </p:nvPr>
        </p:nvSpPr>
        <p:spPr>
          <a:xfrm>
            <a:off x="838200" y="1303506"/>
            <a:ext cx="10515600" cy="4873457"/>
          </a:xfrm>
        </p:spPr>
        <p:txBody>
          <a:bodyPr>
            <a:normAutofit/>
          </a:bodyPr>
          <a:lstStyle/>
          <a:p>
            <a:pPr marL="0" indent="0">
              <a:lnSpc>
                <a:spcPct val="107000"/>
              </a:lnSpc>
              <a:buNone/>
            </a:pPr>
            <a:endParaRPr lang="de-DE" sz="2400" kern="100" dirty="0">
              <a:effectLst/>
              <a:ea typeface="Aptos" panose="020B0004020202020204" pitchFamily="34" charset="0"/>
              <a:cs typeface="Times New Roman" panose="02020603050405020304" pitchFamily="18" charset="0"/>
            </a:endParaRPr>
          </a:p>
          <a:p>
            <a:pPr>
              <a:lnSpc>
                <a:spcPct val="107000"/>
              </a:lnSpc>
            </a:pPr>
            <a:r>
              <a:rPr lang="de-DE" sz="2400" kern="100" dirty="0">
                <a:effectLst/>
                <a:ea typeface="Aptos" panose="020B0004020202020204" pitchFamily="34" charset="0"/>
                <a:cs typeface="Times New Roman" panose="02020603050405020304" pitchFamily="18" charset="0"/>
              </a:rPr>
              <a:t>Programme / Betriebssysteme oder Teile davon, die </a:t>
            </a:r>
            <a:r>
              <a:rPr lang="de-DE" sz="2400" b="1" kern="100" dirty="0">
                <a:effectLst/>
                <a:ea typeface="Aptos" panose="020B0004020202020204" pitchFamily="34" charset="0"/>
                <a:cs typeface="Times New Roman" panose="02020603050405020304" pitchFamily="18" charset="0"/>
              </a:rPr>
              <a:t>ungewollt schadhafte Routinen ausführen</a:t>
            </a:r>
            <a:br>
              <a:rPr lang="de-DE" sz="2400" b="1" kern="100" dirty="0">
                <a:effectLst/>
                <a:ea typeface="Aptos" panose="020B0004020202020204" pitchFamily="34" charset="0"/>
                <a:cs typeface="Times New Roman" panose="02020603050405020304" pitchFamily="18" charset="0"/>
              </a:rPr>
            </a:br>
            <a:endParaRPr lang="de-DE" sz="2400" kern="100" dirty="0">
              <a:effectLst/>
              <a:ea typeface="Aptos" panose="020B0004020202020204" pitchFamily="34" charset="0"/>
              <a:cs typeface="Times New Roman" panose="02020603050405020304" pitchFamily="18" charset="0"/>
            </a:endParaRPr>
          </a:p>
          <a:p>
            <a:pPr>
              <a:lnSpc>
                <a:spcPct val="107000"/>
              </a:lnSpc>
            </a:pPr>
            <a:r>
              <a:rPr lang="de-DE" sz="2400" kern="100" dirty="0">
                <a:effectLst/>
                <a:ea typeface="Aptos" panose="020B0004020202020204" pitchFamily="34" charset="0"/>
                <a:cs typeface="Times New Roman" panose="02020603050405020304" pitchFamily="18" charset="0"/>
              </a:rPr>
              <a:t>Programme / Betriebssysteme oder Teile davon, die </a:t>
            </a:r>
            <a:r>
              <a:rPr lang="de-DE" sz="2400" b="1" kern="100" dirty="0">
                <a:effectLst/>
                <a:ea typeface="Aptos" panose="020B0004020202020204" pitchFamily="34" charset="0"/>
                <a:cs typeface="Times New Roman" panose="02020603050405020304" pitchFamily="18" charset="0"/>
              </a:rPr>
              <a:t>in schadensträchtiger Absicht auf Datenbestand zugreifen (Malware)</a:t>
            </a:r>
            <a:br>
              <a:rPr lang="de-DE" sz="2400" b="1" kern="100" dirty="0">
                <a:effectLst/>
                <a:ea typeface="Aptos" panose="020B0004020202020204" pitchFamily="34" charset="0"/>
                <a:cs typeface="Times New Roman" panose="02020603050405020304" pitchFamily="18" charset="0"/>
              </a:rPr>
            </a:br>
            <a:endParaRPr lang="de-DE" sz="2400" kern="100" dirty="0">
              <a:effectLst/>
              <a:ea typeface="Aptos" panose="020B0004020202020204" pitchFamily="34" charset="0"/>
              <a:cs typeface="Times New Roman" panose="02020603050405020304" pitchFamily="18" charset="0"/>
            </a:endParaRPr>
          </a:p>
          <a:p>
            <a:pPr>
              <a:lnSpc>
                <a:spcPct val="107000"/>
              </a:lnSpc>
            </a:pPr>
            <a:r>
              <a:rPr lang="de-DE" sz="2400" b="1" kern="100" dirty="0">
                <a:effectLst/>
                <a:ea typeface="Aptos" panose="020B0004020202020204" pitchFamily="34" charset="0"/>
                <a:cs typeface="Times New Roman" panose="02020603050405020304" pitchFamily="18" charset="0"/>
              </a:rPr>
              <a:t>Unbedarfte Anwender</a:t>
            </a:r>
            <a:br>
              <a:rPr lang="de-DE" sz="2400" b="1" kern="100" dirty="0">
                <a:effectLst/>
                <a:ea typeface="Aptos" panose="020B0004020202020204" pitchFamily="34" charset="0"/>
                <a:cs typeface="Times New Roman" panose="02020603050405020304" pitchFamily="18" charset="0"/>
              </a:rPr>
            </a:br>
            <a:endParaRPr lang="de-DE" sz="2400"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sz="2400" b="1" kern="100" dirty="0">
                <a:effectLst/>
                <a:ea typeface="Aptos" panose="020B0004020202020204" pitchFamily="34" charset="0"/>
                <a:cs typeface="Times New Roman" panose="02020603050405020304" pitchFamily="18" charset="0"/>
              </a:rPr>
              <a:t>Bewusstes schadhaftes Verhalten</a:t>
            </a:r>
            <a:r>
              <a:rPr lang="de-DE" sz="2400" kern="100" dirty="0">
                <a:effectLst/>
                <a:ea typeface="Aptos" panose="020B0004020202020204" pitchFamily="34" charset="0"/>
                <a:cs typeface="Times New Roman" panose="02020603050405020304" pitchFamily="18" charset="0"/>
              </a:rPr>
              <a:t> von Internen bzw. externen Personen</a:t>
            </a:r>
          </a:p>
          <a:p>
            <a:pPr>
              <a:lnSpc>
                <a:spcPct val="107000"/>
              </a:lnSpc>
            </a:pPr>
            <a:endParaRPr lang="de-DE" sz="2400"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9575E3ED-9EB8-B9F2-7EAE-C2FD0501ABC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57908C47-6E27-51A5-3D0B-29BF2953852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95203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68A2-6411-CE85-072F-9D2FD088EC1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0B231CC-30E1-3397-A35A-2F39A01C4627}"/>
              </a:ext>
            </a:extLst>
          </p:cNvPr>
          <p:cNvSpPr>
            <a:spLocks noGrp="1"/>
          </p:cNvSpPr>
          <p:nvPr>
            <p:ph type="title"/>
          </p:nvPr>
        </p:nvSpPr>
        <p:spPr>
          <a:xfrm>
            <a:off x="838200" y="365125"/>
            <a:ext cx="10515600" cy="841105"/>
          </a:xfrm>
        </p:spPr>
        <p:txBody>
          <a:bodyPr>
            <a:normAutofit/>
          </a:bodyPr>
          <a:lstStyle/>
          <a:p>
            <a:r>
              <a:rPr lang="en-US" dirty="0" err="1"/>
              <a:t>Gewährleistung</a:t>
            </a:r>
            <a:r>
              <a:rPr lang="en-US" dirty="0"/>
              <a:t> von TOMs</a:t>
            </a:r>
            <a:endParaRPr lang="de-DE" dirty="0"/>
          </a:p>
        </p:txBody>
      </p:sp>
      <p:sp>
        <p:nvSpPr>
          <p:cNvPr id="3" name="Inhaltsplatzhalter 2">
            <a:extLst>
              <a:ext uri="{FF2B5EF4-FFF2-40B4-BE49-F238E27FC236}">
                <a16:creationId xmlns:a16="http://schemas.microsoft.com/office/drawing/2014/main" id="{1D6B9D66-A6CD-8587-330A-9BA39387AE87}"/>
              </a:ext>
            </a:extLst>
          </p:cNvPr>
          <p:cNvSpPr>
            <a:spLocks noGrp="1"/>
          </p:cNvSpPr>
          <p:nvPr>
            <p:ph idx="1"/>
          </p:nvPr>
        </p:nvSpPr>
        <p:spPr>
          <a:xfrm>
            <a:off x="838200" y="1303506"/>
            <a:ext cx="10515600" cy="4873457"/>
          </a:xfrm>
        </p:spPr>
        <p:txBody>
          <a:bodyPr>
            <a:noAutofit/>
          </a:bodyPr>
          <a:lstStyle/>
          <a:p>
            <a:pPr>
              <a:lnSpc>
                <a:spcPct val="107000"/>
              </a:lnSpc>
            </a:pPr>
            <a:endParaRPr lang="de-DE" sz="2400" b="1" kern="100" dirty="0">
              <a:effectLst/>
              <a:ea typeface="Aptos" panose="020B0004020202020204" pitchFamily="34" charset="0"/>
              <a:cs typeface="Times New Roman" panose="02020603050405020304" pitchFamily="18" charset="0"/>
            </a:endParaRPr>
          </a:p>
          <a:p>
            <a:pPr>
              <a:lnSpc>
                <a:spcPct val="107000"/>
              </a:lnSpc>
            </a:pPr>
            <a:r>
              <a:rPr lang="de-DE" sz="2400" b="1" kern="100" dirty="0">
                <a:effectLst/>
                <a:ea typeface="Aptos" panose="020B0004020202020204" pitchFamily="34" charset="0"/>
                <a:cs typeface="Times New Roman" panose="02020603050405020304" pitchFamily="18" charset="0"/>
              </a:rPr>
              <a:t>Zugriff </a:t>
            </a:r>
            <a:r>
              <a:rPr lang="de-DE" sz="2400" kern="100" dirty="0">
                <a:effectLst/>
                <a:ea typeface="Aptos" panose="020B0004020202020204" pitchFamily="34" charset="0"/>
                <a:cs typeface="Times New Roman" panose="02020603050405020304" pitchFamily="18" charset="0"/>
              </a:rPr>
              <a:t>auf Daten </a:t>
            </a:r>
            <a:r>
              <a:rPr lang="de-DE" sz="2400" b="1" kern="100" dirty="0">
                <a:effectLst/>
                <a:ea typeface="Aptos" panose="020B0004020202020204" pitchFamily="34" charset="0"/>
                <a:cs typeface="Times New Roman" panose="02020603050405020304" pitchFamily="18" charset="0"/>
              </a:rPr>
              <a:t>nur</a:t>
            </a:r>
            <a:r>
              <a:rPr lang="de-DE" sz="2400" kern="100" dirty="0">
                <a:effectLst/>
                <a:ea typeface="Aptos" panose="020B0004020202020204" pitchFamily="34" charset="0"/>
                <a:cs typeface="Times New Roman" panose="02020603050405020304" pitchFamily="18" charset="0"/>
              </a:rPr>
              <a:t> von </a:t>
            </a:r>
            <a:r>
              <a:rPr lang="de-DE" sz="2400" b="1" kern="100" dirty="0">
                <a:effectLst/>
                <a:ea typeface="Aptos" panose="020B0004020202020204" pitchFamily="34" charset="0"/>
                <a:cs typeface="Times New Roman" panose="02020603050405020304" pitchFamily="18" charset="0"/>
              </a:rPr>
              <a:t>bekannten</a:t>
            </a:r>
            <a:r>
              <a:rPr lang="de-DE" sz="2400" kern="100" dirty="0">
                <a:effectLst/>
                <a:ea typeface="Aptos" panose="020B0004020202020204" pitchFamily="34" charset="0"/>
                <a:cs typeface="Times New Roman" panose="02020603050405020304" pitchFamily="18" charset="0"/>
              </a:rPr>
              <a:t> und </a:t>
            </a:r>
            <a:r>
              <a:rPr lang="de-DE" sz="2400" b="1" kern="100" dirty="0">
                <a:effectLst/>
                <a:ea typeface="Aptos" panose="020B0004020202020204" pitchFamily="34" charset="0"/>
                <a:cs typeface="Times New Roman" panose="02020603050405020304" pitchFamily="18" charset="0"/>
              </a:rPr>
              <a:t>vertrauenswürdigen Personen</a:t>
            </a:r>
            <a:r>
              <a:rPr lang="de-DE" sz="2400" kern="100" dirty="0">
                <a:effectLst/>
                <a:ea typeface="Aptos" panose="020B0004020202020204" pitchFamily="34" charset="0"/>
                <a:cs typeface="Times New Roman" panose="02020603050405020304" pitchFamily="18" charset="0"/>
              </a:rPr>
              <a:t>, </a:t>
            </a:r>
            <a:r>
              <a:rPr lang="de-DE" sz="2400" b="1" kern="100" dirty="0">
                <a:effectLst/>
                <a:ea typeface="Aptos" panose="020B0004020202020204" pitchFamily="34" charset="0"/>
                <a:cs typeface="Times New Roman" panose="02020603050405020304" pitchFamily="18" charset="0"/>
              </a:rPr>
              <a:t>Programmen</a:t>
            </a:r>
            <a:r>
              <a:rPr lang="de-DE" sz="2400" kern="100" dirty="0">
                <a:effectLst/>
                <a:ea typeface="Aptos" panose="020B0004020202020204" pitchFamily="34" charset="0"/>
                <a:cs typeface="Times New Roman" panose="02020603050405020304" pitchFamily="18" charset="0"/>
              </a:rPr>
              <a:t> und technischen </a:t>
            </a:r>
            <a:r>
              <a:rPr lang="de-DE" sz="2400" b="1" kern="100" dirty="0">
                <a:effectLst/>
                <a:ea typeface="Aptos" panose="020B0004020202020204" pitchFamily="34" charset="0"/>
                <a:cs typeface="Times New Roman" panose="02020603050405020304" pitchFamily="18" charset="0"/>
              </a:rPr>
              <a:t>Diensten</a:t>
            </a:r>
            <a:endParaRPr lang="de-DE" sz="2400" kern="100" dirty="0">
              <a:effectLst/>
              <a:ea typeface="Aptos" panose="020B0004020202020204" pitchFamily="34" charset="0"/>
              <a:cs typeface="Times New Roman" panose="02020603050405020304" pitchFamily="18" charset="0"/>
            </a:endParaRPr>
          </a:p>
          <a:p>
            <a:pPr>
              <a:lnSpc>
                <a:spcPct val="107000"/>
              </a:lnSpc>
            </a:pPr>
            <a:r>
              <a:rPr lang="de-DE" sz="2400" kern="100" dirty="0">
                <a:effectLst/>
                <a:ea typeface="Aptos" panose="020B0004020202020204" pitchFamily="34" charset="0"/>
                <a:cs typeface="Times New Roman" panose="02020603050405020304" pitchFamily="18" charset="0"/>
              </a:rPr>
              <a:t>Es </a:t>
            </a:r>
            <a:r>
              <a:rPr lang="de-DE" sz="2400" b="1" kern="100" dirty="0">
                <a:effectLst/>
                <a:ea typeface="Aptos" panose="020B0004020202020204" pitchFamily="34" charset="0"/>
                <a:cs typeface="Times New Roman" panose="02020603050405020304" pitchFamily="18" charset="0"/>
              </a:rPr>
              <a:t>muss nachvollziehbar</a:t>
            </a:r>
            <a:r>
              <a:rPr lang="de-DE" sz="2400" kern="100" dirty="0">
                <a:effectLst/>
                <a:ea typeface="Aptos" panose="020B0004020202020204" pitchFamily="34" charset="0"/>
                <a:cs typeface="Times New Roman" panose="02020603050405020304" pitchFamily="18" charset="0"/>
              </a:rPr>
              <a:t> sein, welche </a:t>
            </a:r>
            <a:r>
              <a:rPr lang="de-DE" sz="2400" b="1" kern="100" dirty="0">
                <a:effectLst/>
                <a:ea typeface="Aptos" panose="020B0004020202020204" pitchFamily="34" charset="0"/>
                <a:cs typeface="Times New Roman" panose="02020603050405020304" pitchFamily="18" charset="0"/>
              </a:rPr>
              <a:t>Person</a:t>
            </a:r>
            <a:r>
              <a:rPr lang="de-DE" sz="2400" kern="100" dirty="0">
                <a:effectLst/>
                <a:ea typeface="Aptos" panose="020B0004020202020204" pitchFamily="34" charset="0"/>
                <a:cs typeface="Times New Roman" panose="02020603050405020304" pitchFamily="18" charset="0"/>
              </a:rPr>
              <a:t>, welches </a:t>
            </a:r>
            <a:r>
              <a:rPr lang="de-DE" sz="2400" b="1" kern="100" dirty="0">
                <a:effectLst/>
                <a:ea typeface="Aptos" panose="020B0004020202020204" pitchFamily="34" charset="0"/>
                <a:cs typeface="Times New Roman" panose="02020603050405020304" pitchFamily="18" charset="0"/>
              </a:rPr>
              <a:t>Programm</a:t>
            </a:r>
            <a:r>
              <a:rPr lang="de-DE" sz="2400" kern="100" dirty="0">
                <a:effectLst/>
                <a:ea typeface="Aptos" panose="020B0004020202020204" pitchFamily="34" charset="0"/>
                <a:cs typeface="Times New Roman" panose="02020603050405020304" pitchFamily="18" charset="0"/>
              </a:rPr>
              <a:t> oder technischer </a:t>
            </a:r>
            <a:r>
              <a:rPr lang="de-DE" sz="2400" b="1" kern="100" dirty="0">
                <a:effectLst/>
                <a:ea typeface="Aptos" panose="020B0004020202020204" pitchFamily="34" charset="0"/>
                <a:cs typeface="Times New Roman" panose="02020603050405020304" pitchFamily="18" charset="0"/>
              </a:rPr>
              <a:t>Dienst</a:t>
            </a:r>
            <a:r>
              <a:rPr lang="de-DE" sz="2400" kern="100" dirty="0">
                <a:effectLst/>
                <a:ea typeface="Aptos" panose="020B0004020202020204" pitchFamily="34" charset="0"/>
                <a:cs typeface="Times New Roman" panose="02020603050405020304" pitchFamily="18" charset="0"/>
              </a:rPr>
              <a:t> zu </a:t>
            </a:r>
            <a:r>
              <a:rPr lang="de-DE" sz="2400" b="1" kern="100" dirty="0">
                <a:effectLst/>
                <a:ea typeface="Aptos" panose="020B0004020202020204" pitchFamily="34" charset="0"/>
                <a:cs typeface="Times New Roman" panose="02020603050405020304" pitchFamily="18" charset="0"/>
              </a:rPr>
              <a:t>welchem Zeitpunkt</a:t>
            </a:r>
            <a:r>
              <a:rPr lang="de-DE" sz="2400" kern="100" dirty="0">
                <a:effectLst/>
                <a:ea typeface="Aptos" panose="020B0004020202020204" pitchFamily="34" charset="0"/>
                <a:cs typeface="Times New Roman" panose="02020603050405020304" pitchFamily="18" charset="0"/>
              </a:rPr>
              <a:t> auf die Daten </a:t>
            </a:r>
            <a:r>
              <a:rPr lang="de-DE" sz="2400" b="1" kern="100" dirty="0">
                <a:effectLst/>
                <a:ea typeface="Aptos" panose="020B0004020202020204" pitchFamily="34" charset="0"/>
                <a:cs typeface="Times New Roman" panose="02020603050405020304" pitchFamily="18" charset="0"/>
              </a:rPr>
              <a:t>zugegriffen hat</a:t>
            </a:r>
            <a:endParaRPr lang="de-DE" sz="2400"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sz="2400" kern="100" dirty="0">
                <a:effectLst/>
                <a:ea typeface="Aptos" panose="020B0004020202020204" pitchFamily="34" charset="0"/>
                <a:cs typeface="Times New Roman" panose="02020603050405020304" pitchFamily="18" charset="0"/>
              </a:rPr>
              <a:t>In jeder Organisation sollte ein</a:t>
            </a:r>
            <a:r>
              <a:rPr lang="de-DE" sz="2400" b="1" kern="100" dirty="0">
                <a:effectLst/>
                <a:ea typeface="Aptos" panose="020B0004020202020204" pitchFamily="34" charset="0"/>
                <a:cs typeface="Times New Roman" panose="02020603050405020304" pitchFamily="18" charset="0"/>
              </a:rPr>
              <a:t> abgestuftes System zum Zugriff auf Informationen </a:t>
            </a:r>
            <a:r>
              <a:rPr lang="de-DE" sz="2400" kern="100" dirty="0">
                <a:effectLst/>
                <a:ea typeface="Aptos" panose="020B0004020202020204" pitchFamily="34" charset="0"/>
                <a:cs typeface="Times New Roman" panose="02020603050405020304" pitchFamily="18" charset="0"/>
              </a:rPr>
              <a:t>vorhanden sein</a:t>
            </a:r>
          </a:p>
          <a:p>
            <a:r>
              <a:rPr lang="de-DE" sz="2400" dirty="0">
                <a:effectLst/>
                <a:ea typeface="Aptos" panose="020B0004020202020204" pitchFamily="34" charset="0"/>
              </a:rPr>
              <a:t>Jeder Mitarbeiter sollte </a:t>
            </a:r>
            <a:r>
              <a:rPr lang="de-DE" sz="2400" b="1" dirty="0">
                <a:effectLst/>
                <a:ea typeface="Aptos" panose="020B0004020202020204" pitchFamily="34" charset="0"/>
              </a:rPr>
              <a:t>nur</a:t>
            </a:r>
            <a:r>
              <a:rPr lang="de-DE" sz="2400" dirty="0">
                <a:effectLst/>
                <a:ea typeface="Aptos" panose="020B0004020202020204" pitchFamily="34" charset="0"/>
              </a:rPr>
              <a:t> </a:t>
            </a:r>
            <a:r>
              <a:rPr lang="de-DE" sz="2400" b="1" dirty="0">
                <a:effectLst/>
                <a:ea typeface="Aptos" panose="020B0004020202020204" pitchFamily="34" charset="0"/>
              </a:rPr>
              <a:t>Zugriff auf Ressourcen</a:t>
            </a:r>
            <a:r>
              <a:rPr lang="de-DE" sz="2400" dirty="0">
                <a:effectLst/>
                <a:ea typeface="Aptos" panose="020B0004020202020204" pitchFamily="34" charset="0"/>
              </a:rPr>
              <a:t> (Informationen, Daten, Gebäude, Räume, Geräte, Personal) haben, </a:t>
            </a:r>
            <a:r>
              <a:rPr lang="de-DE" sz="2400" b="1" dirty="0">
                <a:effectLst/>
                <a:ea typeface="Aptos" panose="020B0004020202020204" pitchFamily="34" charset="0"/>
              </a:rPr>
              <a:t>die</a:t>
            </a:r>
            <a:r>
              <a:rPr lang="de-DE" sz="2400" dirty="0">
                <a:effectLst/>
                <a:ea typeface="Aptos" panose="020B0004020202020204" pitchFamily="34" charset="0"/>
              </a:rPr>
              <a:t> für seine Aufgabe </a:t>
            </a:r>
            <a:r>
              <a:rPr lang="de-DE" sz="2400" b="1" dirty="0">
                <a:effectLst/>
                <a:ea typeface="Aptos" panose="020B0004020202020204" pitchFamily="34" charset="0"/>
              </a:rPr>
              <a:t>unbedingt nötig sind</a:t>
            </a:r>
            <a:endParaRPr lang="de-DE" sz="2400"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E3CDC09B-40DA-78D7-F4A3-EEFA8BBECD8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377D47A0-78F1-E569-D022-92ACCC68648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99624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6917E-8126-AD29-6C71-FCA60EA20CE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1EB7040-C9CB-4557-C22A-86089465980E}"/>
              </a:ext>
            </a:extLst>
          </p:cNvPr>
          <p:cNvSpPr>
            <a:spLocks noGrp="1"/>
          </p:cNvSpPr>
          <p:nvPr>
            <p:ph type="title"/>
          </p:nvPr>
        </p:nvSpPr>
        <p:spPr>
          <a:xfrm>
            <a:off x="838200" y="365125"/>
            <a:ext cx="10515600" cy="841105"/>
          </a:xfrm>
        </p:spPr>
        <p:txBody>
          <a:bodyPr>
            <a:normAutofit/>
          </a:bodyPr>
          <a:lstStyle/>
          <a:p>
            <a:r>
              <a:rPr lang="en-US" dirty="0" err="1"/>
              <a:t>Gewährleistung</a:t>
            </a:r>
            <a:r>
              <a:rPr lang="en-US" dirty="0"/>
              <a:t> von TOMs (DSGVO / BDSG)</a:t>
            </a:r>
            <a:endParaRPr lang="de-DE" dirty="0"/>
          </a:p>
        </p:txBody>
      </p:sp>
      <p:sp>
        <p:nvSpPr>
          <p:cNvPr id="3" name="Inhaltsplatzhalter 2">
            <a:extLst>
              <a:ext uri="{FF2B5EF4-FFF2-40B4-BE49-F238E27FC236}">
                <a16:creationId xmlns:a16="http://schemas.microsoft.com/office/drawing/2014/main" id="{1B496E1C-F9ED-19BA-2943-3CE94C054CE8}"/>
              </a:ext>
            </a:extLst>
          </p:cNvPr>
          <p:cNvSpPr>
            <a:spLocks noGrp="1"/>
          </p:cNvSpPr>
          <p:nvPr>
            <p:ph idx="1"/>
          </p:nvPr>
        </p:nvSpPr>
        <p:spPr>
          <a:xfrm>
            <a:off x="838200" y="1303506"/>
            <a:ext cx="10515600" cy="4873457"/>
          </a:xfrm>
        </p:spPr>
        <p:txBody>
          <a:bodyPr>
            <a:noAutofit/>
          </a:bodyPr>
          <a:lstStyle/>
          <a:p>
            <a:pPr marL="0" indent="0">
              <a:lnSpc>
                <a:spcPct val="107000"/>
              </a:lnSpc>
              <a:spcAft>
                <a:spcPts val="800"/>
              </a:spcAft>
              <a:buNone/>
            </a:pPr>
            <a:endParaRPr lang="de-DE" sz="2400" b="1" i="1" kern="100" dirty="0">
              <a:solidFill>
                <a:srgbClr val="7030A0"/>
              </a:solidFill>
              <a:effectLst/>
              <a:ea typeface="Aptos" panose="020B0004020202020204" pitchFamily="34" charset="0"/>
              <a:cs typeface="Times New Roman" panose="02020603050405020304" pitchFamily="18" charset="0"/>
            </a:endParaRPr>
          </a:p>
          <a:p>
            <a:pPr>
              <a:lnSpc>
                <a:spcPct val="107000"/>
              </a:lnSpc>
              <a:spcAft>
                <a:spcPts val="800"/>
              </a:spcAft>
            </a:pPr>
            <a:r>
              <a:rPr lang="de-DE" sz="2400" b="1" i="1" kern="100" dirty="0">
                <a:solidFill>
                  <a:srgbClr val="7030A0"/>
                </a:solidFill>
                <a:effectLst/>
                <a:ea typeface="Aptos" panose="020B0004020202020204" pitchFamily="34" charset="0"/>
                <a:cs typeface="Times New Roman" panose="02020603050405020304" pitchFamily="18" charset="0"/>
              </a:rPr>
              <a:t>Art. 24 DSGVO: </a:t>
            </a:r>
            <a:r>
              <a:rPr lang="de-DE" sz="2400" b="1" kern="100" dirty="0">
                <a:effectLst/>
                <a:ea typeface="Aptos" panose="020B0004020202020204" pitchFamily="34" charset="0"/>
                <a:cs typeface="Times New Roman" panose="02020603050405020304" pitchFamily="18" charset="0"/>
              </a:rPr>
              <a:t>Verantwortung</a:t>
            </a:r>
            <a:r>
              <a:rPr lang="de-DE" sz="2400" kern="100" dirty="0">
                <a:effectLst/>
                <a:ea typeface="Aptos" panose="020B0004020202020204" pitchFamily="34" charset="0"/>
                <a:cs typeface="Times New Roman" panose="02020603050405020304" pitchFamily="18" charset="0"/>
              </a:rPr>
              <a:t> des für die Verarbeitung Verantwortlichen</a:t>
            </a:r>
          </a:p>
          <a:p>
            <a:pPr>
              <a:lnSpc>
                <a:spcPct val="107000"/>
              </a:lnSpc>
              <a:spcAft>
                <a:spcPts val="800"/>
              </a:spcAft>
            </a:pPr>
            <a:r>
              <a:rPr lang="de-DE" sz="2400" b="1" i="1" kern="100" dirty="0">
                <a:solidFill>
                  <a:srgbClr val="7030A0"/>
                </a:solidFill>
                <a:effectLst/>
                <a:ea typeface="Aptos" panose="020B0004020202020204" pitchFamily="34" charset="0"/>
                <a:cs typeface="Times New Roman" panose="02020603050405020304" pitchFamily="18" charset="0"/>
              </a:rPr>
              <a:t>Art. 25 DSGVO:</a:t>
            </a:r>
            <a:r>
              <a:rPr lang="de-DE" sz="2400" kern="100" dirty="0">
                <a:solidFill>
                  <a:srgbClr val="7030A0"/>
                </a:solidFill>
                <a:effectLst/>
                <a:ea typeface="Aptos" panose="020B0004020202020204" pitchFamily="34" charset="0"/>
                <a:cs typeface="Times New Roman" panose="02020603050405020304" pitchFamily="18" charset="0"/>
              </a:rPr>
              <a:t> </a:t>
            </a:r>
            <a:r>
              <a:rPr lang="de-DE" sz="2200" kern="100" dirty="0">
                <a:effectLst/>
                <a:ea typeface="Aptos" panose="020B0004020202020204" pitchFamily="34" charset="0"/>
                <a:cs typeface="Times New Roman" panose="02020603050405020304" pitchFamily="18" charset="0"/>
              </a:rPr>
              <a:t>Datenschutz durch </a:t>
            </a:r>
            <a:r>
              <a:rPr lang="de-DE" sz="2200" b="1" kern="100" dirty="0">
                <a:effectLst/>
                <a:ea typeface="Aptos" panose="020B0004020202020204" pitchFamily="34" charset="0"/>
                <a:cs typeface="Times New Roman" panose="02020603050405020304" pitchFamily="18" charset="0"/>
              </a:rPr>
              <a:t>Technikgestaltung </a:t>
            </a:r>
            <a:r>
              <a:rPr lang="de-DE" sz="2200" kern="100" dirty="0">
                <a:effectLst/>
                <a:ea typeface="Aptos" panose="020B0004020202020204" pitchFamily="34" charset="0"/>
                <a:cs typeface="Times New Roman" panose="02020603050405020304" pitchFamily="18" charset="0"/>
              </a:rPr>
              <a:t>und</a:t>
            </a:r>
            <a:r>
              <a:rPr lang="de-DE" sz="2200" b="1" kern="100" dirty="0">
                <a:effectLst/>
                <a:ea typeface="Aptos" panose="020B0004020202020204" pitchFamily="34" charset="0"/>
                <a:cs typeface="Times New Roman" panose="02020603050405020304" pitchFamily="18" charset="0"/>
              </a:rPr>
              <a:t> Voreinstellungen</a:t>
            </a:r>
          </a:p>
          <a:p>
            <a:pPr>
              <a:lnSpc>
                <a:spcPct val="107000"/>
              </a:lnSpc>
              <a:spcAft>
                <a:spcPts val="800"/>
              </a:spcAft>
            </a:pPr>
            <a:r>
              <a:rPr lang="de-DE" sz="2400" b="1" i="1" kern="100" dirty="0">
                <a:solidFill>
                  <a:srgbClr val="7030A0"/>
                </a:solidFill>
                <a:effectLst/>
                <a:ea typeface="Aptos" panose="020B0004020202020204" pitchFamily="34" charset="0"/>
                <a:cs typeface="Times New Roman" panose="02020603050405020304" pitchFamily="18" charset="0"/>
              </a:rPr>
              <a:t>Art. 28 DSGVO:</a:t>
            </a:r>
            <a:r>
              <a:rPr lang="de-DE" sz="2400" kern="100" dirty="0">
                <a:effectLst/>
                <a:ea typeface="Aptos" panose="020B0004020202020204" pitchFamily="34" charset="0"/>
                <a:cs typeface="Times New Roman" panose="02020603050405020304" pitchFamily="18" charset="0"/>
              </a:rPr>
              <a:t> </a:t>
            </a:r>
            <a:r>
              <a:rPr lang="de-DE" sz="2400" b="1" kern="100" dirty="0">
                <a:effectLst/>
                <a:ea typeface="Aptos" panose="020B0004020202020204" pitchFamily="34" charset="0"/>
                <a:cs typeface="Times New Roman" panose="02020603050405020304" pitchFamily="18" charset="0"/>
              </a:rPr>
              <a:t>Auftragsverarbeiter</a:t>
            </a:r>
          </a:p>
          <a:p>
            <a:pPr>
              <a:lnSpc>
                <a:spcPct val="107000"/>
              </a:lnSpc>
              <a:spcAft>
                <a:spcPts val="800"/>
              </a:spcAft>
            </a:pPr>
            <a:r>
              <a:rPr lang="de-DE" sz="2400" b="1" i="1" kern="100" dirty="0">
                <a:solidFill>
                  <a:srgbClr val="7030A0"/>
                </a:solidFill>
                <a:effectLst/>
                <a:ea typeface="Aptos" panose="020B0004020202020204" pitchFamily="34" charset="0"/>
                <a:cs typeface="Times New Roman" panose="02020603050405020304" pitchFamily="18" charset="0"/>
              </a:rPr>
              <a:t>Art. 32 DSGVO:</a:t>
            </a:r>
            <a:r>
              <a:rPr lang="de-DE" sz="2400" kern="100" dirty="0">
                <a:solidFill>
                  <a:srgbClr val="7030A0"/>
                </a:solidFill>
                <a:effectLst/>
                <a:ea typeface="Aptos" panose="020B0004020202020204" pitchFamily="34" charset="0"/>
                <a:cs typeface="Times New Roman" panose="02020603050405020304" pitchFamily="18" charset="0"/>
              </a:rPr>
              <a:t> </a:t>
            </a:r>
            <a:r>
              <a:rPr lang="de-DE" sz="2400" b="1" kern="100" dirty="0">
                <a:effectLst/>
                <a:ea typeface="Aptos" panose="020B0004020202020204" pitchFamily="34" charset="0"/>
                <a:cs typeface="Times New Roman" panose="02020603050405020304" pitchFamily="18" charset="0"/>
              </a:rPr>
              <a:t>Sicherheit </a:t>
            </a:r>
            <a:r>
              <a:rPr lang="de-DE" sz="2400" kern="100" dirty="0">
                <a:effectLst/>
                <a:ea typeface="Aptos" panose="020B0004020202020204" pitchFamily="34" charset="0"/>
                <a:cs typeface="Times New Roman" panose="02020603050405020304" pitchFamily="18" charset="0"/>
              </a:rPr>
              <a:t>der Verarbeitung</a:t>
            </a:r>
          </a:p>
          <a:p>
            <a:pPr>
              <a:lnSpc>
                <a:spcPct val="107000"/>
              </a:lnSpc>
              <a:spcAft>
                <a:spcPts val="800"/>
              </a:spcAft>
            </a:pPr>
            <a:r>
              <a:rPr lang="de-DE" sz="2400" b="1" i="1" kern="100" dirty="0">
                <a:solidFill>
                  <a:srgbClr val="7030A0"/>
                </a:solidFill>
                <a:effectLst/>
                <a:ea typeface="Aptos" panose="020B0004020202020204" pitchFamily="34" charset="0"/>
                <a:cs typeface="Times New Roman" panose="02020603050405020304" pitchFamily="18" charset="0"/>
              </a:rPr>
              <a:t>Art. 35 DSGVO:</a:t>
            </a:r>
            <a:r>
              <a:rPr lang="de-DE" sz="2400" kern="100" dirty="0">
                <a:solidFill>
                  <a:srgbClr val="7030A0"/>
                </a:solidFill>
                <a:effectLst/>
                <a:ea typeface="Aptos" panose="020B0004020202020204" pitchFamily="34" charset="0"/>
                <a:cs typeface="Times New Roman" panose="02020603050405020304" pitchFamily="18" charset="0"/>
              </a:rPr>
              <a:t> </a:t>
            </a:r>
            <a:r>
              <a:rPr lang="de-DE" sz="2400" b="1" kern="100" dirty="0">
                <a:effectLst/>
                <a:ea typeface="Aptos" panose="020B0004020202020204" pitchFamily="34" charset="0"/>
                <a:cs typeface="Times New Roman" panose="02020603050405020304" pitchFamily="18" charset="0"/>
              </a:rPr>
              <a:t>DSFA </a:t>
            </a:r>
            <a:r>
              <a:rPr lang="de-DE" sz="2400" kern="100" dirty="0">
                <a:effectLst/>
                <a:ea typeface="Aptos" panose="020B0004020202020204" pitchFamily="34" charset="0"/>
                <a:cs typeface="Times New Roman" panose="02020603050405020304" pitchFamily="18" charset="0"/>
              </a:rPr>
              <a:t>(Datenschutzfolgen-Abschätzung)</a:t>
            </a:r>
          </a:p>
          <a:p>
            <a:pPr>
              <a:lnSpc>
                <a:spcPct val="107000"/>
              </a:lnSpc>
              <a:spcAft>
                <a:spcPts val="800"/>
              </a:spcAft>
            </a:pPr>
            <a:r>
              <a:rPr lang="de-DE" sz="2400" b="1" i="1" kern="100" dirty="0">
                <a:solidFill>
                  <a:srgbClr val="7030A0"/>
                </a:solidFill>
                <a:effectLst/>
                <a:ea typeface="Aptos" panose="020B0004020202020204" pitchFamily="34" charset="0"/>
                <a:cs typeface="Times New Roman" panose="02020603050405020304" pitchFamily="18" charset="0"/>
              </a:rPr>
              <a:t>§ 22 (2) BDSG:</a:t>
            </a:r>
            <a:r>
              <a:rPr lang="de-DE" sz="2400" kern="100" dirty="0">
                <a:effectLst/>
                <a:ea typeface="Aptos" panose="020B0004020202020204" pitchFamily="34" charset="0"/>
                <a:cs typeface="Times New Roman" panose="02020603050405020304" pitchFamily="18" charset="0"/>
              </a:rPr>
              <a:t> Verarbeitung </a:t>
            </a:r>
            <a:r>
              <a:rPr lang="de-DE" sz="2400" b="1" kern="100" dirty="0">
                <a:effectLst/>
                <a:ea typeface="Aptos" panose="020B0004020202020204" pitchFamily="34" charset="0"/>
                <a:cs typeface="Times New Roman" panose="02020603050405020304" pitchFamily="18" charset="0"/>
              </a:rPr>
              <a:t>besonderer Kategorien </a:t>
            </a:r>
            <a:r>
              <a:rPr lang="de-DE" sz="2400" kern="100" dirty="0" err="1">
                <a:effectLst/>
                <a:ea typeface="Aptos" panose="020B0004020202020204" pitchFamily="34" charset="0"/>
                <a:cs typeface="Times New Roman" panose="02020603050405020304" pitchFamily="18" charset="0"/>
              </a:rPr>
              <a:t>pbD</a:t>
            </a:r>
            <a:endParaRPr lang="de-DE" sz="2400" kern="100" dirty="0">
              <a:effectLst/>
              <a:ea typeface="Aptos" panose="020B0004020202020204" pitchFamily="34" charset="0"/>
              <a:cs typeface="Times New Roman" panose="02020603050405020304" pitchFamily="18" charset="0"/>
            </a:endParaRPr>
          </a:p>
          <a:p>
            <a:pPr>
              <a:lnSpc>
                <a:spcPct val="107000"/>
              </a:lnSpc>
            </a:pPr>
            <a:endParaRPr lang="de-DE" sz="2400"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7C9E6CA2-588A-3A98-290C-BD582182A69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89DA850A-8EA3-231A-01E3-6398E0E6B4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0604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BD4D7-B092-B83F-F269-DDEC784949F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98AE4AD-41C9-AE49-50EA-F74C342F684A}"/>
              </a:ext>
            </a:extLst>
          </p:cNvPr>
          <p:cNvSpPr>
            <a:spLocks noGrp="1"/>
          </p:cNvSpPr>
          <p:nvPr>
            <p:ph type="title"/>
          </p:nvPr>
        </p:nvSpPr>
        <p:spPr>
          <a:xfrm>
            <a:off x="838200" y="365125"/>
            <a:ext cx="10515600" cy="841105"/>
          </a:xfrm>
        </p:spPr>
        <p:txBody>
          <a:bodyPr>
            <a:normAutofit/>
          </a:bodyPr>
          <a:lstStyle/>
          <a:p>
            <a:r>
              <a:rPr lang="en-US" dirty="0"/>
              <a:t>Definition von TOMs</a:t>
            </a:r>
            <a:endParaRPr lang="de-DE" dirty="0"/>
          </a:p>
        </p:txBody>
      </p:sp>
      <p:sp>
        <p:nvSpPr>
          <p:cNvPr id="3" name="Inhaltsplatzhalter 2">
            <a:extLst>
              <a:ext uri="{FF2B5EF4-FFF2-40B4-BE49-F238E27FC236}">
                <a16:creationId xmlns:a16="http://schemas.microsoft.com/office/drawing/2014/main" id="{CD7DAA6A-57E9-243A-232E-1478DE15F388}"/>
              </a:ext>
            </a:extLst>
          </p:cNvPr>
          <p:cNvSpPr>
            <a:spLocks noGrp="1"/>
          </p:cNvSpPr>
          <p:nvPr>
            <p:ph idx="1"/>
          </p:nvPr>
        </p:nvSpPr>
        <p:spPr>
          <a:xfrm>
            <a:off x="838200" y="1303506"/>
            <a:ext cx="10515600" cy="4873457"/>
          </a:xfrm>
        </p:spPr>
        <p:txBody>
          <a:bodyPr>
            <a:noAutofit/>
          </a:bodyPr>
          <a:lstStyle/>
          <a:p>
            <a:pPr>
              <a:lnSpc>
                <a:spcPct val="107000"/>
              </a:lnSpc>
              <a:spcAft>
                <a:spcPts val="800"/>
              </a:spcAft>
              <a:buNone/>
            </a:pPr>
            <a:endParaRPr lang="de-DE" b="1" u="sng"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b="1" u="sng" kern="100" dirty="0">
                <a:effectLst/>
                <a:ea typeface="Aptos" panose="020B0004020202020204" pitchFamily="34" charset="0"/>
                <a:cs typeface="Times New Roman" panose="02020603050405020304" pitchFamily="18" charset="0"/>
              </a:rPr>
              <a:t>Technische Maßnahmen</a:t>
            </a:r>
            <a:r>
              <a:rPr lang="de-DE" kern="100" dirty="0">
                <a:effectLst/>
                <a:ea typeface="Aptos" panose="020B0004020202020204" pitchFamily="34" charset="0"/>
                <a:cs typeface="Times New Roman" panose="02020603050405020304" pitchFamily="18" charset="0"/>
              </a:rPr>
              <a:t> im Datenschutz beziehen sich auf Maßnahmen die den Schutz der Sicherheit der Datenverarbeitung (physisch) umsetzt.</a:t>
            </a:r>
          </a:p>
          <a:p>
            <a:pPr>
              <a:lnSpc>
                <a:spcPct val="107000"/>
              </a:lnSpc>
              <a:spcAft>
                <a:spcPts val="800"/>
              </a:spcAft>
              <a:buNone/>
            </a:pPr>
            <a:endParaRPr lang="de-DE"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b="1" u="sng" kern="100" dirty="0">
                <a:effectLst/>
                <a:ea typeface="Aptos" panose="020B0004020202020204" pitchFamily="34" charset="0"/>
                <a:cs typeface="Times New Roman" panose="02020603050405020304" pitchFamily="18" charset="0"/>
              </a:rPr>
              <a:t>Organisatorische Maßnahmen</a:t>
            </a:r>
            <a:r>
              <a:rPr lang="de-DE" kern="100" dirty="0">
                <a:effectLst/>
                <a:ea typeface="Aptos" panose="020B0004020202020204" pitchFamily="34" charset="0"/>
                <a:cs typeface="Times New Roman" panose="02020603050405020304" pitchFamily="18" charset="0"/>
              </a:rPr>
              <a:t> sind Maßnahmen wie Handlungsanweisungen, Vorgehens- und Verfahrensanweisungen für Mitarbeiter.</a:t>
            </a:r>
          </a:p>
          <a:p>
            <a:pPr>
              <a:lnSpc>
                <a:spcPct val="107000"/>
              </a:lnSpc>
            </a:pPr>
            <a:endParaRPr lang="de-DE"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E78800D2-6CB8-DDDA-710B-4CDE6C096AD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10C7E176-3317-D85D-2B25-9DA7F592E6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1077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118AF-381B-017C-90FC-910C6C18DC4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08927BF-2408-CBF0-9B20-812215FBFE45}"/>
              </a:ext>
            </a:extLst>
          </p:cNvPr>
          <p:cNvSpPr>
            <a:spLocks noGrp="1"/>
          </p:cNvSpPr>
          <p:nvPr>
            <p:ph type="title"/>
          </p:nvPr>
        </p:nvSpPr>
        <p:spPr>
          <a:xfrm>
            <a:off x="838200" y="365125"/>
            <a:ext cx="10515600" cy="841105"/>
          </a:xfrm>
        </p:spPr>
        <p:txBody>
          <a:bodyPr>
            <a:normAutofit/>
          </a:bodyPr>
          <a:lstStyle/>
          <a:p>
            <a:r>
              <a:rPr lang="en-US" dirty="0"/>
              <a:t>Sicherheit der </a:t>
            </a:r>
            <a:r>
              <a:rPr lang="en-US" dirty="0" err="1"/>
              <a:t>Verarbeitung</a:t>
            </a:r>
            <a:r>
              <a:rPr lang="en-US" dirty="0"/>
              <a:t> </a:t>
            </a:r>
            <a:r>
              <a:rPr lang="en-US" dirty="0">
                <a:solidFill>
                  <a:srgbClr val="0070C0"/>
                </a:solidFill>
              </a:rPr>
              <a:t>(Art. 32 DSGVO)</a:t>
            </a:r>
            <a:endParaRPr lang="de-DE" dirty="0">
              <a:solidFill>
                <a:srgbClr val="0070C0"/>
              </a:solidFill>
            </a:endParaRPr>
          </a:p>
        </p:txBody>
      </p:sp>
      <p:sp>
        <p:nvSpPr>
          <p:cNvPr id="3" name="Inhaltsplatzhalter 2">
            <a:extLst>
              <a:ext uri="{FF2B5EF4-FFF2-40B4-BE49-F238E27FC236}">
                <a16:creationId xmlns:a16="http://schemas.microsoft.com/office/drawing/2014/main" id="{FDBCDBA6-9969-1E45-3891-F062F7C09C7D}"/>
              </a:ext>
            </a:extLst>
          </p:cNvPr>
          <p:cNvSpPr>
            <a:spLocks noGrp="1"/>
          </p:cNvSpPr>
          <p:nvPr>
            <p:ph idx="1"/>
          </p:nvPr>
        </p:nvSpPr>
        <p:spPr>
          <a:xfrm>
            <a:off x="838200" y="1303506"/>
            <a:ext cx="10515600" cy="4873457"/>
          </a:xfrm>
        </p:spPr>
        <p:txBody>
          <a:bodyPr>
            <a:noAutofit/>
          </a:bodyPr>
          <a:lstStyle/>
          <a:p>
            <a:pPr marL="342900" lvl="0" indent="-342900">
              <a:lnSpc>
                <a:spcPct val="107000"/>
              </a:lnSpc>
              <a:buFont typeface="+mj-lt"/>
              <a:buAutoNum type="arabicPeriod"/>
            </a:pPr>
            <a:r>
              <a:rPr lang="de-DE" b="1" kern="100" dirty="0">
                <a:effectLst/>
                <a:ea typeface="Aptos" panose="020B0004020202020204" pitchFamily="34" charset="0"/>
                <a:cs typeface="Times New Roman" panose="02020603050405020304" pitchFamily="18" charset="0"/>
              </a:rPr>
              <a:t>Pseudonymisierung</a:t>
            </a:r>
            <a:r>
              <a:rPr lang="de-DE" kern="100" dirty="0">
                <a:effectLst/>
                <a:ea typeface="Aptos" panose="020B0004020202020204" pitchFamily="34" charset="0"/>
                <a:cs typeface="Times New Roman" panose="02020603050405020304" pitchFamily="18" charset="0"/>
              </a:rPr>
              <a:t> </a:t>
            </a:r>
            <a:r>
              <a:rPr lang="de-DE" kern="100" dirty="0" err="1">
                <a:effectLst/>
                <a:ea typeface="Aptos" panose="020B0004020202020204" pitchFamily="34" charset="0"/>
                <a:cs typeface="Times New Roman" panose="02020603050405020304" pitchFamily="18" charset="0"/>
              </a:rPr>
              <a:t>pbD</a:t>
            </a:r>
            <a:endParaRPr lang="de-DE" kern="100" dirty="0">
              <a:effectLst/>
              <a:ea typeface="Aptos" panose="020B0004020202020204" pitchFamily="34" charset="0"/>
              <a:cs typeface="Times New Roman" panose="02020603050405020304" pitchFamily="18" charset="0"/>
            </a:endParaRPr>
          </a:p>
          <a:p>
            <a:pPr marL="342900" lvl="0" indent="-342900">
              <a:lnSpc>
                <a:spcPct val="107000"/>
              </a:lnSpc>
              <a:buFont typeface="+mj-lt"/>
              <a:buAutoNum type="arabicPeriod"/>
            </a:pPr>
            <a:r>
              <a:rPr lang="de-DE" b="1" kern="100" dirty="0">
                <a:effectLst/>
                <a:ea typeface="Aptos" panose="020B0004020202020204" pitchFamily="34" charset="0"/>
                <a:cs typeface="Times New Roman" panose="02020603050405020304" pitchFamily="18" charset="0"/>
              </a:rPr>
              <a:t>Verschlüsselung</a:t>
            </a:r>
            <a:r>
              <a:rPr lang="de-DE" kern="100" dirty="0">
                <a:effectLst/>
                <a:ea typeface="Aptos" panose="020B0004020202020204" pitchFamily="34" charset="0"/>
                <a:cs typeface="Times New Roman" panose="02020603050405020304" pitchFamily="18" charset="0"/>
              </a:rPr>
              <a:t> </a:t>
            </a:r>
            <a:r>
              <a:rPr lang="de-DE" kern="100" dirty="0" err="1">
                <a:effectLst/>
                <a:ea typeface="Aptos" panose="020B0004020202020204" pitchFamily="34" charset="0"/>
                <a:cs typeface="Times New Roman" panose="02020603050405020304" pitchFamily="18" charset="0"/>
              </a:rPr>
              <a:t>pbD</a:t>
            </a:r>
            <a:endParaRPr lang="de-DE" kern="100" dirty="0">
              <a:effectLst/>
              <a:ea typeface="Aptos" panose="020B0004020202020204" pitchFamily="34" charset="0"/>
              <a:cs typeface="Times New Roman" panose="02020603050405020304" pitchFamily="18" charset="0"/>
            </a:endParaRPr>
          </a:p>
          <a:p>
            <a:pPr marL="342900" lvl="0" indent="-342900">
              <a:lnSpc>
                <a:spcPct val="107000"/>
              </a:lnSpc>
              <a:buFont typeface="+mj-lt"/>
              <a:buAutoNum type="arabicPeriod"/>
            </a:pPr>
            <a:r>
              <a:rPr lang="de-DE" b="1" kern="100" dirty="0">
                <a:effectLst/>
                <a:ea typeface="Aptos" panose="020B0004020202020204" pitchFamily="34" charset="0"/>
                <a:cs typeface="Times New Roman" panose="02020603050405020304" pitchFamily="18" charset="0"/>
              </a:rPr>
              <a:t>Vertraulichkeit</a:t>
            </a:r>
            <a:r>
              <a:rPr lang="de-DE" kern="100" dirty="0">
                <a:effectLst/>
                <a:ea typeface="Aptos" panose="020B0004020202020204" pitchFamily="34" charset="0"/>
                <a:cs typeface="Times New Roman" panose="02020603050405020304" pitchFamily="18" charset="0"/>
              </a:rPr>
              <a:t> der Systeme / Dienste bei der Verarbeitung</a:t>
            </a:r>
          </a:p>
          <a:p>
            <a:pPr marL="342900" lvl="0" indent="-342900">
              <a:lnSpc>
                <a:spcPct val="107000"/>
              </a:lnSpc>
              <a:buFont typeface="+mj-lt"/>
              <a:buAutoNum type="arabicPeriod"/>
            </a:pPr>
            <a:r>
              <a:rPr lang="de-DE" b="1" kern="100" dirty="0">
                <a:effectLst/>
                <a:ea typeface="Aptos" panose="020B0004020202020204" pitchFamily="34" charset="0"/>
                <a:cs typeface="Times New Roman" panose="02020603050405020304" pitchFamily="18" charset="0"/>
              </a:rPr>
              <a:t>Integrität</a:t>
            </a:r>
            <a:r>
              <a:rPr lang="de-DE" kern="100" dirty="0">
                <a:effectLst/>
                <a:ea typeface="Aptos" panose="020B0004020202020204" pitchFamily="34" charset="0"/>
                <a:cs typeface="Times New Roman" panose="02020603050405020304" pitchFamily="18" charset="0"/>
              </a:rPr>
              <a:t> der Systeme / Dienste bei der Verarbeitung</a:t>
            </a:r>
          </a:p>
          <a:p>
            <a:pPr marL="342900" lvl="0" indent="-342900">
              <a:lnSpc>
                <a:spcPct val="107000"/>
              </a:lnSpc>
              <a:buFont typeface="+mj-lt"/>
              <a:buAutoNum type="arabicPeriod"/>
            </a:pPr>
            <a:r>
              <a:rPr lang="de-DE" b="1" kern="100" dirty="0">
                <a:effectLst/>
                <a:ea typeface="Aptos" panose="020B0004020202020204" pitchFamily="34" charset="0"/>
                <a:cs typeface="Times New Roman" panose="02020603050405020304" pitchFamily="18" charset="0"/>
              </a:rPr>
              <a:t>Verfügbarkeit</a:t>
            </a:r>
            <a:r>
              <a:rPr lang="de-DE" kern="100" dirty="0">
                <a:effectLst/>
                <a:ea typeface="Aptos" panose="020B0004020202020204" pitchFamily="34" charset="0"/>
                <a:cs typeface="Times New Roman" panose="02020603050405020304" pitchFamily="18" charset="0"/>
              </a:rPr>
              <a:t> der Systeme / Dienste bei der Verarbeitung</a:t>
            </a:r>
          </a:p>
          <a:p>
            <a:pPr marL="342900" lvl="0" indent="-342900">
              <a:lnSpc>
                <a:spcPct val="107000"/>
              </a:lnSpc>
              <a:buFont typeface="+mj-lt"/>
              <a:buAutoNum type="arabicPeriod"/>
            </a:pPr>
            <a:r>
              <a:rPr lang="de-DE" b="1" kern="100" dirty="0">
                <a:effectLst/>
                <a:ea typeface="Aptos" panose="020B0004020202020204" pitchFamily="34" charset="0"/>
                <a:cs typeface="Times New Roman" panose="02020603050405020304" pitchFamily="18" charset="0"/>
              </a:rPr>
              <a:t>Belastbarkeit</a:t>
            </a:r>
            <a:r>
              <a:rPr lang="de-DE" kern="100" dirty="0">
                <a:effectLst/>
                <a:ea typeface="Aptos" panose="020B0004020202020204" pitchFamily="34" charset="0"/>
                <a:cs typeface="Times New Roman" panose="02020603050405020304" pitchFamily="18" charset="0"/>
              </a:rPr>
              <a:t> der Systeme / Dienste bei der Verarbeitung</a:t>
            </a:r>
          </a:p>
          <a:p>
            <a:pPr marL="342900" lvl="0" indent="-342900">
              <a:lnSpc>
                <a:spcPct val="107000"/>
              </a:lnSpc>
              <a:buFont typeface="+mj-lt"/>
              <a:buAutoNum type="arabicPeriod"/>
            </a:pPr>
            <a:r>
              <a:rPr lang="de-DE" b="1" kern="100" dirty="0">
                <a:effectLst/>
                <a:ea typeface="Aptos" panose="020B0004020202020204" pitchFamily="34" charset="0"/>
                <a:cs typeface="Times New Roman" panose="02020603050405020304" pitchFamily="18" charset="0"/>
              </a:rPr>
              <a:t>Wiederherstellbarkeit</a:t>
            </a:r>
            <a:r>
              <a:rPr lang="de-DE" kern="100" dirty="0">
                <a:effectLst/>
                <a:ea typeface="Aptos" panose="020B0004020202020204" pitchFamily="34" charset="0"/>
                <a:cs typeface="Times New Roman" panose="02020603050405020304" pitchFamily="18" charset="0"/>
              </a:rPr>
              <a:t> nach Zwischenfall</a:t>
            </a:r>
          </a:p>
          <a:p>
            <a:pPr marL="342900" lvl="0" indent="-342900">
              <a:lnSpc>
                <a:spcPct val="107000"/>
              </a:lnSpc>
              <a:spcAft>
                <a:spcPts val="800"/>
              </a:spcAft>
              <a:buFont typeface="+mj-lt"/>
              <a:buAutoNum type="arabicPeriod"/>
            </a:pPr>
            <a:r>
              <a:rPr lang="de-DE" b="1" kern="100" dirty="0">
                <a:effectLst/>
                <a:ea typeface="Aptos" panose="020B0004020202020204" pitchFamily="34" charset="0"/>
                <a:cs typeface="Times New Roman" panose="02020603050405020304" pitchFamily="18" charset="0"/>
              </a:rPr>
              <a:t>Wirksamkeit</a:t>
            </a:r>
            <a:r>
              <a:rPr lang="de-DE" kern="100" dirty="0">
                <a:effectLst/>
                <a:ea typeface="Aptos" panose="020B0004020202020204" pitchFamily="34" charset="0"/>
                <a:cs typeface="Times New Roman" panose="02020603050405020304" pitchFamily="18" charset="0"/>
              </a:rPr>
              <a:t> der TOMs / Gewährleistung der Sicherheit</a:t>
            </a:r>
          </a:p>
          <a:p>
            <a:pPr>
              <a:lnSpc>
                <a:spcPct val="107000"/>
              </a:lnSpc>
            </a:pPr>
            <a:endParaRPr lang="de-DE" kern="100" dirty="0">
              <a:effectLst/>
              <a:ea typeface="Aptos" panose="020B0004020202020204" pitchFamily="34" charset="0"/>
              <a:cs typeface="Times New Roman" panose="02020603050405020304" pitchFamily="18" charset="0"/>
            </a:endParaRPr>
          </a:p>
        </p:txBody>
      </p:sp>
      <p:sp>
        <p:nvSpPr>
          <p:cNvPr id="4" name="Fußzeilenplatzhalter 3">
            <a:extLst>
              <a:ext uri="{FF2B5EF4-FFF2-40B4-BE49-F238E27FC236}">
                <a16:creationId xmlns:a16="http://schemas.microsoft.com/office/drawing/2014/main" id="{2A4FF5BB-767F-E34F-12CE-6D7E3136AB4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9CA43622-84B9-042F-FB2B-F173F87E9A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751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23DDBD-5CC6-7BF7-3C5E-7E055889793D}"/>
            </a:ext>
          </a:extLst>
        </p:cNvPr>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el 1">
            <a:extLst>
              <a:ext uri="{FF2B5EF4-FFF2-40B4-BE49-F238E27FC236}">
                <a16:creationId xmlns:a16="http://schemas.microsoft.com/office/drawing/2014/main" id="{A48996FF-0F97-FFFA-1D7C-7D7BF698829B}"/>
              </a:ext>
            </a:extLst>
          </p:cNvPr>
          <p:cNvSpPr>
            <a:spLocks noGrp="1"/>
          </p:cNvSpPr>
          <p:nvPr>
            <p:ph type="title"/>
          </p:nvPr>
        </p:nvSpPr>
        <p:spPr>
          <a:xfrm>
            <a:off x="818492" y="1967265"/>
            <a:ext cx="3028293" cy="2547257"/>
          </a:xfrm>
          <a:noFill/>
        </p:spPr>
        <p:txBody>
          <a:bodyPr vert="horz" lIns="91440" tIns="45720" rIns="91440" bIns="45720" rtlCol="0" anchor="ctr">
            <a:normAutofit/>
          </a:bodyPr>
          <a:lstStyle/>
          <a:p>
            <a:r>
              <a:rPr lang="en-US" sz="3300" dirty="0" err="1">
                <a:solidFill>
                  <a:srgbClr val="FFFFFF"/>
                </a:solidFill>
              </a:rPr>
              <a:t>Abgrenzung</a:t>
            </a:r>
            <a:r>
              <a:rPr lang="en-US" sz="3300" dirty="0">
                <a:solidFill>
                  <a:srgbClr val="FFFFFF"/>
                </a:solidFill>
              </a:rPr>
              <a:t>: </a:t>
            </a:r>
            <a:r>
              <a:rPr lang="en-US" sz="3300" dirty="0" err="1">
                <a:solidFill>
                  <a:srgbClr val="FFFFFF"/>
                </a:solidFill>
              </a:rPr>
              <a:t>Datenschutz</a:t>
            </a:r>
            <a:r>
              <a:rPr lang="en-US" sz="3300" dirty="0">
                <a:solidFill>
                  <a:srgbClr val="FFFFFF"/>
                </a:solidFill>
              </a:rPr>
              <a:t> </a:t>
            </a:r>
            <a:r>
              <a:rPr lang="en-US" sz="3300" dirty="0" err="1">
                <a:solidFill>
                  <a:srgbClr val="FFFFFF"/>
                </a:solidFill>
              </a:rPr>
              <a:t>zu</a:t>
            </a:r>
            <a:r>
              <a:rPr lang="en-US" sz="3300" dirty="0">
                <a:solidFill>
                  <a:srgbClr val="FFFFFF"/>
                </a:solidFill>
              </a:rPr>
              <a:t> </a:t>
            </a:r>
            <a:r>
              <a:rPr lang="en-US" sz="3300" dirty="0" err="1">
                <a:solidFill>
                  <a:srgbClr val="FFFFFF"/>
                </a:solidFill>
              </a:rPr>
              <a:t>Datensicherheit</a:t>
            </a:r>
            <a:endParaRPr lang="en-US" sz="3300" kern="1200" dirty="0">
              <a:solidFill>
                <a:srgbClr val="FFFFFF"/>
              </a:solidFill>
              <a:latin typeface="+mj-lt"/>
              <a:ea typeface="+mj-ea"/>
              <a:cs typeface="+mj-cs"/>
            </a:endParaRPr>
          </a:p>
        </p:txBody>
      </p:sp>
      <p:pic>
        <p:nvPicPr>
          <p:cNvPr id="7" name="Inhaltsplatzhalter 6" descr="Ein Bild, das Text, Screenshot, Schrift enthält.&#10;&#10;KI-generierte Inhalte können fehlerhaft sein.">
            <a:extLst>
              <a:ext uri="{FF2B5EF4-FFF2-40B4-BE49-F238E27FC236}">
                <a16:creationId xmlns:a16="http://schemas.microsoft.com/office/drawing/2014/main" id="{689BBA88-1924-A422-F1A3-3A464C4A01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7316" y="1078520"/>
            <a:ext cx="6780700" cy="4698630"/>
          </a:xfrm>
          <a:prstGeom prst="rect">
            <a:avLst/>
          </a:prstGeom>
        </p:spPr>
      </p:pic>
      <p:sp>
        <p:nvSpPr>
          <p:cNvPr id="4" name="Fußzeilenplatzhalter 3">
            <a:extLst>
              <a:ext uri="{FF2B5EF4-FFF2-40B4-BE49-F238E27FC236}">
                <a16:creationId xmlns:a16="http://schemas.microsoft.com/office/drawing/2014/main" id="{E178333C-AC27-4E0D-0503-E9AE5D68DAA3}"/>
              </a:ext>
            </a:extLst>
          </p:cNvPr>
          <p:cNvSpPr>
            <a:spLocks noGrp="1"/>
          </p:cNvSpPr>
          <p:nvPr>
            <p:ph type="ftr" sz="quarter" idx="11"/>
          </p:nvPr>
        </p:nvSpPr>
        <p:spPr>
          <a:xfrm>
            <a:off x="1028700" y="6356350"/>
            <a:ext cx="6210300" cy="365125"/>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alpha val="80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C23793ED-BD65-EA1A-B911-01EF3D642C78}"/>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B4CE166D-2D50-44F1-A818-BFD238545C9D}" type="slidenum">
              <a:rPr kumimoji="0" lang="en-US" sz="1200" b="0" i="0" u="none" strike="noStrike" kern="1200" cap="none" spc="0" normalizeH="0" baseline="0" noProof="0">
                <a:ln>
                  <a:noFill/>
                </a:ln>
                <a:solidFill>
                  <a:prstClr val="black">
                    <a:alpha val="80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200" b="0" i="0" u="none" strike="noStrike" kern="1200" cap="none" spc="0" normalizeH="0" baseline="0" noProof="0">
              <a:ln>
                <a:noFill/>
              </a:ln>
              <a:solidFill>
                <a:prstClr val="black">
                  <a:alpha val="80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6956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0C513B-B2D9-2BC3-28E6-AD2758F7D213}"/>
              </a:ext>
            </a:extLst>
          </p:cNvPr>
          <p:cNvSpPr>
            <a:spLocks noGrp="1"/>
          </p:cNvSpPr>
          <p:nvPr>
            <p:ph type="title"/>
          </p:nvPr>
        </p:nvSpPr>
        <p:spPr/>
        <p:txBody>
          <a:bodyPr/>
          <a:lstStyle/>
          <a:p>
            <a:r>
              <a:rPr lang="de-DE" dirty="0"/>
              <a:t>Anforderungen der Informationssicherheit</a:t>
            </a:r>
          </a:p>
        </p:txBody>
      </p:sp>
      <p:sp>
        <p:nvSpPr>
          <p:cNvPr id="3" name="Inhaltsplatzhalter 2">
            <a:extLst>
              <a:ext uri="{FF2B5EF4-FFF2-40B4-BE49-F238E27FC236}">
                <a16:creationId xmlns:a16="http://schemas.microsoft.com/office/drawing/2014/main" id="{155D38FD-7945-44BC-5F03-914CAC855C70}"/>
              </a:ext>
            </a:extLst>
          </p:cNvPr>
          <p:cNvSpPr>
            <a:spLocks noGrp="1"/>
          </p:cNvSpPr>
          <p:nvPr>
            <p:ph idx="1"/>
          </p:nvPr>
        </p:nvSpPr>
        <p:spPr/>
        <p:txBody>
          <a:bodyPr/>
          <a:lstStyle/>
          <a:p>
            <a:pPr>
              <a:lnSpc>
                <a:spcPct val="107000"/>
              </a:lnSpc>
              <a:spcAft>
                <a:spcPts val="800"/>
              </a:spcAft>
            </a:pPr>
            <a:r>
              <a:rPr lang="de-DE" kern="100" dirty="0">
                <a:effectLst/>
                <a:ea typeface="Aptos" panose="020B0004020202020204" pitchFamily="34" charset="0"/>
                <a:cs typeface="Times New Roman" panose="02020603050405020304" pitchFamily="18" charset="0"/>
              </a:rPr>
              <a:t>Die </a:t>
            </a:r>
            <a:r>
              <a:rPr lang="de-DE" b="1" kern="100" dirty="0">
                <a:effectLst/>
                <a:ea typeface="Aptos" panose="020B0004020202020204" pitchFamily="34" charset="0"/>
                <a:cs typeface="Times New Roman" panose="02020603050405020304" pitchFamily="18" charset="0"/>
              </a:rPr>
              <a:t>Informationssicherheit</a:t>
            </a:r>
            <a:r>
              <a:rPr lang="de-DE" kern="100" dirty="0">
                <a:effectLst/>
                <a:ea typeface="Aptos" panose="020B0004020202020204" pitchFamily="34" charset="0"/>
                <a:cs typeface="Times New Roman" panose="02020603050405020304" pitchFamily="18" charset="0"/>
              </a:rPr>
              <a:t> richtet sich nach standardisierten Anforderungen des BSI </a:t>
            </a:r>
            <a:br>
              <a:rPr lang="de-DE" kern="100" dirty="0">
                <a:effectLst/>
                <a:ea typeface="Aptos" panose="020B0004020202020204" pitchFamily="34" charset="0"/>
                <a:cs typeface="Times New Roman" panose="02020603050405020304" pitchFamily="18" charset="0"/>
              </a:rPr>
            </a:br>
            <a:r>
              <a:rPr lang="de-DE" kern="100" dirty="0">
                <a:effectLst/>
                <a:ea typeface="Aptos" panose="020B0004020202020204" pitchFamily="34" charset="0"/>
                <a:cs typeface="Times New Roman" panose="02020603050405020304" pitchFamily="18" charset="0"/>
              </a:rPr>
              <a:t>(z.B. </a:t>
            </a:r>
            <a:r>
              <a:rPr lang="de-DE" b="1" kern="100" dirty="0">
                <a:effectLst/>
                <a:ea typeface="Aptos" panose="020B0004020202020204" pitchFamily="34" charset="0"/>
                <a:cs typeface="Times New Roman" panose="02020603050405020304" pitchFamily="18" charset="0"/>
              </a:rPr>
              <a:t>IT-Grundschutz</a:t>
            </a:r>
            <a:r>
              <a:rPr lang="de-DE" kern="100" dirty="0">
                <a:effectLst/>
                <a:ea typeface="Aptos" panose="020B0004020202020204" pitchFamily="34" charset="0"/>
                <a:cs typeface="Times New Roman" panose="02020603050405020304" pitchFamily="18" charset="0"/>
              </a:rPr>
              <a:t>). Unternehmen können sich ihre erfüllten Ziele durch ein Zertifikat wie </a:t>
            </a:r>
            <a:r>
              <a:rPr lang="de-DE" b="1" kern="100" dirty="0">
                <a:effectLst/>
                <a:ea typeface="Aptos" panose="020B0004020202020204" pitchFamily="34" charset="0"/>
                <a:cs typeface="Times New Roman" panose="02020603050405020304" pitchFamily="18" charset="0"/>
              </a:rPr>
              <a:t>ISO 27001 </a:t>
            </a:r>
            <a:r>
              <a:rPr lang="de-DE" kern="100" dirty="0">
                <a:effectLst/>
                <a:ea typeface="Aptos" panose="020B0004020202020204" pitchFamily="34" charset="0"/>
                <a:cs typeface="Times New Roman" panose="02020603050405020304" pitchFamily="18" charset="0"/>
              </a:rPr>
              <a:t>oder ISO 27002 bestätigen lassen.</a:t>
            </a:r>
          </a:p>
          <a:p>
            <a:pPr>
              <a:lnSpc>
                <a:spcPct val="107000"/>
              </a:lnSpc>
              <a:spcAft>
                <a:spcPts val="800"/>
              </a:spcAft>
            </a:pPr>
            <a:r>
              <a:rPr lang="de-DE" kern="100" dirty="0">
                <a:effectLst/>
                <a:ea typeface="Aptos" panose="020B0004020202020204" pitchFamily="34" charset="0"/>
                <a:cs typeface="Times New Roman" panose="02020603050405020304" pitchFamily="18" charset="0"/>
              </a:rPr>
              <a:t>Die </a:t>
            </a:r>
            <a:r>
              <a:rPr lang="de-DE" b="1" kern="100" dirty="0">
                <a:effectLst/>
                <a:ea typeface="Aptos" panose="020B0004020202020204" pitchFamily="34" charset="0"/>
                <a:cs typeface="Times New Roman" panose="02020603050405020304" pitchFamily="18" charset="0"/>
              </a:rPr>
              <a:t>DSGVO</a:t>
            </a:r>
            <a:r>
              <a:rPr lang="de-DE" kern="100" dirty="0">
                <a:effectLst/>
                <a:ea typeface="Aptos" panose="020B0004020202020204" pitchFamily="34" charset="0"/>
                <a:cs typeface="Times New Roman" panose="02020603050405020304" pitchFamily="18" charset="0"/>
              </a:rPr>
              <a:t> fordert in einigen Artikeln die Datensicherheit der zu verarbeitenden </a:t>
            </a:r>
            <a:r>
              <a:rPr lang="de-DE" kern="100" dirty="0" err="1">
                <a:effectLst/>
                <a:ea typeface="Aptos" panose="020B0004020202020204" pitchFamily="34" charset="0"/>
                <a:cs typeface="Times New Roman" panose="02020603050405020304" pitchFamily="18" charset="0"/>
              </a:rPr>
              <a:t>pbD</a:t>
            </a:r>
            <a:r>
              <a:rPr lang="de-DE" kern="100" dirty="0">
                <a:effectLst/>
                <a:ea typeface="Aptos" panose="020B0004020202020204" pitchFamily="34" charset="0"/>
                <a:cs typeface="Times New Roman" panose="02020603050405020304" pitchFamily="18" charset="0"/>
              </a:rPr>
              <a:t> ein. Werden diese bereits </a:t>
            </a:r>
            <a:r>
              <a:rPr lang="de-DE" b="1" kern="100" dirty="0">
                <a:effectLst/>
                <a:ea typeface="Aptos" panose="020B0004020202020204" pitchFamily="34" charset="0"/>
                <a:cs typeface="Times New Roman" panose="02020603050405020304" pitchFamily="18" charset="0"/>
              </a:rPr>
              <a:t>durch Maßnahmen </a:t>
            </a:r>
            <a:r>
              <a:rPr lang="de-DE" kern="100" dirty="0">
                <a:effectLst/>
                <a:ea typeface="Aptos" panose="020B0004020202020204" pitchFamily="34" charset="0"/>
                <a:cs typeface="Times New Roman" panose="02020603050405020304" pitchFamily="18" charset="0"/>
              </a:rPr>
              <a:t>der Informationssicherheit getroffen, gelten diese ebenfalls.</a:t>
            </a:r>
          </a:p>
          <a:p>
            <a:endParaRPr lang="de-DE" dirty="0"/>
          </a:p>
        </p:txBody>
      </p:sp>
      <p:sp>
        <p:nvSpPr>
          <p:cNvPr id="4" name="Fußzeilenplatzhalter 3">
            <a:extLst>
              <a:ext uri="{FF2B5EF4-FFF2-40B4-BE49-F238E27FC236}">
                <a16:creationId xmlns:a16="http://schemas.microsoft.com/office/drawing/2014/main" id="{9DEE268D-DE24-2FB7-CF1C-A9790596A88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15D08512-030C-AF27-ECAE-2CB6FD5425F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3400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CB697D2-2DE2-D7AC-CD04-23B339B027AC}"/>
              </a:ext>
            </a:extLst>
          </p:cNvPr>
          <p:cNvSpPr>
            <a:spLocks noGrp="1"/>
          </p:cNvSpPr>
          <p:nvPr>
            <p:ph type="title"/>
          </p:nvPr>
        </p:nvSpPr>
        <p:spPr>
          <a:xfrm>
            <a:off x="838200" y="365126"/>
            <a:ext cx="10515600" cy="1045386"/>
          </a:xfrm>
        </p:spPr>
        <p:txBody>
          <a:bodyPr>
            <a:normAutofit/>
          </a:bodyPr>
          <a:lstStyle/>
          <a:p>
            <a:r>
              <a:rPr lang="de-DE" sz="3200" b="1" u="sng" kern="100" dirty="0">
                <a:effectLst/>
                <a:latin typeface="Times New Roman" panose="02020603050405020304" pitchFamily="18" charset="0"/>
                <a:ea typeface="Aptos" panose="020B0004020202020204" pitchFamily="34" charset="0"/>
                <a:cs typeface="Times New Roman" panose="02020603050405020304" pitchFamily="18" charset="0"/>
              </a:rPr>
              <a:t>Gesetzliche Anforderungen</a:t>
            </a:r>
            <a:r>
              <a:rPr lang="de-DE" sz="32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de-DE" sz="2700" b="1" u="sng"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a:t>
            </a:r>
            <a:r>
              <a:rPr lang="de-DE" sz="27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Art. 24 (1) DSGVO]</a:t>
            </a:r>
            <a:br>
              <a:rPr lang="de-DE" sz="27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br>
            <a:endParaRPr lang="de-DE" sz="2700" dirty="0">
              <a:solidFill>
                <a:srgbClr val="0070C0"/>
              </a:solidFill>
            </a:endParaRPr>
          </a:p>
        </p:txBody>
      </p:sp>
      <p:sp>
        <p:nvSpPr>
          <p:cNvPr id="3" name="Inhaltsplatzhalter 2">
            <a:extLst>
              <a:ext uri="{FF2B5EF4-FFF2-40B4-BE49-F238E27FC236}">
                <a16:creationId xmlns:a16="http://schemas.microsoft.com/office/drawing/2014/main" id="{10850982-C95A-5F0B-E1B4-53CE73B9BC17}"/>
              </a:ext>
            </a:extLst>
          </p:cNvPr>
          <p:cNvSpPr>
            <a:spLocks noGrp="1"/>
          </p:cNvSpPr>
          <p:nvPr>
            <p:ph sz="half" idx="1"/>
          </p:nvPr>
        </p:nvSpPr>
        <p:spPr/>
        <p:txBody>
          <a:bodyPr>
            <a:normAutofit fontScale="77500" lnSpcReduction="20000"/>
          </a:bodyPr>
          <a:lstStyle/>
          <a:p>
            <a:pPr marL="0" indent="0">
              <a:lnSpc>
                <a:spcPct val="107000"/>
              </a:lnSpc>
              <a:spcAft>
                <a:spcPts val="800"/>
              </a:spcAft>
              <a:buNone/>
            </a:pPr>
            <a:r>
              <a:rPr lang="de-DE" sz="2600" kern="100" dirty="0">
                <a:effectLst/>
                <a:ea typeface="Aptos" panose="020B0004020202020204" pitchFamily="34" charset="0"/>
                <a:cs typeface="Times New Roman" panose="02020603050405020304" pitchFamily="18" charset="0"/>
              </a:rPr>
              <a:t>Der </a:t>
            </a:r>
            <a:r>
              <a:rPr lang="de-DE" sz="2600" b="1" kern="100" dirty="0">
                <a:effectLst/>
                <a:ea typeface="Aptos" panose="020B0004020202020204" pitchFamily="34" charset="0"/>
                <a:cs typeface="Times New Roman" panose="02020603050405020304" pitchFamily="18" charset="0"/>
              </a:rPr>
              <a:t>Art. 24</a:t>
            </a:r>
            <a:r>
              <a:rPr lang="de-DE" sz="2600" kern="100" dirty="0">
                <a:effectLst/>
                <a:ea typeface="Aptos" panose="020B0004020202020204" pitchFamily="34" charset="0"/>
                <a:cs typeface="Times New Roman" panose="02020603050405020304" pitchFamily="18" charset="0"/>
              </a:rPr>
              <a:t> der DSGVO </a:t>
            </a:r>
            <a:r>
              <a:rPr lang="de-DE" sz="2600" b="1" kern="100" dirty="0">
                <a:effectLst/>
                <a:ea typeface="Aptos" panose="020B0004020202020204" pitchFamily="34" charset="0"/>
                <a:cs typeface="Times New Roman" panose="02020603050405020304" pitchFamily="18" charset="0"/>
              </a:rPr>
              <a:t>gibt Verantwortlichen</a:t>
            </a:r>
            <a:r>
              <a:rPr lang="de-DE" sz="2600" kern="100" dirty="0">
                <a:effectLst/>
                <a:ea typeface="Aptos" panose="020B0004020202020204" pitchFamily="34" charset="0"/>
                <a:cs typeface="Times New Roman" panose="02020603050405020304" pitchFamily="18" charset="0"/>
              </a:rPr>
              <a:t>, den </a:t>
            </a:r>
            <a:r>
              <a:rPr lang="de-DE" sz="2600" b="1" kern="100" dirty="0">
                <a:effectLst/>
                <a:ea typeface="Aptos" panose="020B0004020202020204" pitchFamily="34" charset="0"/>
                <a:cs typeface="Times New Roman" panose="02020603050405020304" pitchFamily="18" charset="0"/>
              </a:rPr>
              <a:t>Auftrag</a:t>
            </a:r>
            <a:r>
              <a:rPr lang="de-DE" sz="2600" kern="100" dirty="0">
                <a:effectLst/>
                <a:ea typeface="Aptos" panose="020B0004020202020204" pitchFamily="34" charset="0"/>
                <a:cs typeface="Times New Roman" panose="02020603050405020304" pitchFamily="18" charset="0"/>
              </a:rPr>
              <a:t> sicherzustellen, </a:t>
            </a:r>
            <a:r>
              <a:rPr lang="de-DE" sz="2600" b="1" kern="100" dirty="0">
                <a:effectLst/>
                <a:ea typeface="Aptos" panose="020B0004020202020204" pitchFamily="34" charset="0"/>
                <a:cs typeface="Times New Roman" panose="02020603050405020304" pitchFamily="18" charset="0"/>
              </a:rPr>
              <a:t>dass die Verarbeitung</a:t>
            </a:r>
            <a:r>
              <a:rPr lang="de-DE" sz="2600" kern="100" dirty="0">
                <a:effectLst/>
                <a:ea typeface="Aptos" panose="020B0004020202020204" pitchFamily="34" charset="0"/>
                <a:cs typeface="Times New Roman" panose="02020603050405020304" pitchFamily="18" charset="0"/>
              </a:rPr>
              <a:t> der </a:t>
            </a:r>
            <a:r>
              <a:rPr lang="de-DE" sz="2600" kern="100" dirty="0" err="1">
                <a:effectLst/>
                <a:ea typeface="Aptos" panose="020B0004020202020204" pitchFamily="34" charset="0"/>
                <a:cs typeface="Times New Roman" panose="02020603050405020304" pitchFamily="18" charset="0"/>
              </a:rPr>
              <a:t>pbD</a:t>
            </a:r>
            <a:r>
              <a:rPr lang="de-DE" sz="2600" kern="100" dirty="0">
                <a:effectLst/>
                <a:ea typeface="Aptos" panose="020B0004020202020204" pitchFamily="34" charset="0"/>
                <a:cs typeface="Times New Roman" panose="02020603050405020304" pitchFamily="18" charset="0"/>
              </a:rPr>
              <a:t> </a:t>
            </a:r>
            <a:r>
              <a:rPr lang="de-DE" sz="2600" b="1" kern="100" dirty="0">
                <a:effectLst/>
                <a:ea typeface="Aptos" panose="020B0004020202020204" pitchFamily="34" charset="0"/>
                <a:cs typeface="Times New Roman" panose="02020603050405020304" pitchFamily="18" charset="0"/>
              </a:rPr>
              <a:t>nur im Sinne</a:t>
            </a:r>
            <a:r>
              <a:rPr lang="de-DE" sz="2600" kern="100" dirty="0">
                <a:effectLst/>
                <a:ea typeface="Aptos" panose="020B0004020202020204" pitchFamily="34" charset="0"/>
                <a:cs typeface="Times New Roman" panose="02020603050405020304" pitchFamily="18" charset="0"/>
              </a:rPr>
              <a:t> </a:t>
            </a:r>
            <a:r>
              <a:rPr lang="de-DE" sz="2600" b="1" kern="100" dirty="0">
                <a:effectLst/>
                <a:ea typeface="Aptos" panose="020B0004020202020204" pitchFamily="34" charset="0"/>
                <a:cs typeface="Times New Roman" panose="02020603050405020304" pitchFamily="18" charset="0"/>
              </a:rPr>
              <a:t>der DSGVO</a:t>
            </a:r>
            <a:r>
              <a:rPr lang="de-DE" sz="2600" kern="100" dirty="0">
                <a:effectLst/>
                <a:ea typeface="Aptos" panose="020B0004020202020204" pitchFamily="34" charset="0"/>
                <a:cs typeface="Times New Roman" panose="02020603050405020304" pitchFamily="18" charset="0"/>
              </a:rPr>
              <a:t> erfolgt. Dazu </a:t>
            </a:r>
            <a:r>
              <a:rPr lang="de-DE" sz="2600" b="1" kern="100" dirty="0">
                <a:effectLst/>
                <a:ea typeface="Aptos" panose="020B0004020202020204" pitchFamily="34" charset="0"/>
                <a:cs typeface="Times New Roman" panose="02020603050405020304" pitchFamily="18" charset="0"/>
              </a:rPr>
              <a:t>müssen geeignete TOMs</a:t>
            </a:r>
            <a:r>
              <a:rPr lang="de-DE" sz="2600" kern="100" dirty="0">
                <a:effectLst/>
                <a:ea typeface="Aptos" panose="020B0004020202020204" pitchFamily="34" charset="0"/>
                <a:cs typeface="Times New Roman" panose="02020603050405020304" pitchFamily="18" charset="0"/>
              </a:rPr>
              <a:t> verwendet werden.</a:t>
            </a:r>
            <a:r>
              <a:rPr lang="de-DE" sz="2600" b="1" u="none" strike="noStrike" kern="100" dirty="0">
                <a:effectLst/>
                <a:ea typeface="Aptos" panose="020B0004020202020204" pitchFamily="34" charset="0"/>
                <a:cs typeface="Times New Roman" panose="02020603050405020304" pitchFamily="18" charset="0"/>
              </a:rPr>
              <a:t> </a:t>
            </a:r>
            <a:endParaRPr lang="de-DE" sz="26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de-DE" sz="2600" b="1" kern="100" dirty="0">
                <a:effectLst/>
                <a:ea typeface="Aptos" panose="020B0004020202020204" pitchFamily="34" charset="0"/>
                <a:cs typeface="Times New Roman" panose="02020603050405020304" pitchFamily="18" charset="0"/>
              </a:rPr>
              <a:t>Technische Maßnahmen</a:t>
            </a:r>
            <a:r>
              <a:rPr lang="de-DE" sz="2600" kern="100" dirty="0">
                <a:effectLst/>
                <a:ea typeface="Aptos" panose="020B0004020202020204" pitchFamily="34" charset="0"/>
                <a:cs typeface="Times New Roman" panose="02020603050405020304" pitchFamily="18" charset="0"/>
              </a:rPr>
              <a:t> müssen oft nur einmalig eingerichtet werden und laufen dann automatisiert weiter. Diese technischen Maßnahmen sollten </a:t>
            </a:r>
            <a:r>
              <a:rPr lang="de-DE" sz="2600" b="1" kern="100" dirty="0">
                <a:effectLst/>
                <a:ea typeface="Aptos" panose="020B0004020202020204" pitchFamily="34" charset="0"/>
                <a:cs typeface="Times New Roman" panose="02020603050405020304" pitchFamily="18" charset="0"/>
              </a:rPr>
              <a:t>immer zuerst in Betracht</a:t>
            </a:r>
            <a:r>
              <a:rPr lang="de-DE" sz="2600" kern="100" dirty="0">
                <a:effectLst/>
                <a:ea typeface="Aptos" panose="020B0004020202020204" pitchFamily="34" charset="0"/>
                <a:cs typeface="Times New Roman" panose="02020603050405020304" pitchFamily="18" charset="0"/>
              </a:rPr>
              <a:t> gezogen werden. Auch wenn </a:t>
            </a:r>
            <a:r>
              <a:rPr lang="de-DE" sz="2600" b="1" kern="100" dirty="0">
                <a:effectLst/>
                <a:ea typeface="Aptos" panose="020B0004020202020204" pitchFamily="34" charset="0"/>
                <a:cs typeface="Times New Roman" panose="02020603050405020304" pitchFamily="18" charset="0"/>
              </a:rPr>
              <a:t>Technik</a:t>
            </a:r>
            <a:r>
              <a:rPr lang="de-DE" sz="2600" kern="100" dirty="0">
                <a:effectLst/>
                <a:ea typeface="Aptos" panose="020B0004020202020204" pitchFamily="34" charset="0"/>
                <a:cs typeface="Times New Roman" panose="02020603050405020304" pitchFamily="18" charset="0"/>
              </a:rPr>
              <a:t> anfällig sein kann oder auch kompromittiert werden kann, sie </a:t>
            </a:r>
            <a:r>
              <a:rPr lang="de-DE" sz="2600" b="1" kern="100" dirty="0">
                <a:ea typeface="Aptos" panose="020B0004020202020204" pitchFamily="34" charset="0"/>
                <a:cs typeface="Times New Roman" panose="02020603050405020304" pitchFamily="18" charset="0"/>
              </a:rPr>
              <a:t>sind</a:t>
            </a:r>
            <a:r>
              <a:rPr lang="de-DE" sz="2600" kern="100" dirty="0">
                <a:effectLst/>
                <a:ea typeface="Aptos" panose="020B0004020202020204" pitchFamily="34" charset="0"/>
                <a:cs typeface="Times New Roman" panose="02020603050405020304" pitchFamily="18" charset="0"/>
              </a:rPr>
              <a:t> </a:t>
            </a:r>
            <a:r>
              <a:rPr lang="de-DE" sz="2600" b="1" kern="100" dirty="0">
                <a:effectLst/>
                <a:ea typeface="Aptos" panose="020B0004020202020204" pitchFamily="34" charset="0"/>
                <a:cs typeface="Times New Roman" panose="02020603050405020304" pitchFamily="18" charset="0"/>
              </a:rPr>
              <a:t>sicherer als organisatorische Maßnahmen</a:t>
            </a:r>
            <a:r>
              <a:rPr lang="de-DE" sz="2600" kern="100" dirty="0">
                <a:effectLst/>
                <a:ea typeface="Aptos" panose="020B0004020202020204" pitchFamily="34" charset="0"/>
                <a:cs typeface="Times New Roman" panose="02020603050405020304" pitchFamily="18" charset="0"/>
              </a:rPr>
              <a:t>.</a:t>
            </a:r>
          </a:p>
        </p:txBody>
      </p:sp>
      <p:sp>
        <p:nvSpPr>
          <p:cNvPr id="7" name="Inhaltsplatzhalter 6">
            <a:extLst>
              <a:ext uri="{FF2B5EF4-FFF2-40B4-BE49-F238E27FC236}">
                <a16:creationId xmlns:a16="http://schemas.microsoft.com/office/drawing/2014/main" id="{B1FAA044-5A7E-2058-510B-275A91FB3999}"/>
              </a:ext>
            </a:extLst>
          </p:cNvPr>
          <p:cNvSpPr>
            <a:spLocks noGrp="1"/>
          </p:cNvSpPr>
          <p:nvPr>
            <p:ph sz="half" idx="2"/>
          </p:nvPr>
        </p:nvSpPr>
        <p:spPr/>
        <p:txBody>
          <a:bodyPr>
            <a:noAutofit/>
          </a:bodyPr>
          <a:lstStyle/>
          <a:p>
            <a:pPr marL="0" indent="0">
              <a:lnSpc>
                <a:spcPct val="107000"/>
              </a:lnSpc>
              <a:spcAft>
                <a:spcPts val="800"/>
              </a:spcAft>
              <a:buNone/>
            </a:pPr>
            <a:r>
              <a:rPr lang="de-DE" sz="2000" b="1" kern="100" dirty="0">
                <a:solidFill>
                  <a:srgbClr val="0070C0"/>
                </a:solidFill>
                <a:effectLst/>
                <a:ea typeface="Aptos" panose="020B0004020202020204" pitchFamily="34" charset="0"/>
                <a:cs typeface="Times New Roman" panose="02020603050405020304" pitchFamily="18" charset="0"/>
              </a:rPr>
              <a:t>Beispiele für</a:t>
            </a:r>
            <a:br>
              <a:rPr lang="de-DE" sz="2000" b="1" kern="100" dirty="0">
                <a:solidFill>
                  <a:srgbClr val="0070C0"/>
                </a:solidFill>
                <a:effectLst/>
                <a:ea typeface="Aptos" panose="020B0004020202020204" pitchFamily="34" charset="0"/>
                <a:cs typeface="Times New Roman" panose="02020603050405020304" pitchFamily="18" charset="0"/>
              </a:rPr>
            </a:br>
            <a:r>
              <a:rPr lang="de-DE" sz="2000" b="1" u="sng" kern="100" dirty="0">
                <a:effectLst/>
                <a:ea typeface="Aptos" panose="020B0004020202020204" pitchFamily="34" charset="0"/>
                <a:cs typeface="Times New Roman" panose="02020603050405020304" pitchFamily="18" charset="0"/>
              </a:rPr>
              <a:t>Technische Maßnahmen</a:t>
            </a:r>
            <a:endParaRPr lang="de-DE" sz="20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de-DE" sz="2000" b="1" kern="100" dirty="0">
                <a:effectLst/>
                <a:ea typeface="Aptos" panose="020B0004020202020204" pitchFamily="34" charset="0"/>
                <a:cs typeface="Times New Roman" panose="02020603050405020304" pitchFamily="18" charset="0"/>
              </a:rPr>
              <a:t>Sicherheitsvorkehrungen </a:t>
            </a:r>
            <a:r>
              <a:rPr lang="de-DE" sz="2000" b="1" u="sng" kern="100" dirty="0">
                <a:effectLst/>
                <a:ea typeface="Aptos" panose="020B0004020202020204" pitchFamily="34" charset="0"/>
                <a:cs typeface="Times New Roman" panose="02020603050405020304" pitchFamily="18" charset="0"/>
              </a:rPr>
              <a:t>mit</a:t>
            </a:r>
            <a:r>
              <a:rPr lang="de-DE" sz="2000" b="1" kern="100" dirty="0">
                <a:effectLst/>
                <a:ea typeface="Aptos" panose="020B0004020202020204" pitchFamily="34" charset="0"/>
                <a:cs typeface="Times New Roman" panose="02020603050405020304" pitchFamily="18" charset="0"/>
              </a:rPr>
              <a:t> technischer Unterstützung:</a:t>
            </a:r>
            <a:endParaRPr lang="de-DE" sz="2000" kern="100" dirty="0">
              <a:solidFill>
                <a:srgbClr val="0070C0"/>
              </a:solidFill>
              <a:effectLst/>
              <a:ea typeface="Aptos" panose="020B0004020202020204" pitchFamily="34" charset="0"/>
              <a:cs typeface="Times New Roman" panose="02020603050405020304" pitchFamily="18" charset="0"/>
            </a:endParaRPr>
          </a:p>
          <a:p>
            <a:pPr>
              <a:lnSpc>
                <a:spcPct val="107000"/>
              </a:lnSpc>
            </a:pPr>
            <a:r>
              <a:rPr lang="de-DE" sz="2000" kern="100" dirty="0">
                <a:effectLst/>
                <a:ea typeface="Aptos" panose="020B0004020202020204" pitchFamily="34" charset="0"/>
                <a:cs typeface="Times New Roman" panose="02020603050405020304" pitchFamily="18" charset="0"/>
              </a:rPr>
              <a:t>Antivirenprogramm</a:t>
            </a:r>
          </a:p>
          <a:p>
            <a:pPr>
              <a:lnSpc>
                <a:spcPct val="107000"/>
              </a:lnSpc>
            </a:pPr>
            <a:r>
              <a:rPr lang="de-DE" sz="2000" kern="100" dirty="0">
                <a:effectLst/>
                <a:ea typeface="Aptos" panose="020B0004020202020204" pitchFamily="34" charset="0"/>
                <a:cs typeface="Times New Roman" panose="02020603050405020304" pitchFamily="18" charset="0"/>
              </a:rPr>
              <a:t>Zugangskontrolle mit Scanner</a:t>
            </a:r>
          </a:p>
          <a:p>
            <a:pPr>
              <a:lnSpc>
                <a:spcPct val="107000"/>
              </a:lnSpc>
            </a:pPr>
            <a:r>
              <a:rPr lang="de-DE" sz="2000" kern="100" dirty="0">
                <a:effectLst/>
                <a:ea typeface="Aptos" panose="020B0004020202020204" pitchFamily="34" charset="0"/>
                <a:cs typeface="Times New Roman" panose="02020603050405020304" pitchFamily="18" charset="0"/>
              </a:rPr>
              <a:t>Automatsche Schließsysteme</a:t>
            </a:r>
          </a:p>
          <a:p>
            <a:pPr>
              <a:lnSpc>
                <a:spcPct val="107000"/>
              </a:lnSpc>
            </a:pPr>
            <a:r>
              <a:rPr lang="de-DE" sz="2000" kern="100" dirty="0">
                <a:effectLst/>
                <a:ea typeface="Aptos" panose="020B0004020202020204" pitchFamily="34" charset="0"/>
                <a:cs typeface="Times New Roman" panose="02020603050405020304" pitchFamily="18" charset="0"/>
              </a:rPr>
              <a:t>Kennwortabfrage bei Programmen</a:t>
            </a:r>
          </a:p>
          <a:p>
            <a:pPr>
              <a:lnSpc>
                <a:spcPct val="107000"/>
              </a:lnSpc>
            </a:pPr>
            <a:r>
              <a:rPr lang="de-DE" sz="2000" kern="100" dirty="0">
                <a:effectLst/>
                <a:ea typeface="Aptos" panose="020B0004020202020204" pitchFamily="34" charset="0"/>
                <a:cs typeface="Times New Roman" panose="02020603050405020304" pitchFamily="18" charset="0"/>
              </a:rPr>
              <a:t>Feuerlöschanlage im Serverraum</a:t>
            </a: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Etc.</a:t>
            </a:r>
          </a:p>
          <a:p>
            <a:endParaRPr lang="de-DE" sz="2000" dirty="0"/>
          </a:p>
        </p:txBody>
      </p:sp>
      <p:sp>
        <p:nvSpPr>
          <p:cNvPr id="4" name="Fußzeilenplatzhalter 3">
            <a:extLst>
              <a:ext uri="{FF2B5EF4-FFF2-40B4-BE49-F238E27FC236}">
                <a16:creationId xmlns:a16="http://schemas.microsoft.com/office/drawing/2014/main" id="{407BDC7C-5996-C535-8C74-19C3A4E7063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8F02C7B8-A8C1-6F1B-034D-85D879F1C9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775033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AFA3C-1570-BA6C-F951-72925F50EB1A}"/>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9F6D7FDD-EB53-CC04-C824-78F03794E5D1}"/>
              </a:ext>
            </a:extLst>
          </p:cNvPr>
          <p:cNvSpPr>
            <a:spLocks noGrp="1"/>
          </p:cNvSpPr>
          <p:nvPr>
            <p:ph type="title"/>
          </p:nvPr>
        </p:nvSpPr>
        <p:spPr>
          <a:xfrm>
            <a:off x="838200" y="365126"/>
            <a:ext cx="10515600" cy="1045386"/>
          </a:xfrm>
        </p:spPr>
        <p:txBody>
          <a:bodyPr>
            <a:normAutofit/>
          </a:bodyPr>
          <a:lstStyle/>
          <a:p>
            <a:r>
              <a:rPr lang="de-DE" sz="3200" b="1" u="sng" kern="100" dirty="0">
                <a:effectLst/>
                <a:latin typeface="Times New Roman" panose="02020603050405020304" pitchFamily="18" charset="0"/>
                <a:ea typeface="Aptos" panose="020B0004020202020204" pitchFamily="34" charset="0"/>
                <a:cs typeface="Times New Roman" panose="02020603050405020304" pitchFamily="18" charset="0"/>
              </a:rPr>
              <a:t>Gesetzliche Anforderungen</a:t>
            </a:r>
            <a:r>
              <a:rPr lang="de-DE" sz="32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de-DE" sz="2700" b="1" u="sng"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a:t>
            </a:r>
            <a:r>
              <a:rPr lang="de-DE" sz="27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Art. 24 (1) DSGVO]</a:t>
            </a:r>
            <a:br>
              <a:rPr lang="de-DE" sz="27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br>
            <a:endParaRPr lang="de-DE" sz="2700" dirty="0">
              <a:solidFill>
                <a:srgbClr val="0070C0"/>
              </a:solidFill>
            </a:endParaRPr>
          </a:p>
        </p:txBody>
      </p:sp>
      <p:sp>
        <p:nvSpPr>
          <p:cNvPr id="3" name="Inhaltsplatzhalter 2">
            <a:extLst>
              <a:ext uri="{FF2B5EF4-FFF2-40B4-BE49-F238E27FC236}">
                <a16:creationId xmlns:a16="http://schemas.microsoft.com/office/drawing/2014/main" id="{F28ECCC9-0C25-B9F1-602E-9F92C94C8DBA}"/>
              </a:ext>
            </a:extLst>
          </p:cNvPr>
          <p:cNvSpPr>
            <a:spLocks noGrp="1"/>
          </p:cNvSpPr>
          <p:nvPr>
            <p:ph sz="half" idx="1"/>
          </p:nvPr>
        </p:nvSpPr>
        <p:spPr/>
        <p:txBody>
          <a:bodyPr>
            <a:noAutofit/>
          </a:bodyPr>
          <a:lstStyle/>
          <a:p>
            <a:pPr marL="0" indent="0">
              <a:lnSpc>
                <a:spcPct val="107000"/>
              </a:lnSpc>
              <a:spcAft>
                <a:spcPts val="800"/>
              </a:spcAft>
              <a:buNone/>
            </a:pPr>
            <a:r>
              <a:rPr lang="de-DE" sz="2000" kern="100" dirty="0">
                <a:effectLst/>
                <a:ea typeface="Aptos" panose="020B0004020202020204" pitchFamily="34" charset="0"/>
                <a:cs typeface="Times New Roman" panose="02020603050405020304" pitchFamily="18" charset="0"/>
              </a:rPr>
              <a:t>Bei sämtlichen organisatorischen Maßnahmen spielt die </a:t>
            </a:r>
            <a:r>
              <a:rPr lang="de-DE" sz="2000" b="1" kern="100" dirty="0">
                <a:effectLst/>
                <a:ea typeface="Aptos" panose="020B0004020202020204" pitchFamily="34" charset="0"/>
                <a:cs typeface="Times New Roman" panose="02020603050405020304" pitchFamily="18" charset="0"/>
              </a:rPr>
              <a:t>menschliche Komponente</a:t>
            </a:r>
            <a:r>
              <a:rPr lang="de-DE" sz="2000" kern="100" dirty="0">
                <a:effectLst/>
                <a:ea typeface="Aptos" panose="020B0004020202020204" pitchFamily="34" charset="0"/>
                <a:cs typeface="Times New Roman" panose="02020603050405020304" pitchFamily="18" charset="0"/>
              </a:rPr>
              <a:t> die Hauptrolle (Mitarbeiter, Praktikanten, etc.). Diese Schutzmaßnahmen müssen den MA </a:t>
            </a:r>
            <a:r>
              <a:rPr lang="de-DE" sz="2000" b="1" kern="100" dirty="0">
                <a:effectLst/>
                <a:ea typeface="Aptos" panose="020B0004020202020204" pitchFamily="34" charset="0"/>
                <a:cs typeface="Times New Roman" panose="02020603050405020304" pitchFamily="18" charset="0"/>
              </a:rPr>
              <a:t>bekannt</a:t>
            </a:r>
            <a:r>
              <a:rPr lang="de-DE" sz="2000" kern="100" dirty="0">
                <a:effectLst/>
                <a:ea typeface="Aptos" panose="020B0004020202020204" pitchFamily="34" charset="0"/>
                <a:cs typeface="Times New Roman" panose="02020603050405020304" pitchFamily="18" charset="0"/>
              </a:rPr>
              <a:t> sein und sie müssen </a:t>
            </a:r>
            <a:r>
              <a:rPr lang="de-DE" sz="2000" b="1" kern="100" dirty="0">
                <a:effectLst/>
                <a:ea typeface="Aptos" panose="020B0004020202020204" pitchFamily="34" charset="0"/>
                <a:cs typeface="Times New Roman" panose="02020603050405020304" pitchFamily="18" charset="0"/>
              </a:rPr>
              <a:t>verantwortungsbewusst</a:t>
            </a:r>
            <a:r>
              <a:rPr lang="de-DE" sz="2000" kern="100" dirty="0">
                <a:effectLst/>
                <a:ea typeface="Aptos" panose="020B0004020202020204" pitchFamily="34" charset="0"/>
                <a:cs typeface="Times New Roman" panose="02020603050405020304" pitchFamily="18" charset="0"/>
              </a:rPr>
              <a:t> und </a:t>
            </a:r>
            <a:r>
              <a:rPr lang="de-DE" sz="2000" b="1" kern="100" dirty="0">
                <a:effectLst/>
                <a:ea typeface="Aptos" panose="020B0004020202020204" pitchFamily="34" charset="0"/>
                <a:cs typeface="Times New Roman" panose="02020603050405020304" pitchFamily="18" charset="0"/>
              </a:rPr>
              <a:t>verlässlich </a:t>
            </a:r>
            <a:r>
              <a:rPr lang="de-DE" sz="2000" kern="100" dirty="0">
                <a:effectLst/>
                <a:ea typeface="Aptos" panose="020B0004020202020204" pitchFamily="34" charset="0"/>
                <a:cs typeface="Times New Roman" panose="02020603050405020304" pitchFamily="18" charset="0"/>
              </a:rPr>
              <a:t>von ihnen durchgeführt werden.</a:t>
            </a:r>
          </a:p>
          <a:p>
            <a:pPr marL="0" indent="0">
              <a:lnSpc>
                <a:spcPct val="107000"/>
              </a:lnSpc>
              <a:spcAft>
                <a:spcPts val="800"/>
              </a:spcAft>
              <a:buNone/>
            </a:pPr>
            <a:r>
              <a:rPr lang="de-DE" sz="2000" kern="100" dirty="0">
                <a:effectLst/>
                <a:ea typeface="Aptos" panose="020B0004020202020204" pitchFamily="34" charset="0"/>
                <a:cs typeface="Times New Roman" panose="02020603050405020304" pitchFamily="18" charset="0"/>
              </a:rPr>
              <a:t>Da die Zuverlässigkeit der organisatorischen Maßnahmen stark von den Mitarbeitern bestimmt wird, hängt somit auch die </a:t>
            </a:r>
            <a:r>
              <a:rPr lang="de-DE" sz="2000" b="1" kern="100" dirty="0">
                <a:effectLst/>
                <a:ea typeface="Aptos" panose="020B0004020202020204" pitchFamily="34" charset="0"/>
                <a:cs typeface="Times New Roman" panose="02020603050405020304" pitchFamily="18" charset="0"/>
              </a:rPr>
              <a:t>Wirksamkeit</a:t>
            </a:r>
            <a:r>
              <a:rPr lang="de-DE" sz="2000" kern="100" dirty="0">
                <a:effectLst/>
                <a:ea typeface="Aptos" panose="020B0004020202020204" pitchFamily="34" charset="0"/>
                <a:cs typeface="Times New Roman" panose="02020603050405020304" pitchFamily="18" charset="0"/>
              </a:rPr>
              <a:t> der Schutzmaßnahmen von den Mitarbeitern ab.</a:t>
            </a:r>
          </a:p>
          <a:p>
            <a:pPr marL="0" indent="0">
              <a:lnSpc>
                <a:spcPct val="107000"/>
              </a:lnSpc>
              <a:spcAft>
                <a:spcPts val="800"/>
              </a:spcAft>
              <a:buNone/>
            </a:pPr>
            <a:r>
              <a:rPr lang="de-DE" sz="2000" kern="100" dirty="0">
                <a:effectLst/>
                <a:ea typeface="Aptos" panose="020B0004020202020204" pitchFamily="34" charset="0"/>
                <a:cs typeface="Times New Roman" panose="02020603050405020304" pitchFamily="18" charset="0"/>
              </a:rPr>
              <a:t>.</a:t>
            </a:r>
          </a:p>
        </p:txBody>
      </p:sp>
      <p:sp>
        <p:nvSpPr>
          <p:cNvPr id="7" name="Inhaltsplatzhalter 6">
            <a:extLst>
              <a:ext uri="{FF2B5EF4-FFF2-40B4-BE49-F238E27FC236}">
                <a16:creationId xmlns:a16="http://schemas.microsoft.com/office/drawing/2014/main" id="{97602EC1-E69D-7440-3147-CA35993E16A2}"/>
              </a:ext>
            </a:extLst>
          </p:cNvPr>
          <p:cNvSpPr>
            <a:spLocks noGrp="1"/>
          </p:cNvSpPr>
          <p:nvPr>
            <p:ph sz="half" idx="2"/>
          </p:nvPr>
        </p:nvSpPr>
        <p:spPr/>
        <p:txBody>
          <a:bodyPr>
            <a:noAutofit/>
          </a:bodyPr>
          <a:lstStyle/>
          <a:p>
            <a:pPr marL="0" indent="0">
              <a:lnSpc>
                <a:spcPct val="107000"/>
              </a:lnSpc>
              <a:spcAft>
                <a:spcPts val="800"/>
              </a:spcAft>
              <a:buNone/>
            </a:pPr>
            <a:r>
              <a:rPr lang="de-DE" sz="2400" b="1" kern="100" dirty="0">
                <a:effectLst/>
                <a:ea typeface="Aptos" panose="020B0004020202020204" pitchFamily="34" charset="0"/>
                <a:cs typeface="Times New Roman" panose="02020603050405020304" pitchFamily="18" charset="0"/>
              </a:rPr>
              <a:t>Sicherheitsvorkehrungen </a:t>
            </a:r>
            <a:r>
              <a:rPr lang="de-DE" sz="2400" b="1" u="sng" kern="100" dirty="0">
                <a:effectLst/>
                <a:ea typeface="Aptos" panose="020B0004020202020204" pitchFamily="34" charset="0"/>
                <a:cs typeface="Times New Roman" panose="02020603050405020304" pitchFamily="18" charset="0"/>
              </a:rPr>
              <a:t>ohne</a:t>
            </a:r>
            <a:r>
              <a:rPr lang="de-DE" sz="2400" b="1" kern="100" dirty="0">
                <a:effectLst/>
                <a:ea typeface="Aptos" panose="020B0004020202020204" pitchFamily="34" charset="0"/>
                <a:cs typeface="Times New Roman" panose="02020603050405020304" pitchFamily="18" charset="0"/>
              </a:rPr>
              <a:t> technische Unterstützung, z.B.</a:t>
            </a:r>
            <a:endParaRPr lang="de-DE" sz="2400" kern="100" dirty="0">
              <a:effectLst/>
              <a:ea typeface="Aptos" panose="020B0004020202020204" pitchFamily="34" charset="0"/>
              <a:cs typeface="Times New Roman" panose="02020603050405020304" pitchFamily="18" charset="0"/>
            </a:endParaRPr>
          </a:p>
          <a:p>
            <a:pPr>
              <a:lnSpc>
                <a:spcPct val="107000"/>
              </a:lnSpc>
            </a:pPr>
            <a:r>
              <a:rPr lang="de-DE" sz="2400" kern="100" dirty="0">
                <a:effectLst/>
                <a:ea typeface="Aptos" panose="020B0004020202020204" pitchFamily="34" charset="0"/>
                <a:cs typeface="Times New Roman" panose="02020603050405020304" pitchFamily="18" charset="0"/>
              </a:rPr>
              <a:t>Regelungen zum Umgang mit Speichermedien (USB-Sticks)</a:t>
            </a:r>
          </a:p>
          <a:p>
            <a:pPr>
              <a:lnSpc>
                <a:spcPct val="107000"/>
              </a:lnSpc>
            </a:pPr>
            <a:r>
              <a:rPr lang="de-DE" sz="2400" kern="100" dirty="0">
                <a:effectLst/>
                <a:ea typeface="Aptos" panose="020B0004020202020204" pitchFamily="34" charset="0"/>
                <a:cs typeface="Times New Roman" panose="02020603050405020304" pitchFamily="18" charset="0"/>
              </a:rPr>
              <a:t>Zugangskontrollen mittels Schlüssel</a:t>
            </a:r>
          </a:p>
          <a:p>
            <a:pPr>
              <a:lnSpc>
                <a:spcPct val="107000"/>
              </a:lnSpc>
            </a:pPr>
            <a:r>
              <a:rPr lang="de-DE" sz="2400" kern="100" dirty="0">
                <a:effectLst/>
                <a:ea typeface="Aptos" panose="020B0004020202020204" pitchFamily="34" charset="0"/>
                <a:cs typeface="Times New Roman" panose="02020603050405020304" pitchFamily="18" charset="0"/>
              </a:rPr>
              <a:t>Besucherbegleitung</a:t>
            </a:r>
          </a:p>
          <a:p>
            <a:pPr>
              <a:lnSpc>
                <a:spcPct val="107000"/>
              </a:lnSpc>
              <a:spcAft>
                <a:spcPts val="800"/>
              </a:spcAft>
            </a:pPr>
            <a:r>
              <a:rPr lang="de-DE" sz="2400" kern="100" dirty="0">
                <a:effectLst/>
                <a:ea typeface="Aptos" panose="020B0004020202020204" pitchFamily="34" charset="0"/>
                <a:cs typeface="Times New Roman" panose="02020603050405020304" pitchFamily="18" charset="0"/>
              </a:rPr>
              <a:t>Feuerlöscher nähe Serverraum</a:t>
            </a:r>
          </a:p>
          <a:p>
            <a:endParaRPr lang="de-DE" sz="2400" dirty="0"/>
          </a:p>
        </p:txBody>
      </p:sp>
      <p:sp>
        <p:nvSpPr>
          <p:cNvPr id="4" name="Fußzeilenplatzhalter 3">
            <a:extLst>
              <a:ext uri="{FF2B5EF4-FFF2-40B4-BE49-F238E27FC236}">
                <a16:creationId xmlns:a16="http://schemas.microsoft.com/office/drawing/2014/main" id="{DCBFB3BF-87FB-886E-757F-DCBFFF3EB72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FC3661CD-EED1-B825-0777-1593068759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9653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228D1B88-5729-2B36-B32F-8587727C2652}"/>
              </a:ext>
            </a:extLst>
          </p:cNvPr>
          <p:cNvSpPr>
            <a:spLocks noGrp="1"/>
          </p:cNvSpPr>
          <p:nvPr>
            <p:ph type="title"/>
          </p:nvPr>
        </p:nvSpPr>
        <p:spPr/>
        <p:txBody>
          <a:bodyPr/>
          <a:lstStyle/>
          <a:p>
            <a:r>
              <a:rPr lang="de-DE" dirty="0"/>
              <a:t>Faktor Mensch </a:t>
            </a:r>
            <a:r>
              <a:rPr lang="de-DE" sz="3600" dirty="0"/>
              <a:t>bei organisatorischen Maßnahmen</a:t>
            </a:r>
          </a:p>
        </p:txBody>
      </p:sp>
      <p:sp>
        <p:nvSpPr>
          <p:cNvPr id="8" name="Inhaltsplatzhalter 7">
            <a:extLst>
              <a:ext uri="{FF2B5EF4-FFF2-40B4-BE49-F238E27FC236}">
                <a16:creationId xmlns:a16="http://schemas.microsoft.com/office/drawing/2014/main" id="{6A79FB9F-DD3A-6769-2654-16764D469B82}"/>
              </a:ext>
            </a:extLst>
          </p:cNvPr>
          <p:cNvSpPr>
            <a:spLocks noGrp="1"/>
          </p:cNvSpPr>
          <p:nvPr>
            <p:ph idx="1"/>
          </p:nvPr>
        </p:nvSpPr>
        <p:spPr/>
        <p:txBody>
          <a:bodyPr>
            <a:normAutofit fontScale="92500"/>
          </a:bodyPr>
          <a:lstStyle/>
          <a:p>
            <a:pPr>
              <a:lnSpc>
                <a:spcPct val="107000"/>
              </a:lnSpc>
              <a:spcAft>
                <a:spcPts val="800"/>
              </a:spcAft>
            </a:pPr>
            <a:r>
              <a:rPr lang="de-DE"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Der Datenschutz im Unternehmen steht und fällt mit den Mitarbeitern.</a:t>
            </a:r>
            <a:endParaRPr lang="de-DE"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07000"/>
              </a:lnSpc>
              <a:spcAft>
                <a:spcPts val="800"/>
              </a:spcAft>
              <a:buNone/>
            </a:pPr>
            <a:r>
              <a:rPr lang="de-DE"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de-DE" sz="2400" kern="100" dirty="0">
                <a:effectLst/>
                <a:latin typeface="Times New Roman" panose="02020603050405020304" pitchFamily="18" charset="0"/>
                <a:ea typeface="Aptos" panose="020B0004020202020204" pitchFamily="34" charset="0"/>
                <a:cs typeface="Times New Roman" panose="02020603050405020304" pitchFamily="18" charset="0"/>
              </a:rPr>
              <a:t>Deshalb werden häufig technische Maßnahmen bevorzugt. Aber nicht alle erkannten Risiken können dadurch eliminiert werden, da sie entweder zu kostenintensiv sind oder einen unverhältnismäßigen hohen zusätzlichen Aufwand darstellen.</a:t>
            </a:r>
            <a:r>
              <a:rPr lang="de-DE"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de-DE"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de-DE"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Die Hauptaufgabe eines DSB ist die Überwachung der Einhaltung der organisatorischen Maßnahmen, die technischen Maßnahmen werden im Rahmen eines Audits mit dem ISB oder der IT-Abteilung regelmäßig geprüft.</a:t>
            </a:r>
            <a:endParaRPr lang="de-DE" b="1"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a:p>
            <a:endParaRPr lang="de-DE" dirty="0"/>
          </a:p>
        </p:txBody>
      </p:sp>
      <p:sp>
        <p:nvSpPr>
          <p:cNvPr id="5" name="Fußzeilenplatzhalter 4">
            <a:extLst>
              <a:ext uri="{FF2B5EF4-FFF2-40B4-BE49-F238E27FC236}">
                <a16:creationId xmlns:a16="http://schemas.microsoft.com/office/drawing/2014/main" id="{89856588-5AF6-ACCE-C728-360BA740513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6" name="Foliennummernplatzhalter 5">
            <a:extLst>
              <a:ext uri="{FF2B5EF4-FFF2-40B4-BE49-F238E27FC236}">
                <a16:creationId xmlns:a16="http://schemas.microsoft.com/office/drawing/2014/main" id="{F436C2EA-DB51-BD9E-21AE-120224E5A2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042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823930-1AC3-F4D2-0FBE-EE456DE445B1}"/>
              </a:ext>
            </a:extLst>
          </p:cNvPr>
          <p:cNvSpPr>
            <a:spLocks noGrp="1"/>
          </p:cNvSpPr>
          <p:nvPr>
            <p:ph type="title"/>
          </p:nvPr>
        </p:nvSpPr>
        <p:spPr/>
        <p:txBody>
          <a:bodyPr>
            <a:normAutofit/>
          </a:bodyPr>
          <a:lstStyle/>
          <a:p>
            <a:r>
              <a:rPr lang="de-DE" sz="3200" b="1" u="sng" kern="100" dirty="0">
                <a:effectLst/>
                <a:latin typeface="Times New Roman" panose="02020603050405020304" pitchFamily="18" charset="0"/>
                <a:ea typeface="Aptos" panose="020B0004020202020204" pitchFamily="34" charset="0"/>
                <a:cs typeface="Times New Roman" panose="02020603050405020304" pitchFamily="18" charset="0"/>
              </a:rPr>
              <a:t>Wie viele Schutzmaßnahmen müssen ergriffen werden:</a:t>
            </a:r>
            <a:br>
              <a:rPr lang="de-DE" sz="3200" kern="100" dirty="0">
                <a:effectLst/>
                <a:latin typeface="Aptos" panose="020B0004020202020204" pitchFamily="34" charset="0"/>
                <a:ea typeface="Aptos" panose="020B0004020202020204" pitchFamily="34" charset="0"/>
                <a:cs typeface="Times New Roman" panose="02020603050405020304" pitchFamily="18" charset="0"/>
              </a:rPr>
            </a:br>
            <a:endParaRPr lang="de-DE" sz="3200" dirty="0"/>
          </a:p>
        </p:txBody>
      </p:sp>
      <p:sp>
        <p:nvSpPr>
          <p:cNvPr id="3" name="Inhaltsplatzhalter 2">
            <a:extLst>
              <a:ext uri="{FF2B5EF4-FFF2-40B4-BE49-F238E27FC236}">
                <a16:creationId xmlns:a16="http://schemas.microsoft.com/office/drawing/2014/main" id="{13762CF6-4B03-A881-7FE4-6B211E445A9E}"/>
              </a:ext>
            </a:extLst>
          </p:cNvPr>
          <p:cNvSpPr>
            <a:spLocks noGrp="1"/>
          </p:cNvSpPr>
          <p:nvPr>
            <p:ph idx="1"/>
          </p:nvPr>
        </p:nvSpPr>
        <p:spPr/>
        <p:txBody>
          <a:bodyPr>
            <a:normAutofit/>
          </a:bodyPr>
          <a:lstStyle/>
          <a:p>
            <a:pPr marL="0" indent="0">
              <a:lnSpc>
                <a:spcPct val="107000"/>
              </a:lnSpc>
              <a:spcAft>
                <a:spcPts val="800"/>
              </a:spcAft>
              <a:buNone/>
            </a:pPr>
            <a:r>
              <a:rPr lang="de-DE" sz="2000" kern="100" dirty="0">
                <a:effectLst/>
                <a:ea typeface="Aptos" panose="020B0004020202020204" pitchFamily="34" charset="0"/>
                <a:cs typeface="Times New Roman" panose="02020603050405020304" pitchFamily="18" charset="0"/>
              </a:rPr>
              <a:t>Es gibt </a:t>
            </a:r>
            <a:r>
              <a:rPr lang="de-DE" sz="2000" b="1" kern="100" dirty="0">
                <a:effectLst/>
                <a:ea typeface="Aptos" panose="020B0004020202020204" pitchFamily="34" charset="0"/>
                <a:cs typeface="Times New Roman" panose="02020603050405020304" pitchFamily="18" charset="0"/>
              </a:rPr>
              <a:t>weder gesetzliche noch behördliche Auflagen</a:t>
            </a:r>
            <a:r>
              <a:rPr lang="de-DE" sz="2000" kern="100" dirty="0">
                <a:effectLst/>
                <a:ea typeface="Aptos" panose="020B0004020202020204" pitchFamily="34" charset="0"/>
                <a:cs typeface="Times New Roman" panose="02020603050405020304" pitchFamily="18" charset="0"/>
              </a:rPr>
              <a:t> wie ein </a:t>
            </a:r>
            <a:r>
              <a:rPr lang="de-DE" sz="2000" b="1" kern="100" dirty="0">
                <a:effectLst/>
                <a:ea typeface="Aptos" panose="020B0004020202020204" pitchFamily="34" charset="0"/>
                <a:cs typeface="Times New Roman" panose="02020603050405020304" pitchFamily="18" charset="0"/>
              </a:rPr>
              <a:t>Basisschutz</a:t>
            </a:r>
            <a:r>
              <a:rPr lang="de-DE" sz="2000" kern="100" dirty="0">
                <a:effectLst/>
                <a:ea typeface="Aptos" panose="020B0004020202020204" pitchFamily="34" charset="0"/>
                <a:cs typeface="Times New Roman" panose="02020603050405020304" pitchFamily="18" charset="0"/>
              </a:rPr>
              <a:t> in kleinen Unternehmen aussehen muss.</a:t>
            </a: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Mittelständische- und große Unternehmen leisten sich häufig eine </a:t>
            </a:r>
            <a:r>
              <a:rPr lang="de-DE" sz="2000" b="1" kern="100" dirty="0">
                <a:effectLst/>
                <a:ea typeface="Aptos" panose="020B0004020202020204" pitchFamily="34" charset="0"/>
                <a:cs typeface="Times New Roman" panose="02020603050405020304" pitchFamily="18" charset="0"/>
              </a:rPr>
              <a:t>eigene IT-Abteilung</a:t>
            </a:r>
            <a:r>
              <a:rPr lang="de-DE" sz="2000" kern="100" dirty="0">
                <a:effectLst/>
                <a:ea typeface="Aptos" panose="020B0004020202020204" pitchFamily="34" charset="0"/>
                <a:cs typeface="Times New Roman" panose="02020603050405020304" pitchFamily="18" charset="0"/>
              </a:rPr>
              <a:t> inkl. Informationssicherheitsbeauftragten (ISB).</a:t>
            </a: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Der </a:t>
            </a:r>
            <a:r>
              <a:rPr lang="de-DE" sz="2000" b="1" kern="100" dirty="0">
                <a:effectLst/>
                <a:ea typeface="Aptos" panose="020B0004020202020204" pitchFamily="34" charset="0"/>
                <a:cs typeface="Times New Roman" panose="02020603050405020304" pitchFamily="18" charset="0"/>
              </a:rPr>
              <a:t>BSI-Grundschutz</a:t>
            </a:r>
            <a:r>
              <a:rPr lang="de-DE" sz="2000" kern="100" dirty="0">
                <a:effectLst/>
                <a:ea typeface="Aptos" panose="020B0004020202020204" pitchFamily="34" charset="0"/>
                <a:cs typeface="Times New Roman" panose="02020603050405020304" pitchFamily="18" charset="0"/>
              </a:rPr>
              <a:t> stellt kleinere Unternehmen oft vor </a:t>
            </a:r>
            <a:r>
              <a:rPr lang="de-DE" sz="2000" b="1" kern="100" dirty="0">
                <a:effectLst/>
                <a:ea typeface="Aptos" panose="020B0004020202020204" pitchFamily="34" charset="0"/>
                <a:cs typeface="Times New Roman" panose="02020603050405020304" pitchFamily="18" charset="0"/>
              </a:rPr>
              <a:t>Probleme</a:t>
            </a:r>
            <a:r>
              <a:rPr lang="de-DE" sz="2000" kern="100" dirty="0">
                <a:effectLst/>
                <a:ea typeface="Aptos" panose="020B0004020202020204" pitchFamily="34" charset="0"/>
                <a:cs typeface="Times New Roman" panose="02020603050405020304" pitchFamily="18" charset="0"/>
              </a:rPr>
              <a:t> in der Umsetzung.</a:t>
            </a:r>
            <a:br>
              <a:rPr lang="de-DE" sz="2000" kern="100" dirty="0">
                <a:effectLst/>
                <a:ea typeface="Aptos" panose="020B0004020202020204" pitchFamily="34" charset="0"/>
                <a:cs typeface="Times New Roman" panose="02020603050405020304" pitchFamily="18" charset="0"/>
              </a:rPr>
            </a:br>
            <a:r>
              <a:rPr lang="de-DE" sz="2000" kern="100" dirty="0">
                <a:effectLst/>
                <a:ea typeface="Aptos" panose="020B0004020202020204" pitchFamily="34" charset="0"/>
                <a:cs typeface="Times New Roman" panose="02020603050405020304" pitchFamily="18" charset="0"/>
              </a:rPr>
              <a:t>Alternativ halten </a:t>
            </a:r>
            <a:r>
              <a:rPr lang="de-DE" sz="2000" b="1" kern="100" dirty="0">
                <a:effectLst/>
                <a:ea typeface="Aptos" panose="020B0004020202020204" pitchFamily="34" charset="0"/>
                <a:cs typeface="Times New Roman" panose="02020603050405020304" pitchFamily="18" charset="0"/>
              </a:rPr>
              <a:t>Aufsichtsbehörden</a:t>
            </a:r>
            <a:r>
              <a:rPr lang="de-DE" sz="2000" kern="100" dirty="0">
                <a:effectLst/>
                <a:ea typeface="Aptos" panose="020B0004020202020204" pitchFamily="34" charset="0"/>
                <a:cs typeface="Times New Roman" panose="02020603050405020304" pitchFamily="18" charset="0"/>
              </a:rPr>
              <a:t> umfassende </a:t>
            </a:r>
            <a:r>
              <a:rPr lang="de-DE" sz="2000" b="1" kern="100" dirty="0">
                <a:effectLst/>
                <a:ea typeface="Aptos" panose="020B0004020202020204" pitchFamily="34" charset="0"/>
                <a:cs typeface="Times New Roman" panose="02020603050405020304" pitchFamily="18" charset="0"/>
              </a:rPr>
              <a:t>Handlungsempfehlungen, Beschlüsse</a:t>
            </a:r>
            <a:r>
              <a:rPr lang="de-DE" sz="2000" kern="100" dirty="0">
                <a:effectLst/>
                <a:ea typeface="Aptos" panose="020B0004020202020204" pitchFamily="34" charset="0"/>
                <a:cs typeface="Times New Roman" panose="02020603050405020304" pitchFamily="18" charset="0"/>
              </a:rPr>
              <a:t> oder </a:t>
            </a:r>
            <a:r>
              <a:rPr lang="de-DE" sz="2000" b="1" kern="100" dirty="0">
                <a:effectLst/>
                <a:ea typeface="Aptos" panose="020B0004020202020204" pitchFamily="34" charset="0"/>
                <a:cs typeface="Times New Roman" panose="02020603050405020304" pitchFamily="18" charset="0"/>
              </a:rPr>
              <a:t>Orientierungshilfen</a:t>
            </a:r>
            <a:r>
              <a:rPr lang="de-DE" sz="2000" kern="100" dirty="0">
                <a:effectLst/>
                <a:ea typeface="Aptos" panose="020B0004020202020204" pitchFamily="34" charset="0"/>
                <a:cs typeface="Times New Roman" panose="02020603050405020304" pitchFamily="18" charset="0"/>
              </a:rPr>
              <a:t> bereit.</a:t>
            </a: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Der </a:t>
            </a:r>
            <a:r>
              <a:rPr lang="de-DE" sz="2000" b="1" kern="100" dirty="0">
                <a:effectLst/>
                <a:ea typeface="Aptos" panose="020B0004020202020204" pitchFamily="34" charset="0"/>
                <a:cs typeface="Times New Roman" panose="02020603050405020304" pitchFamily="18" charset="0"/>
              </a:rPr>
              <a:t>BSI-Grundschutz</a:t>
            </a:r>
            <a:r>
              <a:rPr lang="de-DE" sz="2000" kern="100" dirty="0">
                <a:effectLst/>
                <a:ea typeface="Aptos" panose="020B0004020202020204" pitchFamily="34" charset="0"/>
                <a:cs typeface="Times New Roman" panose="02020603050405020304" pitchFamily="18" charset="0"/>
              </a:rPr>
              <a:t>, sowie das </a:t>
            </a:r>
            <a:r>
              <a:rPr lang="de-DE" sz="2000" b="1" kern="100" dirty="0">
                <a:effectLst/>
                <a:ea typeface="Aptos" panose="020B0004020202020204" pitchFamily="34" charset="0"/>
                <a:cs typeface="Times New Roman" panose="02020603050405020304" pitchFamily="18" charset="0"/>
              </a:rPr>
              <a:t>IT-Kompendium des BSI</a:t>
            </a:r>
            <a:r>
              <a:rPr lang="de-DE" sz="2000" kern="100" dirty="0">
                <a:effectLst/>
                <a:ea typeface="Aptos" panose="020B0004020202020204" pitchFamily="34" charset="0"/>
                <a:cs typeface="Times New Roman" panose="02020603050405020304" pitchFamily="18" charset="0"/>
              </a:rPr>
              <a:t> können DSBs als Nachschlagewerk nutzen. Die </a:t>
            </a:r>
            <a:r>
              <a:rPr lang="de-DE" sz="2000" b="1" kern="100" dirty="0">
                <a:effectLst/>
                <a:ea typeface="Aptos" panose="020B0004020202020204" pitchFamily="34" charset="0"/>
                <a:cs typeface="Times New Roman" panose="02020603050405020304" pitchFamily="18" charset="0"/>
              </a:rPr>
              <a:t>Umsetzung obliegt</a:t>
            </a:r>
            <a:r>
              <a:rPr lang="de-DE" sz="2000" kern="100" dirty="0">
                <a:effectLst/>
                <a:ea typeface="Aptos" panose="020B0004020202020204" pitchFamily="34" charset="0"/>
                <a:cs typeface="Times New Roman" panose="02020603050405020304" pitchFamily="18" charset="0"/>
              </a:rPr>
              <a:t> allerdings </a:t>
            </a:r>
            <a:r>
              <a:rPr lang="de-DE" sz="2000" b="1" kern="100" dirty="0">
                <a:effectLst/>
                <a:ea typeface="Aptos" panose="020B0004020202020204" pitchFamily="34" charset="0"/>
                <a:cs typeface="Times New Roman" panose="02020603050405020304" pitchFamily="18" charset="0"/>
              </a:rPr>
              <a:t>IT-Experten</a:t>
            </a:r>
            <a:r>
              <a:rPr lang="de-DE" sz="2000" kern="100" dirty="0">
                <a:effectLst/>
                <a:ea typeface="Aptos" panose="020B0004020202020204" pitchFamily="34" charset="0"/>
                <a:cs typeface="Times New Roman" panose="02020603050405020304" pitchFamily="18" charset="0"/>
              </a:rPr>
              <a:t> und </a:t>
            </a:r>
            <a:r>
              <a:rPr lang="de-DE" sz="2000" b="1" kern="100" dirty="0">
                <a:effectLst/>
                <a:ea typeface="Aptos" panose="020B0004020202020204" pitchFamily="34" charset="0"/>
                <a:cs typeface="Times New Roman" panose="02020603050405020304" pitchFamily="18" charset="0"/>
              </a:rPr>
              <a:t>Informationssicherheitsbeauftragten</a:t>
            </a:r>
            <a:r>
              <a:rPr lang="de-DE" sz="2000" kern="100" dirty="0">
                <a:effectLst/>
                <a:ea typeface="Aptos" panose="020B0004020202020204" pitchFamily="34" charset="0"/>
                <a:cs typeface="Times New Roman" panose="02020603050405020304" pitchFamily="18" charset="0"/>
              </a:rPr>
              <a:t>.</a:t>
            </a:r>
          </a:p>
          <a:p>
            <a:endParaRPr lang="de-DE" sz="2000" dirty="0"/>
          </a:p>
        </p:txBody>
      </p:sp>
      <p:sp>
        <p:nvSpPr>
          <p:cNvPr id="4" name="Fußzeilenplatzhalter 3">
            <a:extLst>
              <a:ext uri="{FF2B5EF4-FFF2-40B4-BE49-F238E27FC236}">
                <a16:creationId xmlns:a16="http://schemas.microsoft.com/office/drawing/2014/main" id="{97E50D87-97C4-0A07-E045-4DA61DCFE1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465AEF57-5110-E832-BC62-5F75E5228D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0377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B608A2-BC9A-BDFE-F69E-84A31B03FB92}"/>
              </a:ext>
            </a:extLst>
          </p:cNvPr>
          <p:cNvSpPr>
            <a:spLocks noGrp="1"/>
          </p:cNvSpPr>
          <p:nvPr>
            <p:ph type="title"/>
          </p:nvPr>
        </p:nvSpPr>
        <p:spPr>
          <a:xfrm>
            <a:off x="838200" y="365125"/>
            <a:ext cx="10515600" cy="1060719"/>
          </a:xfrm>
        </p:spPr>
        <p:txBody>
          <a:bodyPr/>
          <a:lstStyle/>
          <a:p>
            <a:r>
              <a:rPr lang="de-DE" dirty="0"/>
              <a:t>TOMs sind nicht eindeutig definiert</a:t>
            </a:r>
          </a:p>
        </p:txBody>
      </p:sp>
      <p:sp>
        <p:nvSpPr>
          <p:cNvPr id="3" name="Inhaltsplatzhalter 2">
            <a:extLst>
              <a:ext uri="{FF2B5EF4-FFF2-40B4-BE49-F238E27FC236}">
                <a16:creationId xmlns:a16="http://schemas.microsoft.com/office/drawing/2014/main" id="{BD36DDF9-6037-1FFC-D98F-CC2B6FABD6FC}"/>
              </a:ext>
            </a:extLst>
          </p:cNvPr>
          <p:cNvSpPr>
            <a:spLocks noGrp="1"/>
          </p:cNvSpPr>
          <p:nvPr>
            <p:ph idx="1"/>
          </p:nvPr>
        </p:nvSpPr>
        <p:spPr>
          <a:xfrm>
            <a:off x="759417" y="1619573"/>
            <a:ext cx="10594383" cy="4664990"/>
          </a:xfrm>
        </p:spPr>
        <p:txBody>
          <a:bodyPr>
            <a:noAutofit/>
          </a:bodyPr>
          <a:lstStyle/>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Letztendlich gibt es </a:t>
            </a:r>
            <a:r>
              <a:rPr lang="de-DE" sz="2000" b="1" kern="100" dirty="0">
                <a:effectLst/>
                <a:ea typeface="Aptos" panose="020B0004020202020204" pitchFamily="34" charset="0"/>
                <a:cs typeface="Times New Roman" panose="02020603050405020304" pitchFamily="18" charset="0"/>
              </a:rPr>
              <a:t>keine gesetzlichen Vorgaben zum Umfang</a:t>
            </a:r>
            <a:r>
              <a:rPr lang="de-DE" sz="2000" kern="100" dirty="0">
                <a:effectLst/>
                <a:ea typeface="Aptos" panose="020B0004020202020204" pitchFamily="34" charset="0"/>
                <a:cs typeface="Times New Roman" panose="02020603050405020304" pitchFamily="18" charset="0"/>
              </a:rPr>
              <a:t> der Datenschutzmaßnahmen. </a:t>
            </a:r>
            <a:r>
              <a:rPr lang="de-DE" sz="2000" b="1" i="1" kern="100" dirty="0">
                <a:solidFill>
                  <a:srgbClr val="7030A0"/>
                </a:solidFill>
                <a:effectLst/>
                <a:ea typeface="Aptos" panose="020B0004020202020204" pitchFamily="34" charset="0"/>
                <a:cs typeface="Times New Roman" panose="02020603050405020304" pitchFamily="18" charset="0"/>
              </a:rPr>
              <a:t>Art. 24 Satz 1</a:t>
            </a:r>
            <a:r>
              <a:rPr lang="de-DE" sz="2000" kern="100" dirty="0">
                <a:solidFill>
                  <a:srgbClr val="7030A0"/>
                </a:solidFill>
                <a:effectLst/>
                <a:ea typeface="Aptos" panose="020B0004020202020204" pitchFamily="34" charset="0"/>
                <a:cs typeface="Times New Roman" panose="02020603050405020304" pitchFamily="18" charset="0"/>
              </a:rPr>
              <a:t> </a:t>
            </a:r>
            <a:r>
              <a:rPr lang="de-DE" sz="2000" b="1" i="1" kern="100" dirty="0">
                <a:solidFill>
                  <a:srgbClr val="7030A0"/>
                </a:solidFill>
                <a:effectLst/>
                <a:ea typeface="Aptos" panose="020B0004020202020204" pitchFamily="34" charset="0"/>
                <a:cs typeface="Times New Roman" panose="02020603050405020304" pitchFamily="18" charset="0"/>
              </a:rPr>
              <a:t>DSGVO</a:t>
            </a:r>
            <a:r>
              <a:rPr lang="de-DE" sz="2000" kern="100" dirty="0">
                <a:effectLst/>
                <a:ea typeface="Aptos" panose="020B0004020202020204" pitchFamily="34" charset="0"/>
                <a:cs typeface="Times New Roman" panose="02020603050405020304" pitchFamily="18" charset="0"/>
              </a:rPr>
              <a:t> verlangt eine </a:t>
            </a:r>
            <a:r>
              <a:rPr lang="de-DE" sz="2000" b="1" kern="100" dirty="0">
                <a:effectLst/>
                <a:ea typeface="Aptos" panose="020B0004020202020204" pitchFamily="34" charset="0"/>
                <a:cs typeface="Times New Roman" panose="02020603050405020304" pitchFamily="18" charset="0"/>
              </a:rPr>
              <a:t>Risikoabwägung</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für</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jede einzelne Verarbeitung</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Je riskanter</a:t>
            </a:r>
            <a:r>
              <a:rPr lang="de-DE" sz="2000" kern="100" dirty="0">
                <a:effectLst/>
                <a:ea typeface="Aptos" panose="020B0004020202020204" pitchFamily="34" charset="0"/>
                <a:cs typeface="Times New Roman" panose="02020603050405020304" pitchFamily="18" charset="0"/>
              </a:rPr>
              <a:t> die Verarbeitung, </a:t>
            </a:r>
            <a:r>
              <a:rPr lang="de-DE" sz="2000" b="1" kern="100" dirty="0">
                <a:effectLst/>
                <a:ea typeface="Aptos" panose="020B0004020202020204" pitchFamily="34" charset="0"/>
                <a:cs typeface="Times New Roman" panose="02020603050405020304" pitchFamily="18" charset="0"/>
              </a:rPr>
              <a:t>desto komplexer</a:t>
            </a:r>
            <a:r>
              <a:rPr lang="de-DE" sz="2000" kern="100" dirty="0">
                <a:effectLst/>
                <a:ea typeface="Aptos" panose="020B0004020202020204" pitchFamily="34" charset="0"/>
                <a:cs typeface="Times New Roman" panose="02020603050405020304" pitchFamily="18" charset="0"/>
              </a:rPr>
              <a:t> und </a:t>
            </a:r>
            <a:r>
              <a:rPr lang="de-DE" sz="2000" b="1" kern="100" dirty="0">
                <a:effectLst/>
                <a:ea typeface="Aptos" panose="020B0004020202020204" pitchFamily="34" charset="0"/>
                <a:cs typeface="Times New Roman" panose="02020603050405020304" pitchFamily="18" charset="0"/>
              </a:rPr>
              <a:t>umfangreicher</a:t>
            </a:r>
            <a:r>
              <a:rPr lang="de-DE" sz="2000" kern="100" dirty="0">
                <a:effectLst/>
                <a:ea typeface="Aptos" panose="020B0004020202020204" pitchFamily="34" charset="0"/>
                <a:cs typeface="Times New Roman" panose="02020603050405020304" pitchFamily="18" charset="0"/>
              </a:rPr>
              <a:t> sollten die </a:t>
            </a:r>
            <a:r>
              <a:rPr lang="de-DE" sz="2000" b="1" kern="100" dirty="0">
                <a:effectLst/>
                <a:ea typeface="Aptos" panose="020B0004020202020204" pitchFamily="34" charset="0"/>
                <a:cs typeface="Times New Roman" panose="02020603050405020304" pitchFamily="18" charset="0"/>
              </a:rPr>
              <a:t>Schutzmaßnahmen</a:t>
            </a:r>
            <a:r>
              <a:rPr lang="de-DE" sz="2000" kern="100" dirty="0">
                <a:effectLst/>
                <a:ea typeface="Aptos" panose="020B0004020202020204" pitchFamily="34" charset="0"/>
                <a:cs typeface="Times New Roman" panose="02020603050405020304" pitchFamily="18" charset="0"/>
              </a:rPr>
              <a:t> sein.</a:t>
            </a: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Die Verarbeitung </a:t>
            </a:r>
            <a:r>
              <a:rPr lang="de-DE" sz="2000" b="1" kern="100" dirty="0">
                <a:effectLst/>
                <a:ea typeface="Aptos" panose="020B0004020202020204" pitchFamily="34" charset="0"/>
                <a:cs typeface="Times New Roman" panose="02020603050405020304" pitchFamily="18" charset="0"/>
              </a:rPr>
              <a:t>besonderer personenbezogener Daten</a:t>
            </a:r>
            <a:r>
              <a:rPr lang="de-DE" sz="2000" kern="100" dirty="0">
                <a:effectLst/>
                <a:ea typeface="Aptos" panose="020B0004020202020204" pitchFamily="34" charset="0"/>
                <a:cs typeface="Times New Roman" panose="02020603050405020304" pitchFamily="18" charset="0"/>
              </a:rPr>
              <a:t> ist z.B. </a:t>
            </a:r>
            <a:r>
              <a:rPr lang="de-DE" sz="2000" b="1" kern="100" dirty="0">
                <a:effectLst/>
                <a:ea typeface="Aptos" panose="020B0004020202020204" pitchFamily="34" charset="0"/>
                <a:cs typeface="Times New Roman" panose="02020603050405020304" pitchFamily="18" charset="0"/>
              </a:rPr>
              <a:t>riskanter</a:t>
            </a:r>
            <a:r>
              <a:rPr lang="de-DE" sz="2000" kern="100" dirty="0">
                <a:effectLst/>
                <a:ea typeface="Aptos" panose="020B0004020202020204" pitchFamily="34" charset="0"/>
                <a:cs typeface="Times New Roman" panose="02020603050405020304" pitchFamily="18" charset="0"/>
              </a:rPr>
              <a:t> als die reiner Kontaktdaten und </a:t>
            </a:r>
            <a:r>
              <a:rPr lang="de-DE" sz="2000" b="1" kern="100" dirty="0">
                <a:effectLst/>
                <a:ea typeface="Aptos" panose="020B0004020202020204" pitchFamily="34" charset="0"/>
                <a:cs typeface="Times New Roman" panose="02020603050405020304" pitchFamily="18" charset="0"/>
              </a:rPr>
              <a:t>erfordern</a:t>
            </a:r>
            <a:r>
              <a:rPr lang="de-DE" sz="2000" kern="100" dirty="0">
                <a:effectLst/>
                <a:ea typeface="Aptos" panose="020B0004020202020204" pitchFamily="34" charset="0"/>
                <a:cs typeface="Times New Roman" panose="02020603050405020304" pitchFamily="18" charset="0"/>
              </a:rPr>
              <a:t> daher einen </a:t>
            </a:r>
            <a:r>
              <a:rPr lang="de-DE" sz="2000" b="1" kern="100" dirty="0">
                <a:effectLst/>
                <a:ea typeface="Aptos" panose="020B0004020202020204" pitchFamily="34" charset="0"/>
                <a:cs typeface="Times New Roman" panose="02020603050405020304" pitchFamily="18" charset="0"/>
              </a:rPr>
              <a:t>besseren Schutz</a:t>
            </a:r>
            <a:r>
              <a:rPr lang="de-DE" sz="2000" kern="100" dirty="0">
                <a:effectLst/>
                <a:ea typeface="Aptos" panose="020B0004020202020204" pitchFamily="34" charset="0"/>
                <a:cs typeface="Times New Roman" panose="02020603050405020304" pitchFamily="18" charset="0"/>
              </a:rPr>
              <a:t>.</a:t>
            </a:r>
          </a:p>
          <a:p>
            <a:pPr>
              <a:lnSpc>
                <a:spcPct val="107000"/>
              </a:lnSpc>
              <a:spcAft>
                <a:spcPts val="800"/>
              </a:spcAft>
              <a:buNone/>
            </a:pPr>
            <a:r>
              <a:rPr lang="de-DE" sz="2000" kern="100" dirty="0">
                <a:effectLst/>
                <a:ea typeface="Aptos" panose="020B0004020202020204" pitchFamily="34" charset="0"/>
                <a:cs typeface="Times New Roman" panose="02020603050405020304" pitchFamily="18" charset="0"/>
              </a:rPr>
              <a:t> </a:t>
            </a:r>
          </a:p>
          <a:p>
            <a:pPr>
              <a:lnSpc>
                <a:spcPct val="107000"/>
              </a:lnSpc>
              <a:spcAft>
                <a:spcPts val="800"/>
              </a:spcAft>
              <a:buNone/>
            </a:pPr>
            <a:r>
              <a:rPr lang="de-DE" sz="2000" kern="100" dirty="0">
                <a:effectLst/>
                <a:ea typeface="Aptos" panose="020B0004020202020204" pitchFamily="34" charset="0"/>
                <a:cs typeface="Times New Roman" panose="02020603050405020304" pitchFamily="18" charset="0"/>
              </a:rPr>
              <a:t>Aufgrund </a:t>
            </a:r>
            <a:r>
              <a:rPr lang="de-DE" sz="2000" b="1" kern="100" dirty="0">
                <a:effectLst/>
                <a:ea typeface="Aptos" panose="020B0004020202020204" pitchFamily="34" charset="0"/>
                <a:cs typeface="Times New Roman" panose="02020603050405020304" pitchFamily="18" charset="0"/>
              </a:rPr>
              <a:t>überschneidender Aufgaben</a:t>
            </a:r>
            <a:r>
              <a:rPr lang="de-DE" sz="2000" kern="100" dirty="0">
                <a:effectLst/>
                <a:ea typeface="Aptos" panose="020B0004020202020204" pitchFamily="34" charset="0"/>
                <a:cs typeface="Times New Roman" panose="02020603050405020304" pitchFamily="18" charset="0"/>
              </a:rPr>
              <a:t> sollten der </a:t>
            </a:r>
            <a:r>
              <a:rPr lang="de-DE" sz="2000" b="1" kern="100" dirty="0">
                <a:effectLst/>
                <a:ea typeface="Aptos" panose="020B0004020202020204" pitchFamily="34" charset="0"/>
                <a:cs typeface="Times New Roman" panose="02020603050405020304" pitchFamily="18" charset="0"/>
              </a:rPr>
              <a:t>DSB</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und</a:t>
            </a:r>
            <a:r>
              <a:rPr lang="de-DE" sz="2000" kern="100" dirty="0">
                <a:effectLst/>
                <a:ea typeface="Aptos" panose="020B0004020202020204" pitchFamily="34" charset="0"/>
                <a:cs typeface="Times New Roman" panose="02020603050405020304" pitchFamily="18" charset="0"/>
              </a:rPr>
              <a:t> der </a:t>
            </a:r>
            <a:r>
              <a:rPr lang="de-DE" sz="2000" b="1" kern="100" dirty="0">
                <a:effectLst/>
                <a:ea typeface="Aptos" panose="020B0004020202020204" pitchFamily="34" charset="0"/>
                <a:cs typeface="Times New Roman" panose="02020603050405020304" pitchFamily="18" charset="0"/>
              </a:rPr>
              <a:t>ISB</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eng</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zusammenarbeiten</a:t>
            </a:r>
            <a:r>
              <a:rPr lang="de-DE" sz="2000" kern="100" dirty="0">
                <a:effectLst/>
                <a:ea typeface="Aptos" panose="020B0004020202020204" pitchFamily="34" charset="0"/>
                <a:cs typeface="Times New Roman" panose="02020603050405020304" pitchFamily="18" charset="0"/>
              </a:rPr>
              <a:t>.</a:t>
            </a:r>
          </a:p>
          <a:p>
            <a:pPr>
              <a:lnSpc>
                <a:spcPct val="107000"/>
              </a:lnSpc>
              <a:spcAft>
                <a:spcPts val="800"/>
              </a:spcAft>
            </a:pPr>
            <a:r>
              <a:rPr lang="de-DE" sz="2000" kern="100" dirty="0">
                <a:effectLst/>
                <a:highlight>
                  <a:srgbClr val="FF0000"/>
                </a:highlight>
                <a:ea typeface="Aptos" panose="020B0004020202020204" pitchFamily="34" charset="0"/>
                <a:cs typeface="Times New Roman" panose="02020603050405020304" pitchFamily="18" charset="0"/>
              </a:rPr>
              <a:t>[</a:t>
            </a:r>
            <a:r>
              <a:rPr lang="de-DE" sz="2000" b="1" i="1" kern="100" dirty="0">
                <a:effectLst/>
                <a:highlight>
                  <a:srgbClr val="FF0000"/>
                </a:highlight>
                <a:ea typeface="Aptos" panose="020B0004020202020204" pitchFamily="34" charset="0"/>
                <a:cs typeface="Times New Roman" panose="02020603050405020304" pitchFamily="18" charset="0"/>
              </a:rPr>
              <a:t>alt</a:t>
            </a:r>
            <a:r>
              <a:rPr lang="de-DE" sz="2000" kern="100" dirty="0">
                <a:effectLst/>
                <a:highlight>
                  <a:srgbClr val="FF0000"/>
                </a:highlight>
                <a:ea typeface="Aptos" panose="020B0004020202020204" pitchFamily="34" charset="0"/>
                <a:cs typeface="Times New Roman" panose="02020603050405020304" pitchFamily="18" charset="0"/>
              </a:rPr>
              <a:t>]</a:t>
            </a:r>
            <a:r>
              <a:rPr lang="de-DE" sz="2000" kern="100" dirty="0">
                <a:effectLst/>
                <a:ea typeface="Aptos" panose="020B0004020202020204" pitchFamily="34" charset="0"/>
                <a:cs typeface="Times New Roman" panose="02020603050405020304" pitchFamily="18" charset="0"/>
              </a:rPr>
              <a:t> 	IT-Sicherheitsbeauftragter (</a:t>
            </a:r>
            <a:r>
              <a:rPr lang="de-DE" sz="2000" b="1" kern="100" dirty="0">
                <a:effectLst/>
                <a:ea typeface="Aptos" panose="020B0004020202020204" pitchFamily="34" charset="0"/>
                <a:cs typeface="Times New Roman" panose="02020603050405020304" pitchFamily="18" charset="0"/>
              </a:rPr>
              <a:t>IT-</a:t>
            </a:r>
            <a:r>
              <a:rPr lang="de-DE" sz="2000" b="1" kern="100" dirty="0" err="1">
                <a:effectLst/>
                <a:ea typeface="Aptos" panose="020B0004020202020204" pitchFamily="34" charset="0"/>
                <a:cs typeface="Times New Roman" panose="02020603050405020304" pitchFamily="18" charset="0"/>
              </a:rPr>
              <a:t>SiBe</a:t>
            </a:r>
            <a:r>
              <a:rPr lang="de-DE" sz="2000" kern="100" dirty="0">
                <a:effectLst/>
                <a:ea typeface="Aptos" panose="020B0004020202020204" pitchFamily="34" charset="0"/>
                <a:cs typeface="Times New Roman" panose="02020603050405020304" pitchFamily="18" charset="0"/>
              </a:rPr>
              <a:t>)</a:t>
            </a:r>
          </a:p>
          <a:p>
            <a:pPr>
              <a:lnSpc>
                <a:spcPct val="107000"/>
              </a:lnSpc>
              <a:spcAft>
                <a:spcPts val="800"/>
              </a:spcAft>
            </a:pPr>
            <a:r>
              <a:rPr lang="de-DE" sz="2000" kern="100" dirty="0">
                <a:effectLst/>
                <a:highlight>
                  <a:srgbClr val="00FF00"/>
                </a:highlight>
                <a:ea typeface="Aptos" panose="020B0004020202020204" pitchFamily="34" charset="0"/>
                <a:cs typeface="Times New Roman" panose="02020603050405020304" pitchFamily="18" charset="0"/>
              </a:rPr>
              <a:t>[</a:t>
            </a:r>
            <a:r>
              <a:rPr lang="de-DE" sz="2000" b="1" i="1" kern="100" dirty="0">
                <a:effectLst/>
                <a:highlight>
                  <a:srgbClr val="00FF00"/>
                </a:highlight>
                <a:ea typeface="Aptos" panose="020B0004020202020204" pitchFamily="34" charset="0"/>
                <a:cs typeface="Times New Roman" panose="02020603050405020304" pitchFamily="18" charset="0"/>
              </a:rPr>
              <a:t>neu</a:t>
            </a:r>
            <a:r>
              <a:rPr lang="de-DE" sz="2000" kern="100" dirty="0">
                <a:effectLst/>
                <a:ea typeface="Aptos" panose="020B0004020202020204" pitchFamily="34" charset="0"/>
                <a:cs typeface="Times New Roman" panose="02020603050405020304" pitchFamily="18" charset="0"/>
              </a:rPr>
              <a:t>] 	Informationssicherheitsbeauftragter (</a:t>
            </a:r>
            <a:r>
              <a:rPr lang="de-DE" sz="2000" b="1" kern="100" dirty="0">
                <a:effectLst/>
                <a:ea typeface="Aptos" panose="020B0004020202020204" pitchFamily="34" charset="0"/>
                <a:cs typeface="Times New Roman" panose="02020603050405020304" pitchFamily="18" charset="0"/>
              </a:rPr>
              <a:t>ISB</a:t>
            </a:r>
            <a:r>
              <a:rPr lang="de-DE" sz="2000" kern="100" dirty="0">
                <a:effectLst/>
                <a:ea typeface="Aptos" panose="020B0004020202020204" pitchFamily="34" charset="0"/>
                <a:cs typeface="Times New Roman" panose="02020603050405020304" pitchFamily="18" charset="0"/>
              </a:rPr>
              <a:t>)</a:t>
            </a:r>
          </a:p>
          <a:p>
            <a:endParaRPr lang="de-DE" sz="2000" dirty="0"/>
          </a:p>
        </p:txBody>
      </p:sp>
      <p:sp>
        <p:nvSpPr>
          <p:cNvPr id="4" name="Fußzeilenplatzhalter 3">
            <a:extLst>
              <a:ext uri="{FF2B5EF4-FFF2-40B4-BE49-F238E27FC236}">
                <a16:creationId xmlns:a16="http://schemas.microsoft.com/office/drawing/2014/main" id="{26BDF641-D82E-0C0B-EB00-35734C33850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3204A946-EE5A-46C7-0C01-CBBEB69ED1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2137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0D1A5B-4E33-D4E6-E4E5-95AB8F9CAE0C}"/>
              </a:ext>
            </a:extLst>
          </p:cNvPr>
          <p:cNvSpPr>
            <a:spLocks noGrp="1"/>
          </p:cNvSpPr>
          <p:nvPr>
            <p:ph type="title"/>
          </p:nvPr>
        </p:nvSpPr>
        <p:spPr/>
        <p:txBody>
          <a:bodyPr/>
          <a:lstStyle/>
          <a:p>
            <a:r>
              <a:rPr lang="de-DE" dirty="0"/>
              <a:t>TOMs sind in Art. 32 DSGVO konkreter… </a:t>
            </a:r>
          </a:p>
        </p:txBody>
      </p:sp>
      <p:sp>
        <p:nvSpPr>
          <p:cNvPr id="3" name="Inhaltsplatzhalter 2">
            <a:extLst>
              <a:ext uri="{FF2B5EF4-FFF2-40B4-BE49-F238E27FC236}">
                <a16:creationId xmlns:a16="http://schemas.microsoft.com/office/drawing/2014/main" id="{97E86DAA-C964-7491-7414-CCDD78ED8666}"/>
              </a:ext>
            </a:extLst>
          </p:cNvPr>
          <p:cNvSpPr>
            <a:spLocks noGrp="1"/>
          </p:cNvSpPr>
          <p:nvPr>
            <p:ph idx="1"/>
          </p:nvPr>
        </p:nvSpPr>
        <p:spPr/>
        <p:txBody>
          <a:bodyPr>
            <a:normAutofit/>
          </a:bodyPr>
          <a:lstStyle/>
          <a:p>
            <a:pPr marL="0" indent="0">
              <a:lnSpc>
                <a:spcPct val="107000"/>
              </a:lnSpc>
              <a:spcAft>
                <a:spcPts val="800"/>
              </a:spcAft>
              <a:buNone/>
            </a:pPr>
            <a:r>
              <a:rPr lang="de-DE" sz="2000" kern="100" dirty="0">
                <a:effectLst/>
                <a:ea typeface="Aptos" panose="020B0004020202020204" pitchFamily="34" charset="0"/>
                <a:cs typeface="Times New Roman" panose="02020603050405020304" pitchFamily="18" charset="0"/>
              </a:rPr>
              <a:t>Der </a:t>
            </a:r>
            <a:r>
              <a:rPr lang="de-DE" sz="2000" b="1" i="1" kern="100" dirty="0">
                <a:solidFill>
                  <a:srgbClr val="7030A0"/>
                </a:solidFill>
                <a:effectLst/>
                <a:ea typeface="Aptos" panose="020B0004020202020204" pitchFamily="34" charset="0"/>
                <a:cs typeface="Times New Roman" panose="02020603050405020304" pitchFamily="18" charset="0"/>
              </a:rPr>
              <a:t>Art. 32 DSGVO</a:t>
            </a:r>
            <a:r>
              <a:rPr lang="de-DE" sz="2000" kern="100" dirty="0">
                <a:solidFill>
                  <a:srgbClr val="7030A0"/>
                </a:solidFill>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ähnelt</a:t>
            </a:r>
            <a:r>
              <a:rPr lang="de-DE" sz="2000" kern="100" dirty="0">
                <a:effectLst/>
                <a:ea typeface="Aptos" panose="020B0004020202020204" pitchFamily="34" charset="0"/>
                <a:cs typeface="Times New Roman" panose="02020603050405020304" pitchFamily="18" charset="0"/>
              </a:rPr>
              <a:t> inhaltlich </a:t>
            </a:r>
            <a:r>
              <a:rPr lang="de-DE" sz="2000" b="1" kern="100" dirty="0">
                <a:effectLst/>
                <a:ea typeface="Aptos" panose="020B0004020202020204" pitchFamily="34" charset="0"/>
                <a:cs typeface="Times New Roman" panose="02020603050405020304" pitchFamily="18" charset="0"/>
              </a:rPr>
              <a:t>stark </a:t>
            </a:r>
            <a:r>
              <a:rPr lang="de-DE" sz="2000" kern="100" dirty="0">
                <a:effectLst/>
                <a:ea typeface="Aptos" panose="020B0004020202020204" pitchFamily="34" charset="0"/>
                <a:cs typeface="Times New Roman" panose="02020603050405020304" pitchFamily="18" charset="0"/>
              </a:rPr>
              <a:t>dem </a:t>
            </a:r>
            <a:r>
              <a:rPr lang="de-DE" sz="2000" b="1" i="1" kern="100" dirty="0">
                <a:solidFill>
                  <a:srgbClr val="7030A0"/>
                </a:solidFill>
                <a:effectLst/>
                <a:ea typeface="Aptos" panose="020B0004020202020204" pitchFamily="34" charset="0"/>
                <a:cs typeface="Times New Roman" panose="02020603050405020304" pitchFamily="18" charset="0"/>
              </a:rPr>
              <a:t>Art. 24 DSGVO</a:t>
            </a:r>
            <a:r>
              <a:rPr lang="de-DE" sz="2000" kern="100" dirty="0">
                <a:effectLst/>
                <a:ea typeface="Aptos" panose="020B0004020202020204" pitchFamily="34" charset="0"/>
                <a:cs typeface="Times New Roman" panose="02020603050405020304" pitchFamily="18" charset="0"/>
              </a:rPr>
              <a:t>. Diese </a:t>
            </a:r>
            <a:r>
              <a:rPr lang="de-DE" sz="2000" b="1" kern="100" dirty="0">
                <a:effectLst/>
                <a:ea typeface="Aptos" panose="020B0004020202020204" pitchFamily="34" charset="0"/>
                <a:cs typeface="Times New Roman" panose="02020603050405020304" pitchFamily="18" charset="0"/>
              </a:rPr>
              <a:t>fordert geeignete TOMs</a:t>
            </a:r>
            <a:r>
              <a:rPr lang="de-DE" sz="2000" kern="100" dirty="0">
                <a:effectLst/>
                <a:ea typeface="Aptos" panose="020B0004020202020204" pitchFamily="34" charset="0"/>
                <a:cs typeface="Times New Roman" panose="02020603050405020304" pitchFamily="18" charset="0"/>
              </a:rPr>
              <a:t> zum Schutz </a:t>
            </a:r>
            <a:r>
              <a:rPr lang="de-DE" sz="2000" kern="100" dirty="0" err="1">
                <a:effectLst/>
                <a:ea typeface="Aptos" panose="020B0004020202020204" pitchFamily="34" charset="0"/>
                <a:cs typeface="Times New Roman" panose="02020603050405020304" pitchFamily="18" charset="0"/>
              </a:rPr>
              <a:t>pbD</a:t>
            </a:r>
            <a:r>
              <a:rPr lang="de-DE" sz="2000" kern="100" dirty="0">
                <a:effectLst/>
                <a:ea typeface="Aptos" panose="020B0004020202020204" pitchFamily="34" charset="0"/>
                <a:cs typeface="Times New Roman" panose="02020603050405020304" pitchFamily="18" charset="0"/>
              </a:rPr>
              <a:t>. Auch hier ist die </a:t>
            </a:r>
            <a:r>
              <a:rPr lang="de-DE" sz="2000" b="1" kern="100" dirty="0">
                <a:effectLst/>
                <a:ea typeface="Aptos" panose="020B0004020202020204" pitchFamily="34" charset="0"/>
                <a:cs typeface="Times New Roman" panose="02020603050405020304" pitchFamily="18" charset="0"/>
              </a:rPr>
              <a:t>Grundlage Risikoabwägung</a:t>
            </a:r>
            <a:r>
              <a:rPr lang="de-DE" sz="2000" kern="100" dirty="0">
                <a:effectLst/>
                <a:ea typeface="Aptos" panose="020B0004020202020204" pitchFamily="34" charset="0"/>
                <a:cs typeface="Times New Roman" panose="02020603050405020304" pitchFamily="18" charset="0"/>
              </a:rPr>
              <a:t>. Dennoch </a:t>
            </a:r>
            <a:r>
              <a:rPr lang="de-DE" sz="2000" b="1" kern="100" dirty="0">
                <a:effectLst/>
                <a:ea typeface="Aptos" panose="020B0004020202020204" pitchFamily="34" charset="0"/>
                <a:cs typeface="Times New Roman" panose="02020603050405020304" pitchFamily="18" charset="0"/>
              </a:rPr>
              <a:t>enthält</a:t>
            </a:r>
            <a:r>
              <a:rPr lang="de-DE" sz="2000" kern="100" dirty="0">
                <a:effectLst/>
                <a:ea typeface="Aptos" panose="020B0004020202020204" pitchFamily="34" charset="0"/>
                <a:cs typeface="Times New Roman" panose="02020603050405020304" pitchFamily="18" charset="0"/>
              </a:rPr>
              <a:t> der </a:t>
            </a:r>
            <a:r>
              <a:rPr lang="de-DE" sz="2000" b="1" i="1" kern="100" dirty="0">
                <a:solidFill>
                  <a:srgbClr val="7030A0"/>
                </a:solidFill>
                <a:effectLst/>
                <a:ea typeface="Aptos" panose="020B0004020202020204" pitchFamily="34" charset="0"/>
                <a:cs typeface="Times New Roman" panose="02020603050405020304" pitchFamily="18" charset="0"/>
              </a:rPr>
              <a:t>Art. 32 DSGVO</a:t>
            </a:r>
            <a:r>
              <a:rPr lang="de-DE" sz="2000" kern="100" dirty="0">
                <a:solidFill>
                  <a:srgbClr val="7030A0"/>
                </a:solidFill>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konkretere</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Ansprüche</a:t>
            </a:r>
            <a:r>
              <a:rPr lang="de-DE" sz="2000" kern="100" dirty="0">
                <a:effectLst/>
                <a:ea typeface="Aptos" panose="020B0004020202020204" pitchFamily="34" charset="0"/>
                <a:cs typeface="Times New Roman" panose="02020603050405020304" pitchFamily="18" charset="0"/>
              </a:rPr>
              <a:t> als </a:t>
            </a:r>
            <a:r>
              <a:rPr lang="de-DE" sz="2000" b="1" i="1" kern="100" dirty="0">
                <a:solidFill>
                  <a:srgbClr val="7030A0"/>
                </a:solidFill>
                <a:effectLst/>
                <a:ea typeface="Aptos" panose="020B0004020202020204" pitchFamily="34" charset="0"/>
                <a:cs typeface="Times New Roman" panose="02020603050405020304" pitchFamily="18" charset="0"/>
              </a:rPr>
              <a:t>Art. 24 DSGVO</a:t>
            </a:r>
            <a:r>
              <a:rPr lang="de-DE" sz="2000" kern="100" dirty="0">
                <a:effectLst/>
                <a:ea typeface="Aptos" panose="020B0004020202020204" pitchFamily="34" charset="0"/>
                <a:cs typeface="Times New Roman" panose="02020603050405020304" pitchFamily="18" charset="0"/>
              </a:rPr>
              <a:t>.</a:t>
            </a:r>
          </a:p>
          <a:p>
            <a:pPr>
              <a:lnSpc>
                <a:spcPct val="107000"/>
              </a:lnSpc>
              <a:spcAft>
                <a:spcPts val="800"/>
              </a:spcAft>
              <a:buNone/>
            </a:pPr>
            <a:r>
              <a:rPr lang="de-DE" sz="2000" b="1" u="sng" kern="100" dirty="0">
                <a:effectLst/>
                <a:ea typeface="Aptos" panose="020B0004020202020204" pitchFamily="34" charset="0"/>
                <a:cs typeface="Times New Roman" panose="02020603050405020304" pitchFamily="18" charset="0"/>
              </a:rPr>
              <a:t>Im Detail:</a:t>
            </a: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mj-lt"/>
              <a:buAutoNum type="arabicPeriod"/>
            </a:pPr>
            <a:r>
              <a:rPr lang="de-DE" sz="2000" kern="100" dirty="0">
                <a:effectLst/>
                <a:ea typeface="Aptos" panose="020B0004020202020204" pitchFamily="34" charset="0"/>
                <a:cs typeface="Times New Roman" panose="02020603050405020304" pitchFamily="18" charset="0"/>
              </a:rPr>
              <a:t>Schutzmaßnahmen müssen dem </a:t>
            </a:r>
            <a:r>
              <a:rPr lang="de-DE" sz="2000" b="1" kern="100" dirty="0">
                <a:effectLst/>
                <a:ea typeface="Aptos" panose="020B0004020202020204" pitchFamily="34" charset="0"/>
                <a:cs typeface="Times New Roman" panose="02020603050405020304" pitchFamily="18" charset="0"/>
              </a:rPr>
              <a:t>Stand der Technik</a:t>
            </a:r>
            <a:r>
              <a:rPr lang="de-DE" sz="2000" kern="100" dirty="0">
                <a:effectLst/>
                <a:ea typeface="Aptos" panose="020B0004020202020204" pitchFamily="34" charset="0"/>
                <a:cs typeface="Times New Roman" panose="02020603050405020304" pitchFamily="18" charset="0"/>
              </a:rPr>
              <a:t> entsprechen.</a:t>
            </a:r>
            <a:br>
              <a:rPr lang="de-DE" sz="2000" kern="100" dirty="0">
                <a:effectLst/>
                <a:ea typeface="Aptos" panose="020B0004020202020204" pitchFamily="34" charset="0"/>
                <a:cs typeface="Times New Roman" panose="02020603050405020304" pitchFamily="18" charset="0"/>
              </a:rPr>
            </a:b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mj-lt"/>
              <a:buAutoNum type="arabicPeriod"/>
            </a:pPr>
            <a:r>
              <a:rPr lang="de-DE" sz="2000" kern="100" dirty="0">
                <a:effectLst/>
                <a:ea typeface="Aptos" panose="020B0004020202020204" pitchFamily="34" charset="0"/>
                <a:cs typeface="Times New Roman" panose="02020603050405020304" pitchFamily="18" charset="0"/>
              </a:rPr>
              <a:t>Konkrete Maßnahmen wie </a:t>
            </a:r>
            <a:r>
              <a:rPr lang="de-DE" sz="2000" b="1" kern="100" dirty="0">
                <a:effectLst/>
                <a:ea typeface="Aptos" panose="020B0004020202020204" pitchFamily="34" charset="0"/>
                <a:cs typeface="Times New Roman" panose="02020603050405020304" pitchFamily="18" charset="0"/>
              </a:rPr>
              <a:t>Pseudonymisierung</a:t>
            </a:r>
            <a:r>
              <a:rPr lang="de-DE" sz="2000" kern="100" dirty="0">
                <a:effectLst/>
                <a:ea typeface="Aptos" panose="020B0004020202020204" pitchFamily="34" charset="0"/>
                <a:cs typeface="Times New Roman" panose="02020603050405020304" pitchFamily="18" charset="0"/>
              </a:rPr>
              <a:t> und </a:t>
            </a:r>
            <a:r>
              <a:rPr lang="de-DE" sz="2000" b="1" kern="100" dirty="0">
                <a:effectLst/>
                <a:ea typeface="Aptos" panose="020B0004020202020204" pitchFamily="34" charset="0"/>
                <a:cs typeface="Times New Roman" panose="02020603050405020304" pitchFamily="18" charset="0"/>
              </a:rPr>
              <a:t>Verschlüsselung</a:t>
            </a:r>
            <a:r>
              <a:rPr lang="de-DE" sz="2000" kern="100" dirty="0">
                <a:effectLst/>
                <a:ea typeface="Aptos" panose="020B0004020202020204" pitchFamily="34" charset="0"/>
                <a:cs typeface="Times New Roman" panose="02020603050405020304" pitchFamily="18" charset="0"/>
              </a:rPr>
              <a:t> wurden genannt.</a:t>
            </a:r>
            <a:br>
              <a:rPr lang="de-DE" sz="2000" kern="100" dirty="0">
                <a:effectLst/>
                <a:ea typeface="Aptos" panose="020B0004020202020204" pitchFamily="34" charset="0"/>
                <a:cs typeface="Times New Roman" panose="02020603050405020304" pitchFamily="18" charset="0"/>
              </a:rPr>
            </a:b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de-DE" sz="2000" b="1" kern="100" dirty="0">
                <a:effectLst/>
                <a:ea typeface="Aptos" panose="020B0004020202020204" pitchFamily="34" charset="0"/>
                <a:cs typeface="Times New Roman" panose="02020603050405020304" pitchFamily="18" charset="0"/>
              </a:rPr>
              <a:t>Schutzziele</a:t>
            </a:r>
            <a:r>
              <a:rPr lang="de-DE" sz="2000" kern="100" dirty="0">
                <a:effectLst/>
                <a:ea typeface="Aptos" panose="020B0004020202020204" pitchFamily="34" charset="0"/>
                <a:cs typeface="Times New Roman" panose="02020603050405020304" pitchFamily="18" charset="0"/>
              </a:rPr>
              <a:t> wie </a:t>
            </a:r>
            <a:r>
              <a:rPr lang="de-DE" sz="2000" b="1" kern="100" dirty="0">
                <a:effectLst/>
                <a:ea typeface="Aptos" panose="020B0004020202020204" pitchFamily="34" charset="0"/>
                <a:cs typeface="Times New Roman" panose="02020603050405020304" pitchFamily="18" charset="0"/>
              </a:rPr>
              <a:t>Verfügbarkeit, Vertraulichkeit</a:t>
            </a:r>
            <a:r>
              <a:rPr lang="de-DE" sz="2000" kern="100" dirty="0">
                <a:effectLst/>
                <a:ea typeface="Aptos" panose="020B0004020202020204" pitchFamily="34" charset="0"/>
                <a:cs typeface="Times New Roman" panose="02020603050405020304" pitchFamily="18" charset="0"/>
              </a:rPr>
              <a:t>, usw. können als Grundgerüst genutzt werden.</a:t>
            </a:r>
          </a:p>
          <a:p>
            <a:endParaRPr lang="de-DE" sz="2000" dirty="0"/>
          </a:p>
        </p:txBody>
      </p:sp>
      <p:sp>
        <p:nvSpPr>
          <p:cNvPr id="4" name="Fußzeilenplatzhalter 3">
            <a:extLst>
              <a:ext uri="{FF2B5EF4-FFF2-40B4-BE49-F238E27FC236}">
                <a16:creationId xmlns:a16="http://schemas.microsoft.com/office/drawing/2014/main" id="{839EC981-0BDB-F612-7DE5-1833FDF9407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A0D2419D-D176-9840-CB51-576D92363C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0017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E8DE90-C7FE-D168-3E4F-C7E5B79FA48E}"/>
              </a:ext>
            </a:extLst>
          </p:cNvPr>
          <p:cNvSpPr>
            <a:spLocks noGrp="1"/>
          </p:cNvSpPr>
          <p:nvPr>
            <p:ph type="title"/>
          </p:nvPr>
        </p:nvSpPr>
        <p:spPr>
          <a:xfrm>
            <a:off x="838200" y="365126"/>
            <a:ext cx="10515600" cy="870287"/>
          </a:xfrm>
        </p:spPr>
        <p:txBody>
          <a:bodyPr/>
          <a:lstStyle/>
          <a:p>
            <a:r>
              <a:rPr lang="de-DE" dirty="0"/>
              <a:t>Privacy-</a:t>
            </a:r>
            <a:r>
              <a:rPr lang="de-DE" dirty="0" err="1"/>
              <a:t>by</a:t>
            </a:r>
            <a:r>
              <a:rPr lang="de-DE" dirty="0"/>
              <a:t>-design</a:t>
            </a:r>
          </a:p>
        </p:txBody>
      </p:sp>
      <p:sp>
        <p:nvSpPr>
          <p:cNvPr id="3" name="Inhaltsplatzhalter 2">
            <a:extLst>
              <a:ext uri="{FF2B5EF4-FFF2-40B4-BE49-F238E27FC236}">
                <a16:creationId xmlns:a16="http://schemas.microsoft.com/office/drawing/2014/main" id="{3D204D2D-34D1-08E8-5972-41C72DBEF55F}"/>
              </a:ext>
            </a:extLst>
          </p:cNvPr>
          <p:cNvSpPr>
            <a:spLocks noGrp="1"/>
          </p:cNvSpPr>
          <p:nvPr>
            <p:ph idx="1"/>
          </p:nvPr>
        </p:nvSpPr>
        <p:spPr>
          <a:xfrm>
            <a:off x="838200" y="1527243"/>
            <a:ext cx="10515600" cy="4649720"/>
          </a:xfrm>
        </p:spPr>
        <p:txBody>
          <a:bodyPr>
            <a:normAutofit/>
          </a:bodyPr>
          <a:lstStyle/>
          <a:p>
            <a:pPr marL="0" indent="0">
              <a:lnSpc>
                <a:spcPct val="107000"/>
              </a:lnSpc>
              <a:spcAft>
                <a:spcPts val="800"/>
              </a:spcAft>
              <a:buNone/>
            </a:pPr>
            <a:r>
              <a:rPr lang="de-DE" sz="2200" b="1" kern="100" dirty="0">
                <a:effectLst/>
                <a:ea typeface="Aptos" panose="020B0004020202020204" pitchFamily="34" charset="0"/>
                <a:cs typeface="Times New Roman" panose="02020603050405020304" pitchFamily="18" charset="0"/>
              </a:rPr>
              <a:t>Privacy-</a:t>
            </a:r>
            <a:r>
              <a:rPr lang="de-DE" sz="2200" b="1" kern="100" dirty="0" err="1">
                <a:effectLst/>
                <a:ea typeface="Aptos" panose="020B0004020202020204" pitchFamily="34" charset="0"/>
                <a:cs typeface="Times New Roman" panose="02020603050405020304" pitchFamily="18" charset="0"/>
              </a:rPr>
              <a:t>by</a:t>
            </a:r>
            <a:r>
              <a:rPr lang="de-DE" sz="2200" b="1" kern="100" dirty="0">
                <a:effectLst/>
                <a:ea typeface="Aptos" panose="020B0004020202020204" pitchFamily="34" charset="0"/>
                <a:cs typeface="Times New Roman" panose="02020603050405020304" pitchFamily="18" charset="0"/>
              </a:rPr>
              <a:t>-Design</a:t>
            </a:r>
            <a:r>
              <a:rPr lang="de-DE" sz="2200" b="1" kern="100" dirty="0">
                <a:solidFill>
                  <a:srgbClr val="0070C0"/>
                </a:solidFill>
                <a:effectLst/>
                <a:ea typeface="Aptos" panose="020B0004020202020204" pitchFamily="34" charset="0"/>
                <a:cs typeface="Times New Roman" panose="02020603050405020304" pitchFamily="18" charset="0"/>
              </a:rPr>
              <a:t> meint die Realisierung des Datenschutzes bereits bei der Gestaltung, Planung und Programmierung von Systemen.</a:t>
            </a:r>
            <a:endParaRPr lang="de-DE" sz="2200" kern="100" dirty="0">
              <a:solidFill>
                <a:srgbClr val="0070C0"/>
              </a:solidFill>
              <a:effectLst/>
              <a:ea typeface="Aptos" panose="020B0004020202020204" pitchFamily="34" charset="0"/>
              <a:cs typeface="Times New Roman" panose="02020603050405020304" pitchFamily="18" charset="0"/>
            </a:endParaRPr>
          </a:p>
          <a:p>
            <a:pPr>
              <a:lnSpc>
                <a:spcPct val="107000"/>
              </a:lnSpc>
              <a:spcAft>
                <a:spcPts val="800"/>
              </a:spcAft>
              <a:buNone/>
            </a:pPr>
            <a:r>
              <a:rPr lang="de-DE" sz="2200" b="1" kern="100" dirty="0">
                <a:solidFill>
                  <a:srgbClr val="7030A0"/>
                </a:solidFill>
                <a:effectLst/>
                <a:ea typeface="Aptos" panose="020B0004020202020204" pitchFamily="34" charset="0"/>
                <a:cs typeface="Times New Roman" panose="02020603050405020304" pitchFamily="18" charset="0"/>
              </a:rPr>
              <a:t>Art. 25 (1) DSGVO </a:t>
            </a:r>
            <a:r>
              <a:rPr lang="de-DE" sz="2200" kern="100" dirty="0">
                <a:effectLst/>
                <a:ea typeface="Aptos" panose="020B0004020202020204" pitchFamily="34" charset="0"/>
                <a:cs typeface="Times New Roman" panose="02020603050405020304" pitchFamily="18" charset="0"/>
              </a:rPr>
              <a:t>fordert, dass der Verantwortliche </a:t>
            </a:r>
            <a:r>
              <a:rPr lang="de-DE" sz="2200" b="1" kern="100" dirty="0">
                <a:effectLst/>
                <a:ea typeface="Aptos" panose="020B0004020202020204" pitchFamily="34" charset="0"/>
                <a:cs typeface="Times New Roman" panose="02020603050405020304" pitchFamily="18" charset="0"/>
              </a:rPr>
              <a:t>geeignete TOMs</a:t>
            </a:r>
            <a:r>
              <a:rPr lang="de-DE" sz="2200" kern="100" dirty="0">
                <a:effectLst/>
                <a:ea typeface="Aptos" panose="020B0004020202020204" pitchFamily="34" charset="0"/>
                <a:cs typeface="Times New Roman" panose="02020603050405020304" pitchFamily="18" charset="0"/>
              </a:rPr>
              <a:t> wählt, die sicherstellen, dass die Verarbeitung der Daten im Sinne der Verordnung, also </a:t>
            </a:r>
            <a:r>
              <a:rPr lang="de-DE" sz="2200" b="1" kern="100" dirty="0">
                <a:effectLst/>
                <a:ea typeface="Aptos" panose="020B0004020202020204" pitchFamily="34" charset="0"/>
                <a:cs typeface="Times New Roman" panose="02020603050405020304" pitchFamily="18" charset="0"/>
              </a:rPr>
              <a:t>im Sinne des Datenschutzes</a:t>
            </a:r>
            <a:r>
              <a:rPr lang="de-DE" sz="2200" kern="100" dirty="0">
                <a:effectLst/>
                <a:ea typeface="Aptos" panose="020B0004020202020204" pitchFamily="34" charset="0"/>
                <a:cs typeface="Times New Roman" panose="02020603050405020304" pitchFamily="18" charset="0"/>
              </a:rPr>
              <a:t>, stattfindet.</a:t>
            </a:r>
          </a:p>
          <a:p>
            <a:pPr marL="342900" lvl="0" indent="-342900">
              <a:lnSpc>
                <a:spcPct val="107000"/>
              </a:lnSpc>
              <a:spcAft>
                <a:spcPts val="800"/>
              </a:spcAft>
              <a:buFont typeface="Symbol" panose="05050102010706020507" pitchFamily="18" charset="2"/>
              <a:buChar char=""/>
            </a:pPr>
            <a:r>
              <a:rPr lang="de-DE" sz="2200" kern="100" dirty="0">
                <a:effectLst/>
                <a:ea typeface="Aptos" panose="020B0004020202020204" pitchFamily="34" charset="0"/>
                <a:cs typeface="Times New Roman" panose="02020603050405020304" pitchFamily="18" charset="0"/>
              </a:rPr>
              <a:t>Eingesetzte </a:t>
            </a:r>
            <a:r>
              <a:rPr lang="de-DE" sz="2200" b="1" kern="100" dirty="0">
                <a:effectLst/>
                <a:ea typeface="Aptos" panose="020B0004020202020204" pitchFamily="34" charset="0"/>
                <a:cs typeface="Times New Roman" panose="02020603050405020304" pitchFamily="18" charset="0"/>
              </a:rPr>
              <a:t>TOMs müssen datenschutzkonform sein </a:t>
            </a:r>
            <a:br>
              <a:rPr lang="de-DE" sz="2200" b="1" kern="100" dirty="0">
                <a:effectLst/>
                <a:ea typeface="Aptos" panose="020B0004020202020204" pitchFamily="34" charset="0"/>
                <a:cs typeface="Times New Roman" panose="02020603050405020304" pitchFamily="18" charset="0"/>
              </a:rPr>
            </a:br>
            <a:r>
              <a:rPr lang="de-DE" sz="2200" kern="100" dirty="0">
                <a:effectLst/>
                <a:ea typeface="Aptos" panose="020B0004020202020204" pitchFamily="34" charset="0"/>
                <a:cs typeface="Times New Roman" panose="02020603050405020304" pitchFamily="18" charset="0"/>
              </a:rPr>
              <a:t>(z.B. eine genutzte Software muss Löschung / Berichtigung von Daten oder andere Betroffenenrechte ermöglichen) </a:t>
            </a:r>
            <a:r>
              <a:rPr lang="de-DE" sz="2200" kern="100" dirty="0">
                <a:effectLst/>
                <a:ea typeface="Aptos" panose="020B0004020202020204" pitchFamily="34" charset="0"/>
                <a:cs typeface="Times New Roman" panose="02020603050405020304" pitchFamily="18" charset="0"/>
                <a:sym typeface="Wingdings" panose="05000000000000000000" pitchFamily="2" charset="2"/>
              </a:rPr>
              <a:t></a:t>
            </a:r>
            <a:r>
              <a:rPr lang="de-DE" sz="2200" kern="100" dirty="0">
                <a:effectLst/>
                <a:ea typeface="Aptos" panose="020B0004020202020204" pitchFamily="34" charset="0"/>
                <a:cs typeface="Times New Roman" panose="02020603050405020304" pitchFamily="18" charset="0"/>
              </a:rPr>
              <a:t> siehe auch </a:t>
            </a:r>
            <a:r>
              <a:rPr lang="de-DE" sz="2200" b="1" kern="100" dirty="0">
                <a:solidFill>
                  <a:srgbClr val="7030A0"/>
                </a:solidFill>
                <a:effectLst/>
                <a:ea typeface="Aptos" panose="020B0004020202020204" pitchFamily="34" charset="0"/>
                <a:cs typeface="Times New Roman" panose="02020603050405020304" pitchFamily="18" charset="0"/>
              </a:rPr>
              <a:t>EG 78 </a:t>
            </a:r>
            <a:r>
              <a:rPr lang="de-DE" sz="2200" kern="100" dirty="0">
                <a:effectLst/>
                <a:ea typeface="Aptos" panose="020B0004020202020204" pitchFamily="34" charset="0"/>
                <a:cs typeface="Times New Roman" panose="02020603050405020304" pitchFamily="18" charset="0"/>
              </a:rPr>
              <a:t>(</a:t>
            </a:r>
            <a:r>
              <a:rPr lang="de-DE" sz="2200" kern="100" dirty="0">
                <a:effectLst/>
                <a:highlight>
                  <a:srgbClr val="FFFF00"/>
                </a:highlight>
                <a:ea typeface="Aptos" panose="020B0004020202020204" pitchFamily="34" charset="0"/>
                <a:cs typeface="Times New Roman" panose="02020603050405020304" pitchFamily="18" charset="0"/>
              </a:rPr>
              <a:t>für Fachinformatiker wichtig</a:t>
            </a:r>
            <a:r>
              <a:rPr lang="de-DE" sz="2200" kern="100" dirty="0">
                <a:effectLst/>
                <a:ea typeface="Aptos" panose="020B0004020202020204" pitchFamily="34" charset="0"/>
                <a:cs typeface="Times New Roman" panose="02020603050405020304" pitchFamily="18" charset="0"/>
              </a:rPr>
              <a:t>)</a:t>
            </a:r>
            <a:br>
              <a:rPr lang="de-DE" sz="2200" kern="100" dirty="0">
                <a:effectLst/>
                <a:ea typeface="Aptos" panose="020B0004020202020204" pitchFamily="34" charset="0"/>
                <a:cs typeface="Times New Roman" panose="02020603050405020304" pitchFamily="18" charset="0"/>
              </a:rPr>
            </a:br>
            <a:endParaRPr lang="de-DE" sz="2200" kern="100" dirty="0">
              <a:effectLst/>
              <a:ea typeface="Aptos" panose="020B0004020202020204" pitchFamily="34" charset="0"/>
              <a:cs typeface="Times New Roman" panose="02020603050405020304" pitchFamily="18" charset="0"/>
            </a:endParaRPr>
          </a:p>
          <a:p>
            <a:pPr>
              <a:buNone/>
            </a:pPr>
            <a:r>
              <a:rPr lang="de-DE" sz="2200" dirty="0">
                <a:effectLst/>
                <a:ea typeface="Aptos" panose="020B0004020202020204" pitchFamily="34" charset="0"/>
              </a:rPr>
              <a:t>Deshalb </a:t>
            </a:r>
            <a:r>
              <a:rPr lang="de-DE" sz="2200" b="1" dirty="0">
                <a:effectLst/>
                <a:ea typeface="Aptos" panose="020B0004020202020204" pitchFamily="34" charset="0"/>
              </a:rPr>
              <a:t>muss der DSB </a:t>
            </a:r>
            <a:r>
              <a:rPr lang="de-DE" sz="2200" dirty="0">
                <a:effectLst/>
                <a:ea typeface="Aptos" panose="020B0004020202020204" pitchFamily="34" charset="0"/>
              </a:rPr>
              <a:t>bei der Auswahl neuer Hard- und Software </a:t>
            </a:r>
            <a:r>
              <a:rPr lang="de-DE" sz="2200" b="1" dirty="0">
                <a:effectLst/>
                <a:ea typeface="Aptos" panose="020B0004020202020204" pitchFamily="34" charset="0"/>
              </a:rPr>
              <a:t>beteiligt werden</a:t>
            </a:r>
            <a:endParaRPr lang="de-DE" sz="2200" b="1" dirty="0"/>
          </a:p>
        </p:txBody>
      </p:sp>
      <p:sp>
        <p:nvSpPr>
          <p:cNvPr id="4" name="Fußzeilenplatzhalter 3">
            <a:extLst>
              <a:ext uri="{FF2B5EF4-FFF2-40B4-BE49-F238E27FC236}">
                <a16:creationId xmlns:a16="http://schemas.microsoft.com/office/drawing/2014/main" id="{5B6DE495-1170-F12C-3705-F5BACEF6E61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C2E5D9FC-E9F2-B24A-028E-0D8B535411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82180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42F05-AB72-9747-187E-6EF64CCCCEC9}"/>
              </a:ext>
            </a:extLst>
          </p:cNvPr>
          <p:cNvSpPr>
            <a:spLocks noGrp="1"/>
          </p:cNvSpPr>
          <p:nvPr>
            <p:ph type="title"/>
          </p:nvPr>
        </p:nvSpPr>
        <p:spPr/>
        <p:txBody>
          <a:bodyPr/>
          <a:lstStyle/>
          <a:p>
            <a:r>
              <a:rPr lang="de-DE" dirty="0" err="1"/>
              <a:t>Pricacy</a:t>
            </a:r>
            <a:r>
              <a:rPr lang="de-DE" dirty="0"/>
              <a:t>-</a:t>
            </a:r>
            <a:r>
              <a:rPr lang="de-DE" dirty="0" err="1"/>
              <a:t>by</a:t>
            </a:r>
            <a:r>
              <a:rPr lang="de-DE" dirty="0"/>
              <a:t>-design (Zusammenfassung)</a:t>
            </a:r>
          </a:p>
        </p:txBody>
      </p:sp>
      <p:pic>
        <p:nvPicPr>
          <p:cNvPr id="7" name="Inhaltsplatzhalter 6" descr="Ein Bild, das Text, Screenshot, Schrift enthält.&#10;&#10;KI-generierte Inhalte können fehlerhaft sein.">
            <a:extLst>
              <a:ext uri="{FF2B5EF4-FFF2-40B4-BE49-F238E27FC236}">
                <a16:creationId xmlns:a16="http://schemas.microsoft.com/office/drawing/2014/main" id="{908DBFEA-7E8D-F158-A0E5-D815196768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5059" y="2284057"/>
            <a:ext cx="9941881" cy="3478924"/>
          </a:xfrm>
        </p:spPr>
      </p:pic>
      <p:sp>
        <p:nvSpPr>
          <p:cNvPr id="4" name="Fußzeilenplatzhalter 3">
            <a:extLst>
              <a:ext uri="{FF2B5EF4-FFF2-40B4-BE49-F238E27FC236}">
                <a16:creationId xmlns:a16="http://schemas.microsoft.com/office/drawing/2014/main" id="{8987E36B-3C0E-A3A1-C4FB-8BF00A669D8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F1A5C249-0A04-20BF-F782-E55368BCCF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5387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99CE0E-4652-F130-0B88-1DEF5A3795EF}"/>
              </a:ext>
            </a:extLst>
          </p:cNvPr>
          <p:cNvSpPr>
            <a:spLocks noGrp="1"/>
          </p:cNvSpPr>
          <p:nvPr>
            <p:ph type="title"/>
          </p:nvPr>
        </p:nvSpPr>
        <p:spPr>
          <a:xfrm>
            <a:off x="838200" y="365126"/>
            <a:ext cx="10515600" cy="685462"/>
          </a:xfrm>
        </p:spPr>
        <p:txBody>
          <a:bodyPr>
            <a:normAutofit fontScale="90000"/>
          </a:bodyPr>
          <a:lstStyle/>
          <a:p>
            <a:r>
              <a:rPr lang="de-DE" dirty="0"/>
              <a:t>Privacy-</a:t>
            </a:r>
            <a:r>
              <a:rPr lang="de-DE" dirty="0" err="1"/>
              <a:t>by</a:t>
            </a:r>
            <a:r>
              <a:rPr lang="de-DE" dirty="0"/>
              <a:t>-default</a:t>
            </a:r>
          </a:p>
        </p:txBody>
      </p:sp>
      <p:sp>
        <p:nvSpPr>
          <p:cNvPr id="3" name="Inhaltsplatzhalter 2">
            <a:extLst>
              <a:ext uri="{FF2B5EF4-FFF2-40B4-BE49-F238E27FC236}">
                <a16:creationId xmlns:a16="http://schemas.microsoft.com/office/drawing/2014/main" id="{CD18E89A-62CE-A8C1-9EB6-BADADDDD2FC4}"/>
              </a:ext>
            </a:extLst>
          </p:cNvPr>
          <p:cNvSpPr>
            <a:spLocks noGrp="1"/>
          </p:cNvSpPr>
          <p:nvPr>
            <p:ph idx="1"/>
          </p:nvPr>
        </p:nvSpPr>
        <p:spPr>
          <a:xfrm>
            <a:off x="838200" y="1235414"/>
            <a:ext cx="10515600" cy="5120936"/>
          </a:xfrm>
        </p:spPr>
        <p:txBody>
          <a:bodyPr>
            <a:noAutofit/>
          </a:bodyPr>
          <a:lstStyle/>
          <a:p>
            <a:pPr marL="0" indent="0">
              <a:lnSpc>
                <a:spcPct val="107000"/>
              </a:lnSpc>
              <a:spcAft>
                <a:spcPts val="800"/>
              </a:spcAft>
              <a:buNone/>
            </a:pPr>
            <a:r>
              <a:rPr lang="de-DE" sz="2000" kern="100" dirty="0">
                <a:effectLst/>
                <a:ea typeface="Aptos" panose="020B0004020202020204" pitchFamily="34" charset="0"/>
                <a:cs typeface="Times New Roman" panose="02020603050405020304" pitchFamily="18" charset="0"/>
              </a:rPr>
              <a:t>Der Verantwortliche trifft geeignete TOMs, die sicherstellen, dass durch </a:t>
            </a:r>
            <a:r>
              <a:rPr lang="de-DE" sz="2000" b="1" kern="100" dirty="0">
                <a:effectLst/>
                <a:ea typeface="Aptos" panose="020B0004020202020204" pitchFamily="34" charset="0"/>
                <a:cs typeface="Times New Roman" panose="02020603050405020304" pitchFamily="18" charset="0"/>
              </a:rPr>
              <a:t>Voreinstellung </a:t>
            </a:r>
            <a:r>
              <a:rPr lang="de-DE" sz="2000" kern="100" dirty="0">
                <a:effectLst/>
                <a:ea typeface="Aptos" panose="020B0004020202020204" pitchFamily="34" charset="0"/>
                <a:cs typeface="Times New Roman" panose="02020603050405020304" pitchFamily="18" charset="0"/>
              </a:rPr>
              <a:t>nur </a:t>
            </a:r>
            <a:r>
              <a:rPr lang="de-DE" sz="2000" kern="100" dirty="0" err="1">
                <a:effectLst/>
                <a:ea typeface="Aptos" panose="020B0004020202020204" pitchFamily="34" charset="0"/>
                <a:cs typeface="Times New Roman" panose="02020603050405020304" pitchFamily="18" charset="0"/>
              </a:rPr>
              <a:t>pbD</a:t>
            </a:r>
            <a:r>
              <a:rPr lang="de-DE" sz="2000" kern="100" dirty="0">
                <a:effectLst/>
                <a:ea typeface="Aptos" panose="020B0004020202020204" pitchFamily="34" charset="0"/>
                <a:cs typeface="Times New Roman" panose="02020603050405020304" pitchFamily="18" charset="0"/>
              </a:rPr>
              <a:t>, deren Verarbeitung für den jeweiligen bestimmten </a:t>
            </a:r>
            <a:r>
              <a:rPr lang="de-DE" sz="2000" b="1" kern="100" dirty="0">
                <a:effectLst/>
                <a:ea typeface="Aptos" panose="020B0004020202020204" pitchFamily="34" charset="0"/>
                <a:cs typeface="Times New Roman" panose="02020603050405020304" pitchFamily="18" charset="0"/>
              </a:rPr>
              <a:t>Verarbeitungszweck erforderlich ist</a:t>
            </a:r>
            <a:r>
              <a:rPr lang="de-DE" sz="2000" kern="100" dirty="0">
                <a:effectLst/>
                <a:ea typeface="Aptos" panose="020B0004020202020204" pitchFamily="34" charset="0"/>
                <a:cs typeface="Times New Roman" panose="02020603050405020304" pitchFamily="18" charset="0"/>
              </a:rPr>
              <a:t>, verarbeitet werden.</a:t>
            </a:r>
          </a:p>
          <a:p>
            <a:pPr marL="0" indent="0">
              <a:lnSpc>
                <a:spcPct val="107000"/>
              </a:lnSpc>
              <a:spcAft>
                <a:spcPts val="800"/>
              </a:spcAft>
              <a:buNone/>
            </a:pPr>
            <a:r>
              <a:rPr lang="de-DE" sz="2000" b="1" kern="100" dirty="0">
                <a:effectLst/>
                <a:ea typeface="Aptos" panose="020B0004020202020204" pitchFamily="34" charset="0"/>
                <a:cs typeface="Times New Roman" panose="02020603050405020304" pitchFamily="18" charset="0"/>
              </a:rPr>
              <a:t>Privacy-</a:t>
            </a:r>
            <a:r>
              <a:rPr lang="de-DE" sz="2000" b="1" kern="100" dirty="0" err="1">
                <a:effectLst/>
                <a:ea typeface="Aptos" panose="020B0004020202020204" pitchFamily="34" charset="0"/>
                <a:cs typeface="Times New Roman" panose="02020603050405020304" pitchFamily="18" charset="0"/>
              </a:rPr>
              <a:t>by</a:t>
            </a:r>
            <a:r>
              <a:rPr lang="de-DE" sz="2000" b="1" kern="100" dirty="0">
                <a:effectLst/>
                <a:ea typeface="Aptos" panose="020B0004020202020204" pitchFamily="34" charset="0"/>
                <a:cs typeface="Times New Roman" panose="02020603050405020304" pitchFamily="18" charset="0"/>
              </a:rPr>
              <a:t>-Default </a:t>
            </a:r>
            <a:r>
              <a:rPr lang="de-DE" sz="2000" b="1" kern="100" dirty="0">
                <a:solidFill>
                  <a:srgbClr val="0070C0"/>
                </a:solidFill>
                <a:effectLst/>
                <a:ea typeface="Aptos" panose="020B0004020202020204" pitchFamily="34" charset="0"/>
                <a:cs typeface="Times New Roman" panose="02020603050405020304" pitchFamily="18" charset="0"/>
              </a:rPr>
              <a:t>meint die Realisierung des Datenschutzes durch bereits gesetzte Voreinstellungen im System</a:t>
            </a:r>
            <a:r>
              <a:rPr lang="de-DE" sz="2000" b="1" kern="100" dirty="0">
                <a:effectLst/>
                <a:ea typeface="Aptos" panose="020B0004020202020204" pitchFamily="34" charset="0"/>
                <a:cs typeface="Times New Roman" panose="02020603050405020304" pitchFamily="18" charset="0"/>
              </a:rPr>
              <a:t>.</a:t>
            </a:r>
            <a:endParaRPr lang="de-DE" sz="20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Die </a:t>
            </a:r>
            <a:r>
              <a:rPr lang="de-DE" sz="2000" b="1" kern="100" dirty="0">
                <a:effectLst/>
                <a:ea typeface="Aptos" panose="020B0004020202020204" pitchFamily="34" charset="0"/>
                <a:cs typeface="Times New Roman" panose="02020603050405020304" pitchFamily="18" charset="0"/>
              </a:rPr>
              <a:t>verwendete Technik</a:t>
            </a:r>
            <a:r>
              <a:rPr lang="de-DE" sz="2000" kern="100" dirty="0">
                <a:effectLst/>
                <a:ea typeface="Aptos" panose="020B0004020202020204" pitchFamily="34" charset="0"/>
                <a:cs typeface="Times New Roman" panose="02020603050405020304" pitchFamily="18" charset="0"/>
              </a:rPr>
              <a:t> muss so </a:t>
            </a:r>
            <a:r>
              <a:rPr lang="de-DE" sz="2000" b="1" kern="100" dirty="0">
                <a:effectLst/>
                <a:ea typeface="Aptos" panose="020B0004020202020204" pitchFamily="34" charset="0"/>
                <a:cs typeface="Times New Roman" panose="02020603050405020304" pitchFamily="18" charset="0"/>
              </a:rPr>
              <a:t>voreingestellt sein</a:t>
            </a:r>
            <a:r>
              <a:rPr lang="de-DE" sz="2000" kern="100" dirty="0">
                <a:effectLst/>
                <a:ea typeface="Aptos" panose="020B0004020202020204" pitchFamily="34" charset="0"/>
                <a:cs typeface="Times New Roman" panose="02020603050405020304" pitchFamily="18" charset="0"/>
              </a:rPr>
              <a:t>, dass der </a:t>
            </a:r>
            <a:r>
              <a:rPr lang="de-DE" sz="2000" b="1" kern="100" dirty="0">
                <a:effectLst/>
                <a:ea typeface="Aptos" panose="020B0004020202020204" pitchFamily="34" charset="0"/>
                <a:cs typeface="Times New Roman" panose="02020603050405020304" pitchFamily="18" charset="0"/>
              </a:rPr>
              <a:t>Datenschutz unterstützt wird. </a:t>
            </a:r>
            <a:r>
              <a:rPr lang="de-DE" sz="2000" b="1" kern="100" dirty="0">
                <a:solidFill>
                  <a:srgbClr val="7030A0"/>
                </a:solidFill>
                <a:effectLst/>
                <a:ea typeface="Aptos" panose="020B0004020202020204" pitchFamily="34" charset="0"/>
                <a:cs typeface="Times New Roman" panose="02020603050405020304" pitchFamily="18" charset="0"/>
                <a:sym typeface="Wingdings" panose="05000000000000000000" pitchFamily="2" charset="2"/>
              </a:rPr>
              <a:t> </a:t>
            </a:r>
            <a:r>
              <a:rPr kumimoji="0" lang="de-DE" sz="2200" b="0" i="0" u="none" strike="noStrike" kern="100" cap="none" spc="0" normalizeH="0" baseline="0" noProof="0" dirty="0">
                <a:ln>
                  <a:noFill/>
                </a:ln>
                <a:solidFill>
                  <a:prstClr val="black"/>
                </a:solidFill>
                <a:effectLst/>
                <a:uLnTx/>
                <a:uFillTx/>
                <a:latin typeface="Aptos" panose="02110004020202020204"/>
                <a:ea typeface="Aptos" panose="020B0004020202020204" pitchFamily="34" charset="0"/>
                <a:cs typeface="Times New Roman" panose="02020603050405020304" pitchFamily="18" charset="0"/>
              </a:rPr>
              <a:t>siehe auch </a:t>
            </a:r>
            <a:r>
              <a:rPr kumimoji="0" lang="de-DE" sz="2200" b="1" i="0" u="none" strike="noStrike" kern="100" cap="none" spc="0" normalizeH="0" baseline="0" noProof="0" dirty="0">
                <a:ln>
                  <a:noFill/>
                </a:ln>
                <a:solidFill>
                  <a:srgbClr val="7030A0"/>
                </a:solidFill>
                <a:effectLst/>
                <a:uLnTx/>
                <a:uFillTx/>
                <a:latin typeface="Aptos" panose="02110004020202020204"/>
                <a:ea typeface="Aptos" panose="020B0004020202020204" pitchFamily="34" charset="0"/>
                <a:cs typeface="Times New Roman" panose="02020603050405020304" pitchFamily="18" charset="0"/>
              </a:rPr>
              <a:t>EG 78 </a:t>
            </a:r>
            <a:r>
              <a:rPr kumimoji="0" lang="de-DE" sz="2200" b="0" i="0" u="none" strike="noStrike" kern="100" cap="none" spc="0" normalizeH="0" baseline="0" noProof="0" dirty="0">
                <a:ln>
                  <a:noFill/>
                </a:ln>
                <a:solidFill>
                  <a:prstClr val="black"/>
                </a:solidFill>
                <a:effectLst/>
                <a:uLnTx/>
                <a:uFillTx/>
                <a:latin typeface="Aptos" panose="02110004020202020204"/>
                <a:ea typeface="Aptos" panose="020B0004020202020204" pitchFamily="34" charset="0"/>
                <a:cs typeface="Times New Roman" panose="02020603050405020304" pitchFamily="18" charset="0"/>
              </a:rPr>
              <a:t>(</a:t>
            </a:r>
            <a:r>
              <a:rPr kumimoji="0" lang="de-DE" sz="2200" b="0" i="0" u="none" strike="noStrike" kern="100" cap="none" spc="0" normalizeH="0" baseline="0" noProof="0" dirty="0">
                <a:ln>
                  <a:noFill/>
                </a:ln>
                <a:solidFill>
                  <a:prstClr val="black"/>
                </a:solidFill>
                <a:effectLst/>
                <a:highlight>
                  <a:srgbClr val="FFFF00"/>
                </a:highlight>
                <a:uLnTx/>
                <a:uFillTx/>
                <a:latin typeface="Aptos" panose="02110004020202020204"/>
                <a:ea typeface="Aptos" panose="020B0004020202020204" pitchFamily="34" charset="0"/>
                <a:cs typeface="Times New Roman" panose="02020603050405020304" pitchFamily="18" charset="0"/>
              </a:rPr>
              <a:t>für Fachinformatiker wichtig</a:t>
            </a:r>
            <a:r>
              <a:rPr kumimoji="0" lang="de-DE" sz="2200" b="0" i="0" u="none" strike="noStrike" kern="100" cap="none" spc="0" normalizeH="0" baseline="0" noProof="0" dirty="0">
                <a:ln>
                  <a:noFill/>
                </a:ln>
                <a:solidFill>
                  <a:prstClr val="black"/>
                </a:solidFill>
                <a:effectLst/>
                <a:uLnTx/>
                <a:uFillTx/>
                <a:latin typeface="Aptos" panose="02110004020202020204"/>
                <a:ea typeface="Aptos" panose="020B0004020202020204" pitchFamily="34" charset="0"/>
                <a:cs typeface="Times New Roman" panose="02020603050405020304" pitchFamily="18" charset="0"/>
              </a:rPr>
              <a:t>)</a:t>
            </a:r>
            <a:endParaRPr lang="de-DE" sz="2000" kern="100" dirty="0">
              <a:solidFill>
                <a:srgbClr val="7030A0"/>
              </a:solidFill>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b="1" u="sng" kern="100" dirty="0">
                <a:effectLst/>
                <a:ea typeface="Aptos" panose="020B0004020202020204" pitchFamily="34" charset="0"/>
                <a:cs typeface="Times New Roman" panose="02020603050405020304" pitchFamily="18" charset="0"/>
              </a:rPr>
              <a:t>Beispiel:</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Bewegungsdaten</a:t>
            </a:r>
            <a:r>
              <a:rPr lang="de-DE" sz="2000" kern="100" dirty="0">
                <a:effectLst/>
                <a:ea typeface="Aptos" panose="020B0004020202020204" pitchFamily="34" charset="0"/>
                <a:cs typeface="Times New Roman" panose="02020603050405020304" pitchFamily="18" charset="0"/>
              </a:rPr>
              <a:t> bei der Nutzung einer App sind </a:t>
            </a:r>
            <a:r>
              <a:rPr lang="de-DE" sz="2000" b="1" kern="100" dirty="0">
                <a:effectLst/>
                <a:ea typeface="Aptos" panose="020B0004020202020204" pitchFamily="34" charset="0"/>
                <a:cs typeface="Times New Roman" panose="02020603050405020304" pitchFamily="18" charset="0"/>
              </a:rPr>
              <a:t>standardmäßig ausgeschaltet</a:t>
            </a:r>
            <a:r>
              <a:rPr lang="de-DE" sz="2000" kern="100" dirty="0">
                <a:effectLst/>
                <a:ea typeface="Aptos" panose="020B0004020202020204" pitchFamily="34" charset="0"/>
                <a:cs typeface="Times New Roman" panose="02020603050405020304" pitchFamily="18" charset="0"/>
              </a:rPr>
              <a:t> und werden </a:t>
            </a:r>
            <a:r>
              <a:rPr lang="de-DE" sz="2000" b="1" kern="100" dirty="0">
                <a:effectLst/>
                <a:ea typeface="Aptos" panose="020B0004020202020204" pitchFamily="34" charset="0"/>
                <a:cs typeface="Times New Roman" panose="02020603050405020304" pitchFamily="18" charset="0"/>
              </a:rPr>
              <a:t>nicht </a:t>
            </a:r>
            <a:r>
              <a:rPr lang="de-DE" sz="2000" b="1" kern="100" dirty="0" err="1">
                <a:effectLst/>
                <a:ea typeface="Aptos" panose="020B0004020202020204" pitchFamily="34" charset="0"/>
                <a:cs typeface="Times New Roman" panose="02020603050405020304" pitchFamily="18" charset="0"/>
              </a:rPr>
              <a:t>by</a:t>
            </a:r>
            <a:r>
              <a:rPr lang="de-DE" sz="2000" b="1" kern="100" dirty="0">
                <a:effectLst/>
                <a:ea typeface="Aptos" panose="020B0004020202020204" pitchFamily="34" charset="0"/>
                <a:cs typeface="Times New Roman" panose="02020603050405020304" pitchFamily="18" charset="0"/>
              </a:rPr>
              <a:t>-default</a:t>
            </a:r>
            <a:r>
              <a:rPr lang="de-DE" sz="2000" kern="100" dirty="0">
                <a:effectLst/>
                <a:ea typeface="Aptos" panose="020B0004020202020204" pitchFamily="34" charset="0"/>
                <a:cs typeface="Times New Roman" panose="02020603050405020304" pitchFamily="18" charset="0"/>
              </a:rPr>
              <a:t> an den Hersteller </a:t>
            </a:r>
            <a:r>
              <a:rPr lang="de-DE" sz="2000" b="1" kern="100" dirty="0">
                <a:effectLst/>
                <a:ea typeface="Aptos" panose="020B0004020202020204" pitchFamily="34" charset="0"/>
                <a:cs typeface="Times New Roman" panose="02020603050405020304" pitchFamily="18" charset="0"/>
              </a:rPr>
              <a:t>übertragen</a:t>
            </a:r>
            <a:r>
              <a:rPr lang="de-DE" sz="2000" kern="100" dirty="0">
                <a:effectLst/>
                <a:ea typeface="Aptos" panose="020B0004020202020204" pitchFamily="34" charset="0"/>
                <a:cs typeface="Times New Roman" panose="02020603050405020304" pitchFamily="18" charset="0"/>
              </a:rPr>
              <a:t>. Der Betroffene muss die Möglichkeit haben das zu ändern und selber zu entscheiden, ob er eine nachteiligere Einstellung wählen möchte.</a:t>
            </a:r>
          </a:p>
          <a:p>
            <a:pPr marL="342900" lvl="0" indent="-342900">
              <a:lnSpc>
                <a:spcPct val="107000"/>
              </a:lnSpc>
              <a:spcAft>
                <a:spcPts val="800"/>
              </a:spcAft>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Besonders große Konzerne sind dadurch angehalten sich </a:t>
            </a:r>
            <a:r>
              <a:rPr lang="de-DE" sz="2000" b="1" kern="100" dirty="0">
                <a:effectLst/>
                <a:ea typeface="Aptos" panose="020B0004020202020204" pitchFamily="34" charset="0"/>
                <a:cs typeface="Times New Roman" panose="02020603050405020304" pitchFamily="18" charset="0"/>
              </a:rPr>
              <a:t>eine Zustimmung</a:t>
            </a:r>
            <a:r>
              <a:rPr lang="de-DE" sz="2000" kern="100" dirty="0">
                <a:effectLst/>
                <a:ea typeface="Aptos" panose="020B0004020202020204" pitchFamily="34" charset="0"/>
                <a:cs typeface="Times New Roman" panose="02020603050405020304" pitchFamily="18" charset="0"/>
              </a:rPr>
              <a:t> zur Nutzung </a:t>
            </a:r>
            <a:r>
              <a:rPr lang="de-DE" sz="2000" kern="100" dirty="0" err="1">
                <a:effectLst/>
                <a:ea typeface="Aptos" panose="020B0004020202020204" pitchFamily="34" charset="0"/>
                <a:cs typeface="Times New Roman" panose="02020603050405020304" pitchFamily="18" charset="0"/>
              </a:rPr>
              <a:t>pbD</a:t>
            </a:r>
            <a:r>
              <a:rPr lang="de-DE" sz="2000" kern="100" dirty="0">
                <a:effectLst/>
                <a:ea typeface="Aptos" panose="020B0004020202020204" pitchFamily="34" charset="0"/>
                <a:cs typeface="Times New Roman" panose="02020603050405020304" pitchFamily="18" charset="0"/>
              </a:rPr>
              <a:t> vom Kunden </a:t>
            </a:r>
            <a:r>
              <a:rPr lang="de-DE" sz="2000" b="1" kern="100" dirty="0">
                <a:effectLst/>
                <a:ea typeface="Aptos" panose="020B0004020202020204" pitchFamily="34" charset="0"/>
                <a:cs typeface="Times New Roman" panose="02020603050405020304" pitchFamily="18" charset="0"/>
              </a:rPr>
              <a:t>ausdrücklich einzuholen</a:t>
            </a:r>
            <a:r>
              <a:rPr lang="de-DE" sz="2000" kern="100" dirty="0">
                <a:effectLst/>
                <a:ea typeface="Aptos" panose="020B0004020202020204" pitchFamily="34" charset="0"/>
                <a:cs typeface="Times New Roman" panose="02020603050405020304" pitchFamily="18" charset="0"/>
              </a:rPr>
              <a:t>.</a:t>
            </a:r>
          </a:p>
          <a:p>
            <a:endParaRPr lang="de-DE" sz="2000" dirty="0"/>
          </a:p>
        </p:txBody>
      </p:sp>
      <p:sp>
        <p:nvSpPr>
          <p:cNvPr id="4" name="Fußzeilenplatzhalter 3">
            <a:extLst>
              <a:ext uri="{FF2B5EF4-FFF2-40B4-BE49-F238E27FC236}">
                <a16:creationId xmlns:a16="http://schemas.microsoft.com/office/drawing/2014/main" id="{E3E7AFD5-5962-4AA1-7DF2-BE27E44D014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97CEE38F-BC05-18DD-2F2B-C120545B3E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9538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BF0853-420B-38F9-67C8-FA0DB0D20071}"/>
              </a:ext>
            </a:extLst>
          </p:cNvPr>
          <p:cNvSpPr>
            <a:spLocks noGrp="1"/>
          </p:cNvSpPr>
          <p:nvPr>
            <p:ph type="title"/>
          </p:nvPr>
        </p:nvSpPr>
        <p:spPr/>
        <p:txBody>
          <a:bodyPr/>
          <a:lstStyle/>
          <a:p>
            <a:r>
              <a:rPr lang="de-DE" dirty="0"/>
              <a:t>Privacy-</a:t>
            </a:r>
            <a:r>
              <a:rPr lang="de-DE" dirty="0" err="1"/>
              <a:t>by</a:t>
            </a:r>
            <a:r>
              <a:rPr lang="de-DE" dirty="0"/>
              <a:t>-default (Zusammenfassung)</a:t>
            </a:r>
          </a:p>
        </p:txBody>
      </p:sp>
      <p:pic>
        <p:nvPicPr>
          <p:cNvPr id="7" name="Inhaltsplatzhalter 6" descr="Ein Bild, das Text, Schrift, Screenshot, Grafiken enthält.&#10;&#10;KI-generierte Inhalte können fehlerhaft sein.">
            <a:extLst>
              <a:ext uri="{FF2B5EF4-FFF2-40B4-BE49-F238E27FC236}">
                <a16:creationId xmlns:a16="http://schemas.microsoft.com/office/drawing/2014/main" id="{09EB1846-F265-D2A4-6FC5-F9FB5494E2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6944" y="1567423"/>
            <a:ext cx="9038112" cy="4381431"/>
          </a:xfrm>
        </p:spPr>
      </p:pic>
      <p:sp>
        <p:nvSpPr>
          <p:cNvPr id="4" name="Fußzeilenplatzhalter 3">
            <a:extLst>
              <a:ext uri="{FF2B5EF4-FFF2-40B4-BE49-F238E27FC236}">
                <a16:creationId xmlns:a16="http://schemas.microsoft.com/office/drawing/2014/main" id="{27189104-B691-119C-0E4D-7BA624AF115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AA2978B2-76B2-2BF0-106A-B20ECDDD7E1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83656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CBD649-C3B4-223F-32BA-74B190F1024D}"/>
              </a:ext>
            </a:extLst>
          </p:cNvPr>
          <p:cNvSpPr>
            <a:spLocks noGrp="1"/>
          </p:cNvSpPr>
          <p:nvPr>
            <p:ph type="title"/>
          </p:nvPr>
        </p:nvSpPr>
        <p:spPr>
          <a:xfrm>
            <a:off x="838200" y="365126"/>
            <a:ext cx="10515600" cy="851492"/>
          </a:xfrm>
        </p:spPr>
        <p:txBody>
          <a:bodyPr/>
          <a:lstStyle/>
          <a:p>
            <a:r>
              <a:rPr lang="de-DE" dirty="0"/>
              <a:t>Unterschiede der Art. 24 und 32 DSGVO</a:t>
            </a:r>
          </a:p>
        </p:txBody>
      </p:sp>
      <p:graphicFrame>
        <p:nvGraphicFramePr>
          <p:cNvPr id="6" name="Inhaltsplatzhalter 5">
            <a:extLst>
              <a:ext uri="{FF2B5EF4-FFF2-40B4-BE49-F238E27FC236}">
                <a16:creationId xmlns:a16="http://schemas.microsoft.com/office/drawing/2014/main" id="{E300F63E-EC5A-EDF4-9840-A69CA0C833D8}"/>
              </a:ext>
            </a:extLst>
          </p:cNvPr>
          <p:cNvGraphicFramePr>
            <a:graphicFrameLocks noGrp="1"/>
          </p:cNvGraphicFramePr>
          <p:nvPr>
            <p:ph idx="1"/>
          </p:nvPr>
        </p:nvGraphicFramePr>
        <p:xfrm>
          <a:off x="838201" y="1216619"/>
          <a:ext cx="10515599" cy="5207619"/>
        </p:xfrm>
        <a:graphic>
          <a:graphicData uri="http://schemas.openxmlformats.org/drawingml/2006/table">
            <a:tbl>
              <a:tblPr firstRow="1" firstCol="1" bandRow="1"/>
              <a:tblGrid>
                <a:gridCol w="1804431">
                  <a:extLst>
                    <a:ext uri="{9D8B030D-6E8A-4147-A177-3AD203B41FA5}">
                      <a16:colId xmlns:a16="http://schemas.microsoft.com/office/drawing/2014/main" val="1423520076"/>
                    </a:ext>
                  </a:extLst>
                </a:gridCol>
                <a:gridCol w="4440874">
                  <a:extLst>
                    <a:ext uri="{9D8B030D-6E8A-4147-A177-3AD203B41FA5}">
                      <a16:colId xmlns:a16="http://schemas.microsoft.com/office/drawing/2014/main" val="1539144249"/>
                    </a:ext>
                  </a:extLst>
                </a:gridCol>
                <a:gridCol w="4270294">
                  <a:extLst>
                    <a:ext uri="{9D8B030D-6E8A-4147-A177-3AD203B41FA5}">
                      <a16:colId xmlns:a16="http://schemas.microsoft.com/office/drawing/2014/main" val="3293154521"/>
                    </a:ext>
                  </a:extLst>
                </a:gridCol>
              </a:tblGrid>
              <a:tr h="360283">
                <a:tc>
                  <a:txBody>
                    <a:bodyPr/>
                    <a:lstStyle/>
                    <a:p>
                      <a:pPr algn="ctr">
                        <a:lnSpc>
                          <a:spcPct val="107000"/>
                        </a:lnSpc>
                        <a:spcAft>
                          <a:spcPts val="800"/>
                        </a:spcAft>
                        <a:buNone/>
                      </a:pPr>
                      <a:r>
                        <a:rPr lang="de-DE" sz="2000" b="1" kern="100" dirty="0">
                          <a:effectLst/>
                          <a:latin typeface="+mn-lt"/>
                          <a:ea typeface="Aptos" panose="020B0004020202020204" pitchFamily="34" charset="0"/>
                          <a:cs typeface="Times New Roman" panose="02020603050405020304" pitchFamily="18" charset="0"/>
                        </a:rPr>
                        <a:t> </a:t>
                      </a:r>
                      <a:endParaRPr lang="de-DE" sz="2000" kern="100" dirty="0">
                        <a:effectLst/>
                        <a:latin typeface="+mn-lt"/>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07000"/>
                        </a:lnSpc>
                        <a:spcAft>
                          <a:spcPts val="800"/>
                        </a:spcAft>
                        <a:buNone/>
                      </a:pPr>
                      <a:r>
                        <a:rPr lang="de-DE" sz="2000" b="1" kern="100" dirty="0">
                          <a:solidFill>
                            <a:srgbClr val="000000"/>
                          </a:solidFill>
                          <a:effectLst/>
                          <a:latin typeface="+mn-lt"/>
                          <a:ea typeface="Aptos" panose="020B0004020202020204" pitchFamily="34" charset="0"/>
                          <a:cs typeface="Times New Roman" panose="02020603050405020304" pitchFamily="18" charset="0"/>
                        </a:rPr>
                        <a:t>Art. 24 DSGVO</a:t>
                      </a:r>
                      <a:endParaRPr lang="de-DE" sz="2000" kern="100" dirty="0">
                        <a:effectLst/>
                        <a:latin typeface="+mn-lt"/>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gn="ctr">
                        <a:lnSpc>
                          <a:spcPct val="107000"/>
                        </a:lnSpc>
                        <a:spcAft>
                          <a:spcPts val="800"/>
                        </a:spcAft>
                        <a:buNone/>
                      </a:pPr>
                      <a:r>
                        <a:rPr lang="de-DE" sz="2000" b="1" kern="100">
                          <a:solidFill>
                            <a:srgbClr val="000000"/>
                          </a:solidFill>
                          <a:effectLst/>
                          <a:latin typeface="+mn-lt"/>
                          <a:ea typeface="Aptos" panose="020B0004020202020204" pitchFamily="34" charset="0"/>
                          <a:cs typeface="Times New Roman" panose="02020603050405020304" pitchFamily="18" charset="0"/>
                        </a:rPr>
                        <a:t>Art. 32 DSGVO</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extLst>
                  <a:ext uri="{0D108BD9-81ED-4DB2-BD59-A6C34878D82A}">
                    <a16:rowId xmlns:a16="http://schemas.microsoft.com/office/drawing/2014/main" val="1876257693"/>
                  </a:ext>
                </a:extLst>
              </a:tr>
              <a:tr h="630967">
                <a:tc>
                  <a:txBody>
                    <a:bodyPr/>
                    <a:lstStyle/>
                    <a:p>
                      <a:pPr>
                        <a:lnSpc>
                          <a:spcPct val="107000"/>
                        </a:lnSpc>
                        <a:spcAft>
                          <a:spcPts val="800"/>
                        </a:spcAft>
                        <a:buNone/>
                      </a:pPr>
                      <a:r>
                        <a:rPr lang="de-DE" sz="2000" b="1" kern="100">
                          <a:solidFill>
                            <a:srgbClr val="000000"/>
                          </a:solidFill>
                          <a:effectLst/>
                          <a:latin typeface="+mn-lt"/>
                          <a:ea typeface="Aptos" panose="020B0004020202020204" pitchFamily="34" charset="0"/>
                          <a:cs typeface="Times New Roman" panose="02020603050405020304" pitchFamily="18" charset="0"/>
                        </a:rPr>
                        <a:t>WER?</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D"/>
                    </a:solidFill>
                  </a:tcPr>
                </a:tc>
                <a:tc>
                  <a:txBody>
                    <a:bodyPr/>
                    <a:lstStyle/>
                    <a:p>
                      <a:pPr>
                        <a:lnSpc>
                          <a:spcPct val="107000"/>
                        </a:lnSpc>
                        <a:spcAft>
                          <a:spcPts val="800"/>
                        </a:spcAft>
                        <a:buNone/>
                      </a:pPr>
                      <a:r>
                        <a:rPr lang="de-DE" sz="2000" b="1" kern="100">
                          <a:solidFill>
                            <a:srgbClr val="000000"/>
                          </a:solidFill>
                          <a:effectLst/>
                          <a:latin typeface="+mn-lt"/>
                          <a:ea typeface="Aptos" panose="020B0004020202020204" pitchFamily="34" charset="0"/>
                          <a:cs typeface="Times New Roman" panose="02020603050405020304" pitchFamily="18" charset="0"/>
                        </a:rPr>
                        <a:t>Verantwortlicher</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nSpc>
                          <a:spcPct val="107000"/>
                        </a:lnSpc>
                        <a:spcAft>
                          <a:spcPts val="800"/>
                        </a:spcAft>
                        <a:buNone/>
                      </a:pPr>
                      <a:r>
                        <a:rPr lang="de-DE" sz="2000" b="1" kern="100">
                          <a:solidFill>
                            <a:srgbClr val="000000"/>
                          </a:solidFill>
                          <a:effectLst/>
                          <a:latin typeface="+mn-lt"/>
                          <a:ea typeface="Aptos" panose="020B0004020202020204" pitchFamily="34" charset="0"/>
                          <a:cs typeface="Times New Roman" panose="02020603050405020304" pitchFamily="18" charset="0"/>
                        </a:rPr>
                        <a:t>Verantwortlicher</a:t>
                      </a:r>
                      <a:r>
                        <a:rPr lang="de-DE" sz="2000" kern="100">
                          <a:solidFill>
                            <a:srgbClr val="000000"/>
                          </a:solidFill>
                          <a:effectLst/>
                          <a:latin typeface="+mn-lt"/>
                          <a:ea typeface="Aptos" panose="020B0004020202020204" pitchFamily="34" charset="0"/>
                          <a:cs typeface="Times New Roman" panose="02020603050405020304" pitchFamily="18" charset="0"/>
                        </a:rPr>
                        <a:t> und </a:t>
                      </a:r>
                      <a:r>
                        <a:rPr lang="de-DE" sz="2000" b="1" kern="100">
                          <a:solidFill>
                            <a:srgbClr val="000000"/>
                          </a:solidFill>
                          <a:effectLst/>
                          <a:latin typeface="+mn-lt"/>
                          <a:ea typeface="Aptos" panose="020B0004020202020204" pitchFamily="34" charset="0"/>
                          <a:cs typeface="Times New Roman" panose="02020603050405020304" pitchFamily="18" charset="0"/>
                        </a:rPr>
                        <a:t>Auftragsverarbeiter</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extLst>
                  <a:ext uri="{0D108BD9-81ED-4DB2-BD59-A6C34878D82A}">
                    <a16:rowId xmlns:a16="http://schemas.microsoft.com/office/drawing/2014/main" val="3018685370"/>
                  </a:ext>
                </a:extLst>
              </a:tr>
              <a:tr h="308740">
                <a:tc>
                  <a:txBody>
                    <a:bodyPr/>
                    <a:lstStyle/>
                    <a:p>
                      <a:pPr>
                        <a:lnSpc>
                          <a:spcPct val="107000"/>
                        </a:lnSpc>
                        <a:spcAft>
                          <a:spcPts val="800"/>
                        </a:spcAft>
                        <a:buNone/>
                      </a:pPr>
                      <a:r>
                        <a:rPr lang="de-DE" sz="2000" b="1" kern="100">
                          <a:solidFill>
                            <a:srgbClr val="000000"/>
                          </a:solidFill>
                          <a:effectLst/>
                          <a:latin typeface="+mn-lt"/>
                          <a:ea typeface="Aptos" panose="020B0004020202020204" pitchFamily="34" charset="0"/>
                          <a:cs typeface="Times New Roman" panose="02020603050405020304" pitchFamily="18" charset="0"/>
                        </a:rPr>
                        <a:t>WAS?</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D"/>
                    </a:solidFill>
                  </a:tcPr>
                </a:tc>
                <a:tc>
                  <a:txBody>
                    <a:bodyPr/>
                    <a:lstStyle/>
                    <a:p>
                      <a:pPr>
                        <a:lnSpc>
                          <a:spcPct val="107000"/>
                        </a:lnSpc>
                        <a:spcAft>
                          <a:spcPts val="800"/>
                        </a:spcAft>
                        <a:buNone/>
                      </a:pPr>
                      <a:r>
                        <a:rPr lang="de-DE" sz="2000" kern="100">
                          <a:solidFill>
                            <a:srgbClr val="000000"/>
                          </a:solidFill>
                          <a:effectLst/>
                          <a:latin typeface="+mn-lt"/>
                          <a:ea typeface="Aptos" panose="020B0004020202020204" pitchFamily="34" charset="0"/>
                          <a:cs typeface="Times New Roman" panose="02020603050405020304" pitchFamily="18" charset="0"/>
                        </a:rPr>
                        <a:t>Ergreifen erforderlicher </a:t>
                      </a:r>
                      <a:r>
                        <a:rPr lang="de-DE" sz="2000" b="1" kern="100">
                          <a:solidFill>
                            <a:srgbClr val="000000"/>
                          </a:solidFill>
                          <a:effectLst/>
                          <a:latin typeface="+mn-lt"/>
                          <a:ea typeface="Aptos" panose="020B0004020202020204" pitchFamily="34" charset="0"/>
                          <a:cs typeface="Times New Roman" panose="02020603050405020304" pitchFamily="18" charset="0"/>
                        </a:rPr>
                        <a:t>TOMs</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nSpc>
                          <a:spcPct val="107000"/>
                        </a:lnSpc>
                        <a:spcAft>
                          <a:spcPts val="800"/>
                        </a:spcAft>
                        <a:buNone/>
                      </a:pPr>
                      <a:r>
                        <a:rPr lang="de-DE" sz="2000" kern="100">
                          <a:solidFill>
                            <a:srgbClr val="000000"/>
                          </a:solidFill>
                          <a:effectLst/>
                          <a:latin typeface="+mn-lt"/>
                          <a:ea typeface="Aptos" panose="020B0004020202020204" pitchFamily="34" charset="0"/>
                          <a:cs typeface="Times New Roman" panose="02020603050405020304" pitchFamily="18" charset="0"/>
                        </a:rPr>
                        <a:t>Ergreifen erforderlicher </a:t>
                      </a:r>
                      <a:r>
                        <a:rPr lang="de-DE" sz="2000" b="1" kern="100">
                          <a:solidFill>
                            <a:srgbClr val="000000"/>
                          </a:solidFill>
                          <a:effectLst/>
                          <a:latin typeface="+mn-lt"/>
                          <a:ea typeface="Aptos" panose="020B0004020202020204" pitchFamily="34" charset="0"/>
                          <a:cs typeface="Times New Roman" panose="02020603050405020304" pitchFamily="18" charset="0"/>
                        </a:rPr>
                        <a:t>TOMs</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extLst>
                  <a:ext uri="{0D108BD9-81ED-4DB2-BD59-A6C34878D82A}">
                    <a16:rowId xmlns:a16="http://schemas.microsoft.com/office/drawing/2014/main" val="4090129582"/>
                  </a:ext>
                </a:extLst>
              </a:tr>
              <a:tr h="2564323">
                <a:tc>
                  <a:txBody>
                    <a:bodyPr/>
                    <a:lstStyle/>
                    <a:p>
                      <a:pPr>
                        <a:lnSpc>
                          <a:spcPct val="107000"/>
                        </a:lnSpc>
                        <a:spcAft>
                          <a:spcPts val="800"/>
                        </a:spcAft>
                        <a:buNone/>
                      </a:pPr>
                      <a:r>
                        <a:rPr lang="de-DE" sz="2000" b="1" kern="100">
                          <a:solidFill>
                            <a:srgbClr val="000000"/>
                          </a:solidFill>
                          <a:effectLst/>
                          <a:latin typeface="+mn-lt"/>
                          <a:ea typeface="Aptos" panose="020B0004020202020204" pitchFamily="34" charset="0"/>
                          <a:cs typeface="Times New Roman" panose="02020603050405020304" pitchFamily="18" charset="0"/>
                        </a:rPr>
                        <a:t>Rahmen-</a:t>
                      </a:r>
                      <a:endParaRPr lang="de-DE" sz="2000" kern="100">
                        <a:effectLst/>
                        <a:latin typeface="+mn-lt"/>
                        <a:ea typeface="Aptos" panose="020B0004020202020204" pitchFamily="34" charset="0"/>
                        <a:cs typeface="Times New Roman" panose="02020603050405020304" pitchFamily="18" charset="0"/>
                      </a:endParaRPr>
                    </a:p>
                    <a:p>
                      <a:pPr>
                        <a:lnSpc>
                          <a:spcPct val="107000"/>
                        </a:lnSpc>
                        <a:spcAft>
                          <a:spcPts val="800"/>
                        </a:spcAft>
                        <a:buNone/>
                      </a:pPr>
                      <a:r>
                        <a:rPr lang="de-DE" sz="2000" b="1" kern="100">
                          <a:solidFill>
                            <a:srgbClr val="000000"/>
                          </a:solidFill>
                          <a:effectLst/>
                          <a:latin typeface="+mn-lt"/>
                          <a:ea typeface="Aptos" panose="020B0004020202020204" pitchFamily="34" charset="0"/>
                          <a:cs typeface="Times New Roman" panose="02020603050405020304" pitchFamily="18" charset="0"/>
                        </a:rPr>
                        <a:t>bedingungen</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D"/>
                    </a:solidFill>
                  </a:tcPr>
                </a:tc>
                <a:tc>
                  <a:txBody>
                    <a:bodyPr/>
                    <a:lstStyle/>
                    <a:p>
                      <a:pPr>
                        <a:lnSpc>
                          <a:spcPct val="107000"/>
                        </a:lnSpc>
                        <a:spcAft>
                          <a:spcPts val="800"/>
                        </a:spcAft>
                        <a:buNone/>
                      </a:pPr>
                      <a:r>
                        <a:rPr lang="de-DE" sz="2000" kern="100">
                          <a:solidFill>
                            <a:srgbClr val="000000"/>
                          </a:solidFill>
                          <a:effectLst/>
                          <a:latin typeface="+mn-lt"/>
                          <a:ea typeface="Aptos" panose="020B0004020202020204" pitchFamily="34" charset="0"/>
                          <a:cs typeface="Times New Roman" panose="02020603050405020304" pitchFamily="18" charset="0"/>
                        </a:rPr>
                        <a:t>Unter Berücksichtigung der </a:t>
                      </a:r>
                      <a:r>
                        <a:rPr lang="de-DE" sz="2000" b="1" kern="100">
                          <a:solidFill>
                            <a:srgbClr val="000000"/>
                          </a:solidFill>
                          <a:effectLst/>
                          <a:latin typeface="+mn-lt"/>
                          <a:ea typeface="Aptos" panose="020B0004020202020204" pitchFamily="34" charset="0"/>
                          <a:cs typeface="Times New Roman" panose="02020603050405020304" pitchFamily="18" charset="0"/>
                        </a:rPr>
                        <a:t>Art</a:t>
                      </a:r>
                      <a:r>
                        <a:rPr lang="de-DE" sz="2000" kern="100">
                          <a:solidFill>
                            <a:srgbClr val="000000"/>
                          </a:solidFill>
                          <a:effectLst/>
                          <a:latin typeface="+mn-lt"/>
                          <a:ea typeface="Aptos" panose="020B0004020202020204" pitchFamily="34" charset="0"/>
                          <a:cs typeface="Times New Roman" panose="02020603050405020304" pitchFamily="18" charset="0"/>
                        </a:rPr>
                        <a:t>, des </a:t>
                      </a:r>
                      <a:r>
                        <a:rPr lang="de-DE" sz="2000" b="1" kern="100">
                          <a:solidFill>
                            <a:srgbClr val="000000"/>
                          </a:solidFill>
                          <a:effectLst/>
                          <a:latin typeface="+mn-lt"/>
                          <a:ea typeface="Aptos" panose="020B0004020202020204" pitchFamily="34" charset="0"/>
                          <a:cs typeface="Times New Roman" panose="02020603050405020304" pitchFamily="18" charset="0"/>
                        </a:rPr>
                        <a:t>Umfangs</a:t>
                      </a:r>
                      <a:r>
                        <a:rPr lang="de-DE" sz="2000" kern="100">
                          <a:solidFill>
                            <a:srgbClr val="000000"/>
                          </a:solidFill>
                          <a:effectLst/>
                          <a:latin typeface="+mn-lt"/>
                          <a:ea typeface="Aptos" panose="020B0004020202020204" pitchFamily="34" charset="0"/>
                          <a:cs typeface="Times New Roman" panose="02020603050405020304" pitchFamily="18" charset="0"/>
                        </a:rPr>
                        <a:t>, der </a:t>
                      </a:r>
                      <a:r>
                        <a:rPr lang="de-DE" sz="2000" b="1" kern="100">
                          <a:solidFill>
                            <a:srgbClr val="000000"/>
                          </a:solidFill>
                          <a:effectLst/>
                          <a:latin typeface="+mn-lt"/>
                          <a:ea typeface="Aptos" panose="020B0004020202020204" pitchFamily="34" charset="0"/>
                          <a:cs typeface="Times New Roman" panose="02020603050405020304" pitchFamily="18" charset="0"/>
                        </a:rPr>
                        <a:t>Umstände</a:t>
                      </a:r>
                      <a:r>
                        <a:rPr lang="de-DE" sz="2000" kern="100">
                          <a:solidFill>
                            <a:srgbClr val="000000"/>
                          </a:solidFill>
                          <a:effectLst/>
                          <a:latin typeface="+mn-lt"/>
                          <a:ea typeface="Aptos" panose="020B0004020202020204" pitchFamily="34" charset="0"/>
                          <a:cs typeface="Times New Roman" panose="02020603050405020304" pitchFamily="18" charset="0"/>
                        </a:rPr>
                        <a:t> und der </a:t>
                      </a:r>
                      <a:r>
                        <a:rPr lang="de-DE" sz="2000" b="1" kern="100">
                          <a:solidFill>
                            <a:srgbClr val="000000"/>
                          </a:solidFill>
                          <a:effectLst/>
                          <a:latin typeface="+mn-lt"/>
                          <a:ea typeface="Aptos" panose="020B0004020202020204" pitchFamily="34" charset="0"/>
                          <a:cs typeface="Times New Roman" panose="02020603050405020304" pitchFamily="18" charset="0"/>
                        </a:rPr>
                        <a:t>Zwecke</a:t>
                      </a:r>
                      <a:r>
                        <a:rPr lang="de-DE" sz="2000" kern="100">
                          <a:solidFill>
                            <a:srgbClr val="000000"/>
                          </a:solidFill>
                          <a:effectLst/>
                          <a:latin typeface="+mn-lt"/>
                          <a:ea typeface="Aptos" panose="020B0004020202020204" pitchFamily="34" charset="0"/>
                          <a:cs typeface="Times New Roman" panose="02020603050405020304" pitchFamily="18" charset="0"/>
                        </a:rPr>
                        <a:t> der Verarbeitung, sowie der unterschiedlichen </a:t>
                      </a:r>
                      <a:r>
                        <a:rPr lang="de-DE" sz="2000" b="1" kern="100">
                          <a:solidFill>
                            <a:srgbClr val="000000"/>
                          </a:solidFill>
                          <a:effectLst/>
                          <a:latin typeface="+mn-lt"/>
                          <a:ea typeface="Aptos" panose="020B0004020202020204" pitchFamily="34" charset="0"/>
                          <a:cs typeface="Times New Roman" panose="02020603050405020304" pitchFamily="18" charset="0"/>
                        </a:rPr>
                        <a:t>Eintrittswahrscheinlichkeit</a:t>
                      </a:r>
                      <a:r>
                        <a:rPr lang="de-DE" sz="2000" kern="100">
                          <a:solidFill>
                            <a:srgbClr val="000000"/>
                          </a:solidFill>
                          <a:effectLst/>
                          <a:latin typeface="+mn-lt"/>
                          <a:ea typeface="Aptos" panose="020B0004020202020204" pitchFamily="34" charset="0"/>
                          <a:cs typeface="Times New Roman" panose="02020603050405020304" pitchFamily="18" charset="0"/>
                        </a:rPr>
                        <a:t> und </a:t>
                      </a:r>
                      <a:r>
                        <a:rPr lang="de-DE" sz="2000" b="1" kern="100">
                          <a:solidFill>
                            <a:srgbClr val="000000"/>
                          </a:solidFill>
                          <a:effectLst/>
                          <a:latin typeface="+mn-lt"/>
                          <a:ea typeface="Aptos" panose="020B0004020202020204" pitchFamily="34" charset="0"/>
                          <a:cs typeface="Times New Roman" panose="02020603050405020304" pitchFamily="18" charset="0"/>
                        </a:rPr>
                        <a:t>Schwere</a:t>
                      </a:r>
                      <a:r>
                        <a:rPr lang="de-DE" sz="2000" kern="100">
                          <a:solidFill>
                            <a:srgbClr val="000000"/>
                          </a:solidFill>
                          <a:effectLst/>
                          <a:latin typeface="+mn-lt"/>
                          <a:ea typeface="Aptos" panose="020B0004020202020204" pitchFamily="34" charset="0"/>
                          <a:cs typeface="Times New Roman" panose="02020603050405020304" pitchFamily="18" charset="0"/>
                        </a:rPr>
                        <a:t> der Risiken</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nSpc>
                          <a:spcPct val="107000"/>
                        </a:lnSpc>
                        <a:spcAft>
                          <a:spcPts val="800"/>
                        </a:spcAft>
                        <a:buNone/>
                      </a:pPr>
                      <a:r>
                        <a:rPr lang="de-DE" sz="2000" kern="100">
                          <a:solidFill>
                            <a:srgbClr val="000000"/>
                          </a:solidFill>
                          <a:effectLst/>
                          <a:latin typeface="+mn-lt"/>
                          <a:ea typeface="Aptos" panose="020B0004020202020204" pitchFamily="34" charset="0"/>
                          <a:cs typeface="Times New Roman" panose="02020603050405020304" pitchFamily="18" charset="0"/>
                        </a:rPr>
                        <a:t>Unter Berücksichtigung des </a:t>
                      </a:r>
                      <a:r>
                        <a:rPr lang="de-DE" sz="2000" b="1" kern="100">
                          <a:solidFill>
                            <a:srgbClr val="000000"/>
                          </a:solidFill>
                          <a:effectLst/>
                          <a:latin typeface="+mn-lt"/>
                          <a:ea typeface="Aptos" panose="020B0004020202020204" pitchFamily="34" charset="0"/>
                          <a:cs typeface="Times New Roman" panose="02020603050405020304" pitchFamily="18" charset="0"/>
                        </a:rPr>
                        <a:t>Stands der Technik</a:t>
                      </a:r>
                      <a:r>
                        <a:rPr lang="de-DE" sz="2000" kern="100">
                          <a:solidFill>
                            <a:srgbClr val="000000"/>
                          </a:solidFill>
                          <a:effectLst/>
                          <a:latin typeface="+mn-lt"/>
                          <a:ea typeface="Aptos" panose="020B0004020202020204" pitchFamily="34" charset="0"/>
                          <a:cs typeface="Times New Roman" panose="02020603050405020304" pitchFamily="18" charset="0"/>
                        </a:rPr>
                        <a:t>, der </a:t>
                      </a:r>
                      <a:r>
                        <a:rPr lang="de-DE" sz="2000" b="1" kern="100">
                          <a:solidFill>
                            <a:srgbClr val="000000"/>
                          </a:solidFill>
                          <a:effectLst/>
                          <a:latin typeface="+mn-lt"/>
                          <a:ea typeface="Aptos" panose="020B0004020202020204" pitchFamily="34" charset="0"/>
                          <a:cs typeface="Times New Roman" panose="02020603050405020304" pitchFamily="18" charset="0"/>
                        </a:rPr>
                        <a:t>Implementierungskosten</a:t>
                      </a:r>
                      <a:r>
                        <a:rPr lang="de-DE" sz="2000" kern="100">
                          <a:solidFill>
                            <a:srgbClr val="000000"/>
                          </a:solidFill>
                          <a:effectLst/>
                          <a:latin typeface="+mn-lt"/>
                          <a:ea typeface="Aptos" panose="020B0004020202020204" pitchFamily="34" charset="0"/>
                          <a:cs typeface="Times New Roman" panose="02020603050405020304" pitchFamily="18" charset="0"/>
                        </a:rPr>
                        <a:t> und der </a:t>
                      </a:r>
                      <a:r>
                        <a:rPr lang="de-DE" sz="2000" b="1" kern="100">
                          <a:solidFill>
                            <a:srgbClr val="000000"/>
                          </a:solidFill>
                          <a:effectLst/>
                          <a:latin typeface="+mn-lt"/>
                          <a:ea typeface="Aptos" panose="020B0004020202020204" pitchFamily="34" charset="0"/>
                          <a:cs typeface="Times New Roman" panose="02020603050405020304" pitchFamily="18" charset="0"/>
                        </a:rPr>
                        <a:t>Art</a:t>
                      </a:r>
                      <a:r>
                        <a:rPr lang="de-DE" sz="2000" kern="100">
                          <a:solidFill>
                            <a:srgbClr val="000000"/>
                          </a:solidFill>
                          <a:effectLst/>
                          <a:latin typeface="+mn-lt"/>
                          <a:ea typeface="Aptos" panose="020B0004020202020204" pitchFamily="34" charset="0"/>
                          <a:cs typeface="Times New Roman" panose="02020603050405020304" pitchFamily="18" charset="0"/>
                        </a:rPr>
                        <a:t>, des </a:t>
                      </a:r>
                      <a:r>
                        <a:rPr lang="de-DE" sz="2000" b="1" kern="100">
                          <a:solidFill>
                            <a:srgbClr val="000000"/>
                          </a:solidFill>
                          <a:effectLst/>
                          <a:latin typeface="+mn-lt"/>
                          <a:ea typeface="Aptos" panose="020B0004020202020204" pitchFamily="34" charset="0"/>
                          <a:cs typeface="Times New Roman" panose="02020603050405020304" pitchFamily="18" charset="0"/>
                        </a:rPr>
                        <a:t>Umfangs</a:t>
                      </a:r>
                      <a:r>
                        <a:rPr lang="de-DE" sz="2000" kern="100">
                          <a:solidFill>
                            <a:srgbClr val="000000"/>
                          </a:solidFill>
                          <a:effectLst/>
                          <a:latin typeface="+mn-lt"/>
                          <a:ea typeface="Aptos" panose="020B0004020202020204" pitchFamily="34" charset="0"/>
                          <a:cs typeface="Times New Roman" panose="02020603050405020304" pitchFamily="18" charset="0"/>
                        </a:rPr>
                        <a:t>, der </a:t>
                      </a:r>
                      <a:r>
                        <a:rPr lang="de-DE" sz="2000" b="1" kern="100">
                          <a:solidFill>
                            <a:srgbClr val="000000"/>
                          </a:solidFill>
                          <a:effectLst/>
                          <a:latin typeface="+mn-lt"/>
                          <a:ea typeface="Aptos" panose="020B0004020202020204" pitchFamily="34" charset="0"/>
                          <a:cs typeface="Times New Roman" panose="02020603050405020304" pitchFamily="18" charset="0"/>
                        </a:rPr>
                        <a:t>Umstände</a:t>
                      </a:r>
                      <a:r>
                        <a:rPr lang="de-DE" sz="2000" kern="100">
                          <a:solidFill>
                            <a:srgbClr val="000000"/>
                          </a:solidFill>
                          <a:effectLst/>
                          <a:latin typeface="+mn-lt"/>
                          <a:ea typeface="Aptos" panose="020B0004020202020204" pitchFamily="34" charset="0"/>
                          <a:cs typeface="Times New Roman" panose="02020603050405020304" pitchFamily="18" charset="0"/>
                        </a:rPr>
                        <a:t> und der </a:t>
                      </a:r>
                      <a:r>
                        <a:rPr lang="de-DE" sz="2000" b="1" kern="100">
                          <a:solidFill>
                            <a:srgbClr val="000000"/>
                          </a:solidFill>
                          <a:effectLst/>
                          <a:latin typeface="+mn-lt"/>
                          <a:ea typeface="Aptos" panose="020B0004020202020204" pitchFamily="34" charset="0"/>
                          <a:cs typeface="Times New Roman" panose="02020603050405020304" pitchFamily="18" charset="0"/>
                        </a:rPr>
                        <a:t>Zwecke</a:t>
                      </a:r>
                      <a:r>
                        <a:rPr lang="de-DE" sz="2000" kern="100">
                          <a:solidFill>
                            <a:srgbClr val="000000"/>
                          </a:solidFill>
                          <a:effectLst/>
                          <a:latin typeface="+mn-lt"/>
                          <a:ea typeface="Aptos" panose="020B0004020202020204" pitchFamily="34" charset="0"/>
                          <a:cs typeface="Times New Roman" panose="02020603050405020304" pitchFamily="18" charset="0"/>
                        </a:rPr>
                        <a:t> der Verarbeitung, sowie der unterschiedlichen </a:t>
                      </a:r>
                      <a:r>
                        <a:rPr lang="de-DE" sz="2000" b="1" kern="100">
                          <a:solidFill>
                            <a:srgbClr val="000000"/>
                          </a:solidFill>
                          <a:effectLst/>
                          <a:latin typeface="+mn-lt"/>
                          <a:ea typeface="Aptos" panose="020B0004020202020204" pitchFamily="34" charset="0"/>
                          <a:cs typeface="Times New Roman" panose="02020603050405020304" pitchFamily="18" charset="0"/>
                        </a:rPr>
                        <a:t>Eintrittswahrscheinlichkeit</a:t>
                      </a:r>
                      <a:r>
                        <a:rPr lang="de-DE" sz="2000" kern="100">
                          <a:solidFill>
                            <a:srgbClr val="000000"/>
                          </a:solidFill>
                          <a:effectLst/>
                          <a:latin typeface="+mn-lt"/>
                          <a:ea typeface="Aptos" panose="020B0004020202020204" pitchFamily="34" charset="0"/>
                          <a:cs typeface="Times New Roman" panose="02020603050405020304" pitchFamily="18" charset="0"/>
                        </a:rPr>
                        <a:t> und </a:t>
                      </a:r>
                      <a:r>
                        <a:rPr lang="de-DE" sz="2000" b="1" kern="100">
                          <a:solidFill>
                            <a:srgbClr val="000000"/>
                          </a:solidFill>
                          <a:effectLst/>
                          <a:latin typeface="+mn-lt"/>
                          <a:ea typeface="Aptos" panose="020B0004020202020204" pitchFamily="34" charset="0"/>
                          <a:cs typeface="Times New Roman" panose="02020603050405020304" pitchFamily="18" charset="0"/>
                        </a:rPr>
                        <a:t>Schwere</a:t>
                      </a:r>
                      <a:r>
                        <a:rPr lang="de-DE" sz="2000" kern="100">
                          <a:solidFill>
                            <a:srgbClr val="000000"/>
                          </a:solidFill>
                          <a:effectLst/>
                          <a:latin typeface="+mn-lt"/>
                          <a:ea typeface="Aptos" panose="020B0004020202020204" pitchFamily="34" charset="0"/>
                          <a:cs typeface="Times New Roman" panose="02020603050405020304" pitchFamily="18" charset="0"/>
                        </a:rPr>
                        <a:t> der Risiken</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extLst>
                  <a:ext uri="{0D108BD9-81ED-4DB2-BD59-A6C34878D82A}">
                    <a16:rowId xmlns:a16="http://schemas.microsoft.com/office/drawing/2014/main" val="2723425603"/>
                  </a:ext>
                </a:extLst>
              </a:tr>
              <a:tr h="1275418">
                <a:tc>
                  <a:txBody>
                    <a:bodyPr/>
                    <a:lstStyle/>
                    <a:p>
                      <a:pPr>
                        <a:lnSpc>
                          <a:spcPct val="107000"/>
                        </a:lnSpc>
                        <a:spcAft>
                          <a:spcPts val="800"/>
                        </a:spcAft>
                        <a:buNone/>
                      </a:pPr>
                      <a:r>
                        <a:rPr lang="de-DE" sz="2000" b="1" kern="100">
                          <a:solidFill>
                            <a:srgbClr val="000000"/>
                          </a:solidFill>
                          <a:effectLst/>
                          <a:latin typeface="+mn-lt"/>
                          <a:ea typeface="Aptos" panose="020B0004020202020204" pitchFamily="34" charset="0"/>
                          <a:cs typeface="Times New Roman" panose="02020603050405020304" pitchFamily="18" charset="0"/>
                        </a:rPr>
                        <a:t>WOZU?</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D"/>
                    </a:solidFill>
                  </a:tcPr>
                </a:tc>
                <a:tc>
                  <a:txBody>
                    <a:bodyPr/>
                    <a:lstStyle/>
                    <a:p>
                      <a:pPr>
                        <a:lnSpc>
                          <a:spcPct val="107000"/>
                        </a:lnSpc>
                        <a:spcAft>
                          <a:spcPts val="800"/>
                        </a:spcAft>
                        <a:buNone/>
                      </a:pPr>
                      <a:r>
                        <a:rPr lang="de-DE" sz="2000" kern="100">
                          <a:solidFill>
                            <a:srgbClr val="000000"/>
                          </a:solidFill>
                          <a:effectLst/>
                          <a:latin typeface="+mn-lt"/>
                          <a:ea typeface="Aptos" panose="020B0004020202020204" pitchFamily="34" charset="0"/>
                          <a:cs typeface="Times New Roman" panose="02020603050405020304" pitchFamily="18" charset="0"/>
                        </a:rPr>
                        <a:t>Um sicherzustellen und den </a:t>
                      </a:r>
                      <a:r>
                        <a:rPr lang="de-DE" sz="2000" b="1" kern="100">
                          <a:solidFill>
                            <a:srgbClr val="000000"/>
                          </a:solidFill>
                          <a:effectLst/>
                          <a:latin typeface="+mn-lt"/>
                          <a:ea typeface="Aptos" panose="020B0004020202020204" pitchFamily="34" charset="0"/>
                          <a:cs typeface="Times New Roman" panose="02020603050405020304" pitchFamily="18" charset="0"/>
                        </a:rPr>
                        <a:t>Nachweis</a:t>
                      </a:r>
                      <a:r>
                        <a:rPr lang="de-DE" sz="2000" kern="100">
                          <a:solidFill>
                            <a:srgbClr val="000000"/>
                          </a:solidFill>
                          <a:effectLst/>
                          <a:latin typeface="+mn-lt"/>
                          <a:ea typeface="Aptos" panose="020B0004020202020204" pitchFamily="34" charset="0"/>
                          <a:cs typeface="Times New Roman" panose="02020603050405020304" pitchFamily="18" charset="0"/>
                        </a:rPr>
                        <a:t> dafür erbringen zu können, </a:t>
                      </a:r>
                      <a:r>
                        <a:rPr lang="de-DE" sz="2000" b="1" kern="100">
                          <a:solidFill>
                            <a:srgbClr val="000000"/>
                          </a:solidFill>
                          <a:effectLst/>
                          <a:latin typeface="+mn-lt"/>
                          <a:ea typeface="Aptos" panose="020B0004020202020204" pitchFamily="34" charset="0"/>
                          <a:cs typeface="Times New Roman" panose="02020603050405020304" pitchFamily="18" charset="0"/>
                        </a:rPr>
                        <a:t>dass</a:t>
                      </a:r>
                      <a:r>
                        <a:rPr lang="de-DE" sz="2000" kern="100">
                          <a:solidFill>
                            <a:srgbClr val="000000"/>
                          </a:solidFill>
                          <a:effectLst/>
                          <a:latin typeface="+mn-lt"/>
                          <a:ea typeface="Aptos" panose="020B0004020202020204" pitchFamily="34" charset="0"/>
                          <a:cs typeface="Times New Roman" panose="02020603050405020304" pitchFamily="18" charset="0"/>
                        </a:rPr>
                        <a:t> </a:t>
                      </a:r>
                      <a:r>
                        <a:rPr lang="de-DE" sz="2000" b="1" kern="100">
                          <a:solidFill>
                            <a:srgbClr val="000000"/>
                          </a:solidFill>
                          <a:effectLst/>
                          <a:latin typeface="+mn-lt"/>
                          <a:ea typeface="Aptos" panose="020B0004020202020204" pitchFamily="34" charset="0"/>
                          <a:cs typeface="Times New Roman" panose="02020603050405020304" pitchFamily="18" charset="0"/>
                        </a:rPr>
                        <a:t>die Verarbeitung gem. dieser Verordnung erfolgt.</a:t>
                      </a:r>
                      <a:endParaRPr lang="de-DE" sz="2000" kern="10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7"/>
                    </a:solidFill>
                  </a:tcPr>
                </a:tc>
                <a:tc>
                  <a:txBody>
                    <a:bodyPr/>
                    <a:lstStyle/>
                    <a:p>
                      <a:pPr>
                        <a:lnSpc>
                          <a:spcPct val="107000"/>
                        </a:lnSpc>
                        <a:spcAft>
                          <a:spcPts val="800"/>
                        </a:spcAft>
                        <a:buNone/>
                      </a:pPr>
                      <a:r>
                        <a:rPr lang="de-DE" sz="2000" kern="100" dirty="0">
                          <a:solidFill>
                            <a:srgbClr val="000000"/>
                          </a:solidFill>
                          <a:effectLst/>
                          <a:latin typeface="+mn-lt"/>
                          <a:ea typeface="Aptos" panose="020B0004020202020204" pitchFamily="34" charset="0"/>
                          <a:cs typeface="Times New Roman" panose="02020603050405020304" pitchFamily="18" charset="0"/>
                        </a:rPr>
                        <a:t>Um ein </a:t>
                      </a:r>
                      <a:r>
                        <a:rPr lang="de-DE" sz="2000" b="1" kern="100" dirty="0">
                          <a:solidFill>
                            <a:srgbClr val="000000"/>
                          </a:solidFill>
                          <a:effectLst/>
                          <a:latin typeface="+mn-lt"/>
                          <a:ea typeface="Aptos" panose="020B0004020202020204" pitchFamily="34" charset="0"/>
                          <a:cs typeface="Times New Roman" panose="02020603050405020304" pitchFamily="18" charset="0"/>
                        </a:rPr>
                        <a:t>dem</a:t>
                      </a:r>
                      <a:r>
                        <a:rPr lang="de-DE" sz="2000" kern="100" dirty="0">
                          <a:solidFill>
                            <a:srgbClr val="000000"/>
                          </a:solidFill>
                          <a:effectLst/>
                          <a:latin typeface="+mn-lt"/>
                          <a:ea typeface="Aptos" panose="020B0004020202020204" pitchFamily="34" charset="0"/>
                          <a:cs typeface="Times New Roman" panose="02020603050405020304" pitchFamily="18" charset="0"/>
                        </a:rPr>
                        <a:t> </a:t>
                      </a:r>
                      <a:r>
                        <a:rPr lang="de-DE" sz="2000" b="1" kern="100" dirty="0">
                          <a:solidFill>
                            <a:srgbClr val="000000"/>
                          </a:solidFill>
                          <a:effectLst/>
                          <a:latin typeface="+mn-lt"/>
                          <a:ea typeface="Aptos" panose="020B0004020202020204" pitchFamily="34" charset="0"/>
                          <a:cs typeface="Times New Roman" panose="02020603050405020304" pitchFamily="18" charset="0"/>
                        </a:rPr>
                        <a:t>Risiko</a:t>
                      </a:r>
                      <a:r>
                        <a:rPr lang="de-DE" sz="2000" kern="100" dirty="0">
                          <a:solidFill>
                            <a:srgbClr val="000000"/>
                          </a:solidFill>
                          <a:effectLst/>
                          <a:latin typeface="+mn-lt"/>
                          <a:ea typeface="Aptos" panose="020B0004020202020204" pitchFamily="34" charset="0"/>
                          <a:cs typeface="Times New Roman" panose="02020603050405020304" pitchFamily="18" charset="0"/>
                        </a:rPr>
                        <a:t> </a:t>
                      </a:r>
                      <a:r>
                        <a:rPr lang="de-DE" sz="2000" b="1" kern="100" dirty="0">
                          <a:solidFill>
                            <a:srgbClr val="000000"/>
                          </a:solidFill>
                          <a:effectLst/>
                          <a:latin typeface="+mn-lt"/>
                          <a:ea typeface="Aptos" panose="020B0004020202020204" pitchFamily="34" charset="0"/>
                          <a:cs typeface="Times New Roman" panose="02020603050405020304" pitchFamily="18" charset="0"/>
                        </a:rPr>
                        <a:t>angemessenes</a:t>
                      </a:r>
                      <a:r>
                        <a:rPr lang="de-DE" sz="2000" kern="100" dirty="0">
                          <a:solidFill>
                            <a:srgbClr val="000000"/>
                          </a:solidFill>
                          <a:effectLst/>
                          <a:latin typeface="+mn-lt"/>
                          <a:ea typeface="Aptos" panose="020B0004020202020204" pitchFamily="34" charset="0"/>
                          <a:cs typeface="Times New Roman" panose="02020603050405020304" pitchFamily="18" charset="0"/>
                        </a:rPr>
                        <a:t> </a:t>
                      </a:r>
                      <a:r>
                        <a:rPr lang="de-DE" sz="2000" b="1" kern="100" dirty="0">
                          <a:solidFill>
                            <a:srgbClr val="000000"/>
                          </a:solidFill>
                          <a:effectLst/>
                          <a:latin typeface="+mn-lt"/>
                          <a:ea typeface="Aptos" panose="020B0004020202020204" pitchFamily="34" charset="0"/>
                          <a:cs typeface="Times New Roman" panose="02020603050405020304" pitchFamily="18" charset="0"/>
                        </a:rPr>
                        <a:t>Schutzniveau</a:t>
                      </a:r>
                      <a:r>
                        <a:rPr lang="de-DE" sz="2000" kern="100" dirty="0">
                          <a:solidFill>
                            <a:srgbClr val="000000"/>
                          </a:solidFill>
                          <a:effectLst/>
                          <a:latin typeface="+mn-lt"/>
                          <a:ea typeface="Aptos" panose="020B0004020202020204" pitchFamily="34" charset="0"/>
                          <a:cs typeface="Times New Roman" panose="02020603050405020304" pitchFamily="18" charset="0"/>
                        </a:rPr>
                        <a:t> zu </a:t>
                      </a:r>
                      <a:r>
                        <a:rPr lang="de-DE" sz="2000" b="1" kern="100" dirty="0">
                          <a:solidFill>
                            <a:srgbClr val="000000"/>
                          </a:solidFill>
                          <a:effectLst/>
                          <a:latin typeface="+mn-lt"/>
                          <a:ea typeface="Aptos" panose="020B0004020202020204" pitchFamily="34" charset="0"/>
                          <a:cs typeface="Times New Roman" panose="02020603050405020304" pitchFamily="18" charset="0"/>
                        </a:rPr>
                        <a:t>gewährleisten</a:t>
                      </a:r>
                      <a:r>
                        <a:rPr lang="de-DE" sz="2000" kern="100" dirty="0">
                          <a:solidFill>
                            <a:srgbClr val="000000"/>
                          </a:solidFill>
                          <a:effectLst/>
                          <a:latin typeface="+mn-lt"/>
                          <a:ea typeface="Aptos" panose="020B0004020202020204" pitchFamily="34" charset="0"/>
                          <a:cs typeface="Times New Roman" panose="02020603050405020304" pitchFamily="18" charset="0"/>
                        </a:rPr>
                        <a:t>.</a:t>
                      </a:r>
                      <a:endParaRPr lang="de-DE" sz="2000" kern="100" dirty="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F2D0"/>
                    </a:solidFill>
                  </a:tcPr>
                </a:tc>
                <a:extLst>
                  <a:ext uri="{0D108BD9-81ED-4DB2-BD59-A6C34878D82A}">
                    <a16:rowId xmlns:a16="http://schemas.microsoft.com/office/drawing/2014/main" val="1789389527"/>
                  </a:ext>
                </a:extLst>
              </a:tr>
            </a:tbl>
          </a:graphicData>
        </a:graphic>
      </p:graphicFrame>
      <p:sp>
        <p:nvSpPr>
          <p:cNvPr id="4" name="Fußzeilenplatzhalter 3">
            <a:extLst>
              <a:ext uri="{FF2B5EF4-FFF2-40B4-BE49-F238E27FC236}">
                <a16:creationId xmlns:a16="http://schemas.microsoft.com/office/drawing/2014/main" id="{ABC337F7-EF8B-2266-9AA9-9A0541F661D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3C9B854C-D4E7-6183-E046-061509F5A4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4367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C6418-815A-C043-5EF6-115802A09C54}"/>
              </a:ext>
            </a:extLst>
          </p:cNvPr>
          <p:cNvSpPr>
            <a:spLocks noGrp="1"/>
          </p:cNvSpPr>
          <p:nvPr>
            <p:ph type="title"/>
          </p:nvPr>
        </p:nvSpPr>
        <p:spPr/>
        <p:txBody>
          <a:bodyPr/>
          <a:lstStyle/>
          <a:p>
            <a:r>
              <a:rPr lang="de-DE" dirty="0"/>
              <a:t>Was ist „Stand der Technik“?</a:t>
            </a:r>
          </a:p>
        </p:txBody>
      </p:sp>
      <p:sp>
        <p:nvSpPr>
          <p:cNvPr id="3" name="Inhaltsplatzhalter 2">
            <a:extLst>
              <a:ext uri="{FF2B5EF4-FFF2-40B4-BE49-F238E27FC236}">
                <a16:creationId xmlns:a16="http://schemas.microsoft.com/office/drawing/2014/main" id="{7064039E-C6E4-5A80-7F6B-189858EEEBBE}"/>
              </a:ext>
            </a:extLst>
          </p:cNvPr>
          <p:cNvSpPr>
            <a:spLocks noGrp="1"/>
          </p:cNvSpPr>
          <p:nvPr>
            <p:ph idx="1"/>
          </p:nvPr>
        </p:nvSpPr>
        <p:spPr/>
        <p:txBody>
          <a:bodyPr>
            <a:noAutofit/>
          </a:bodyPr>
          <a:lstStyle/>
          <a:p>
            <a:pPr marL="0" indent="0">
              <a:lnSpc>
                <a:spcPct val="107000"/>
              </a:lnSpc>
              <a:spcAft>
                <a:spcPts val="800"/>
              </a:spcAft>
              <a:buNone/>
            </a:pPr>
            <a:r>
              <a:rPr lang="de-DE" sz="1800" kern="100" dirty="0">
                <a:effectLst/>
                <a:ea typeface="Aptos" panose="020B0004020202020204" pitchFamily="34" charset="0"/>
                <a:cs typeface="Times New Roman" panose="02020603050405020304" pitchFamily="18" charset="0"/>
              </a:rPr>
              <a:t> </a:t>
            </a:r>
            <a:r>
              <a:rPr lang="de-DE" sz="1800" b="1" i="1" kern="100" dirty="0">
                <a:solidFill>
                  <a:srgbClr val="7030A0"/>
                </a:solidFill>
                <a:effectLst/>
                <a:ea typeface="Aptos" panose="020B0004020202020204" pitchFamily="34" charset="0"/>
                <a:cs typeface="Times New Roman" panose="02020603050405020304" pitchFamily="18" charset="0"/>
              </a:rPr>
              <a:t>Art. 32 DSGVO</a:t>
            </a:r>
            <a:r>
              <a:rPr lang="de-DE" sz="1800" kern="100" dirty="0">
                <a:solidFill>
                  <a:srgbClr val="7030A0"/>
                </a:solidFill>
                <a:effectLst/>
                <a:ea typeface="Aptos" panose="020B0004020202020204" pitchFamily="34" charset="0"/>
                <a:cs typeface="Times New Roman" panose="02020603050405020304" pitchFamily="18" charset="0"/>
              </a:rPr>
              <a:t> </a:t>
            </a:r>
            <a:r>
              <a:rPr lang="de-DE" sz="1800" kern="100" dirty="0">
                <a:effectLst/>
                <a:ea typeface="Aptos" panose="020B0004020202020204" pitchFamily="34" charset="0"/>
                <a:cs typeface="Times New Roman" panose="02020603050405020304" pitchFamily="18" charset="0"/>
              </a:rPr>
              <a:t>fordert, dass gewählte Schutzmaßnahmen dem </a:t>
            </a:r>
            <a:r>
              <a:rPr lang="de-DE" sz="1800" b="1" kern="100" dirty="0">
                <a:effectLst/>
                <a:ea typeface="Aptos" panose="020B0004020202020204" pitchFamily="34" charset="0"/>
                <a:cs typeface="Times New Roman" panose="02020603050405020304" pitchFamily="18" charset="0"/>
              </a:rPr>
              <a:t>Stand der Technik</a:t>
            </a:r>
            <a:r>
              <a:rPr lang="de-DE" sz="1800" kern="100" dirty="0">
                <a:effectLst/>
                <a:ea typeface="Aptos" panose="020B0004020202020204" pitchFamily="34" charset="0"/>
                <a:cs typeface="Times New Roman" panose="02020603050405020304" pitchFamily="18" charset="0"/>
              </a:rPr>
              <a:t> entsprechen (2FA, Antivirenprogramm aktuell, Laufwerk-Verschlüsselung, etc.)</a:t>
            </a:r>
          </a:p>
          <a:p>
            <a:pPr>
              <a:lnSpc>
                <a:spcPct val="107000"/>
              </a:lnSpc>
            </a:pPr>
            <a:r>
              <a:rPr lang="de-DE" sz="1800" b="1" kern="100" dirty="0">
                <a:effectLst/>
                <a:ea typeface="Aptos" panose="020B0004020202020204" pitchFamily="34" charset="0"/>
                <a:cs typeface="Times New Roman" panose="02020603050405020304" pitchFamily="18" charset="0"/>
              </a:rPr>
              <a:t>DSB</a:t>
            </a:r>
            <a:r>
              <a:rPr lang="de-DE" sz="1800" kern="100" dirty="0">
                <a:effectLst/>
                <a:ea typeface="Aptos" panose="020B0004020202020204" pitchFamily="34" charset="0"/>
                <a:cs typeface="Times New Roman" panose="02020603050405020304" pitchFamily="18" charset="0"/>
              </a:rPr>
              <a:t> und </a:t>
            </a:r>
            <a:r>
              <a:rPr lang="de-DE" sz="1800" b="1" kern="100" dirty="0">
                <a:effectLst/>
                <a:ea typeface="Aptos" panose="020B0004020202020204" pitchFamily="34" charset="0"/>
                <a:cs typeface="Times New Roman" panose="02020603050405020304" pitchFamily="18" charset="0"/>
              </a:rPr>
              <a:t>ISB</a:t>
            </a:r>
            <a:r>
              <a:rPr lang="de-DE" sz="1800" kern="100" dirty="0">
                <a:effectLst/>
                <a:ea typeface="Aptos" panose="020B0004020202020204" pitchFamily="34" charset="0"/>
                <a:cs typeface="Times New Roman" panose="02020603050405020304" pitchFamily="18" charset="0"/>
              </a:rPr>
              <a:t> müssen sich </a:t>
            </a:r>
            <a:r>
              <a:rPr lang="de-DE" sz="1800" b="1" kern="100" dirty="0">
                <a:effectLst/>
                <a:ea typeface="Aptos" panose="020B0004020202020204" pitchFamily="34" charset="0"/>
                <a:cs typeface="Times New Roman" panose="02020603050405020304" pitchFamily="18" charset="0"/>
              </a:rPr>
              <a:t>ständig</a:t>
            </a:r>
            <a:r>
              <a:rPr lang="de-DE" sz="1800" kern="100" dirty="0">
                <a:effectLst/>
                <a:ea typeface="Aptos" panose="020B0004020202020204" pitchFamily="34" charset="0"/>
                <a:cs typeface="Times New Roman" panose="02020603050405020304" pitchFamily="18" charset="0"/>
              </a:rPr>
              <a:t> dazu </a:t>
            </a:r>
            <a:r>
              <a:rPr lang="de-DE" sz="1800" b="1" kern="100" dirty="0">
                <a:effectLst/>
                <a:ea typeface="Aptos" panose="020B0004020202020204" pitchFamily="34" charset="0"/>
                <a:cs typeface="Times New Roman" panose="02020603050405020304" pitchFamily="18" charset="0"/>
              </a:rPr>
              <a:t>weiterbilden</a:t>
            </a:r>
            <a:endParaRPr lang="de-DE" sz="1800" kern="100" dirty="0">
              <a:effectLst/>
              <a:ea typeface="Aptos" panose="020B0004020202020204" pitchFamily="34" charset="0"/>
              <a:cs typeface="Times New Roman" panose="02020603050405020304" pitchFamily="18" charset="0"/>
            </a:endParaRPr>
          </a:p>
          <a:p>
            <a:pPr>
              <a:lnSpc>
                <a:spcPct val="107000"/>
              </a:lnSpc>
            </a:pPr>
            <a:r>
              <a:rPr lang="de-DE" sz="1800" b="1" kern="100" dirty="0">
                <a:effectLst/>
                <a:ea typeface="Aptos" panose="020B0004020202020204" pitchFamily="34" charset="0"/>
                <a:cs typeface="Times New Roman" panose="02020603050405020304" pitchFamily="18" charset="0"/>
              </a:rPr>
              <a:t>Aufsichtsbehörden</a:t>
            </a:r>
            <a:r>
              <a:rPr lang="de-DE" sz="1800" kern="100" dirty="0">
                <a:effectLst/>
                <a:ea typeface="Aptos" panose="020B0004020202020204" pitchFamily="34" charset="0"/>
                <a:cs typeface="Times New Roman" panose="02020603050405020304" pitchFamily="18" charset="0"/>
              </a:rPr>
              <a:t> und </a:t>
            </a:r>
            <a:r>
              <a:rPr lang="de-DE" sz="1800" b="1" kern="100" dirty="0">
                <a:effectLst/>
                <a:ea typeface="Aptos" panose="020B0004020202020204" pitchFamily="34" charset="0"/>
                <a:cs typeface="Times New Roman" panose="02020603050405020304" pitchFamily="18" charset="0"/>
              </a:rPr>
              <a:t>BSI</a:t>
            </a:r>
            <a:r>
              <a:rPr lang="de-DE" sz="1800" kern="100" dirty="0">
                <a:effectLst/>
                <a:ea typeface="Aptos" panose="020B0004020202020204" pitchFamily="34" charset="0"/>
                <a:cs typeface="Times New Roman" panose="02020603050405020304" pitchFamily="18" charset="0"/>
              </a:rPr>
              <a:t> geben </a:t>
            </a:r>
            <a:r>
              <a:rPr lang="de-DE" sz="1800" b="1" kern="100" dirty="0">
                <a:effectLst/>
                <a:ea typeface="Aptos" panose="020B0004020202020204" pitchFamily="34" charset="0"/>
                <a:cs typeface="Times New Roman" panose="02020603050405020304" pitchFamily="18" charset="0"/>
              </a:rPr>
              <a:t>Empfehlungen und Rechtsprechungen</a:t>
            </a:r>
            <a:r>
              <a:rPr lang="de-DE" sz="1800" kern="100" dirty="0">
                <a:effectLst/>
                <a:ea typeface="Aptos" panose="020B0004020202020204" pitchFamily="34" charset="0"/>
                <a:cs typeface="Times New Roman" panose="02020603050405020304" pitchFamily="18" charset="0"/>
              </a:rPr>
              <a:t> dazu heraus</a:t>
            </a:r>
          </a:p>
          <a:p>
            <a:pPr>
              <a:lnSpc>
                <a:spcPct val="107000"/>
              </a:lnSpc>
            </a:pPr>
            <a:r>
              <a:rPr lang="de-DE" sz="1800" b="1" kern="100" dirty="0">
                <a:effectLst/>
                <a:ea typeface="Aptos" panose="020B0004020202020204" pitchFamily="34" charset="0"/>
                <a:cs typeface="Times New Roman" panose="02020603050405020304" pitchFamily="18" charset="0"/>
              </a:rPr>
              <a:t>Notwendigkeit und Kosten</a:t>
            </a:r>
            <a:r>
              <a:rPr lang="de-DE" sz="1800" kern="100" dirty="0">
                <a:effectLst/>
                <a:ea typeface="Aptos" panose="020B0004020202020204" pitchFamily="34" charset="0"/>
                <a:cs typeface="Times New Roman" panose="02020603050405020304" pitchFamily="18" charset="0"/>
              </a:rPr>
              <a:t> müssen an die </a:t>
            </a:r>
            <a:r>
              <a:rPr lang="de-DE" sz="1800" b="1" kern="100" dirty="0">
                <a:effectLst/>
                <a:ea typeface="Aptos" panose="020B0004020202020204" pitchFamily="34" charset="0"/>
                <a:cs typeface="Times New Roman" panose="02020603050405020304" pitchFamily="18" charset="0"/>
              </a:rPr>
              <a:t>Risikobewertung</a:t>
            </a:r>
            <a:r>
              <a:rPr lang="de-DE" sz="1800" kern="100" dirty="0">
                <a:effectLst/>
                <a:ea typeface="Aptos" panose="020B0004020202020204" pitchFamily="34" charset="0"/>
                <a:cs typeface="Times New Roman" panose="02020603050405020304" pitchFamily="18" charset="0"/>
              </a:rPr>
              <a:t> angepasst sein</a:t>
            </a:r>
          </a:p>
          <a:p>
            <a:pPr>
              <a:lnSpc>
                <a:spcPct val="107000"/>
              </a:lnSpc>
            </a:pPr>
            <a:r>
              <a:rPr lang="de-DE" sz="1800" kern="100" dirty="0">
                <a:effectLst/>
                <a:ea typeface="Aptos" panose="020B0004020202020204" pitchFamily="34" charset="0"/>
                <a:cs typeface="Times New Roman" panose="02020603050405020304" pitchFamily="18" charset="0"/>
              </a:rPr>
              <a:t>In der Praxis</a:t>
            </a:r>
            <a:r>
              <a:rPr lang="de-DE" sz="1800" b="1" kern="100" dirty="0">
                <a:effectLst/>
                <a:ea typeface="Aptos" panose="020B0004020202020204" pitchFamily="34" charset="0"/>
                <a:cs typeface="Times New Roman" panose="02020603050405020304" pitchFamily="18" charset="0"/>
              </a:rPr>
              <a:t> bewährte und geeignete </a:t>
            </a:r>
            <a:r>
              <a:rPr lang="de-DE" sz="1800" kern="100" dirty="0">
                <a:effectLst/>
                <a:ea typeface="Aptos" panose="020B0004020202020204" pitchFamily="34" charset="0"/>
                <a:cs typeface="Times New Roman" panose="02020603050405020304" pitchFamily="18" charset="0"/>
              </a:rPr>
              <a:t>Regeln oder Technik</a:t>
            </a:r>
          </a:p>
          <a:p>
            <a:pPr>
              <a:lnSpc>
                <a:spcPct val="107000"/>
              </a:lnSpc>
            </a:pPr>
            <a:r>
              <a:rPr lang="de-DE" sz="1800" b="1" kern="100" dirty="0">
                <a:effectLst/>
                <a:ea typeface="Aptos" panose="020B0004020202020204" pitchFamily="34" charset="0"/>
                <a:cs typeface="Times New Roman" panose="02020603050405020304" pitchFamily="18" charset="0"/>
              </a:rPr>
              <a:t>Durch Fachleute </a:t>
            </a:r>
            <a:r>
              <a:rPr lang="de-DE" sz="1800" kern="100" dirty="0">
                <a:effectLst/>
                <a:ea typeface="Aptos" panose="020B0004020202020204" pitchFamily="34" charset="0"/>
                <a:cs typeface="Times New Roman" panose="02020603050405020304" pitchFamily="18" charset="0"/>
              </a:rPr>
              <a:t>/ Wissenschaftler</a:t>
            </a:r>
            <a:r>
              <a:rPr lang="de-DE" sz="1800" b="1" kern="100" dirty="0">
                <a:effectLst/>
                <a:ea typeface="Aptos" panose="020B0004020202020204" pitchFamily="34" charset="0"/>
                <a:cs typeface="Times New Roman" panose="02020603050405020304" pitchFamily="18" charset="0"/>
              </a:rPr>
              <a:t> anerkannt</a:t>
            </a:r>
            <a:endParaRPr lang="de-DE" sz="1800"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sz="1800" b="1" kern="100" dirty="0">
                <a:effectLst/>
                <a:ea typeface="Aptos" panose="020B0004020202020204" pitchFamily="34" charset="0"/>
                <a:cs typeface="Times New Roman" panose="02020603050405020304" pitchFamily="18" charset="0"/>
              </a:rPr>
              <a:t>Kriterien </a:t>
            </a:r>
            <a:r>
              <a:rPr lang="de-DE" sz="1800" kern="100" dirty="0">
                <a:effectLst/>
                <a:ea typeface="Aptos" panose="020B0004020202020204" pitchFamily="34" charset="0"/>
                <a:cs typeface="Times New Roman" panose="02020603050405020304" pitchFamily="18" charset="0"/>
              </a:rPr>
              <a:t>müssen dem aktuellen Stand der</a:t>
            </a:r>
            <a:r>
              <a:rPr lang="de-DE" sz="1800" b="1" kern="100" dirty="0">
                <a:effectLst/>
                <a:ea typeface="Aptos" panose="020B0004020202020204" pitchFamily="34" charset="0"/>
                <a:cs typeface="Times New Roman" panose="02020603050405020304" pitchFamily="18" charset="0"/>
              </a:rPr>
              <a:t> (</a:t>
            </a:r>
            <a:r>
              <a:rPr lang="de-DE" sz="1800" b="1" kern="100" dirty="0" err="1">
                <a:effectLst/>
                <a:ea typeface="Aptos" panose="020B0004020202020204" pitchFamily="34" charset="0"/>
                <a:cs typeface="Times New Roman" panose="02020603050405020304" pitchFamily="18" charset="0"/>
              </a:rPr>
              <a:t>Bedrohungs</a:t>
            </a:r>
            <a:r>
              <a:rPr lang="de-DE" sz="1800" b="1" kern="100" dirty="0">
                <a:effectLst/>
                <a:ea typeface="Aptos" panose="020B0004020202020204" pitchFamily="34" charset="0"/>
                <a:cs typeface="Times New Roman" panose="02020603050405020304" pitchFamily="18" charset="0"/>
              </a:rPr>
              <a:t>)Lage gerecht werden</a:t>
            </a:r>
            <a:endParaRPr lang="de-DE" sz="1800" kern="100" dirty="0">
              <a:effectLst/>
              <a:ea typeface="Aptos" panose="020B0004020202020204" pitchFamily="34" charset="0"/>
              <a:cs typeface="Times New Roman" panose="02020603050405020304" pitchFamily="18" charset="0"/>
            </a:endParaRPr>
          </a:p>
          <a:p>
            <a:pPr marL="0" indent="0">
              <a:lnSpc>
                <a:spcPct val="107000"/>
              </a:lnSpc>
              <a:spcAft>
                <a:spcPts val="800"/>
              </a:spcAft>
              <a:buNone/>
            </a:pPr>
            <a:r>
              <a:rPr lang="de-DE" sz="1800" b="1" kern="100" dirty="0">
                <a:effectLst/>
                <a:ea typeface="Aptos" panose="020B0004020202020204" pitchFamily="34" charset="0"/>
                <a:cs typeface="Times New Roman" panose="02020603050405020304" pitchFamily="18" charset="0"/>
              </a:rPr>
              <a:t>Auf eine eigene, maßgeschneiderte Bewertung und Auswahl der möglichen (technischen) Lösungen hinsichtlich des spezifischen Anwendungsfalls und für den eigenen Verantwortungsbereich, kann jeder für den Datenschutz Verantwortliche, in der Regel jedoch nicht verzichten.</a:t>
            </a:r>
            <a:endParaRPr lang="de-DE" sz="1800" kern="100" dirty="0">
              <a:effectLst/>
              <a:ea typeface="Aptos" panose="020B0004020202020204" pitchFamily="34" charset="0"/>
              <a:cs typeface="Times New Roman" panose="02020603050405020304" pitchFamily="18" charset="0"/>
            </a:endParaRPr>
          </a:p>
          <a:p>
            <a:endParaRPr lang="de-DE" sz="1800" dirty="0"/>
          </a:p>
        </p:txBody>
      </p:sp>
      <p:sp>
        <p:nvSpPr>
          <p:cNvPr id="4" name="Fußzeilenplatzhalter 3">
            <a:extLst>
              <a:ext uri="{FF2B5EF4-FFF2-40B4-BE49-F238E27FC236}">
                <a16:creationId xmlns:a16="http://schemas.microsoft.com/office/drawing/2014/main" id="{79610792-0E23-37E5-E21B-F60A1860A6A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B5647A08-1921-42C8-B919-CEC121C18A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8136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BD0C34-EEC1-43A7-7FA8-31C1177F09E9}"/>
              </a:ext>
            </a:extLst>
          </p:cNvPr>
          <p:cNvSpPr>
            <a:spLocks noGrp="1"/>
          </p:cNvSpPr>
          <p:nvPr>
            <p:ph type="title"/>
          </p:nvPr>
        </p:nvSpPr>
        <p:spPr/>
        <p:txBody>
          <a:bodyPr/>
          <a:lstStyle/>
          <a:p>
            <a:r>
              <a:rPr lang="de-DE" dirty="0"/>
              <a:t>TOMs gem. DSK, BSI; Aufsichtsbehörden</a:t>
            </a:r>
          </a:p>
        </p:txBody>
      </p:sp>
      <p:sp>
        <p:nvSpPr>
          <p:cNvPr id="3" name="Inhaltsplatzhalter 2">
            <a:extLst>
              <a:ext uri="{FF2B5EF4-FFF2-40B4-BE49-F238E27FC236}">
                <a16:creationId xmlns:a16="http://schemas.microsoft.com/office/drawing/2014/main" id="{0212E178-70FD-9AAA-8130-9BDF7583215B}"/>
              </a:ext>
            </a:extLst>
          </p:cNvPr>
          <p:cNvSpPr>
            <a:spLocks noGrp="1"/>
          </p:cNvSpPr>
          <p:nvPr>
            <p:ph idx="1"/>
          </p:nvPr>
        </p:nvSpPr>
        <p:spPr/>
        <p:txBody>
          <a:bodyPr>
            <a:noAutofit/>
          </a:bodyPr>
          <a:lstStyle/>
          <a:p>
            <a:pPr>
              <a:lnSpc>
                <a:spcPct val="107000"/>
              </a:lnSpc>
            </a:pPr>
            <a:r>
              <a:rPr lang="de-DE" sz="2000" kern="100" dirty="0">
                <a:effectLst/>
                <a:ea typeface="Aptos" panose="020B0004020202020204" pitchFamily="34" charset="0"/>
                <a:cs typeface="Times New Roman" panose="02020603050405020304" pitchFamily="18" charset="0"/>
              </a:rPr>
              <a:t>Jede </a:t>
            </a:r>
            <a:r>
              <a:rPr lang="de-DE" sz="2000" b="1" kern="100" dirty="0">
                <a:effectLst/>
                <a:ea typeface="Aptos" panose="020B0004020202020204" pitchFamily="34" charset="0"/>
                <a:cs typeface="Times New Roman" panose="02020603050405020304" pitchFamily="18" charset="0"/>
              </a:rPr>
              <a:t>Website</a:t>
            </a:r>
            <a:r>
              <a:rPr lang="de-DE" sz="2000" kern="100" dirty="0">
                <a:effectLst/>
                <a:ea typeface="Aptos" panose="020B0004020202020204" pitchFamily="34" charset="0"/>
                <a:cs typeface="Times New Roman" panose="02020603050405020304" pitchFamily="18" charset="0"/>
              </a:rPr>
              <a:t> muss </a:t>
            </a:r>
            <a:r>
              <a:rPr lang="de-DE" sz="2000" b="1" kern="100" dirty="0">
                <a:effectLst/>
                <a:ea typeface="Aptos" panose="020B0004020202020204" pitchFamily="34" charset="0"/>
                <a:cs typeface="Times New Roman" panose="02020603050405020304" pitchFamily="18" charset="0"/>
              </a:rPr>
              <a:t>verschlüsselt</a:t>
            </a:r>
            <a:r>
              <a:rPr lang="de-DE" sz="2000" kern="100" dirty="0">
                <a:effectLst/>
                <a:ea typeface="Aptos" panose="020B0004020202020204" pitchFamily="34" charset="0"/>
                <a:cs typeface="Times New Roman" panose="02020603050405020304" pitchFamily="18" charset="0"/>
              </a:rPr>
              <a:t> sein</a:t>
            </a:r>
          </a:p>
          <a:p>
            <a:pPr>
              <a:lnSpc>
                <a:spcPct val="107000"/>
              </a:lnSpc>
            </a:pPr>
            <a:r>
              <a:rPr lang="de-DE" sz="2000" kern="100" dirty="0">
                <a:effectLst/>
                <a:ea typeface="Aptos" panose="020B0004020202020204" pitchFamily="34" charset="0"/>
                <a:cs typeface="Times New Roman" panose="02020603050405020304" pitchFamily="18" charset="0"/>
              </a:rPr>
              <a:t>Da kosten gering, gilt eine </a:t>
            </a:r>
            <a:r>
              <a:rPr lang="de-DE" sz="2000" b="1" kern="100" dirty="0">
                <a:effectLst/>
                <a:ea typeface="Aptos" panose="020B0004020202020204" pitchFamily="34" charset="0"/>
                <a:cs typeface="Times New Roman" panose="02020603050405020304" pitchFamily="18" charset="0"/>
              </a:rPr>
              <a:t>verschlüsselte Website als Stand der Technik</a:t>
            </a:r>
            <a:endParaRPr lang="de-DE" sz="2000" kern="100" dirty="0">
              <a:effectLst/>
              <a:ea typeface="Aptos" panose="020B0004020202020204" pitchFamily="34" charset="0"/>
              <a:cs typeface="Times New Roman" panose="02020603050405020304" pitchFamily="18" charset="0"/>
            </a:endParaRPr>
          </a:p>
          <a:p>
            <a:pPr>
              <a:lnSpc>
                <a:spcPct val="107000"/>
              </a:lnSpc>
            </a:pPr>
            <a:r>
              <a:rPr lang="de-DE" sz="2000" b="1" kern="100" dirty="0">
                <a:effectLst/>
                <a:ea typeface="Aptos" panose="020B0004020202020204" pitchFamily="34" charset="0"/>
                <a:cs typeface="Times New Roman" panose="02020603050405020304" pitchFamily="18" charset="0"/>
              </a:rPr>
              <a:t>Verschlüsselung mobiler Speichermedien</a:t>
            </a:r>
            <a:r>
              <a:rPr lang="de-DE" sz="2000" kern="100" dirty="0">
                <a:effectLst/>
                <a:ea typeface="Aptos" panose="020B0004020202020204" pitchFamily="34" charset="0"/>
                <a:cs typeface="Times New Roman" panose="02020603050405020304" pitchFamily="18" charset="0"/>
              </a:rPr>
              <a:t>, einfach und kostengünstig (</a:t>
            </a:r>
            <a:r>
              <a:rPr lang="de-DE" sz="2000" kern="100" dirty="0" err="1">
                <a:effectLst/>
                <a:ea typeface="Aptos" panose="020B0004020202020204" pitchFamily="34" charset="0"/>
                <a:cs typeface="Times New Roman" panose="02020603050405020304" pitchFamily="18" charset="0"/>
              </a:rPr>
              <a:t>z.B.Bitlocker</a:t>
            </a:r>
            <a:r>
              <a:rPr lang="de-DE" sz="2000" kern="100" dirty="0">
                <a:effectLst/>
                <a:ea typeface="Aptos" panose="020B0004020202020204" pitchFamily="34" charset="0"/>
                <a:cs typeface="Times New Roman" panose="02020603050405020304" pitchFamily="18" charset="0"/>
              </a:rPr>
              <a:t>)</a:t>
            </a:r>
          </a:p>
          <a:p>
            <a:pPr>
              <a:lnSpc>
                <a:spcPct val="107000"/>
              </a:lnSpc>
            </a:pPr>
            <a:r>
              <a:rPr lang="de-DE" sz="2000" b="1" kern="100" dirty="0">
                <a:effectLst/>
                <a:ea typeface="Aptos" panose="020B0004020202020204" pitchFamily="34" charset="0"/>
                <a:cs typeface="Times New Roman" panose="02020603050405020304" pitchFamily="18" charset="0"/>
              </a:rPr>
              <a:t>Nutzung von Passwörtern</a:t>
            </a:r>
            <a:r>
              <a:rPr lang="de-DE" sz="2000" kern="100" dirty="0">
                <a:effectLst/>
                <a:ea typeface="Aptos" panose="020B0004020202020204" pitchFamily="34" charset="0"/>
                <a:cs typeface="Times New Roman" panose="02020603050405020304" pitchFamily="18" charset="0"/>
              </a:rPr>
              <a:t> (technischer Standard von Programmen und Systemen)</a:t>
            </a:r>
          </a:p>
          <a:p>
            <a:pPr>
              <a:lnSpc>
                <a:spcPct val="107000"/>
              </a:lnSpc>
            </a:pPr>
            <a:r>
              <a:rPr lang="de-DE" sz="2000" b="1" kern="100" dirty="0">
                <a:effectLst/>
                <a:ea typeface="Aptos" panose="020B0004020202020204" pitchFamily="34" charset="0"/>
                <a:cs typeface="Times New Roman" panose="02020603050405020304" pitchFamily="18" charset="0"/>
              </a:rPr>
              <a:t>Einsatz einer Firewall</a:t>
            </a:r>
            <a:r>
              <a:rPr lang="de-DE" sz="2000" kern="100" dirty="0">
                <a:effectLst/>
                <a:ea typeface="Aptos" panose="020B0004020202020204" pitchFamily="34" charset="0"/>
                <a:cs typeface="Times New Roman" panose="02020603050405020304" pitchFamily="18" charset="0"/>
              </a:rPr>
              <a:t> (bei Firmennetzzugriff von außen unerlässlich)</a:t>
            </a:r>
          </a:p>
          <a:p>
            <a:pPr>
              <a:lnSpc>
                <a:spcPct val="107000"/>
              </a:lnSpc>
            </a:pPr>
            <a:r>
              <a:rPr lang="de-DE" sz="2000" b="1" kern="100" dirty="0">
                <a:effectLst/>
                <a:ea typeface="Aptos" panose="020B0004020202020204" pitchFamily="34" charset="0"/>
                <a:cs typeface="Times New Roman" panose="02020603050405020304" pitchFamily="18" charset="0"/>
              </a:rPr>
              <a:t>Remote-Verbindungen</a:t>
            </a:r>
            <a:r>
              <a:rPr lang="de-DE" sz="2000" kern="100" dirty="0">
                <a:effectLst/>
                <a:ea typeface="Aptos" panose="020B0004020202020204" pitchFamily="34" charset="0"/>
                <a:cs typeface="Times New Roman" panose="02020603050405020304" pitchFamily="18" charset="0"/>
              </a:rPr>
              <a:t> zum Firmennetzwerk nur via </a:t>
            </a:r>
            <a:r>
              <a:rPr lang="de-DE" sz="2000" b="1" kern="100" dirty="0">
                <a:effectLst/>
                <a:ea typeface="Aptos" panose="020B0004020202020204" pitchFamily="34" charset="0"/>
                <a:cs typeface="Times New Roman" panose="02020603050405020304" pitchFamily="18" charset="0"/>
              </a:rPr>
              <a:t>VPN</a:t>
            </a:r>
            <a:endParaRPr lang="de-DE" sz="2000" kern="100" dirty="0">
              <a:effectLst/>
              <a:ea typeface="Aptos" panose="020B0004020202020204" pitchFamily="34" charset="0"/>
              <a:cs typeface="Times New Roman" panose="02020603050405020304" pitchFamily="18" charset="0"/>
            </a:endParaRPr>
          </a:p>
          <a:p>
            <a:pPr>
              <a:lnSpc>
                <a:spcPct val="107000"/>
              </a:lnSpc>
            </a:pPr>
            <a:r>
              <a:rPr lang="de-DE" sz="2000" b="1" kern="100" dirty="0">
                <a:effectLst/>
                <a:ea typeface="Aptos" panose="020B0004020202020204" pitchFamily="34" charset="0"/>
                <a:cs typeface="Times New Roman" panose="02020603050405020304" pitchFamily="18" charset="0"/>
              </a:rPr>
              <a:t>Einschränkung</a:t>
            </a:r>
            <a:r>
              <a:rPr lang="de-DE" sz="2000" kern="100" dirty="0">
                <a:effectLst/>
                <a:ea typeface="Aptos" panose="020B0004020202020204" pitchFamily="34" charset="0"/>
                <a:cs typeface="Times New Roman" panose="02020603050405020304" pitchFamily="18" charset="0"/>
              </a:rPr>
              <a:t> der Datenübertragung an </a:t>
            </a:r>
            <a:r>
              <a:rPr lang="de-DE" sz="2000" b="1" kern="100" dirty="0">
                <a:effectLst/>
                <a:ea typeface="Aptos" panose="020B0004020202020204" pitchFamily="34" charset="0"/>
                <a:cs typeface="Times New Roman" panose="02020603050405020304" pitchFamily="18" charset="0"/>
              </a:rPr>
              <a:t>Microsoft</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Deaktivierung</a:t>
            </a:r>
            <a:r>
              <a:rPr lang="de-DE" sz="2000" kern="100" dirty="0">
                <a:effectLst/>
                <a:ea typeface="Aptos" panose="020B0004020202020204" pitchFamily="34" charset="0"/>
                <a:cs typeface="Times New Roman" panose="02020603050405020304" pitchFamily="18" charset="0"/>
              </a:rPr>
              <a:t> der </a:t>
            </a:r>
            <a:r>
              <a:rPr lang="de-DE" sz="2000" b="1" kern="100" dirty="0">
                <a:effectLst/>
                <a:ea typeface="Aptos" panose="020B0004020202020204" pitchFamily="34" charset="0"/>
                <a:cs typeface="Times New Roman" panose="02020603050405020304" pitchFamily="18" charset="0"/>
              </a:rPr>
              <a:t>Telemetriedaten</a:t>
            </a:r>
            <a:r>
              <a:rPr lang="de-DE" sz="2000" kern="100" dirty="0">
                <a:effectLst/>
                <a:ea typeface="Aptos" panose="020B0004020202020204" pitchFamily="34" charset="0"/>
                <a:cs typeface="Times New Roman" panose="02020603050405020304" pitchFamily="18" charset="0"/>
              </a:rPr>
              <a:t>)</a:t>
            </a:r>
          </a:p>
          <a:p>
            <a:pPr>
              <a:lnSpc>
                <a:spcPct val="107000"/>
              </a:lnSpc>
            </a:pPr>
            <a:r>
              <a:rPr lang="de-DE" sz="2000" kern="100" dirty="0">
                <a:effectLst/>
                <a:ea typeface="Aptos" panose="020B0004020202020204" pitchFamily="34" charset="0"/>
                <a:cs typeface="Times New Roman" panose="02020603050405020304" pitchFamily="18" charset="0"/>
              </a:rPr>
              <a:t>Aktueller </a:t>
            </a:r>
            <a:r>
              <a:rPr lang="de-DE" sz="2000" b="1" kern="100" dirty="0">
                <a:effectLst/>
                <a:ea typeface="Aptos" panose="020B0004020202020204" pitchFamily="34" charset="0"/>
                <a:cs typeface="Times New Roman" panose="02020603050405020304" pitchFamily="18" charset="0"/>
              </a:rPr>
              <a:t>Virenschutz</a:t>
            </a:r>
            <a:endParaRPr lang="de-DE" sz="2000"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sz="2000" b="1" kern="100" dirty="0">
                <a:effectLst/>
                <a:ea typeface="Aptos" panose="020B0004020202020204" pitchFamily="34" charset="0"/>
                <a:cs typeface="Times New Roman" panose="02020603050405020304" pitchFamily="18" charset="0"/>
              </a:rPr>
              <a:t>Mildernder Zusatz im</a:t>
            </a:r>
            <a:r>
              <a:rPr lang="de-DE" sz="2000" kern="100" dirty="0">
                <a:effectLst/>
                <a:ea typeface="Aptos" panose="020B0004020202020204" pitchFamily="34" charset="0"/>
                <a:cs typeface="Times New Roman" panose="02020603050405020304" pitchFamily="18" charset="0"/>
              </a:rPr>
              <a:t> </a:t>
            </a:r>
            <a:r>
              <a:rPr lang="de-DE" sz="2000" b="1" i="1" kern="100" dirty="0">
                <a:solidFill>
                  <a:srgbClr val="7030A0"/>
                </a:solidFill>
                <a:effectLst/>
                <a:ea typeface="Aptos" panose="020B0004020202020204" pitchFamily="34" charset="0"/>
                <a:cs typeface="Times New Roman" panose="02020603050405020304" pitchFamily="18" charset="0"/>
              </a:rPr>
              <a:t>Art. 32 DSGVO:</a:t>
            </a:r>
            <a:r>
              <a:rPr lang="de-DE" sz="2000" kern="100" dirty="0">
                <a:effectLst/>
                <a:ea typeface="Aptos" panose="020B0004020202020204" pitchFamily="34" charset="0"/>
                <a:cs typeface="Times New Roman" panose="02020603050405020304" pitchFamily="18" charset="0"/>
              </a:rPr>
              <a:t> es müssen nur die Maßnahmen ergriffen werden, die </a:t>
            </a:r>
            <a:r>
              <a:rPr lang="de-DE" sz="2000" b="1" kern="100" dirty="0">
                <a:effectLst/>
                <a:ea typeface="Aptos" panose="020B0004020202020204" pitchFamily="34" charset="0"/>
                <a:cs typeface="Times New Roman" panose="02020603050405020304" pitchFamily="18" charset="0"/>
              </a:rPr>
              <a:t>verhältnismäßig zu den Implementierungskosten</a:t>
            </a:r>
            <a:r>
              <a:rPr lang="de-DE" sz="2000" kern="100" dirty="0">
                <a:effectLst/>
                <a:ea typeface="Aptos" panose="020B0004020202020204" pitchFamily="34" charset="0"/>
                <a:cs typeface="Times New Roman" panose="02020603050405020304" pitchFamily="18" charset="0"/>
              </a:rPr>
              <a:t> sind.</a:t>
            </a:r>
            <a:br>
              <a:rPr lang="de-DE" sz="2000" kern="100" dirty="0">
                <a:effectLst/>
                <a:ea typeface="Aptos" panose="020B0004020202020204" pitchFamily="34" charset="0"/>
                <a:cs typeface="Times New Roman" panose="02020603050405020304" pitchFamily="18" charset="0"/>
              </a:rPr>
            </a:br>
            <a:endParaRPr lang="de-DE" sz="2000" kern="100" dirty="0">
              <a:effectLst/>
              <a:ea typeface="Aptos" panose="020B0004020202020204" pitchFamily="34" charset="0"/>
              <a:cs typeface="Times New Roman" panose="02020603050405020304" pitchFamily="18" charset="0"/>
            </a:endParaRPr>
          </a:p>
          <a:p>
            <a:endParaRPr lang="de-DE" sz="2000" dirty="0"/>
          </a:p>
        </p:txBody>
      </p:sp>
      <p:sp>
        <p:nvSpPr>
          <p:cNvPr id="4" name="Fußzeilenplatzhalter 3">
            <a:extLst>
              <a:ext uri="{FF2B5EF4-FFF2-40B4-BE49-F238E27FC236}">
                <a16:creationId xmlns:a16="http://schemas.microsoft.com/office/drawing/2014/main" id="{0D434DD6-AE9B-AF6B-17D0-460F13B1304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9DDEE4B3-1BA1-99B0-ED43-F8838C8288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68831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FCC667-CDE4-DFA1-30F9-8D25C86BA7E2}"/>
              </a:ext>
            </a:extLst>
          </p:cNvPr>
          <p:cNvSpPr>
            <a:spLocks noGrp="1"/>
          </p:cNvSpPr>
          <p:nvPr>
            <p:ph type="title"/>
          </p:nvPr>
        </p:nvSpPr>
        <p:spPr>
          <a:noFill/>
        </p:spPr>
        <p:txBody>
          <a:bodyPr/>
          <a:lstStyle/>
          <a:p>
            <a:r>
              <a:rPr lang="de-DE" dirty="0"/>
              <a:t>Zu beachten beim Schlüsselsystem</a:t>
            </a:r>
          </a:p>
        </p:txBody>
      </p:sp>
      <p:sp>
        <p:nvSpPr>
          <p:cNvPr id="3" name="Inhaltsplatzhalter 2">
            <a:extLst>
              <a:ext uri="{FF2B5EF4-FFF2-40B4-BE49-F238E27FC236}">
                <a16:creationId xmlns:a16="http://schemas.microsoft.com/office/drawing/2014/main" id="{19C4A003-42A4-0CD8-1289-21F815268B9D}"/>
              </a:ext>
            </a:extLst>
          </p:cNvPr>
          <p:cNvSpPr>
            <a:spLocks noGrp="1"/>
          </p:cNvSpPr>
          <p:nvPr>
            <p:ph idx="1"/>
          </p:nvPr>
        </p:nvSpPr>
        <p:spPr/>
        <p:txBody>
          <a:bodyPr>
            <a:noAutofit/>
          </a:bodyPr>
          <a:lstStyle/>
          <a:p>
            <a:pPr>
              <a:lnSpc>
                <a:spcPct val="107000"/>
              </a:lnSpc>
            </a:pPr>
            <a:r>
              <a:rPr lang="de-DE" b="1" kern="100" dirty="0">
                <a:effectLst/>
                <a:ea typeface="Aptos" panose="020B0004020202020204" pitchFamily="34" charset="0"/>
                <a:cs typeface="Times New Roman" panose="02020603050405020304" pitchFamily="18" charset="0"/>
              </a:rPr>
              <a:t>Rechenschaftspflicht</a:t>
            </a:r>
            <a:r>
              <a:rPr lang="de-DE" kern="100" dirty="0">
                <a:effectLst/>
                <a:ea typeface="Aptos" panose="020B0004020202020204" pitchFamily="34" charset="0"/>
                <a:cs typeface="Times New Roman" panose="02020603050405020304" pitchFamily="18" charset="0"/>
              </a:rPr>
              <a:t> des Verantwortlichen</a:t>
            </a:r>
          </a:p>
          <a:p>
            <a:pPr>
              <a:lnSpc>
                <a:spcPct val="107000"/>
              </a:lnSpc>
            </a:pPr>
            <a:r>
              <a:rPr lang="de-DE" b="1" kern="100" dirty="0">
                <a:effectLst/>
                <a:ea typeface="Aptos" panose="020B0004020202020204" pitchFamily="34" charset="0"/>
                <a:cs typeface="Times New Roman" panose="02020603050405020304" pitchFamily="18" charset="0"/>
              </a:rPr>
              <a:t>Schlüsselverzeichnis</a:t>
            </a:r>
            <a:r>
              <a:rPr lang="de-DE" kern="100" dirty="0">
                <a:effectLst/>
                <a:ea typeface="Aptos" panose="020B0004020202020204" pitchFamily="34" charset="0"/>
                <a:cs typeface="Times New Roman" panose="02020603050405020304" pitchFamily="18" charset="0"/>
              </a:rPr>
              <a:t> führen (Liste mit Besitzer und Schlüsseln)</a:t>
            </a:r>
          </a:p>
          <a:p>
            <a:pPr>
              <a:lnSpc>
                <a:spcPct val="107000"/>
              </a:lnSpc>
            </a:pPr>
            <a:r>
              <a:rPr lang="de-DE" b="1" kern="100" dirty="0">
                <a:effectLst/>
                <a:ea typeface="Aptos" panose="020B0004020202020204" pitchFamily="34" charset="0"/>
                <a:cs typeface="Times New Roman" panose="02020603050405020304" pitchFamily="18" charset="0"/>
              </a:rPr>
              <a:t>Schließverzeichnis</a:t>
            </a:r>
            <a:r>
              <a:rPr lang="de-DE" kern="100" dirty="0">
                <a:effectLst/>
                <a:ea typeface="Aptos" panose="020B0004020202020204" pitchFamily="34" charset="0"/>
                <a:cs typeface="Times New Roman" panose="02020603050405020304" pitchFamily="18" charset="0"/>
              </a:rPr>
              <a:t> führen (welcher Schlüssel für welche Tür)</a:t>
            </a:r>
          </a:p>
          <a:p>
            <a:pPr>
              <a:lnSpc>
                <a:spcPct val="107000"/>
              </a:lnSpc>
              <a:spcAft>
                <a:spcPts val="800"/>
              </a:spcAft>
            </a:pPr>
            <a:r>
              <a:rPr lang="de-DE" b="1" kern="100" dirty="0">
                <a:effectLst/>
                <a:ea typeface="Aptos" panose="020B0004020202020204" pitchFamily="34" charset="0"/>
                <a:cs typeface="Times New Roman" panose="02020603050405020304" pitchFamily="18" charset="0"/>
              </a:rPr>
              <a:t>Wichtig zur Diebstahlaufklärung</a:t>
            </a:r>
            <a:endParaRPr lang="de-DE" kern="100" dirty="0">
              <a:effectLst/>
              <a:ea typeface="Aptos" panose="020B0004020202020204" pitchFamily="34" charset="0"/>
              <a:cs typeface="Times New Roman" panose="02020603050405020304" pitchFamily="18" charset="0"/>
            </a:endParaRPr>
          </a:p>
          <a:p>
            <a:pPr marL="228600">
              <a:lnSpc>
                <a:spcPct val="107000"/>
              </a:lnSpc>
              <a:spcAft>
                <a:spcPts val="800"/>
              </a:spcAft>
            </a:pPr>
            <a:r>
              <a:rPr lang="de-DE" b="1" u="sng" kern="100" dirty="0">
                <a:effectLst/>
                <a:ea typeface="Aptos" panose="020B0004020202020204" pitchFamily="34" charset="0"/>
                <a:cs typeface="Times New Roman" panose="02020603050405020304" pitchFamily="18" charset="0"/>
              </a:rPr>
              <a:t>Alternative:</a:t>
            </a:r>
            <a:br>
              <a:rPr lang="de-DE" b="1" u="sng" kern="100" dirty="0">
                <a:effectLst/>
                <a:ea typeface="Aptos" panose="020B0004020202020204" pitchFamily="34" charset="0"/>
                <a:cs typeface="Times New Roman" panose="02020603050405020304" pitchFamily="18" charset="0"/>
              </a:rPr>
            </a:br>
            <a:r>
              <a:rPr lang="de-DE" kern="100" dirty="0">
                <a:effectLst/>
                <a:ea typeface="Aptos" panose="020B0004020202020204" pitchFamily="34" charset="0"/>
                <a:cs typeface="Times New Roman" panose="02020603050405020304" pitchFamily="18" charset="0"/>
              </a:rPr>
              <a:t>Elektronische Schließsysteme mit </a:t>
            </a:r>
            <a:r>
              <a:rPr lang="de-DE" b="1" kern="100" dirty="0">
                <a:effectLst/>
                <a:ea typeface="Aptos" panose="020B0004020202020204" pitchFamily="34" charset="0"/>
                <a:cs typeface="Times New Roman" panose="02020603050405020304" pitchFamily="18" charset="0"/>
              </a:rPr>
              <a:t>Transponder oder Chipkarte </a:t>
            </a:r>
            <a:r>
              <a:rPr lang="de-DE" kern="100" dirty="0">
                <a:effectLst/>
                <a:ea typeface="Aptos" panose="020B0004020202020204" pitchFamily="34" charset="0"/>
                <a:cs typeface="Times New Roman" panose="02020603050405020304" pitchFamily="18" charset="0"/>
              </a:rPr>
              <a:t>(Problem der Manipulation oder Kompromittierung, deshalb gute Mischung aus beidem)</a:t>
            </a:r>
          </a:p>
          <a:p>
            <a:endParaRPr lang="de-DE" dirty="0"/>
          </a:p>
        </p:txBody>
      </p:sp>
      <p:sp>
        <p:nvSpPr>
          <p:cNvPr id="4" name="Fußzeilenplatzhalter 3">
            <a:extLst>
              <a:ext uri="{FF2B5EF4-FFF2-40B4-BE49-F238E27FC236}">
                <a16:creationId xmlns:a16="http://schemas.microsoft.com/office/drawing/2014/main" id="{07B28AD1-7FD8-5E5D-B244-886327CDF39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651BCA3E-D843-18A9-ACD4-82D0230140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81531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FE1025-99F8-3244-CAD2-47F7FEFCECA7}"/>
              </a:ext>
            </a:extLst>
          </p:cNvPr>
          <p:cNvSpPr>
            <a:spLocks noGrp="1"/>
          </p:cNvSpPr>
          <p:nvPr>
            <p:ph type="title"/>
          </p:nvPr>
        </p:nvSpPr>
        <p:spPr>
          <a:xfrm>
            <a:off x="838200" y="365125"/>
            <a:ext cx="10515600" cy="957837"/>
          </a:xfrm>
          <a:noFill/>
        </p:spPr>
        <p:txBody>
          <a:bodyPr/>
          <a:lstStyle/>
          <a:p>
            <a:r>
              <a:rPr lang="de-DE" dirty="0"/>
              <a:t>Passwort-Richtlinien</a:t>
            </a:r>
          </a:p>
        </p:txBody>
      </p:sp>
      <p:sp>
        <p:nvSpPr>
          <p:cNvPr id="3" name="Inhaltsplatzhalter 2">
            <a:extLst>
              <a:ext uri="{FF2B5EF4-FFF2-40B4-BE49-F238E27FC236}">
                <a16:creationId xmlns:a16="http://schemas.microsoft.com/office/drawing/2014/main" id="{1C78BD34-4B47-4785-3F36-97F41F3EC65C}"/>
              </a:ext>
            </a:extLst>
          </p:cNvPr>
          <p:cNvSpPr>
            <a:spLocks noGrp="1"/>
          </p:cNvSpPr>
          <p:nvPr>
            <p:ph idx="1"/>
          </p:nvPr>
        </p:nvSpPr>
        <p:spPr>
          <a:xfrm>
            <a:off x="838200" y="1546698"/>
            <a:ext cx="10515600" cy="4630265"/>
          </a:xfrm>
        </p:spPr>
        <p:txBody>
          <a:bodyPr>
            <a:noAutofit/>
          </a:bodyPr>
          <a:lstStyle/>
          <a:p>
            <a:pPr>
              <a:lnSpc>
                <a:spcPct val="107000"/>
              </a:lnSpc>
            </a:pPr>
            <a:r>
              <a:rPr lang="de-DE" sz="2000" b="1" kern="100" dirty="0">
                <a:effectLst/>
                <a:ea typeface="Aptos" panose="020B0004020202020204" pitchFamily="34" charset="0"/>
                <a:cs typeface="Times New Roman" panose="02020603050405020304" pitchFamily="18" charset="0"/>
              </a:rPr>
              <a:t>Benutzer und Kennwort </a:t>
            </a:r>
            <a:r>
              <a:rPr lang="de-DE" sz="2000" kern="100" dirty="0">
                <a:effectLst/>
                <a:ea typeface="Aptos" panose="020B0004020202020204" pitchFamily="34" charset="0"/>
                <a:cs typeface="Times New Roman" panose="02020603050405020304" pitchFamily="18" charset="0"/>
              </a:rPr>
              <a:t>(häufigste Methode als Schutzmaßnahme)</a:t>
            </a:r>
          </a:p>
          <a:p>
            <a:pPr>
              <a:lnSpc>
                <a:spcPct val="107000"/>
              </a:lnSpc>
            </a:pPr>
            <a:r>
              <a:rPr lang="de-DE" sz="2000" kern="100" dirty="0">
                <a:effectLst/>
                <a:ea typeface="Aptos" panose="020B0004020202020204" pitchFamily="34" charset="0"/>
                <a:cs typeface="Times New Roman" panose="02020603050405020304" pitchFamily="18" charset="0"/>
              </a:rPr>
              <a:t>Kennwort sollte </a:t>
            </a:r>
            <a:r>
              <a:rPr lang="de-DE" sz="2000" b="1" kern="100" dirty="0">
                <a:effectLst/>
                <a:ea typeface="Aptos" panose="020B0004020202020204" pitchFamily="34" charset="0"/>
                <a:cs typeface="Times New Roman" panose="02020603050405020304" pitchFamily="18" charset="0"/>
              </a:rPr>
              <a:t>nur</a:t>
            </a:r>
            <a:r>
              <a:rPr lang="de-DE" sz="2000" kern="100" dirty="0">
                <a:effectLst/>
                <a:ea typeface="Aptos" panose="020B0004020202020204" pitchFamily="34" charset="0"/>
                <a:cs typeface="Times New Roman" panose="02020603050405020304" pitchFamily="18" charset="0"/>
              </a:rPr>
              <a:t> dem </a:t>
            </a:r>
            <a:r>
              <a:rPr lang="de-DE" sz="2000" b="1" kern="100" dirty="0">
                <a:effectLst/>
                <a:ea typeface="Aptos" panose="020B0004020202020204" pitchFamily="34" charset="0"/>
                <a:cs typeface="Times New Roman" panose="02020603050405020304" pitchFamily="18" charset="0"/>
              </a:rPr>
              <a:t>Anwender bekannt</a:t>
            </a:r>
            <a:r>
              <a:rPr lang="de-DE" sz="2000" kern="100" dirty="0">
                <a:effectLst/>
                <a:ea typeface="Aptos" panose="020B0004020202020204" pitchFamily="34" charset="0"/>
                <a:cs typeface="Times New Roman" panose="02020603050405020304" pitchFamily="18" charset="0"/>
              </a:rPr>
              <a:t> sein</a:t>
            </a:r>
          </a:p>
          <a:p>
            <a:pPr>
              <a:lnSpc>
                <a:spcPct val="107000"/>
              </a:lnSpc>
            </a:pPr>
            <a:r>
              <a:rPr lang="de-DE" sz="2000" kern="100" dirty="0">
                <a:effectLst/>
                <a:ea typeface="Aptos" panose="020B0004020202020204" pitchFamily="34" charset="0"/>
                <a:cs typeface="Times New Roman" panose="02020603050405020304" pitchFamily="18" charset="0"/>
              </a:rPr>
              <a:t>Müssen einem </a:t>
            </a:r>
            <a:r>
              <a:rPr lang="de-DE" sz="2000" b="1" kern="100" dirty="0">
                <a:effectLst/>
                <a:ea typeface="Aptos" panose="020B0004020202020204" pitchFamily="34" charset="0"/>
                <a:cs typeface="Times New Roman" panose="02020603050405020304" pitchFamily="18" charset="0"/>
              </a:rPr>
              <a:t>BSI-Standard</a:t>
            </a:r>
            <a:r>
              <a:rPr lang="de-DE" sz="2000" kern="100" dirty="0">
                <a:effectLst/>
                <a:ea typeface="Aptos" panose="020B0004020202020204" pitchFamily="34" charset="0"/>
                <a:cs typeface="Times New Roman" panose="02020603050405020304" pitchFamily="18" charset="0"/>
              </a:rPr>
              <a:t> gerecht werden (12–25-stellig, Sonderzeichen, GK-Schreibung, Zahlen)</a:t>
            </a:r>
          </a:p>
          <a:p>
            <a:pPr>
              <a:lnSpc>
                <a:spcPct val="107000"/>
              </a:lnSpc>
            </a:pPr>
            <a:r>
              <a:rPr lang="de-DE" sz="2000" kern="100" dirty="0">
                <a:effectLst/>
                <a:ea typeface="Aptos" panose="020B0004020202020204" pitchFamily="34" charset="0"/>
                <a:cs typeface="Times New Roman" panose="02020603050405020304" pitchFamily="18" charset="0"/>
              </a:rPr>
              <a:t>Sollten </a:t>
            </a:r>
            <a:r>
              <a:rPr lang="de-DE" sz="2000" b="1" kern="100" dirty="0">
                <a:effectLst/>
                <a:ea typeface="Aptos" panose="020B0004020202020204" pitchFamily="34" charset="0"/>
                <a:cs typeface="Times New Roman" panose="02020603050405020304" pitchFamily="18" charset="0"/>
              </a:rPr>
              <a:t>nicht zu oft gewechselt</a:t>
            </a:r>
            <a:r>
              <a:rPr lang="de-DE" sz="2000" kern="100" dirty="0">
                <a:effectLst/>
                <a:ea typeface="Aptos" panose="020B0004020202020204" pitchFamily="34" charset="0"/>
                <a:cs typeface="Times New Roman" panose="02020603050405020304" pitchFamily="18" charset="0"/>
              </a:rPr>
              <a:t> werden müssen</a:t>
            </a:r>
          </a:p>
          <a:p>
            <a:pPr>
              <a:lnSpc>
                <a:spcPct val="107000"/>
              </a:lnSpc>
            </a:pPr>
            <a:r>
              <a:rPr lang="de-DE" sz="2000" b="1" kern="100" dirty="0">
                <a:effectLst/>
                <a:ea typeface="Aptos" panose="020B0004020202020204" pitchFamily="34" charset="0"/>
                <a:cs typeface="Times New Roman" panose="02020603050405020304" pitchFamily="18" charset="0"/>
              </a:rPr>
              <a:t>Nach Ablauf nicht erneut angelegt</a:t>
            </a:r>
            <a:r>
              <a:rPr lang="de-DE" sz="2000" kern="100" dirty="0">
                <a:effectLst/>
                <a:ea typeface="Aptos" panose="020B0004020202020204" pitchFamily="34" charset="0"/>
                <a:cs typeface="Times New Roman" panose="02020603050405020304" pitchFamily="18" charset="0"/>
              </a:rPr>
              <a:t> werden dürfen (Password </a:t>
            </a:r>
            <a:r>
              <a:rPr lang="de-DE" sz="2000" kern="100" dirty="0" err="1">
                <a:effectLst/>
                <a:ea typeface="Aptos" panose="020B0004020202020204" pitchFamily="34" charset="0"/>
                <a:cs typeface="Times New Roman" panose="02020603050405020304" pitchFamily="18" charset="0"/>
              </a:rPr>
              <a:t>history</a:t>
            </a:r>
            <a:r>
              <a:rPr lang="de-DE" sz="2000" kern="100" dirty="0">
                <a:effectLst/>
                <a:ea typeface="Aptos" panose="020B0004020202020204" pitchFamily="34" charset="0"/>
                <a:cs typeface="Times New Roman" panose="02020603050405020304" pitchFamily="18" charset="0"/>
              </a:rPr>
              <a:t>)</a:t>
            </a:r>
          </a:p>
          <a:p>
            <a:pPr>
              <a:lnSpc>
                <a:spcPct val="107000"/>
              </a:lnSpc>
            </a:pP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für jeden</a:t>
            </a:r>
            <a:r>
              <a:rPr lang="de-DE" sz="2000" kern="100" dirty="0">
                <a:effectLst/>
                <a:ea typeface="Aptos" panose="020B0004020202020204" pitchFamily="34" charset="0"/>
                <a:cs typeface="Times New Roman" panose="02020603050405020304" pitchFamily="18" charset="0"/>
              </a:rPr>
              <a:t> Benutzer </a:t>
            </a:r>
            <a:r>
              <a:rPr lang="de-DE" sz="2000" b="1" kern="100" dirty="0">
                <a:effectLst/>
                <a:ea typeface="Aptos" panose="020B0004020202020204" pitchFamily="34" charset="0"/>
                <a:cs typeface="Times New Roman" panose="02020603050405020304" pitchFamily="18" charset="0"/>
              </a:rPr>
              <a:t>verschieden</a:t>
            </a:r>
            <a:r>
              <a:rPr lang="de-DE" sz="2000" kern="100" dirty="0">
                <a:effectLst/>
                <a:ea typeface="Aptos" panose="020B0004020202020204" pitchFamily="34" charset="0"/>
                <a:cs typeface="Times New Roman" panose="02020603050405020304" pitchFamily="18" charset="0"/>
              </a:rPr>
              <a:t> sind.</a:t>
            </a:r>
          </a:p>
          <a:p>
            <a:pPr>
              <a:lnSpc>
                <a:spcPct val="107000"/>
              </a:lnSpc>
            </a:pPr>
            <a:r>
              <a:rPr lang="de-DE" sz="2000" kern="100" dirty="0">
                <a:effectLst/>
                <a:ea typeface="Aptos" panose="020B0004020202020204" pitchFamily="34" charset="0"/>
                <a:cs typeface="Times New Roman" panose="02020603050405020304" pitchFamily="18" charset="0"/>
              </a:rPr>
              <a:t>Zusätzlich können </a:t>
            </a:r>
            <a:r>
              <a:rPr lang="de-DE" sz="2000" b="1" kern="100" dirty="0">
                <a:effectLst/>
                <a:ea typeface="Aptos" panose="020B0004020202020204" pitchFamily="34" charset="0"/>
                <a:cs typeface="Times New Roman" panose="02020603050405020304" pitchFamily="18" charset="0"/>
              </a:rPr>
              <a:t>wissensbasierte Kennwörter</a:t>
            </a:r>
            <a:r>
              <a:rPr lang="de-DE" sz="2000" kern="100" dirty="0">
                <a:effectLst/>
                <a:ea typeface="Aptos" panose="020B0004020202020204" pitchFamily="34" charset="0"/>
                <a:cs typeface="Times New Roman" panose="02020603050405020304" pitchFamily="18" charset="0"/>
              </a:rPr>
              <a:t> abgefragt werden </a:t>
            </a:r>
            <a:br>
              <a:rPr lang="de-DE" sz="2000" kern="100" dirty="0">
                <a:effectLst/>
                <a:ea typeface="Aptos" panose="020B0004020202020204" pitchFamily="34" charset="0"/>
                <a:cs typeface="Times New Roman" panose="02020603050405020304" pitchFamily="18" charset="0"/>
              </a:rPr>
            </a:br>
            <a:r>
              <a:rPr lang="de-DE" sz="2000" kern="100" dirty="0">
                <a:effectLst/>
                <a:ea typeface="Aptos" panose="020B0004020202020204" pitchFamily="34" charset="0"/>
                <a:cs typeface="Times New Roman" panose="02020603050405020304" pitchFamily="18" charset="0"/>
              </a:rPr>
              <a:t>(Lieblingstier, Name der Lieblingsband, etc.)</a:t>
            </a: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Zusätzlich können noch </a:t>
            </a:r>
            <a:r>
              <a:rPr lang="de-DE" sz="2000" b="1" kern="100" dirty="0">
                <a:effectLst/>
                <a:ea typeface="Aptos" panose="020B0004020202020204" pitchFamily="34" charset="0"/>
                <a:cs typeface="Times New Roman" panose="02020603050405020304" pitchFamily="18" charset="0"/>
              </a:rPr>
              <a:t>Einmalkennwörter</a:t>
            </a:r>
            <a:r>
              <a:rPr lang="de-DE" sz="2000" kern="100" dirty="0">
                <a:effectLst/>
                <a:ea typeface="Aptos" panose="020B0004020202020204" pitchFamily="34" charset="0"/>
                <a:cs typeface="Times New Roman" panose="02020603050405020304" pitchFamily="18" charset="0"/>
              </a:rPr>
              <a:t> abgefragt werden </a:t>
            </a:r>
            <a:br>
              <a:rPr lang="de-DE" sz="2000" kern="100" dirty="0">
                <a:effectLst/>
                <a:ea typeface="Aptos" panose="020B0004020202020204" pitchFamily="34" charset="0"/>
                <a:cs typeface="Times New Roman" panose="02020603050405020304" pitchFamily="18" charset="0"/>
              </a:rPr>
            </a:br>
            <a:r>
              <a:rPr lang="de-DE" sz="2000" kern="100" dirty="0">
                <a:effectLst/>
                <a:ea typeface="Aptos" panose="020B0004020202020204" pitchFamily="34" charset="0"/>
                <a:cs typeface="Times New Roman" panose="02020603050405020304" pitchFamily="18" charset="0"/>
              </a:rPr>
              <a:t>(2FA, Authenticator-App, Push-TAN, etc.)</a:t>
            </a:r>
          </a:p>
          <a:p>
            <a:endParaRPr lang="de-DE" sz="2000" dirty="0"/>
          </a:p>
        </p:txBody>
      </p:sp>
      <p:sp>
        <p:nvSpPr>
          <p:cNvPr id="4" name="Fußzeilenplatzhalter 3">
            <a:extLst>
              <a:ext uri="{FF2B5EF4-FFF2-40B4-BE49-F238E27FC236}">
                <a16:creationId xmlns:a16="http://schemas.microsoft.com/office/drawing/2014/main" id="{29DB93F3-8B98-F1A4-A0D4-0776B114993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CE822212-7F7A-5025-3B2F-D547EA69EB9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6604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F46944-0CF1-13AD-FFEC-9F673E97B703}"/>
              </a:ext>
            </a:extLst>
          </p:cNvPr>
          <p:cNvSpPr>
            <a:spLocks noGrp="1"/>
          </p:cNvSpPr>
          <p:nvPr>
            <p:ph type="title"/>
          </p:nvPr>
        </p:nvSpPr>
        <p:spPr>
          <a:noFill/>
        </p:spPr>
        <p:txBody>
          <a:bodyPr/>
          <a:lstStyle/>
          <a:p>
            <a:r>
              <a:rPr lang="de-DE" dirty="0"/>
              <a:t>Varianten für Zugriff / Zugang / Zutritt</a:t>
            </a:r>
          </a:p>
        </p:txBody>
      </p:sp>
      <p:sp>
        <p:nvSpPr>
          <p:cNvPr id="3" name="Inhaltsplatzhalter 2">
            <a:extLst>
              <a:ext uri="{FF2B5EF4-FFF2-40B4-BE49-F238E27FC236}">
                <a16:creationId xmlns:a16="http://schemas.microsoft.com/office/drawing/2014/main" id="{1DE0E8DC-DECA-8E4B-1632-7AF4C172D8E2}"/>
              </a:ext>
            </a:extLst>
          </p:cNvPr>
          <p:cNvSpPr>
            <a:spLocks noGrp="1"/>
          </p:cNvSpPr>
          <p:nvPr>
            <p:ph idx="1"/>
          </p:nvPr>
        </p:nvSpPr>
        <p:spPr/>
        <p:txBody>
          <a:bodyPr>
            <a:normAutofit/>
          </a:bodyPr>
          <a:lstStyle/>
          <a:p>
            <a:pPr marL="228600">
              <a:lnSpc>
                <a:spcPct val="107000"/>
              </a:lnSpc>
              <a:spcAft>
                <a:spcPts val="800"/>
              </a:spcAft>
              <a:buNone/>
            </a:pPr>
            <a:r>
              <a:rPr lang="de-DE" sz="2000" b="1" u="sng" kern="100" dirty="0">
                <a:effectLst/>
                <a:ea typeface="Aptos" panose="020B0004020202020204" pitchFamily="34" charset="0"/>
                <a:cs typeface="Times New Roman" panose="02020603050405020304" pitchFamily="18" charset="0"/>
              </a:rPr>
              <a:t>Single-</a:t>
            </a:r>
            <a:r>
              <a:rPr lang="de-DE" sz="2000" b="1" u="sng" kern="100" dirty="0" err="1">
                <a:effectLst/>
                <a:ea typeface="Aptos" panose="020B0004020202020204" pitchFamily="34" charset="0"/>
                <a:cs typeface="Times New Roman" panose="02020603050405020304" pitchFamily="18" charset="0"/>
              </a:rPr>
              <a:t>Sign</a:t>
            </a:r>
            <a:r>
              <a:rPr lang="de-DE" sz="2000" b="1" u="sng" kern="100" dirty="0">
                <a:effectLst/>
                <a:ea typeface="Aptos" panose="020B0004020202020204" pitchFamily="34" charset="0"/>
                <a:cs typeface="Times New Roman" panose="02020603050405020304" pitchFamily="18" charset="0"/>
              </a:rPr>
              <a:t>-On (SSO):</a:t>
            </a:r>
          </a:p>
          <a:p>
            <a:pPr>
              <a:lnSpc>
                <a:spcPct val="107000"/>
              </a:lnSpc>
              <a:spcAft>
                <a:spcPts val="800"/>
              </a:spcAft>
            </a:pPr>
            <a:r>
              <a:rPr lang="de-DE" sz="2000" b="1" kern="100" dirty="0">
                <a:effectLst/>
                <a:ea typeface="Aptos" panose="020B0004020202020204" pitchFamily="34" charset="0"/>
                <a:cs typeface="Times New Roman" panose="02020603050405020304" pitchFamily="18" charset="0"/>
              </a:rPr>
              <a:t>Einmal anmelden</a:t>
            </a:r>
            <a:r>
              <a:rPr lang="de-DE" sz="2000" kern="100" dirty="0">
                <a:effectLst/>
                <a:ea typeface="Aptos" panose="020B0004020202020204" pitchFamily="34" charset="0"/>
                <a:cs typeface="Times New Roman" panose="02020603050405020304" pitchFamily="18" charset="0"/>
              </a:rPr>
              <a:t> mit Benutzername und Passwort, </a:t>
            </a:r>
            <a:r>
              <a:rPr lang="de-DE" sz="2000" b="1" kern="100" dirty="0">
                <a:effectLst/>
                <a:ea typeface="Aptos" panose="020B0004020202020204" pitchFamily="34" charset="0"/>
                <a:cs typeface="Times New Roman" panose="02020603050405020304" pitchFamily="18" charset="0"/>
              </a:rPr>
              <a:t>danach meldet</a:t>
            </a:r>
            <a:r>
              <a:rPr lang="de-DE" sz="2000" kern="100" dirty="0">
                <a:effectLst/>
                <a:ea typeface="Aptos" panose="020B0004020202020204" pitchFamily="34" charset="0"/>
                <a:cs typeface="Times New Roman" panose="02020603050405020304" pitchFamily="18" charset="0"/>
              </a:rPr>
              <a:t> das </a:t>
            </a:r>
            <a:r>
              <a:rPr lang="de-DE" sz="2000" b="1" kern="100" dirty="0">
                <a:effectLst/>
                <a:ea typeface="Aptos" panose="020B0004020202020204" pitchFamily="34" charset="0"/>
                <a:cs typeface="Times New Roman" panose="02020603050405020304" pitchFamily="18" charset="0"/>
              </a:rPr>
              <a:t>SSO</a:t>
            </a:r>
            <a:r>
              <a:rPr lang="de-DE" sz="2000" kern="100" dirty="0">
                <a:effectLst/>
                <a:ea typeface="Aptos" panose="020B0004020202020204" pitchFamily="34" charset="0"/>
                <a:cs typeface="Times New Roman" panose="02020603050405020304" pitchFamily="18" charset="0"/>
              </a:rPr>
              <a:t> dann den Nutzer an allen anderen Programmen an.</a:t>
            </a:r>
          </a:p>
          <a:p>
            <a:pPr marL="228600">
              <a:lnSpc>
                <a:spcPct val="107000"/>
              </a:lnSpc>
              <a:spcAft>
                <a:spcPts val="800"/>
              </a:spcAft>
              <a:buNone/>
            </a:pPr>
            <a:r>
              <a:rPr lang="de-DE" sz="2000" b="1" u="sng" kern="100" dirty="0">
                <a:effectLst/>
                <a:ea typeface="Aptos" panose="020B0004020202020204" pitchFamily="34" charset="0"/>
                <a:cs typeface="Times New Roman" panose="02020603050405020304" pitchFamily="18" charset="0"/>
              </a:rPr>
              <a:t>Biometrische Zutritts- und Zugangssysteme</a:t>
            </a:r>
            <a:endParaRPr lang="de-DE" sz="2000" kern="100" dirty="0">
              <a:effectLst/>
              <a:ea typeface="Aptos" panose="020B0004020202020204" pitchFamily="34" charset="0"/>
              <a:cs typeface="Times New Roman" panose="02020603050405020304" pitchFamily="18" charset="0"/>
            </a:endParaRPr>
          </a:p>
          <a:p>
            <a:pPr>
              <a:lnSpc>
                <a:spcPct val="107000"/>
              </a:lnSpc>
            </a:pPr>
            <a:r>
              <a:rPr lang="de-DE" sz="2000" kern="100" dirty="0">
                <a:effectLst/>
                <a:ea typeface="Aptos" panose="020B0004020202020204" pitchFamily="34" charset="0"/>
                <a:cs typeface="Times New Roman" panose="02020603050405020304" pitchFamily="18" charset="0"/>
              </a:rPr>
              <a:t>Zutritts- und Zugangssysteme die mit </a:t>
            </a:r>
            <a:r>
              <a:rPr lang="de-DE" sz="2000" b="1" kern="100" dirty="0">
                <a:effectLst/>
                <a:ea typeface="Aptos" panose="020B0004020202020204" pitchFamily="34" charset="0"/>
                <a:cs typeface="Times New Roman" panose="02020603050405020304" pitchFamily="18" charset="0"/>
              </a:rPr>
              <a:t>biometrischen Merkmalen </a:t>
            </a:r>
            <a:r>
              <a:rPr lang="de-DE" sz="2000" kern="100" dirty="0">
                <a:effectLst/>
                <a:ea typeface="Aptos" panose="020B0004020202020204" pitchFamily="34" charset="0"/>
                <a:cs typeface="Times New Roman" panose="02020603050405020304" pitchFamily="18" charset="0"/>
              </a:rPr>
              <a:t>arbeiten</a:t>
            </a:r>
          </a:p>
          <a:p>
            <a:pPr>
              <a:lnSpc>
                <a:spcPct val="107000"/>
              </a:lnSpc>
            </a:pPr>
            <a:r>
              <a:rPr lang="de-DE" sz="2000" b="1" kern="100" dirty="0">
                <a:effectLst/>
                <a:ea typeface="Aptos" panose="020B0004020202020204" pitchFamily="34" charset="0"/>
                <a:cs typeface="Times New Roman" panose="02020603050405020304" pitchFamily="18" charset="0"/>
              </a:rPr>
              <a:t>Authentifizierung</a:t>
            </a:r>
            <a:r>
              <a:rPr lang="de-DE" sz="2000" kern="100" dirty="0">
                <a:effectLst/>
                <a:ea typeface="Aptos" panose="020B0004020202020204" pitchFamily="34" charset="0"/>
                <a:cs typeface="Times New Roman" panose="02020603050405020304" pitchFamily="18" charset="0"/>
              </a:rPr>
              <a:t> durch unveränderliche, biometrische Kennzeichen von Personen</a:t>
            </a:r>
          </a:p>
          <a:p>
            <a:pPr>
              <a:lnSpc>
                <a:spcPct val="107000"/>
              </a:lnSpc>
            </a:pPr>
            <a:r>
              <a:rPr lang="de-DE" sz="2000" kern="100" dirty="0">
                <a:effectLst/>
                <a:ea typeface="Aptos" panose="020B0004020202020204" pitchFamily="34" charset="0"/>
                <a:cs typeface="Times New Roman" panose="02020603050405020304" pitchFamily="18" charset="0"/>
              </a:rPr>
              <a:t>Sicherheit durch </a:t>
            </a:r>
            <a:r>
              <a:rPr lang="de-DE" sz="2000" b="1" kern="100" dirty="0">
                <a:effectLst/>
                <a:ea typeface="Aptos" panose="020B0004020202020204" pitchFamily="34" charset="0"/>
                <a:cs typeface="Times New Roman" panose="02020603050405020304" pitchFamily="18" charset="0"/>
              </a:rPr>
              <a:t>schwere</a:t>
            </a:r>
            <a:r>
              <a:rPr lang="de-DE" sz="2000" kern="100" dirty="0">
                <a:effectLst/>
                <a:ea typeface="Aptos" panose="020B0004020202020204" pitchFamily="34" charset="0"/>
                <a:cs typeface="Times New Roman" panose="02020603050405020304" pitchFamily="18" charset="0"/>
              </a:rPr>
              <a:t> oder unmögliche </a:t>
            </a:r>
            <a:r>
              <a:rPr lang="de-DE" sz="2000" b="1" kern="100" dirty="0">
                <a:effectLst/>
                <a:ea typeface="Aptos" panose="020B0004020202020204" pitchFamily="34" charset="0"/>
                <a:cs typeface="Times New Roman" panose="02020603050405020304" pitchFamily="18" charset="0"/>
              </a:rPr>
              <a:t>Nachahmbarkeit</a:t>
            </a:r>
          </a:p>
          <a:p>
            <a:pPr>
              <a:lnSpc>
                <a:spcPct val="107000"/>
              </a:lnSpc>
            </a:pPr>
            <a:r>
              <a:rPr lang="de-DE" sz="2000" b="1" kern="100" dirty="0">
                <a:effectLst/>
                <a:ea typeface="Aptos" panose="020B0004020202020204" pitchFamily="34" charset="0"/>
                <a:cs typeface="Times New Roman" panose="02020603050405020304" pitchFamily="18" charset="0"/>
              </a:rPr>
              <a:t>Hoher Kostenfaktor</a:t>
            </a:r>
            <a:r>
              <a:rPr lang="de-DE" sz="2000" kern="100" dirty="0">
                <a:effectLst/>
                <a:ea typeface="Aptos" panose="020B0004020202020204" pitchFamily="34" charset="0"/>
                <a:cs typeface="Times New Roman" panose="02020603050405020304" pitchFamily="18" charset="0"/>
              </a:rPr>
              <a:t>, daher nur bei hohem Schutzniveau und eher die Ausnahme</a:t>
            </a:r>
          </a:p>
          <a:p>
            <a:pPr>
              <a:lnSpc>
                <a:spcPct val="107000"/>
              </a:lnSpc>
              <a:spcAft>
                <a:spcPts val="800"/>
              </a:spcAft>
            </a:pPr>
            <a:r>
              <a:rPr lang="de-DE" sz="2000" b="1" kern="100" dirty="0">
                <a:effectLst/>
                <a:ea typeface="Aptos" panose="020B0004020202020204" pitchFamily="34" charset="0"/>
                <a:cs typeface="Times New Roman" panose="02020603050405020304" pitchFamily="18" charset="0"/>
              </a:rPr>
              <a:t>Umstritten</a:t>
            </a:r>
            <a:r>
              <a:rPr lang="de-DE" sz="2000" kern="100" dirty="0">
                <a:effectLst/>
                <a:ea typeface="Aptos" panose="020B0004020202020204" pitchFamily="34" charset="0"/>
                <a:cs typeface="Times New Roman" panose="02020603050405020304" pitchFamily="18" charset="0"/>
              </a:rPr>
              <a:t>, da Privatsphäre bedroht wird (i.d.R. ist eine </a:t>
            </a:r>
            <a:r>
              <a:rPr lang="de-DE" sz="2000" b="1" kern="100" dirty="0">
                <a:effectLst/>
                <a:ea typeface="Aptos" panose="020B0004020202020204" pitchFamily="34" charset="0"/>
                <a:cs typeface="Times New Roman" panose="02020603050405020304" pitchFamily="18" charset="0"/>
              </a:rPr>
              <a:t>DSFA erforderlich</a:t>
            </a:r>
            <a:r>
              <a:rPr lang="de-DE" sz="2000" kern="100" dirty="0">
                <a:effectLst/>
                <a:ea typeface="Aptos" panose="020B0004020202020204" pitchFamily="34" charset="0"/>
                <a:cs typeface="Times New Roman" panose="02020603050405020304" pitchFamily="18" charset="0"/>
              </a:rPr>
              <a:t>)</a:t>
            </a:r>
          </a:p>
          <a:p>
            <a:pPr>
              <a:lnSpc>
                <a:spcPct val="107000"/>
              </a:lnSpc>
              <a:spcAft>
                <a:spcPts val="800"/>
              </a:spcAft>
            </a:pPr>
            <a:endParaRPr lang="de-DE" sz="2000" kern="100" dirty="0">
              <a:effectLst/>
              <a:ea typeface="Aptos" panose="020B0004020202020204" pitchFamily="34" charset="0"/>
              <a:cs typeface="Times New Roman" panose="02020603050405020304" pitchFamily="18" charset="0"/>
            </a:endParaRPr>
          </a:p>
          <a:p>
            <a:endParaRPr lang="de-DE" sz="2000" dirty="0"/>
          </a:p>
        </p:txBody>
      </p:sp>
      <p:sp>
        <p:nvSpPr>
          <p:cNvPr id="4" name="Fußzeilenplatzhalter 3">
            <a:extLst>
              <a:ext uri="{FF2B5EF4-FFF2-40B4-BE49-F238E27FC236}">
                <a16:creationId xmlns:a16="http://schemas.microsoft.com/office/drawing/2014/main" id="{3AEEB6E9-D617-2FBB-8EB6-8E8EA0F561E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B5FDEA4C-4DE2-C396-37D3-748AD32880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7490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73E836B-1E2C-560E-633B-AF2B22A85E68}"/>
              </a:ext>
            </a:extLst>
          </p:cNvPr>
          <p:cNvSpPr>
            <a:spLocks noGrp="1"/>
          </p:cNvSpPr>
          <p:nvPr>
            <p:ph type="title"/>
          </p:nvPr>
        </p:nvSpPr>
        <p:spPr>
          <a:xfrm>
            <a:off x="838200" y="365126"/>
            <a:ext cx="10515600" cy="695190"/>
          </a:xfrm>
          <a:noFill/>
        </p:spPr>
        <p:txBody>
          <a:bodyPr>
            <a:normAutofit fontScale="90000"/>
          </a:bodyPr>
          <a:lstStyle/>
          <a:p>
            <a:r>
              <a:rPr lang="de-DE" dirty="0"/>
              <a:t>2FA- / MFA- Authentifizierung</a:t>
            </a:r>
          </a:p>
        </p:txBody>
      </p:sp>
      <p:sp>
        <p:nvSpPr>
          <p:cNvPr id="7" name="Inhaltsplatzhalter 6">
            <a:extLst>
              <a:ext uri="{FF2B5EF4-FFF2-40B4-BE49-F238E27FC236}">
                <a16:creationId xmlns:a16="http://schemas.microsoft.com/office/drawing/2014/main" id="{7F197275-F01A-0AF1-2642-650DA2DE62C3}"/>
              </a:ext>
            </a:extLst>
          </p:cNvPr>
          <p:cNvSpPr>
            <a:spLocks noGrp="1"/>
          </p:cNvSpPr>
          <p:nvPr>
            <p:ph sz="half" idx="1"/>
          </p:nvPr>
        </p:nvSpPr>
        <p:spPr>
          <a:xfrm>
            <a:off x="838200" y="1478604"/>
            <a:ext cx="5181600" cy="4698359"/>
          </a:xfrm>
        </p:spPr>
        <p:txBody>
          <a:bodyPr>
            <a:noAutofit/>
          </a:bodyPr>
          <a:lstStyle/>
          <a:p>
            <a:pPr marL="342900" lvl="0" indent="-342900">
              <a:lnSpc>
                <a:spcPct val="107000"/>
              </a:lnSpc>
              <a:buFont typeface="Symbol" panose="05050102010706020507" pitchFamily="18" charset="2"/>
              <a:buChar char=""/>
            </a:pPr>
            <a:r>
              <a:rPr lang="de-DE" sz="1600" kern="100" dirty="0">
                <a:effectLst/>
                <a:ea typeface="Aptos" panose="020B0004020202020204" pitchFamily="34" charset="0"/>
                <a:cs typeface="Times New Roman" panose="02020603050405020304" pitchFamily="18" charset="0"/>
              </a:rPr>
              <a:t>Zu oft werden Zutritts- und Zugangsregelungen </a:t>
            </a:r>
            <a:r>
              <a:rPr lang="de-DE" sz="1600" b="1" kern="100" dirty="0">
                <a:effectLst/>
                <a:ea typeface="Aptos" panose="020B0004020202020204" pitchFamily="34" charset="0"/>
                <a:cs typeface="Times New Roman" panose="02020603050405020304" pitchFamily="18" charset="0"/>
              </a:rPr>
              <a:t>kompromittiert</a:t>
            </a:r>
            <a:endParaRPr lang="de-DE" sz="16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1600" b="1" kern="100" dirty="0">
                <a:effectLst/>
                <a:ea typeface="Aptos" panose="020B0004020202020204" pitchFamily="34" charset="0"/>
                <a:cs typeface="Times New Roman" panose="02020603050405020304" pitchFamily="18" charset="0"/>
              </a:rPr>
              <a:t>Passwörter</a:t>
            </a:r>
            <a:r>
              <a:rPr lang="de-DE" sz="1600" kern="100" dirty="0">
                <a:effectLst/>
                <a:ea typeface="Aptos" panose="020B0004020202020204" pitchFamily="34" charset="0"/>
                <a:cs typeface="Times New Roman" panose="02020603050405020304" pitchFamily="18" charset="0"/>
              </a:rPr>
              <a:t> der MA sind leicht zu </a:t>
            </a:r>
            <a:r>
              <a:rPr lang="de-DE" sz="1600" b="1" kern="100" dirty="0">
                <a:effectLst/>
                <a:ea typeface="Aptos" panose="020B0004020202020204" pitchFamily="34" charset="0"/>
                <a:cs typeface="Times New Roman" panose="02020603050405020304" pitchFamily="18" charset="0"/>
              </a:rPr>
              <a:t>erraten</a:t>
            </a:r>
            <a:r>
              <a:rPr lang="de-DE" sz="1600" kern="100" dirty="0">
                <a:effectLst/>
                <a:ea typeface="Aptos" panose="020B0004020202020204" pitchFamily="34" charset="0"/>
                <a:cs typeface="Times New Roman" panose="02020603050405020304" pitchFamily="18" charset="0"/>
              </a:rPr>
              <a:t> </a:t>
            </a:r>
            <a:r>
              <a:rPr lang="de-DE" sz="1600" b="1" kern="100" dirty="0">
                <a:effectLst/>
                <a:ea typeface="Aptos" panose="020B0004020202020204" pitchFamily="34" charset="0"/>
                <a:cs typeface="Times New Roman" panose="02020603050405020304" pitchFamily="18" charset="0"/>
              </a:rPr>
              <a:t>oder</a:t>
            </a:r>
            <a:r>
              <a:rPr lang="de-DE" sz="1600" kern="100" dirty="0">
                <a:effectLst/>
                <a:ea typeface="Aptos" panose="020B0004020202020204" pitchFamily="34" charset="0"/>
                <a:cs typeface="Times New Roman" panose="02020603050405020304" pitchFamily="18" charset="0"/>
              </a:rPr>
              <a:t> wurden </a:t>
            </a:r>
            <a:r>
              <a:rPr lang="de-DE" sz="1600" b="1" kern="100" dirty="0">
                <a:effectLst/>
                <a:ea typeface="Aptos" panose="020B0004020202020204" pitchFamily="34" charset="0"/>
                <a:cs typeface="Times New Roman" panose="02020603050405020304" pitchFamily="18" charset="0"/>
              </a:rPr>
              <a:t>ausgespäht</a:t>
            </a:r>
            <a:endParaRPr lang="de-DE" sz="16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1600" b="1" kern="100" dirty="0">
                <a:effectLst/>
                <a:ea typeface="Aptos" panose="020B0004020202020204" pitchFamily="34" charset="0"/>
                <a:cs typeface="Times New Roman" panose="02020603050405020304" pitchFamily="18" charset="0"/>
              </a:rPr>
              <a:t>Büroschlüssel</a:t>
            </a:r>
            <a:r>
              <a:rPr lang="de-DE" sz="1600" kern="100" dirty="0">
                <a:effectLst/>
                <a:ea typeface="Aptos" panose="020B0004020202020204" pitchFamily="34" charset="0"/>
                <a:cs typeface="Times New Roman" panose="02020603050405020304" pitchFamily="18" charset="0"/>
              </a:rPr>
              <a:t> gehen </a:t>
            </a:r>
            <a:r>
              <a:rPr lang="de-DE" sz="1600" b="1" kern="100" dirty="0">
                <a:effectLst/>
                <a:ea typeface="Aptos" panose="020B0004020202020204" pitchFamily="34" charset="0"/>
                <a:cs typeface="Times New Roman" panose="02020603050405020304" pitchFamily="18" charset="0"/>
              </a:rPr>
              <a:t>verloren</a:t>
            </a:r>
            <a:r>
              <a:rPr lang="de-DE" sz="1600" kern="100" dirty="0">
                <a:effectLst/>
                <a:ea typeface="Aptos" panose="020B0004020202020204" pitchFamily="34" charset="0"/>
                <a:cs typeface="Times New Roman" panose="02020603050405020304" pitchFamily="18" charset="0"/>
              </a:rPr>
              <a:t> oder wurden bewusst </a:t>
            </a:r>
            <a:r>
              <a:rPr lang="de-DE" sz="1600" b="1" kern="100" dirty="0">
                <a:effectLst/>
                <a:ea typeface="Aptos" panose="020B0004020202020204" pitchFamily="34" charset="0"/>
                <a:cs typeface="Times New Roman" panose="02020603050405020304" pitchFamily="18" charset="0"/>
              </a:rPr>
              <a:t>an Dritte weitergegeben</a:t>
            </a:r>
            <a:endParaRPr lang="de-DE" sz="16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1600" kern="100" dirty="0">
                <a:effectLst/>
                <a:ea typeface="Aptos" panose="020B0004020202020204" pitchFamily="34" charset="0"/>
                <a:cs typeface="Times New Roman" panose="02020603050405020304" pitchFamily="18" charset="0"/>
              </a:rPr>
              <a:t>Um diese </a:t>
            </a:r>
            <a:r>
              <a:rPr lang="de-DE" sz="1600" b="1" kern="100" dirty="0">
                <a:effectLst/>
                <a:ea typeface="Aptos" panose="020B0004020202020204" pitchFamily="34" charset="0"/>
                <a:cs typeface="Times New Roman" panose="02020603050405020304" pitchFamily="18" charset="0"/>
              </a:rPr>
              <a:t>Sicherheitslücken</a:t>
            </a:r>
            <a:r>
              <a:rPr lang="de-DE" sz="1600" kern="100" dirty="0">
                <a:effectLst/>
                <a:ea typeface="Aptos" panose="020B0004020202020204" pitchFamily="34" charset="0"/>
                <a:cs typeface="Times New Roman" panose="02020603050405020304" pitchFamily="18" charset="0"/>
              </a:rPr>
              <a:t> zu </a:t>
            </a:r>
            <a:r>
              <a:rPr lang="de-DE" sz="1600" b="1" kern="100" dirty="0">
                <a:effectLst/>
                <a:ea typeface="Aptos" panose="020B0004020202020204" pitchFamily="34" charset="0"/>
                <a:cs typeface="Times New Roman" panose="02020603050405020304" pitchFamily="18" charset="0"/>
              </a:rPr>
              <a:t>schließen</a:t>
            </a:r>
            <a:r>
              <a:rPr lang="de-DE" sz="1600" kern="100" dirty="0">
                <a:effectLst/>
                <a:ea typeface="Aptos" panose="020B0004020202020204" pitchFamily="34" charset="0"/>
                <a:cs typeface="Times New Roman" panose="02020603050405020304" pitchFamily="18" charset="0"/>
              </a:rPr>
              <a:t> und um der Anforderung „Stand der Technik“ gerecht zu werden hilft eine Sicherung </a:t>
            </a:r>
            <a:r>
              <a:rPr lang="de-DE" sz="1600" b="1" kern="100" dirty="0">
                <a:effectLst/>
                <a:ea typeface="Aptos" panose="020B0004020202020204" pitchFamily="34" charset="0"/>
                <a:cs typeface="Times New Roman" panose="02020603050405020304" pitchFamily="18" charset="0"/>
              </a:rPr>
              <a:t>über 2FA</a:t>
            </a:r>
            <a:r>
              <a:rPr lang="de-DE" sz="1600" kern="100" dirty="0">
                <a:effectLst/>
                <a:ea typeface="Aptos" panose="020B0004020202020204" pitchFamily="34" charset="0"/>
                <a:cs typeface="Times New Roman" panose="02020603050405020304" pitchFamily="18" charset="0"/>
              </a:rPr>
              <a:t> </a:t>
            </a:r>
            <a:r>
              <a:rPr lang="de-DE" sz="1600" b="1" kern="100" dirty="0">
                <a:effectLst/>
                <a:ea typeface="Aptos" panose="020B0004020202020204" pitchFamily="34" charset="0"/>
                <a:cs typeface="Times New Roman" panose="02020603050405020304" pitchFamily="18" charset="0"/>
              </a:rPr>
              <a:t>oder</a:t>
            </a:r>
            <a:r>
              <a:rPr lang="de-DE" sz="1600" kern="100" dirty="0">
                <a:effectLst/>
                <a:ea typeface="Aptos" panose="020B0004020202020204" pitchFamily="34" charset="0"/>
                <a:cs typeface="Times New Roman" panose="02020603050405020304" pitchFamily="18" charset="0"/>
              </a:rPr>
              <a:t> sogar Multi-Faktor-Authentifizierung (</a:t>
            </a:r>
            <a:r>
              <a:rPr lang="de-DE" sz="1600" b="1" kern="100" dirty="0">
                <a:effectLst/>
                <a:ea typeface="Aptos" panose="020B0004020202020204" pitchFamily="34" charset="0"/>
                <a:cs typeface="Times New Roman" panose="02020603050405020304" pitchFamily="18" charset="0"/>
              </a:rPr>
              <a:t>MFA</a:t>
            </a:r>
            <a:r>
              <a:rPr lang="de-DE" sz="1600" kern="100" dirty="0">
                <a:effectLst/>
                <a:ea typeface="Aptos" panose="020B0004020202020204" pitchFamily="34" charset="0"/>
                <a:cs typeface="Times New Roman" panose="02020603050405020304" pitchFamily="18" charset="0"/>
              </a:rPr>
              <a:t>)</a:t>
            </a:r>
          </a:p>
          <a:p>
            <a:pPr marL="342900" lvl="0" indent="-342900">
              <a:lnSpc>
                <a:spcPct val="107000"/>
              </a:lnSpc>
              <a:buFont typeface="Symbol" panose="05050102010706020507" pitchFamily="18" charset="2"/>
              <a:buChar char=""/>
            </a:pPr>
            <a:r>
              <a:rPr lang="de-DE" sz="1600" kern="100" dirty="0">
                <a:effectLst/>
                <a:ea typeface="Aptos" panose="020B0004020202020204" pitchFamily="34" charset="0"/>
                <a:cs typeface="Times New Roman" panose="02020603050405020304" pitchFamily="18" charset="0"/>
              </a:rPr>
              <a:t>Es werden also </a:t>
            </a:r>
            <a:r>
              <a:rPr lang="de-DE" sz="1600" b="1" kern="100" dirty="0">
                <a:effectLst/>
                <a:ea typeface="Aptos" panose="020B0004020202020204" pitchFamily="34" charset="0"/>
                <a:cs typeface="Times New Roman" panose="02020603050405020304" pitchFamily="18" charset="0"/>
              </a:rPr>
              <a:t>mehrere Zugangsregelungen kombiniert</a:t>
            </a:r>
            <a:endParaRPr lang="de-DE" sz="1600" kern="100" dirty="0">
              <a:effectLst/>
              <a:ea typeface="Aptos" panose="020B0004020202020204" pitchFamily="34" charset="0"/>
              <a:cs typeface="Times New Roman" panose="02020603050405020304" pitchFamily="18" charset="0"/>
            </a:endParaRPr>
          </a:p>
          <a:p>
            <a:pPr marL="342900" lvl="0" indent="-342900">
              <a:lnSpc>
                <a:spcPct val="107000"/>
              </a:lnSpc>
              <a:buFont typeface="+mj-lt"/>
              <a:buAutoNum type="arabicPeriod"/>
            </a:pPr>
            <a:r>
              <a:rPr lang="de-DE" sz="1600" kern="100" dirty="0">
                <a:effectLst/>
                <a:ea typeface="Aptos" panose="020B0004020202020204" pitchFamily="34" charset="0"/>
                <a:cs typeface="Times New Roman" panose="02020603050405020304" pitchFamily="18" charset="0"/>
              </a:rPr>
              <a:t>Faktor: 	</a:t>
            </a:r>
            <a:r>
              <a:rPr lang="de-DE" sz="1600" b="1" kern="100" dirty="0">
                <a:effectLst/>
                <a:ea typeface="Aptos" panose="020B0004020202020204" pitchFamily="34" charset="0"/>
                <a:cs typeface="Times New Roman" panose="02020603050405020304" pitchFamily="18" charset="0"/>
              </a:rPr>
              <a:t>Benutzername &amp; Passwort</a:t>
            </a:r>
          </a:p>
          <a:p>
            <a:pPr marL="342900" lvl="0" indent="-342900">
              <a:lnSpc>
                <a:spcPct val="107000"/>
              </a:lnSpc>
              <a:buFont typeface="+mj-lt"/>
              <a:buAutoNum type="arabicPeriod"/>
            </a:pPr>
            <a:r>
              <a:rPr lang="de-DE" sz="1600" kern="100" dirty="0">
                <a:effectLst/>
                <a:ea typeface="Aptos" panose="020B0004020202020204" pitchFamily="34" charset="0"/>
                <a:cs typeface="Times New Roman" panose="02020603050405020304" pitchFamily="18" charset="0"/>
              </a:rPr>
              <a:t>Faktor:	</a:t>
            </a:r>
            <a:r>
              <a:rPr lang="de-DE" sz="1600" b="1" kern="100" dirty="0">
                <a:effectLst/>
                <a:ea typeface="Aptos" panose="020B0004020202020204" pitchFamily="34" charset="0"/>
                <a:cs typeface="Times New Roman" panose="02020603050405020304" pitchFamily="18" charset="0"/>
              </a:rPr>
              <a:t>Chipkarte</a:t>
            </a:r>
            <a:endParaRPr lang="de-DE" sz="1600" kern="100" dirty="0">
              <a:effectLst/>
              <a:ea typeface="Aptos" panose="020B0004020202020204" pitchFamily="34" charset="0"/>
              <a:cs typeface="Times New Roman" panose="02020603050405020304" pitchFamily="18" charset="0"/>
            </a:endParaRPr>
          </a:p>
          <a:p>
            <a:endParaRPr lang="de-DE" sz="1600" dirty="0"/>
          </a:p>
        </p:txBody>
      </p:sp>
      <p:sp>
        <p:nvSpPr>
          <p:cNvPr id="8" name="Inhaltsplatzhalter 7">
            <a:extLst>
              <a:ext uri="{FF2B5EF4-FFF2-40B4-BE49-F238E27FC236}">
                <a16:creationId xmlns:a16="http://schemas.microsoft.com/office/drawing/2014/main" id="{7055532C-830C-B0A8-A7D0-2287BB10BFBE}"/>
              </a:ext>
            </a:extLst>
          </p:cNvPr>
          <p:cNvSpPr>
            <a:spLocks noGrp="1"/>
          </p:cNvSpPr>
          <p:nvPr>
            <p:ph sz="half" idx="2"/>
          </p:nvPr>
        </p:nvSpPr>
        <p:spPr>
          <a:xfrm>
            <a:off x="6172200" y="1478604"/>
            <a:ext cx="5181600" cy="4698359"/>
          </a:xfrm>
        </p:spPr>
        <p:txBody>
          <a:bodyPr>
            <a:normAutofit/>
          </a:bodyPr>
          <a:lstStyle/>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Die </a:t>
            </a:r>
            <a:r>
              <a:rPr lang="de-DE" sz="2000" b="1" kern="100" dirty="0">
                <a:effectLst/>
                <a:ea typeface="Aptos" panose="020B0004020202020204" pitchFamily="34" charset="0"/>
                <a:cs typeface="Times New Roman" panose="02020603050405020304" pitchFamily="18" charset="0"/>
              </a:rPr>
              <a:t>Wahrscheinlichkeit</a:t>
            </a:r>
            <a:r>
              <a:rPr lang="de-DE" sz="2000" kern="100" dirty="0">
                <a:effectLst/>
                <a:ea typeface="Aptos" panose="020B0004020202020204" pitchFamily="34" charset="0"/>
                <a:cs typeface="Times New Roman" panose="02020603050405020304" pitchFamily="18" charset="0"/>
              </a:rPr>
              <a:t>, dass beide Faktoren verloren gehen oder gestohlen werden ist </a:t>
            </a:r>
            <a:r>
              <a:rPr lang="de-DE" sz="2000" b="1" kern="100" dirty="0">
                <a:effectLst/>
                <a:ea typeface="Aptos" panose="020B0004020202020204" pitchFamily="34" charset="0"/>
                <a:cs typeface="Times New Roman" panose="02020603050405020304" pitchFamily="18" charset="0"/>
              </a:rPr>
              <a:t>gering</a:t>
            </a:r>
            <a:r>
              <a:rPr lang="de-DE" sz="2000" kern="100" dirty="0">
                <a:effectLst/>
                <a:ea typeface="Aptos" panose="020B0004020202020204" pitchFamily="34" charset="0"/>
                <a:cs typeface="Times New Roman" panose="02020603050405020304" pitchFamily="18" charset="0"/>
              </a:rPr>
              <a:t>. Mit </a:t>
            </a:r>
            <a:r>
              <a:rPr lang="de-DE" sz="2000" b="1" kern="100" dirty="0">
                <a:effectLst/>
                <a:ea typeface="Aptos" panose="020B0004020202020204" pitchFamily="34" charset="0"/>
                <a:cs typeface="Times New Roman" panose="02020603050405020304" pitchFamily="18" charset="0"/>
              </a:rPr>
              <a:t>zunehmender Anzahl der Faktoren</a:t>
            </a:r>
            <a:r>
              <a:rPr lang="de-DE" sz="2000" kern="100" dirty="0">
                <a:effectLst/>
                <a:ea typeface="Aptos" panose="020B0004020202020204" pitchFamily="34" charset="0"/>
                <a:cs typeface="Times New Roman" panose="02020603050405020304" pitchFamily="18" charset="0"/>
              </a:rPr>
              <a:t> wird die </a:t>
            </a:r>
            <a:r>
              <a:rPr lang="de-DE" sz="2000" b="1" kern="100" dirty="0">
                <a:effectLst/>
                <a:ea typeface="Aptos" panose="020B0004020202020204" pitchFamily="34" charset="0"/>
                <a:cs typeface="Times New Roman" panose="02020603050405020304" pitchFamily="18" charset="0"/>
              </a:rPr>
              <a:t>Sicherheit erhöht.</a:t>
            </a:r>
            <a:endParaRPr lang="de-DE" sz="2000" kern="100" dirty="0">
              <a:effectLst/>
              <a:ea typeface="Aptos" panose="020B0004020202020204" pitchFamily="34" charset="0"/>
              <a:cs typeface="Times New Roman" panose="02020603050405020304" pitchFamily="18" charset="0"/>
            </a:endParaRPr>
          </a:p>
          <a:p>
            <a:pPr>
              <a:lnSpc>
                <a:spcPct val="107000"/>
              </a:lnSpc>
              <a:spcAft>
                <a:spcPts val="800"/>
              </a:spcAft>
            </a:pPr>
            <a:r>
              <a:rPr lang="de-DE" sz="2000" kern="100" dirty="0">
                <a:effectLst/>
                <a:ea typeface="Aptos" panose="020B0004020202020204" pitchFamily="34" charset="0"/>
                <a:cs typeface="Times New Roman" panose="02020603050405020304" pitchFamily="18" charset="0"/>
              </a:rPr>
              <a:t>Als </a:t>
            </a:r>
            <a:r>
              <a:rPr lang="de-DE" sz="2000" b="1" kern="100" dirty="0">
                <a:effectLst/>
                <a:ea typeface="Aptos" panose="020B0004020202020204" pitchFamily="34" charset="0"/>
                <a:cs typeface="Times New Roman" panose="02020603050405020304" pitchFamily="18" charset="0"/>
              </a:rPr>
              <a:t>zweiter Faktor</a:t>
            </a:r>
            <a:r>
              <a:rPr lang="de-DE" sz="2000" kern="100" dirty="0">
                <a:effectLst/>
                <a:ea typeface="Aptos" panose="020B0004020202020204" pitchFamily="34" charset="0"/>
                <a:cs typeface="Times New Roman" panose="02020603050405020304" pitchFamily="18" charset="0"/>
              </a:rPr>
              <a:t> kann auch ein </a:t>
            </a:r>
            <a:r>
              <a:rPr lang="de-DE" sz="2000" b="1" kern="100" dirty="0">
                <a:effectLst/>
                <a:ea typeface="Aptos" panose="020B0004020202020204" pitchFamily="34" charset="0"/>
                <a:cs typeface="Times New Roman" panose="02020603050405020304" pitchFamily="18" charset="0"/>
              </a:rPr>
              <a:t>PIN</a:t>
            </a:r>
            <a:r>
              <a:rPr lang="de-DE" sz="2000" kern="100" dirty="0">
                <a:effectLst/>
                <a:ea typeface="Aptos" panose="020B0004020202020204" pitchFamily="34" charset="0"/>
                <a:cs typeface="Times New Roman" panose="02020603050405020304" pitchFamily="18" charset="0"/>
              </a:rPr>
              <a:t> genutzt werden, der über Empfänger abgerufen wird. (z.B. </a:t>
            </a:r>
            <a:r>
              <a:rPr lang="de-DE" sz="2000" b="1" kern="100" dirty="0">
                <a:effectLst/>
                <a:ea typeface="Aptos" panose="020B0004020202020204" pitchFamily="34" charset="0"/>
                <a:cs typeface="Times New Roman" panose="02020603050405020304" pitchFamily="18" charset="0"/>
              </a:rPr>
              <a:t>Token oder Smartphone</a:t>
            </a:r>
            <a:r>
              <a:rPr lang="de-DE" sz="2000" kern="100" dirty="0">
                <a:effectLst/>
                <a:ea typeface="Aptos" panose="020B0004020202020204" pitchFamily="34" charset="0"/>
                <a:cs typeface="Times New Roman" panose="02020603050405020304" pitchFamily="18" charset="0"/>
              </a:rPr>
              <a:t>). Dieses </a:t>
            </a:r>
            <a:r>
              <a:rPr lang="de-DE" sz="2000" b="1" kern="100" dirty="0">
                <a:effectLst/>
                <a:ea typeface="Aptos" panose="020B0004020202020204" pitchFamily="34" charset="0"/>
                <a:cs typeface="Times New Roman" panose="02020603050405020304" pitchFamily="18" charset="0"/>
              </a:rPr>
              <a:t>Einmalpasswort</a:t>
            </a:r>
            <a:r>
              <a:rPr lang="de-DE" sz="2000" kern="100" dirty="0">
                <a:effectLst/>
                <a:ea typeface="Aptos" panose="020B0004020202020204" pitchFamily="34" charset="0"/>
                <a:cs typeface="Times New Roman" panose="02020603050405020304" pitchFamily="18" charset="0"/>
              </a:rPr>
              <a:t> ist nur </a:t>
            </a:r>
            <a:r>
              <a:rPr lang="de-DE" sz="2000" b="1" kern="100" dirty="0">
                <a:effectLst/>
                <a:ea typeface="Aptos" panose="020B0004020202020204" pitchFamily="34" charset="0"/>
                <a:cs typeface="Times New Roman" panose="02020603050405020304" pitchFamily="18" charset="0"/>
              </a:rPr>
              <a:t>kurze Zeit gültig</a:t>
            </a:r>
            <a:r>
              <a:rPr lang="de-DE" sz="2000" kern="100" dirty="0">
                <a:effectLst/>
                <a:ea typeface="Aptos" panose="020B0004020202020204" pitchFamily="34" charset="0"/>
                <a:cs typeface="Times New Roman" panose="02020603050405020304" pitchFamily="18" charset="0"/>
              </a:rPr>
              <a:t>. (z.B. Authenticator-App </a:t>
            </a:r>
            <a:r>
              <a:rPr lang="de-DE" sz="2000" b="1" kern="100" dirty="0">
                <a:effectLst/>
                <a:ea typeface="Aptos" panose="020B0004020202020204" pitchFamily="34" charset="0"/>
                <a:cs typeface="Times New Roman" panose="02020603050405020304" pitchFamily="18" charset="0"/>
              </a:rPr>
              <a:t>656 817</a:t>
            </a:r>
            <a:r>
              <a:rPr lang="de-DE" sz="2000" kern="100" dirty="0">
                <a:effectLst/>
                <a:ea typeface="Aptos" panose="020B0004020202020204" pitchFamily="34" charset="0"/>
                <a:cs typeface="Times New Roman" panose="02020603050405020304" pitchFamily="18" charset="0"/>
              </a:rPr>
              <a:t>)</a:t>
            </a:r>
          </a:p>
          <a:p>
            <a:endParaRPr lang="de-DE" sz="2000" dirty="0"/>
          </a:p>
        </p:txBody>
      </p:sp>
      <p:sp>
        <p:nvSpPr>
          <p:cNvPr id="4" name="Fußzeilenplatzhalter 3">
            <a:extLst>
              <a:ext uri="{FF2B5EF4-FFF2-40B4-BE49-F238E27FC236}">
                <a16:creationId xmlns:a16="http://schemas.microsoft.com/office/drawing/2014/main" id="{0A4A3179-0A90-1E9A-EC6A-96EC950AEA8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F887B34D-88F3-C9A2-8B76-B4BC2F7A5F9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6774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59435CC-9D1D-E6ED-231E-E4DD612F0841}"/>
              </a:ext>
            </a:extLst>
          </p:cNvPr>
          <p:cNvSpPr>
            <a:spLocks noGrp="1"/>
          </p:cNvSpPr>
          <p:nvPr>
            <p:ph type="title"/>
          </p:nvPr>
        </p:nvSpPr>
        <p:spPr/>
        <p:txBody>
          <a:bodyPr/>
          <a:lstStyle/>
          <a:p>
            <a:r>
              <a:rPr lang="de-DE" dirty="0"/>
              <a:t>2FA / MFA / TOKEN</a:t>
            </a:r>
          </a:p>
        </p:txBody>
      </p:sp>
      <p:sp>
        <p:nvSpPr>
          <p:cNvPr id="8" name="Inhaltsplatzhalter 7">
            <a:extLst>
              <a:ext uri="{FF2B5EF4-FFF2-40B4-BE49-F238E27FC236}">
                <a16:creationId xmlns:a16="http://schemas.microsoft.com/office/drawing/2014/main" id="{B09E5BEB-C81D-5310-BF8E-5A01A9AE88F4}"/>
              </a:ext>
            </a:extLst>
          </p:cNvPr>
          <p:cNvSpPr>
            <a:spLocks noGrp="1"/>
          </p:cNvSpPr>
          <p:nvPr>
            <p:ph idx="1"/>
          </p:nvPr>
        </p:nvSpPr>
        <p:spPr/>
        <p:txBody>
          <a:bodyPr>
            <a:normAutofit/>
          </a:bodyPr>
          <a:lstStyle/>
          <a:p>
            <a:pPr>
              <a:lnSpc>
                <a:spcPct val="107000"/>
              </a:lnSpc>
              <a:spcAft>
                <a:spcPts val="800"/>
              </a:spcAft>
            </a:pPr>
            <a:r>
              <a:rPr lang="de-DE" sz="2400" kern="100" dirty="0">
                <a:effectLst/>
                <a:ea typeface="Aptos" panose="020B0004020202020204" pitchFamily="34" charset="0"/>
                <a:cs typeface="Times New Roman" panose="02020603050405020304" pitchFamily="18" charset="0"/>
              </a:rPr>
              <a:t>Kleine technische Geräte, die transportabel und ortsunabhängig eingesetzt werden können</a:t>
            </a:r>
          </a:p>
          <a:p>
            <a:pPr>
              <a:lnSpc>
                <a:spcPct val="107000"/>
              </a:lnSpc>
              <a:spcAft>
                <a:spcPts val="800"/>
              </a:spcAft>
            </a:pPr>
            <a:r>
              <a:rPr lang="de-DE" sz="2400" kern="100" dirty="0">
                <a:effectLst/>
                <a:ea typeface="Aptos" panose="020B0004020202020204" pitchFamily="34" charset="0"/>
                <a:cs typeface="Times New Roman" panose="02020603050405020304" pitchFamily="18" charset="0"/>
              </a:rPr>
              <a:t>2FA z.B. beim Online-Banking (TAN, Push-TAN, SMS-TAN)</a:t>
            </a:r>
          </a:p>
          <a:p>
            <a:pPr>
              <a:lnSpc>
                <a:spcPct val="107000"/>
              </a:lnSpc>
              <a:spcAft>
                <a:spcPts val="800"/>
              </a:spcAft>
            </a:pPr>
            <a:r>
              <a:rPr lang="de-DE" sz="2400" b="1" u="sng" kern="100" dirty="0">
                <a:effectLst/>
                <a:ea typeface="Aptos" panose="020B0004020202020204" pitchFamily="34" charset="0"/>
                <a:cs typeface="Times New Roman" panose="02020603050405020304" pitchFamily="18" charset="0"/>
              </a:rPr>
              <a:t>Höchster Sicherheitsstand durch die perfekte Kombination der drei Authentifizierungs-Faktoren:</a:t>
            </a:r>
            <a:endParaRPr lang="de-DE" sz="2400" kern="100" dirty="0">
              <a:effectLst/>
              <a:ea typeface="Aptos" panose="020B0004020202020204" pitchFamily="34" charset="0"/>
              <a:cs typeface="Times New Roman" panose="02020603050405020304" pitchFamily="18" charset="0"/>
            </a:endParaRPr>
          </a:p>
          <a:p>
            <a:endParaRPr lang="de-DE" sz="2400" dirty="0"/>
          </a:p>
        </p:txBody>
      </p:sp>
      <p:sp>
        <p:nvSpPr>
          <p:cNvPr id="5" name="Fußzeilenplatzhalter 4">
            <a:extLst>
              <a:ext uri="{FF2B5EF4-FFF2-40B4-BE49-F238E27FC236}">
                <a16:creationId xmlns:a16="http://schemas.microsoft.com/office/drawing/2014/main" id="{8711CA35-8823-D9DA-2440-F8C7C6243DF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6" name="Foliennummernplatzhalter 5">
            <a:extLst>
              <a:ext uri="{FF2B5EF4-FFF2-40B4-BE49-F238E27FC236}">
                <a16:creationId xmlns:a16="http://schemas.microsoft.com/office/drawing/2014/main" id="{7E47932F-8C76-706D-B8EE-D8A8EC3B1B5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aphicFrame>
        <p:nvGraphicFramePr>
          <p:cNvPr id="11" name="Tabelle 10">
            <a:extLst>
              <a:ext uri="{FF2B5EF4-FFF2-40B4-BE49-F238E27FC236}">
                <a16:creationId xmlns:a16="http://schemas.microsoft.com/office/drawing/2014/main" id="{BFE7A206-84D6-BCD5-ACA0-4A82CA57B937}"/>
              </a:ext>
            </a:extLst>
          </p:cNvPr>
          <p:cNvGraphicFramePr>
            <a:graphicFrameLocks noGrp="1"/>
          </p:cNvGraphicFramePr>
          <p:nvPr/>
        </p:nvGraphicFramePr>
        <p:xfrm>
          <a:off x="1215956" y="4396902"/>
          <a:ext cx="6507806" cy="1624518"/>
        </p:xfrm>
        <a:graphic>
          <a:graphicData uri="http://schemas.openxmlformats.org/drawingml/2006/table">
            <a:tbl>
              <a:tblPr firstRow="1" firstCol="1" bandRow="1"/>
              <a:tblGrid>
                <a:gridCol w="1228410">
                  <a:extLst>
                    <a:ext uri="{9D8B030D-6E8A-4147-A177-3AD203B41FA5}">
                      <a16:colId xmlns:a16="http://schemas.microsoft.com/office/drawing/2014/main" val="4111954125"/>
                    </a:ext>
                  </a:extLst>
                </a:gridCol>
                <a:gridCol w="5279396">
                  <a:extLst>
                    <a:ext uri="{9D8B030D-6E8A-4147-A177-3AD203B41FA5}">
                      <a16:colId xmlns:a16="http://schemas.microsoft.com/office/drawing/2014/main" val="2687417983"/>
                    </a:ext>
                  </a:extLst>
                </a:gridCol>
              </a:tblGrid>
              <a:tr h="541506">
                <a:tc>
                  <a:txBody>
                    <a:bodyPr/>
                    <a:lstStyle/>
                    <a:p>
                      <a:pPr marL="0" lvl="0" indent="0">
                        <a:lnSpc>
                          <a:spcPct val="107000"/>
                        </a:lnSpc>
                        <a:spcAft>
                          <a:spcPts val="800"/>
                        </a:spcAft>
                        <a:buFont typeface="+mj-lt"/>
                        <a:buNone/>
                      </a:pPr>
                      <a:r>
                        <a:rPr lang="de-DE" sz="2000" b="1" kern="100" dirty="0">
                          <a:effectLst/>
                          <a:latin typeface="+mn-lt"/>
                          <a:ea typeface="Aptos" panose="020B0004020202020204" pitchFamily="34" charset="0"/>
                          <a:cs typeface="Times New Roman" panose="02020603050405020304" pitchFamily="18" charset="0"/>
                        </a:rPr>
                        <a:t>1. Faktor</a:t>
                      </a:r>
                      <a:endParaRPr lang="de-DE" sz="2000" kern="100" dirty="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de-DE" sz="2000" kern="100">
                          <a:effectLst/>
                          <a:latin typeface="+mn-lt"/>
                          <a:ea typeface="Aptos" panose="020B0004020202020204" pitchFamily="34" charset="0"/>
                          <a:cs typeface="Times New Roman" panose="02020603050405020304" pitchFamily="18" charset="0"/>
                        </a:rPr>
                        <a:t>Ich </a:t>
                      </a:r>
                      <a:r>
                        <a:rPr lang="de-DE" sz="2000" b="1" kern="100">
                          <a:effectLst/>
                          <a:latin typeface="+mn-lt"/>
                          <a:ea typeface="Aptos" panose="020B0004020202020204" pitchFamily="34" charset="0"/>
                          <a:cs typeface="Times New Roman" panose="02020603050405020304" pitchFamily="18" charset="0"/>
                        </a:rPr>
                        <a:t>weiß</a:t>
                      </a:r>
                      <a:r>
                        <a:rPr lang="de-DE" sz="2000" kern="100">
                          <a:effectLst/>
                          <a:latin typeface="+mn-lt"/>
                          <a:ea typeface="Aptos" panose="020B0004020202020204" pitchFamily="34" charset="0"/>
                          <a:cs typeface="Times New Roman" panose="02020603050405020304" pitchFamily="18" charset="0"/>
                        </a:rPr>
                        <a:t> es (z.B. Passwort)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4828236"/>
                  </a:ext>
                </a:extLst>
              </a:tr>
              <a:tr h="541506">
                <a:tc>
                  <a:txBody>
                    <a:bodyPr/>
                    <a:lstStyle/>
                    <a:p>
                      <a:pPr marL="0" lvl="0" indent="0">
                        <a:lnSpc>
                          <a:spcPct val="107000"/>
                        </a:lnSpc>
                        <a:spcAft>
                          <a:spcPts val="800"/>
                        </a:spcAft>
                        <a:buFont typeface="+mj-lt"/>
                        <a:buNone/>
                      </a:pPr>
                      <a:r>
                        <a:rPr lang="de-DE" sz="2000" b="1" kern="100" dirty="0">
                          <a:effectLst/>
                          <a:latin typeface="+mn-lt"/>
                          <a:ea typeface="Aptos" panose="020B0004020202020204" pitchFamily="34" charset="0"/>
                          <a:cs typeface="Times New Roman" panose="02020603050405020304" pitchFamily="18" charset="0"/>
                        </a:rPr>
                        <a:t>2. Faktor</a:t>
                      </a:r>
                      <a:endParaRPr lang="de-DE" sz="2000" kern="100" dirty="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de-DE" sz="2000" kern="100">
                          <a:effectLst/>
                          <a:latin typeface="+mn-lt"/>
                          <a:ea typeface="Aptos" panose="020B0004020202020204" pitchFamily="34" charset="0"/>
                          <a:cs typeface="Times New Roman" panose="02020603050405020304" pitchFamily="18" charset="0"/>
                        </a:rPr>
                        <a:t>Ich </a:t>
                      </a:r>
                      <a:r>
                        <a:rPr lang="de-DE" sz="2000" b="1" kern="100">
                          <a:effectLst/>
                          <a:latin typeface="+mn-lt"/>
                          <a:ea typeface="Aptos" panose="020B0004020202020204" pitchFamily="34" charset="0"/>
                          <a:cs typeface="Times New Roman" panose="02020603050405020304" pitchFamily="18" charset="0"/>
                        </a:rPr>
                        <a:t>habe</a:t>
                      </a:r>
                      <a:r>
                        <a:rPr lang="de-DE" sz="2000" kern="100">
                          <a:effectLst/>
                          <a:latin typeface="+mn-lt"/>
                          <a:ea typeface="Aptos" panose="020B0004020202020204" pitchFamily="34" charset="0"/>
                          <a:cs typeface="Times New Roman" panose="02020603050405020304" pitchFamily="18" charset="0"/>
                        </a:rPr>
                        <a:t> es (z.B. Schlüssel, Chipkarte)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9530879"/>
                  </a:ext>
                </a:extLst>
              </a:tr>
              <a:tr h="541506">
                <a:tc>
                  <a:txBody>
                    <a:bodyPr/>
                    <a:lstStyle/>
                    <a:p>
                      <a:pPr marL="0" lvl="0" indent="0">
                        <a:lnSpc>
                          <a:spcPct val="107000"/>
                        </a:lnSpc>
                        <a:spcAft>
                          <a:spcPts val="800"/>
                        </a:spcAft>
                        <a:buFont typeface="+mj-lt"/>
                        <a:buNone/>
                      </a:pPr>
                      <a:r>
                        <a:rPr lang="de-DE" sz="2000" b="1" kern="100" dirty="0">
                          <a:effectLst/>
                          <a:latin typeface="+mn-lt"/>
                          <a:ea typeface="Aptos" panose="020B0004020202020204" pitchFamily="34" charset="0"/>
                          <a:cs typeface="Times New Roman" panose="02020603050405020304" pitchFamily="18" charset="0"/>
                        </a:rPr>
                        <a:t>3. Faktor</a:t>
                      </a:r>
                      <a:endParaRPr lang="de-DE" sz="2000" kern="100" dirty="0">
                        <a:effectLst/>
                        <a:latin typeface="+mn-lt"/>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de-DE" sz="2000" kern="100" dirty="0">
                          <a:effectLst/>
                          <a:latin typeface="+mn-lt"/>
                          <a:ea typeface="Aptos" panose="020B0004020202020204" pitchFamily="34" charset="0"/>
                          <a:cs typeface="Times New Roman" panose="02020603050405020304" pitchFamily="18" charset="0"/>
                        </a:rPr>
                        <a:t>Ich </a:t>
                      </a:r>
                      <a:r>
                        <a:rPr lang="de-DE" sz="2000" b="1" kern="100" dirty="0">
                          <a:effectLst/>
                          <a:latin typeface="+mn-lt"/>
                          <a:ea typeface="Aptos" panose="020B0004020202020204" pitchFamily="34" charset="0"/>
                          <a:cs typeface="Times New Roman" panose="02020603050405020304" pitchFamily="18" charset="0"/>
                        </a:rPr>
                        <a:t>bin</a:t>
                      </a:r>
                      <a:r>
                        <a:rPr lang="de-DE" sz="2000" kern="100" dirty="0">
                          <a:effectLst/>
                          <a:latin typeface="+mn-lt"/>
                          <a:ea typeface="Aptos" panose="020B0004020202020204" pitchFamily="34" charset="0"/>
                          <a:cs typeface="Times New Roman" panose="02020603050405020304" pitchFamily="18" charset="0"/>
                        </a:rPr>
                        <a:t> es (biometrisch)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0880146"/>
                  </a:ext>
                </a:extLst>
              </a:tr>
            </a:tbl>
          </a:graphicData>
        </a:graphic>
      </p:graphicFrame>
    </p:spTree>
    <p:extLst>
      <p:ext uri="{BB962C8B-B14F-4D97-AF65-F5344CB8AC3E}">
        <p14:creationId xmlns:p14="http://schemas.microsoft.com/office/powerpoint/2010/main" val="1592675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31AC44-50AF-477E-B30D-F7E5AE394274}"/>
              </a:ext>
            </a:extLst>
          </p:cNvPr>
          <p:cNvSpPr>
            <a:spLocks noGrp="1"/>
          </p:cNvSpPr>
          <p:nvPr>
            <p:ph type="title"/>
          </p:nvPr>
        </p:nvSpPr>
        <p:spPr/>
        <p:txBody>
          <a:bodyPr/>
          <a:lstStyle/>
          <a:p>
            <a:r>
              <a:rPr lang="de-DE" dirty="0"/>
              <a:t>Arten der Absicherung</a:t>
            </a:r>
          </a:p>
        </p:txBody>
      </p:sp>
      <p:pic>
        <p:nvPicPr>
          <p:cNvPr id="7" name="Inhaltsplatzhalter 6" descr="Ein Bild, das Text, Screenshot, Schrift, Zahl enthält.&#10;&#10;KI-generierte Inhalte können fehlerhaft sein.">
            <a:extLst>
              <a:ext uri="{FF2B5EF4-FFF2-40B4-BE49-F238E27FC236}">
                <a16:creationId xmlns:a16="http://schemas.microsoft.com/office/drawing/2014/main" id="{F5A453B3-68A3-F93E-D8DB-ACBC2318C1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60330"/>
            <a:ext cx="10515600" cy="4351283"/>
          </a:xfrm>
        </p:spPr>
      </p:pic>
      <p:sp>
        <p:nvSpPr>
          <p:cNvPr id="4" name="Fußzeilenplatzhalter 3">
            <a:extLst>
              <a:ext uri="{FF2B5EF4-FFF2-40B4-BE49-F238E27FC236}">
                <a16:creationId xmlns:a16="http://schemas.microsoft.com/office/drawing/2014/main" id="{20DD3D7F-C5DD-94D0-0F50-30116D941BF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63916C8F-C5F3-5010-7AEF-97DF28F7ED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4213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488D19-93F0-BC63-675A-59A22B1FD640}"/>
              </a:ext>
            </a:extLst>
          </p:cNvPr>
          <p:cNvSpPr>
            <a:spLocks noGrp="1"/>
          </p:cNvSpPr>
          <p:nvPr>
            <p:ph type="title"/>
          </p:nvPr>
        </p:nvSpPr>
        <p:spPr>
          <a:xfrm>
            <a:off x="838200" y="365125"/>
            <a:ext cx="10515600" cy="782739"/>
          </a:xfrm>
        </p:spPr>
        <p:txBody>
          <a:bodyPr/>
          <a:lstStyle/>
          <a:p>
            <a:r>
              <a:rPr lang="de-DE" dirty="0"/>
              <a:t>Zusammenfassung</a:t>
            </a:r>
          </a:p>
        </p:txBody>
      </p:sp>
      <p:sp>
        <p:nvSpPr>
          <p:cNvPr id="3" name="Inhaltsplatzhalter 2">
            <a:extLst>
              <a:ext uri="{FF2B5EF4-FFF2-40B4-BE49-F238E27FC236}">
                <a16:creationId xmlns:a16="http://schemas.microsoft.com/office/drawing/2014/main" id="{7BA02E18-D50B-39CA-F3C6-9D7467B1D3B5}"/>
              </a:ext>
            </a:extLst>
          </p:cNvPr>
          <p:cNvSpPr>
            <a:spLocks noGrp="1"/>
          </p:cNvSpPr>
          <p:nvPr>
            <p:ph idx="1"/>
          </p:nvPr>
        </p:nvSpPr>
        <p:spPr>
          <a:xfrm>
            <a:off x="838200" y="1245140"/>
            <a:ext cx="10515600" cy="4931823"/>
          </a:xfrm>
        </p:spPr>
        <p:txBody>
          <a:bodyPr>
            <a:normAutofit lnSpcReduction="10000"/>
          </a:bodyPr>
          <a:lstStyle/>
          <a:p>
            <a:pPr marL="342900" lvl="0" indent="-342900">
              <a:lnSpc>
                <a:spcPct val="107000"/>
              </a:lnSpc>
              <a:buFont typeface="Symbol" panose="05050102010706020507" pitchFamily="18" charset="2"/>
              <a:buChar char=""/>
            </a:pPr>
            <a:r>
              <a:rPr lang="de-DE" sz="1800" b="1" kern="100" dirty="0">
                <a:effectLst/>
                <a:ea typeface="Aptos" panose="020B0004020202020204" pitchFamily="34" charset="0"/>
                <a:cs typeface="Times New Roman" panose="02020603050405020304" pitchFamily="18" charset="0"/>
              </a:rPr>
              <a:t>Ziele der Integrität</a:t>
            </a:r>
            <a:r>
              <a:rPr lang="de-DE" sz="1800" kern="100" dirty="0">
                <a:effectLst/>
                <a:ea typeface="Aptos" panose="020B0004020202020204" pitchFamily="34" charset="0"/>
                <a:cs typeface="Times New Roman" panose="02020603050405020304" pitchFamily="18" charset="0"/>
              </a:rPr>
              <a:t> sind die </a:t>
            </a:r>
            <a:r>
              <a:rPr lang="de-DE" sz="1800" b="1" kern="100" dirty="0">
                <a:effectLst/>
                <a:ea typeface="Aptos" panose="020B0004020202020204" pitchFamily="34" charset="0"/>
                <a:cs typeface="Times New Roman" panose="02020603050405020304" pitchFamily="18" charset="0"/>
              </a:rPr>
              <a:t>Richtigkeit der Daten</a:t>
            </a:r>
            <a:r>
              <a:rPr lang="de-DE" sz="1800" kern="100" dirty="0">
                <a:effectLst/>
                <a:ea typeface="Aptos" panose="020B0004020202020204" pitchFamily="34" charset="0"/>
                <a:cs typeface="Times New Roman" panose="02020603050405020304" pitchFamily="18" charset="0"/>
              </a:rPr>
              <a:t> zu gewähren und die berechtigte </a:t>
            </a:r>
            <a:r>
              <a:rPr lang="de-DE" sz="1800" b="1" kern="100" dirty="0">
                <a:effectLst/>
                <a:ea typeface="Aptos" panose="020B0004020202020204" pitchFamily="34" charset="0"/>
                <a:cs typeface="Times New Roman" panose="02020603050405020304" pitchFamily="18" charset="0"/>
              </a:rPr>
              <a:t>Veränderung der Daten zu verhindern</a:t>
            </a:r>
            <a:r>
              <a:rPr lang="de-DE" sz="1800" kern="100" dirty="0">
                <a:effectLst/>
                <a:ea typeface="Aptos" panose="020B0004020202020204" pitchFamily="34" charset="0"/>
                <a:cs typeface="Times New Roman" panose="02020603050405020304" pitchFamily="18" charset="0"/>
              </a:rPr>
              <a:t>.</a:t>
            </a:r>
            <a:br>
              <a:rPr lang="de-DE" sz="1800" kern="100" dirty="0">
                <a:effectLst/>
                <a:ea typeface="Aptos" panose="020B0004020202020204" pitchFamily="34" charset="0"/>
                <a:cs typeface="Times New Roman" panose="02020603050405020304" pitchFamily="18" charset="0"/>
              </a:rPr>
            </a:br>
            <a:r>
              <a:rPr lang="de-DE" sz="1800" kern="100" dirty="0">
                <a:effectLst/>
                <a:ea typeface="Aptos" panose="020B0004020202020204" pitchFamily="34" charset="0"/>
                <a:cs typeface="Times New Roman" panose="02020603050405020304" pitchFamily="18" charset="0"/>
              </a:rPr>
              <a:t>Ist die </a:t>
            </a:r>
            <a:r>
              <a:rPr lang="de-DE" sz="1800" b="1" kern="100" dirty="0">
                <a:effectLst/>
                <a:ea typeface="Aptos" panose="020B0004020202020204" pitchFamily="34" charset="0"/>
                <a:cs typeface="Times New Roman" panose="02020603050405020304" pitchFamily="18" charset="0"/>
              </a:rPr>
              <a:t>Integrität</a:t>
            </a:r>
            <a:r>
              <a:rPr lang="de-DE" sz="1800" kern="100" dirty="0">
                <a:effectLst/>
                <a:ea typeface="Aptos" panose="020B0004020202020204" pitchFamily="34" charset="0"/>
                <a:cs typeface="Times New Roman" panose="02020603050405020304" pitchFamily="18" charset="0"/>
              </a:rPr>
              <a:t> der Daten </a:t>
            </a:r>
            <a:r>
              <a:rPr lang="de-DE" sz="1800" b="1" kern="100" dirty="0">
                <a:effectLst/>
                <a:ea typeface="Aptos" panose="020B0004020202020204" pitchFamily="34" charset="0"/>
                <a:cs typeface="Times New Roman" panose="02020603050405020304" pitchFamily="18" charset="0"/>
              </a:rPr>
              <a:t>gesichert</a:t>
            </a:r>
            <a:r>
              <a:rPr lang="de-DE" sz="1800" kern="100" dirty="0">
                <a:effectLst/>
                <a:ea typeface="Aptos" panose="020B0004020202020204" pitchFamily="34" charset="0"/>
                <a:cs typeface="Times New Roman" panose="02020603050405020304" pitchFamily="18" charset="0"/>
              </a:rPr>
              <a:t>, so </a:t>
            </a:r>
            <a:r>
              <a:rPr lang="de-DE" sz="1800" b="1" kern="100" dirty="0">
                <a:effectLst/>
                <a:ea typeface="Aptos" panose="020B0004020202020204" pitchFamily="34" charset="0"/>
                <a:cs typeface="Times New Roman" panose="02020603050405020304" pitchFamily="18" charset="0"/>
              </a:rPr>
              <a:t>können</a:t>
            </a:r>
            <a:r>
              <a:rPr lang="de-DE" sz="1800" kern="100" dirty="0">
                <a:effectLst/>
                <a:ea typeface="Aptos" panose="020B0004020202020204" pitchFamily="34" charset="0"/>
                <a:cs typeface="Times New Roman" panose="02020603050405020304" pitchFamily="18" charset="0"/>
              </a:rPr>
              <a:t> die Daten </a:t>
            </a:r>
            <a:r>
              <a:rPr lang="de-DE" sz="1800" b="1" kern="100" dirty="0">
                <a:effectLst/>
                <a:ea typeface="Aptos" panose="020B0004020202020204" pitchFamily="34" charset="0"/>
                <a:cs typeface="Times New Roman" panose="02020603050405020304" pitchFamily="18" charset="0"/>
              </a:rPr>
              <a:t>nicht unbemerkt manipuliert / geändert werden.</a:t>
            </a:r>
            <a:br>
              <a:rPr lang="de-DE" sz="1800" b="1" kern="100" dirty="0">
                <a:effectLst/>
                <a:ea typeface="Aptos" panose="020B0004020202020204" pitchFamily="34" charset="0"/>
                <a:cs typeface="Times New Roman" panose="02020603050405020304" pitchFamily="18" charset="0"/>
              </a:rPr>
            </a:br>
            <a:endParaRPr lang="de-DE" sz="18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1800" kern="100" dirty="0">
                <a:effectLst/>
                <a:ea typeface="Aptos" panose="020B0004020202020204" pitchFamily="34" charset="0"/>
                <a:cs typeface="Times New Roman" panose="02020603050405020304" pitchFamily="18" charset="0"/>
              </a:rPr>
              <a:t>Als Grundlage der </a:t>
            </a:r>
            <a:r>
              <a:rPr lang="de-DE" sz="1800" b="1" kern="100" dirty="0">
                <a:effectLst/>
                <a:ea typeface="Aptos" panose="020B0004020202020204" pitchFamily="34" charset="0"/>
                <a:cs typeface="Times New Roman" panose="02020603050405020304" pitchFamily="18" charset="0"/>
              </a:rPr>
              <a:t>Integritätsprüfung</a:t>
            </a:r>
            <a:r>
              <a:rPr lang="de-DE" sz="1800" kern="100" dirty="0">
                <a:effectLst/>
                <a:ea typeface="Aptos" panose="020B0004020202020204" pitchFamily="34" charset="0"/>
                <a:cs typeface="Times New Roman" panose="02020603050405020304" pitchFamily="18" charset="0"/>
              </a:rPr>
              <a:t> bieten sich erzeugte </a:t>
            </a:r>
            <a:r>
              <a:rPr lang="de-DE" sz="1800" b="1" kern="100" dirty="0">
                <a:effectLst/>
                <a:ea typeface="Aptos" panose="020B0004020202020204" pitchFamily="34" charset="0"/>
                <a:cs typeface="Times New Roman" panose="02020603050405020304" pitchFamily="18" charset="0"/>
              </a:rPr>
              <a:t>Prüfsummen</a:t>
            </a:r>
            <a:r>
              <a:rPr lang="de-DE" sz="1800" kern="100" dirty="0">
                <a:effectLst/>
                <a:ea typeface="Aptos" panose="020B0004020202020204" pitchFamily="34" charset="0"/>
                <a:cs typeface="Times New Roman" panose="02020603050405020304" pitchFamily="18" charset="0"/>
              </a:rPr>
              <a:t> an.</a:t>
            </a:r>
            <a:br>
              <a:rPr lang="de-DE" sz="1800" kern="100" dirty="0">
                <a:effectLst/>
                <a:ea typeface="Aptos" panose="020B0004020202020204" pitchFamily="34" charset="0"/>
                <a:cs typeface="Times New Roman" panose="02020603050405020304" pitchFamily="18" charset="0"/>
              </a:rPr>
            </a:br>
            <a:endParaRPr lang="de-DE" sz="1800" kern="100" dirty="0">
              <a:effectLst/>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1800" kern="100" dirty="0">
                <a:effectLst/>
                <a:ea typeface="Aptos" panose="020B0004020202020204" pitchFamily="34" charset="0"/>
                <a:cs typeface="Times New Roman" panose="02020603050405020304" pitchFamily="18" charset="0"/>
              </a:rPr>
              <a:t>Die </a:t>
            </a:r>
            <a:r>
              <a:rPr lang="de-DE" sz="1800" b="1" kern="100" dirty="0">
                <a:effectLst/>
                <a:ea typeface="Aptos" panose="020B0004020202020204" pitchFamily="34" charset="0"/>
                <a:cs typeface="Times New Roman" panose="02020603050405020304" pitchFamily="18" charset="0"/>
              </a:rPr>
              <a:t>Integrität</a:t>
            </a:r>
            <a:r>
              <a:rPr lang="de-DE" sz="1800" kern="100" dirty="0">
                <a:effectLst/>
                <a:ea typeface="Aptos" panose="020B0004020202020204" pitchFamily="34" charset="0"/>
                <a:cs typeface="Times New Roman" panose="02020603050405020304" pitchFamily="18" charset="0"/>
              </a:rPr>
              <a:t> kann auch mittels Berechtigungen, die in </a:t>
            </a:r>
            <a:r>
              <a:rPr lang="de-DE" sz="1800" b="1" kern="100" dirty="0">
                <a:effectLst/>
                <a:ea typeface="Aptos" panose="020B0004020202020204" pitchFamily="34" charset="0"/>
                <a:cs typeface="Times New Roman" panose="02020603050405020304" pitchFamily="18" charset="0"/>
              </a:rPr>
              <a:t>Rollen- und Rechtekonzepten</a:t>
            </a:r>
            <a:r>
              <a:rPr lang="de-DE" sz="1800" kern="100" dirty="0">
                <a:effectLst/>
                <a:ea typeface="Aptos" panose="020B0004020202020204" pitchFamily="34" charset="0"/>
                <a:cs typeface="Times New Roman" panose="02020603050405020304" pitchFamily="18" charset="0"/>
              </a:rPr>
              <a:t> dokumentiert wurden, gewährleistet werden.</a:t>
            </a:r>
            <a:br>
              <a:rPr lang="de-DE" sz="1800" kern="100" dirty="0">
                <a:effectLst/>
                <a:ea typeface="Aptos" panose="020B0004020202020204" pitchFamily="34" charset="0"/>
                <a:cs typeface="Times New Roman" panose="02020603050405020304" pitchFamily="18" charset="0"/>
              </a:rPr>
            </a:br>
            <a:endParaRPr lang="de-DE" sz="18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de-DE" sz="1800" kern="100" dirty="0">
                <a:effectLst/>
                <a:ea typeface="Aptos" panose="020B0004020202020204" pitchFamily="34" charset="0"/>
                <a:cs typeface="Times New Roman" panose="02020603050405020304" pitchFamily="18" charset="0"/>
              </a:rPr>
              <a:t>Zur Wahrung der Vertraulichkeit dürfen </a:t>
            </a:r>
            <a:r>
              <a:rPr lang="de-DE" sz="1800" b="1" kern="100" dirty="0">
                <a:effectLst/>
                <a:ea typeface="Aptos" panose="020B0004020202020204" pitchFamily="34" charset="0"/>
                <a:cs typeface="Times New Roman" panose="02020603050405020304" pitchFamily="18" charset="0"/>
              </a:rPr>
              <a:t>nur berechtigte Personen</a:t>
            </a:r>
            <a:r>
              <a:rPr lang="de-DE" sz="1800" kern="100" dirty="0">
                <a:effectLst/>
                <a:ea typeface="Aptos" panose="020B0004020202020204" pitchFamily="34" charset="0"/>
                <a:cs typeface="Times New Roman" panose="02020603050405020304" pitchFamily="18" charset="0"/>
              </a:rPr>
              <a:t> </a:t>
            </a:r>
            <a:r>
              <a:rPr lang="de-DE" sz="1800" b="1" kern="100" dirty="0">
                <a:effectLst/>
                <a:ea typeface="Aptos" panose="020B0004020202020204" pitchFamily="34" charset="0"/>
                <a:cs typeface="Times New Roman" panose="02020603050405020304" pitchFamily="18" charset="0"/>
              </a:rPr>
              <a:t>Kenntnis</a:t>
            </a:r>
            <a:r>
              <a:rPr lang="de-DE" sz="1800" kern="100" dirty="0">
                <a:effectLst/>
                <a:ea typeface="Aptos" panose="020B0004020202020204" pitchFamily="34" charset="0"/>
                <a:cs typeface="Times New Roman" panose="02020603050405020304" pitchFamily="18" charset="0"/>
              </a:rPr>
              <a:t> von </a:t>
            </a:r>
            <a:r>
              <a:rPr lang="de-DE" sz="1800" kern="100" dirty="0" err="1">
                <a:effectLst/>
                <a:ea typeface="Aptos" panose="020B0004020202020204" pitchFamily="34" charset="0"/>
                <a:cs typeface="Times New Roman" panose="02020603050405020304" pitchFamily="18" charset="0"/>
              </a:rPr>
              <a:t>pbD</a:t>
            </a:r>
            <a:r>
              <a:rPr lang="de-DE" sz="1800" kern="100" dirty="0">
                <a:effectLst/>
                <a:ea typeface="Aptos" panose="020B0004020202020204" pitchFamily="34" charset="0"/>
                <a:cs typeface="Times New Roman" panose="02020603050405020304" pitchFamily="18" charset="0"/>
              </a:rPr>
              <a:t> </a:t>
            </a:r>
            <a:r>
              <a:rPr lang="de-DE" sz="1800" b="1" kern="100" dirty="0">
                <a:effectLst/>
                <a:ea typeface="Aptos" panose="020B0004020202020204" pitchFamily="34" charset="0"/>
                <a:cs typeface="Times New Roman" panose="02020603050405020304" pitchFamily="18" charset="0"/>
              </a:rPr>
              <a:t>haben oder verarbeiten</a:t>
            </a:r>
            <a:r>
              <a:rPr lang="de-DE" sz="1800" kern="100" dirty="0">
                <a:effectLst/>
                <a:ea typeface="Aptos" panose="020B0004020202020204" pitchFamily="34" charset="0"/>
                <a:cs typeface="Times New Roman" panose="02020603050405020304" pitchFamily="18" charset="0"/>
              </a:rPr>
              <a:t>.</a:t>
            </a:r>
            <a:br>
              <a:rPr lang="de-DE" sz="1800" kern="100" dirty="0">
                <a:effectLst/>
                <a:ea typeface="Aptos" panose="020B0004020202020204" pitchFamily="34" charset="0"/>
                <a:cs typeface="Times New Roman" panose="02020603050405020304" pitchFamily="18" charset="0"/>
              </a:rPr>
            </a:br>
            <a:endParaRPr lang="de-DE" sz="1800" kern="100" dirty="0">
              <a:effectLst/>
              <a:ea typeface="Aptos" panose="020B0004020202020204" pitchFamily="34" charset="0"/>
              <a:cs typeface="Times New Roman" panose="02020603050405020304" pitchFamily="18" charset="0"/>
            </a:endParaRPr>
          </a:p>
          <a:p>
            <a:pPr>
              <a:buNone/>
            </a:pPr>
            <a:r>
              <a:rPr lang="de-DE" sz="1800" dirty="0">
                <a:effectLst/>
                <a:ea typeface="Aptos" panose="020B0004020202020204" pitchFamily="34" charset="0"/>
              </a:rPr>
              <a:t>Die </a:t>
            </a:r>
            <a:r>
              <a:rPr lang="de-DE" sz="1800" b="1" dirty="0">
                <a:effectLst/>
                <a:ea typeface="Aptos" panose="020B0004020202020204" pitchFamily="34" charset="0"/>
              </a:rPr>
              <a:t>Berechtigung wird sichergestellt</a:t>
            </a:r>
            <a:r>
              <a:rPr lang="de-DE" sz="1800" dirty="0">
                <a:effectLst/>
                <a:ea typeface="Aptos" panose="020B0004020202020204" pitchFamily="34" charset="0"/>
              </a:rPr>
              <a:t> durch verschiedene Maßnahmen der </a:t>
            </a:r>
            <a:r>
              <a:rPr lang="de-DE" sz="1800" b="1" dirty="0">
                <a:effectLst/>
                <a:ea typeface="Aptos" panose="020B0004020202020204" pitchFamily="34" charset="0"/>
              </a:rPr>
              <a:t>Zutritts-, Zugangs- und Zugriffskontrolle.</a:t>
            </a:r>
            <a:endParaRPr lang="de-DE" dirty="0"/>
          </a:p>
        </p:txBody>
      </p:sp>
      <p:sp>
        <p:nvSpPr>
          <p:cNvPr id="4" name="Fußzeilenplatzhalter 3">
            <a:extLst>
              <a:ext uri="{FF2B5EF4-FFF2-40B4-BE49-F238E27FC236}">
                <a16:creationId xmlns:a16="http://schemas.microsoft.com/office/drawing/2014/main" id="{772FEA13-19E7-439D-D4A2-7DC371B60C4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01E53BC1-069B-A869-88BF-6EC5E60F62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33542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249E2E-67C9-D0A4-1FA0-5ECD0F15905E}"/>
              </a:ext>
            </a:extLst>
          </p:cNvPr>
          <p:cNvSpPr>
            <a:spLocks noGrp="1"/>
          </p:cNvSpPr>
          <p:nvPr>
            <p:ph type="title"/>
          </p:nvPr>
        </p:nvSpPr>
        <p:spPr>
          <a:xfrm>
            <a:off x="838200" y="365125"/>
            <a:ext cx="10515600" cy="782739"/>
          </a:xfrm>
        </p:spPr>
        <p:txBody>
          <a:bodyPr/>
          <a:lstStyle/>
          <a:p>
            <a:r>
              <a:rPr lang="de-DE" dirty="0"/>
              <a:t>Zusammenfassung </a:t>
            </a:r>
            <a:r>
              <a:rPr lang="de-DE" sz="2800" dirty="0"/>
              <a:t>(Fortsetzung)</a:t>
            </a:r>
          </a:p>
        </p:txBody>
      </p:sp>
      <p:sp>
        <p:nvSpPr>
          <p:cNvPr id="3" name="Inhaltsplatzhalter 2">
            <a:extLst>
              <a:ext uri="{FF2B5EF4-FFF2-40B4-BE49-F238E27FC236}">
                <a16:creationId xmlns:a16="http://schemas.microsoft.com/office/drawing/2014/main" id="{8A0A63A9-D2E6-DE75-85B5-1454A9EB783C}"/>
              </a:ext>
            </a:extLst>
          </p:cNvPr>
          <p:cNvSpPr>
            <a:spLocks noGrp="1"/>
          </p:cNvSpPr>
          <p:nvPr>
            <p:ph idx="1"/>
          </p:nvPr>
        </p:nvSpPr>
        <p:spPr>
          <a:xfrm>
            <a:off x="437745" y="1147864"/>
            <a:ext cx="11245174" cy="5208486"/>
          </a:xfrm>
        </p:spPr>
        <p:txBody>
          <a:bodyPr>
            <a:noAutofit/>
          </a:bodyPr>
          <a:lstStyle/>
          <a:p>
            <a:pPr marL="342900" lvl="0" indent="-342900">
              <a:lnSpc>
                <a:spcPct val="100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Gängige </a:t>
            </a:r>
            <a:r>
              <a:rPr lang="de-DE" sz="2000" b="1" kern="100" dirty="0">
                <a:effectLst/>
                <a:ea typeface="Aptos" panose="020B0004020202020204" pitchFamily="34" charset="0"/>
                <a:cs typeface="Times New Roman" panose="02020603050405020304" pitchFamily="18" charset="0"/>
              </a:rPr>
              <a:t>Zutrittskontrollmaßnahmen</a:t>
            </a:r>
            <a:r>
              <a:rPr lang="de-DE" sz="2000" kern="100" dirty="0">
                <a:effectLst/>
                <a:ea typeface="Aptos" panose="020B0004020202020204" pitchFamily="34" charset="0"/>
                <a:cs typeface="Times New Roman" panose="02020603050405020304" pitchFamily="18" charset="0"/>
              </a:rPr>
              <a:t> sind die Verwendung von </a:t>
            </a:r>
            <a:r>
              <a:rPr lang="de-DE" sz="2000" b="1" kern="100" dirty="0">
                <a:effectLst/>
                <a:ea typeface="Aptos" panose="020B0004020202020204" pitchFamily="34" charset="0"/>
                <a:cs typeface="Times New Roman" panose="02020603050405020304" pitchFamily="18" charset="0"/>
              </a:rPr>
              <a:t>Schlüsseln, Chipkarten </a:t>
            </a:r>
            <a:r>
              <a:rPr lang="de-DE" sz="2000" kern="100" dirty="0">
                <a:effectLst/>
                <a:ea typeface="Aptos" panose="020B0004020202020204" pitchFamily="34" charset="0"/>
                <a:cs typeface="Times New Roman" panose="02020603050405020304" pitchFamily="18" charset="0"/>
              </a:rPr>
              <a:t>oder</a:t>
            </a:r>
            <a:r>
              <a:rPr lang="de-DE" sz="2000" b="1" kern="100" dirty="0">
                <a:effectLst/>
                <a:ea typeface="Aptos" panose="020B0004020202020204" pitchFamily="34" charset="0"/>
                <a:cs typeface="Times New Roman" panose="02020603050405020304" pitchFamily="18" charset="0"/>
              </a:rPr>
              <a:t> Transpondern.</a:t>
            </a:r>
            <a:br>
              <a:rPr lang="de-DE" sz="2000" b="1" kern="100" dirty="0">
                <a:effectLst/>
                <a:ea typeface="Aptos" panose="020B0004020202020204" pitchFamily="34" charset="0"/>
                <a:cs typeface="Times New Roman" panose="02020603050405020304" pitchFamily="18" charset="0"/>
              </a:rPr>
            </a:br>
            <a:endParaRPr lang="de-DE" sz="2000" b="1" kern="100" dirty="0">
              <a:effectLst/>
              <a:ea typeface="Aptos" panose="020B0004020202020204" pitchFamily="34" charset="0"/>
              <a:cs typeface="Times New Roman" panose="02020603050405020304" pitchFamily="18" charset="0"/>
            </a:endParaRPr>
          </a:p>
          <a:p>
            <a:pPr marL="342900" lvl="0" indent="-342900">
              <a:lnSpc>
                <a:spcPct val="100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Gängige </a:t>
            </a:r>
            <a:r>
              <a:rPr lang="de-DE" sz="2000" b="1" kern="100" dirty="0">
                <a:effectLst/>
                <a:ea typeface="Aptos" panose="020B0004020202020204" pitchFamily="34" charset="0"/>
                <a:cs typeface="Times New Roman" panose="02020603050405020304" pitchFamily="18" charset="0"/>
              </a:rPr>
              <a:t>Zugangskontrollmaßnahmen</a:t>
            </a:r>
            <a:r>
              <a:rPr lang="de-DE" sz="2000" kern="100" dirty="0">
                <a:effectLst/>
                <a:ea typeface="Aptos" panose="020B0004020202020204" pitchFamily="34" charset="0"/>
                <a:cs typeface="Times New Roman" panose="02020603050405020304" pitchFamily="18" charset="0"/>
              </a:rPr>
              <a:t> sind die Verwendung von </a:t>
            </a:r>
            <a:r>
              <a:rPr lang="de-DE" sz="2000" b="1" kern="100" dirty="0">
                <a:effectLst/>
                <a:ea typeface="Aptos" panose="020B0004020202020204" pitchFamily="34" charset="0"/>
                <a:cs typeface="Times New Roman" panose="02020603050405020304" pitchFamily="18" charset="0"/>
              </a:rPr>
              <a:t>Kennwörtern</a:t>
            </a:r>
            <a:r>
              <a:rPr lang="de-DE" sz="2000" kern="100" dirty="0">
                <a:effectLst/>
                <a:ea typeface="Aptos" panose="020B0004020202020204" pitchFamily="34" charset="0"/>
                <a:cs typeface="Times New Roman" panose="02020603050405020304" pitchFamily="18" charset="0"/>
              </a:rPr>
              <a:t> oder </a:t>
            </a:r>
            <a:r>
              <a:rPr lang="de-DE" sz="2000" b="1" kern="100" dirty="0">
                <a:effectLst/>
                <a:ea typeface="Aptos" panose="020B0004020202020204" pitchFamily="34" charset="0"/>
                <a:cs typeface="Times New Roman" panose="02020603050405020304" pitchFamily="18" charset="0"/>
              </a:rPr>
              <a:t>Chipkarten</a:t>
            </a:r>
            <a:r>
              <a:rPr lang="de-DE" sz="2000" kern="100" dirty="0">
                <a:effectLst/>
                <a:ea typeface="Aptos" panose="020B0004020202020204" pitchFamily="34" charset="0"/>
                <a:cs typeface="Times New Roman" panose="02020603050405020304" pitchFamily="18" charset="0"/>
              </a:rPr>
              <a:t> oder der Einsatz einer </a:t>
            </a:r>
            <a:r>
              <a:rPr lang="de-DE" sz="2000" b="1" kern="100" dirty="0">
                <a:effectLst/>
                <a:ea typeface="Aptos" panose="020B0004020202020204" pitchFamily="34" charset="0"/>
                <a:cs typeface="Times New Roman" panose="02020603050405020304" pitchFamily="18" charset="0"/>
              </a:rPr>
              <a:t>Firewall</a:t>
            </a:r>
            <a:br>
              <a:rPr lang="de-DE" sz="2000" kern="100" dirty="0">
                <a:effectLst/>
                <a:ea typeface="Aptos" panose="020B0004020202020204" pitchFamily="34" charset="0"/>
                <a:cs typeface="Times New Roman" panose="02020603050405020304" pitchFamily="18" charset="0"/>
              </a:rPr>
            </a:br>
            <a:endParaRPr lang="de-DE" sz="2000" kern="100" dirty="0">
              <a:effectLst/>
              <a:ea typeface="Aptos" panose="020B0004020202020204" pitchFamily="34" charset="0"/>
              <a:cs typeface="Times New Roman" panose="02020603050405020304" pitchFamily="18" charset="0"/>
            </a:endParaRPr>
          </a:p>
          <a:p>
            <a:pPr marL="342900" lvl="0" indent="-342900">
              <a:lnSpc>
                <a:spcPct val="100000"/>
              </a:lnSpc>
              <a:buFont typeface="Symbol" panose="05050102010706020507" pitchFamily="18" charset="2"/>
              <a:buChar char=""/>
            </a:pPr>
            <a:r>
              <a:rPr lang="de-DE" sz="2000" kern="100" dirty="0">
                <a:effectLst/>
                <a:ea typeface="Aptos" panose="020B0004020202020204" pitchFamily="34" charset="0"/>
                <a:cs typeface="Times New Roman" panose="02020603050405020304" pitchFamily="18" charset="0"/>
              </a:rPr>
              <a:t>Gängige </a:t>
            </a:r>
            <a:r>
              <a:rPr lang="de-DE" sz="2000" b="1" kern="100" dirty="0">
                <a:effectLst/>
                <a:ea typeface="Aptos" panose="020B0004020202020204" pitchFamily="34" charset="0"/>
                <a:cs typeface="Times New Roman" panose="02020603050405020304" pitchFamily="18" charset="0"/>
              </a:rPr>
              <a:t>Zugriffskontrollmaßnahmen</a:t>
            </a:r>
            <a:r>
              <a:rPr lang="de-DE" sz="2000" kern="100" dirty="0">
                <a:effectLst/>
                <a:ea typeface="Aptos" panose="020B0004020202020204" pitchFamily="34" charset="0"/>
                <a:cs typeface="Times New Roman" panose="02020603050405020304" pitchFamily="18" charset="0"/>
              </a:rPr>
              <a:t> sind die Verwendung von </a:t>
            </a:r>
            <a:r>
              <a:rPr lang="de-DE" sz="2000" b="1" kern="100" dirty="0">
                <a:effectLst/>
                <a:ea typeface="Aptos" panose="020B0004020202020204" pitchFamily="34" charset="0"/>
                <a:cs typeface="Times New Roman" panose="02020603050405020304" pitchFamily="18" charset="0"/>
              </a:rPr>
              <a:t>Benutzerrechten</a:t>
            </a:r>
            <a:r>
              <a:rPr lang="de-DE" sz="2000" kern="100" dirty="0">
                <a:effectLst/>
                <a:ea typeface="Aptos" panose="020B0004020202020204" pitchFamily="34" charset="0"/>
                <a:cs typeface="Times New Roman" panose="02020603050405020304" pitchFamily="18" charset="0"/>
              </a:rPr>
              <a:t> und die </a:t>
            </a:r>
            <a:r>
              <a:rPr lang="de-DE" sz="2000" b="1" kern="100" dirty="0">
                <a:effectLst/>
                <a:ea typeface="Aptos" panose="020B0004020202020204" pitchFamily="34" charset="0"/>
                <a:cs typeface="Times New Roman" panose="02020603050405020304" pitchFamily="18" charset="0"/>
              </a:rPr>
              <a:t>Protokollierung</a:t>
            </a:r>
            <a:r>
              <a:rPr lang="de-DE" sz="2000" kern="100" dirty="0">
                <a:effectLst/>
                <a:ea typeface="Aptos" panose="020B0004020202020204" pitchFamily="34" charset="0"/>
                <a:cs typeface="Times New Roman" panose="02020603050405020304" pitchFamily="18" charset="0"/>
              </a:rPr>
              <a:t> sowie </a:t>
            </a:r>
            <a:r>
              <a:rPr lang="de-DE" sz="2000" b="1" kern="100" dirty="0">
                <a:effectLst/>
                <a:ea typeface="Aptos" panose="020B0004020202020204" pitchFamily="34" charset="0"/>
                <a:cs typeface="Times New Roman" panose="02020603050405020304" pitchFamily="18" charset="0"/>
              </a:rPr>
              <a:t>Auswertung der Zugriffe</a:t>
            </a:r>
            <a:r>
              <a:rPr lang="de-DE" sz="2000" kern="100" dirty="0">
                <a:effectLst/>
                <a:ea typeface="Aptos" panose="020B0004020202020204" pitchFamily="34" charset="0"/>
                <a:cs typeface="Times New Roman" panose="02020603050405020304" pitchFamily="18" charset="0"/>
              </a:rPr>
              <a:t>.</a:t>
            </a:r>
            <a:br>
              <a:rPr lang="de-DE" sz="2000" kern="100" dirty="0">
                <a:effectLst/>
                <a:ea typeface="Aptos" panose="020B0004020202020204" pitchFamily="34" charset="0"/>
                <a:cs typeface="Times New Roman" panose="02020603050405020304" pitchFamily="18" charset="0"/>
              </a:rPr>
            </a:br>
            <a:endParaRPr lang="de-DE" sz="2000" kern="100" dirty="0">
              <a:effectLst/>
              <a:ea typeface="Aptos" panose="020B0004020202020204" pitchFamily="34" charset="0"/>
              <a:cs typeface="Times New Roman" panose="02020603050405020304" pitchFamily="18" charset="0"/>
            </a:endParaRPr>
          </a:p>
          <a:p>
            <a:pPr marL="342900" lvl="0" indent="-342900">
              <a:lnSpc>
                <a:spcPct val="100000"/>
              </a:lnSpc>
              <a:buFont typeface="Symbol" panose="05050102010706020507" pitchFamily="18" charset="2"/>
              <a:buChar char=""/>
            </a:pPr>
            <a:r>
              <a:rPr lang="de-DE" sz="2000" b="1" kern="100" dirty="0">
                <a:effectLst/>
                <a:ea typeface="Aptos" panose="020B0004020202020204" pitchFamily="34" charset="0"/>
                <a:cs typeface="Times New Roman" panose="02020603050405020304" pitchFamily="18" charset="0"/>
              </a:rPr>
              <a:t>Moderne</a:t>
            </a:r>
            <a:r>
              <a:rPr lang="de-DE" sz="2000" kern="100" dirty="0">
                <a:effectLst/>
                <a:ea typeface="Aptos" panose="020B0004020202020204" pitchFamily="34" charset="0"/>
                <a:cs typeface="Times New Roman" panose="02020603050405020304" pitchFamily="18" charset="0"/>
              </a:rPr>
              <a:t> und </a:t>
            </a:r>
            <a:r>
              <a:rPr lang="de-DE" sz="2000" b="1" kern="100" dirty="0">
                <a:effectLst/>
                <a:ea typeface="Aptos" panose="020B0004020202020204" pitchFamily="34" charset="0"/>
                <a:cs typeface="Times New Roman" panose="02020603050405020304" pitchFamily="18" charset="0"/>
              </a:rPr>
              <a:t>sichere Zutritts- und Zugangskontrollsysteme</a:t>
            </a:r>
            <a:r>
              <a:rPr lang="de-DE" sz="2000" kern="100" dirty="0">
                <a:effectLst/>
                <a:ea typeface="Aptos" panose="020B0004020202020204" pitchFamily="34" charset="0"/>
                <a:cs typeface="Times New Roman" panose="02020603050405020304" pitchFamily="18" charset="0"/>
              </a:rPr>
              <a:t> verwenden </a:t>
            </a:r>
            <a:r>
              <a:rPr lang="de-DE" sz="2000" b="1" kern="100" dirty="0">
                <a:effectLst/>
                <a:ea typeface="Aptos" panose="020B0004020202020204" pitchFamily="34" charset="0"/>
                <a:cs typeface="Times New Roman" panose="02020603050405020304" pitchFamily="18" charset="0"/>
              </a:rPr>
              <a:t>biometrische Merkmale</a:t>
            </a:r>
            <a:r>
              <a:rPr lang="de-DE" sz="2000" kern="100" dirty="0">
                <a:effectLst/>
                <a:ea typeface="Aptos" panose="020B0004020202020204" pitchFamily="34" charset="0"/>
                <a:cs typeface="Times New Roman" panose="02020603050405020304" pitchFamily="18" charset="0"/>
              </a:rPr>
              <a:t>. Eine </a:t>
            </a:r>
            <a:r>
              <a:rPr lang="de-DE" sz="2000" b="1" kern="100" dirty="0">
                <a:effectLst/>
                <a:ea typeface="Aptos" panose="020B0004020202020204" pitchFamily="34" charset="0"/>
                <a:cs typeface="Times New Roman" panose="02020603050405020304" pitchFamily="18" charset="0"/>
              </a:rPr>
              <a:t>DSFA</a:t>
            </a:r>
            <a:r>
              <a:rPr lang="de-DE" sz="2000" kern="100" dirty="0">
                <a:effectLst/>
                <a:ea typeface="Aptos" panose="020B0004020202020204" pitchFamily="34" charset="0"/>
                <a:cs typeface="Times New Roman" panose="02020603050405020304" pitchFamily="18" charset="0"/>
              </a:rPr>
              <a:t> </a:t>
            </a:r>
            <a:r>
              <a:rPr lang="de-DE" sz="2000" b="1" kern="100" dirty="0">
                <a:effectLst/>
                <a:ea typeface="Aptos" panose="020B0004020202020204" pitchFamily="34" charset="0"/>
                <a:cs typeface="Times New Roman" panose="02020603050405020304" pitchFamily="18" charset="0"/>
              </a:rPr>
              <a:t>kann</a:t>
            </a:r>
            <a:r>
              <a:rPr lang="de-DE" sz="2000" kern="100" dirty="0">
                <a:effectLst/>
                <a:ea typeface="Aptos" panose="020B0004020202020204" pitchFamily="34" charset="0"/>
                <a:cs typeface="Times New Roman" panose="02020603050405020304" pitchFamily="18" charset="0"/>
              </a:rPr>
              <a:t> dann </a:t>
            </a:r>
            <a:r>
              <a:rPr lang="de-DE" sz="2000" b="1" kern="100" dirty="0">
                <a:effectLst/>
                <a:ea typeface="Aptos" panose="020B0004020202020204" pitchFamily="34" charset="0"/>
                <a:cs typeface="Times New Roman" panose="02020603050405020304" pitchFamily="18" charset="0"/>
              </a:rPr>
              <a:t>erforderlich sein</a:t>
            </a:r>
            <a:r>
              <a:rPr lang="de-DE" sz="2000" kern="100" dirty="0">
                <a:effectLst/>
                <a:ea typeface="Aptos" panose="020B0004020202020204" pitchFamily="34" charset="0"/>
                <a:cs typeface="Times New Roman" panose="02020603050405020304" pitchFamily="18" charset="0"/>
              </a:rPr>
              <a:t>.</a:t>
            </a:r>
            <a:br>
              <a:rPr lang="de-DE" sz="2000" kern="100" dirty="0">
                <a:effectLst/>
                <a:ea typeface="Aptos" panose="020B0004020202020204" pitchFamily="34" charset="0"/>
                <a:cs typeface="Times New Roman" panose="02020603050405020304" pitchFamily="18" charset="0"/>
              </a:rPr>
            </a:br>
            <a:endParaRPr lang="de-DE" sz="2000" kern="100" dirty="0">
              <a:effectLst/>
              <a:ea typeface="Aptos" panose="020B0004020202020204" pitchFamily="34" charset="0"/>
              <a:cs typeface="Times New Roman" panose="02020603050405020304" pitchFamily="18" charset="0"/>
            </a:endParaRPr>
          </a:p>
          <a:p>
            <a:pPr marL="342900" lvl="0" indent="-342900">
              <a:lnSpc>
                <a:spcPct val="100000"/>
              </a:lnSpc>
              <a:spcAft>
                <a:spcPts val="800"/>
              </a:spcAft>
              <a:buFont typeface="Symbol" panose="05050102010706020507" pitchFamily="18" charset="2"/>
              <a:buChar char=""/>
            </a:pPr>
            <a:r>
              <a:rPr lang="de-DE" sz="2000" b="1" kern="100" dirty="0">
                <a:effectLst/>
                <a:ea typeface="Aptos" panose="020B0004020202020204" pitchFamily="34" charset="0"/>
                <a:cs typeface="Times New Roman" panose="02020603050405020304" pitchFamily="18" charset="0"/>
              </a:rPr>
              <a:t>Besonderen Schutz bieten 2FA</a:t>
            </a:r>
            <a:r>
              <a:rPr lang="de-DE" sz="2000" kern="100" dirty="0">
                <a:effectLst/>
                <a:ea typeface="Aptos" panose="020B0004020202020204" pitchFamily="34" charset="0"/>
                <a:cs typeface="Times New Roman" panose="02020603050405020304" pitchFamily="18" charset="0"/>
              </a:rPr>
              <a:t>, bei denen die berechtigte Person sich mittels zweier getrennter Authentifizierungsmerkmale ausweisen muss, z.B. </a:t>
            </a:r>
            <a:r>
              <a:rPr lang="de-DE" sz="2000" b="1" kern="100" dirty="0">
                <a:effectLst/>
                <a:ea typeface="Aptos" panose="020B0004020202020204" pitchFamily="34" charset="0"/>
                <a:cs typeface="Times New Roman" panose="02020603050405020304" pitchFamily="18" charset="0"/>
              </a:rPr>
              <a:t>Passwort und Chipkarte oder Passwort und SMS-PIN</a:t>
            </a:r>
            <a:endParaRPr lang="de-DE" sz="2000" kern="100" dirty="0">
              <a:effectLst/>
              <a:ea typeface="Aptos" panose="020B0004020202020204" pitchFamily="34" charset="0"/>
              <a:cs typeface="Times New Roman" panose="02020603050405020304" pitchFamily="18" charset="0"/>
            </a:endParaRPr>
          </a:p>
          <a:p>
            <a:endParaRPr lang="de-DE" sz="2000" dirty="0"/>
          </a:p>
        </p:txBody>
      </p:sp>
      <p:sp>
        <p:nvSpPr>
          <p:cNvPr id="4" name="Fußzeilenplatzhalter 3">
            <a:extLst>
              <a:ext uri="{FF2B5EF4-FFF2-40B4-BE49-F238E27FC236}">
                <a16:creationId xmlns:a16="http://schemas.microsoft.com/office/drawing/2014/main" id="{4DA2E68B-3B45-C88E-0AEB-C3B58C89DF0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Dirk Moltzen - externer Datenschutzbeauftragter TÜV® CERT</a:t>
            </a:r>
          </a:p>
        </p:txBody>
      </p:sp>
      <p:sp>
        <p:nvSpPr>
          <p:cNvPr id="5" name="Foliennummernplatzhalter 4">
            <a:extLst>
              <a:ext uri="{FF2B5EF4-FFF2-40B4-BE49-F238E27FC236}">
                <a16:creationId xmlns:a16="http://schemas.microsoft.com/office/drawing/2014/main" id="{09F0C49C-148D-B72E-F22D-B0539ED0DA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CE166D-2D50-44F1-A818-BFD238545C9D}" type="slidenum">
              <a:rPr kumimoji="0" lang="de-DE"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30383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9" ma:contentTypeDescription="Ein neues Dokument erstellen." ma:contentTypeScope="" ma:versionID="a75b0d271db8e156752fd3af9960f3e7">
  <xsd:schema xmlns:xsd="http://www.w3.org/2001/XMLSchema" xmlns:xs="http://www.w3.org/2001/XMLSchema" xmlns:p="http://schemas.microsoft.com/office/2006/metadata/properties" xmlns:ns2="b2bcf77a-db99-4c6d-8596-ee1fc4b01288" xmlns:ns3="ce9d32c5-4bd0-492d-a196-e5e973bfded0" targetNamespace="http://schemas.microsoft.com/office/2006/metadata/properties" ma:root="true" ma:fieldsID="0cebbb3c6120016de2a0a64c84ca3718" ns2:_="" ns3:_="">
    <xsd:import namespace="b2bcf77a-db99-4c6d-8596-ee1fc4b01288"/>
    <xsd:import namespace="ce9d32c5-4bd0-492d-a196-e5e973bfde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bcf77a-db99-4c6d-8596-ee1fc4b012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af48a06-ed4b-42ab-a976-5013053131a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9d32c5-4bd0-492d-a196-e5e973bfded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403cb9-dd32-4e21-bcc3-676a3ed5dd23}" ma:internalName="TaxCatchAll" ma:showField="CatchAllData" ma:web="ce9d32c5-4bd0-492d-a196-e5e973bfde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9d32c5-4bd0-492d-a196-e5e973bfded0" xsi:nil="true"/>
    <lcf76f155ced4ddcb4097134ff3c332f xmlns="b2bcf77a-db99-4c6d-8596-ee1fc4b012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304694C-0666-4794-AF44-84AF955B98C3}"/>
</file>

<file path=customXml/itemProps2.xml><?xml version="1.0" encoding="utf-8"?>
<ds:datastoreItem xmlns:ds="http://schemas.openxmlformats.org/officeDocument/2006/customXml" ds:itemID="{B0942E02-6750-416F-87C1-157A40768A33}"/>
</file>

<file path=customXml/itemProps3.xml><?xml version="1.0" encoding="utf-8"?>
<ds:datastoreItem xmlns:ds="http://schemas.openxmlformats.org/officeDocument/2006/customXml" ds:itemID="{5DCCB771-E2AC-48F8-BBC0-8D2DFE95EC4B}"/>
</file>

<file path=docProps/app.xml><?xml version="1.0" encoding="utf-8"?>
<Properties xmlns="http://schemas.openxmlformats.org/officeDocument/2006/extended-properties" xmlns:vt="http://schemas.openxmlformats.org/officeDocument/2006/docPropsVTypes">
  <TotalTime>0</TotalTime>
  <Words>2455</Words>
  <Application>Microsoft Office PowerPoint</Application>
  <PresentationFormat>Breitbild</PresentationFormat>
  <Paragraphs>258</Paragraphs>
  <Slides>31</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31</vt:i4>
      </vt:variant>
    </vt:vector>
  </HeadingPairs>
  <TitlesOfParts>
    <vt:vector size="38" baseType="lpstr">
      <vt:lpstr>Aptos</vt:lpstr>
      <vt:lpstr>Aptos Display</vt:lpstr>
      <vt:lpstr>Arial</vt:lpstr>
      <vt:lpstr>Calibri</vt:lpstr>
      <vt:lpstr>Symbol</vt:lpstr>
      <vt:lpstr>Times New Roman</vt:lpstr>
      <vt:lpstr>Office</vt:lpstr>
      <vt:lpstr>DATENSCHUTZ-SCHULUNG Teil 2: Grundsätze der Verarbeitung</vt:lpstr>
      <vt:lpstr>Datenschutz Teil 2.5</vt:lpstr>
      <vt:lpstr>TOMs (technisch-organisatorische Maßnahmen)</vt:lpstr>
      <vt:lpstr>Herausforderungen im Datenschutz</vt:lpstr>
      <vt:lpstr>Gewährleistung von TOMs</vt:lpstr>
      <vt:lpstr>Gewährleistung von TOMs (DSGVO / BDSG)</vt:lpstr>
      <vt:lpstr>Definition von TOMs</vt:lpstr>
      <vt:lpstr>Sicherheit der Verarbeitung (Art. 32 DSGVO)</vt:lpstr>
      <vt:lpstr>Abgrenzung: Datenschutz zu Datensicherheit</vt:lpstr>
      <vt:lpstr>Anforderungen der Informationssicherheit</vt:lpstr>
      <vt:lpstr>Gesetzliche Anforderungen [Art. 24 (1) DSGVO] </vt:lpstr>
      <vt:lpstr>Gesetzliche Anforderungen [Art. 24 (1) DSGVO] </vt:lpstr>
      <vt:lpstr>Faktor Mensch bei organisatorischen Maßnahmen</vt:lpstr>
      <vt:lpstr>Wie viele Schutzmaßnahmen müssen ergriffen werden: </vt:lpstr>
      <vt:lpstr>TOMs sind nicht eindeutig definiert</vt:lpstr>
      <vt:lpstr>TOMs sind in Art. 32 DSGVO konkreter… </vt:lpstr>
      <vt:lpstr>Privacy-by-design</vt:lpstr>
      <vt:lpstr>Pricacy-by-design (Zusammenfassung)</vt:lpstr>
      <vt:lpstr>Privacy-by-default</vt:lpstr>
      <vt:lpstr>Privacy-by-default (Zusammenfassung)</vt:lpstr>
      <vt:lpstr>Unterschiede der Art. 24 und 32 DSGVO</vt:lpstr>
      <vt:lpstr>Was ist „Stand der Technik“?</vt:lpstr>
      <vt:lpstr>TOMs gem. DSK, BSI; Aufsichtsbehörden</vt:lpstr>
      <vt:lpstr>Zu beachten beim Schlüsselsystem</vt:lpstr>
      <vt:lpstr>Passwort-Richtlinien</vt:lpstr>
      <vt:lpstr>Varianten für Zugriff / Zugang / Zutritt</vt:lpstr>
      <vt:lpstr>2FA- / MFA- Authentifizierung</vt:lpstr>
      <vt:lpstr>2FA / MFA / TOKEN</vt:lpstr>
      <vt:lpstr>Arten der Absicherung</vt:lpstr>
      <vt:lpstr>Zusammenfassung</vt:lpstr>
      <vt:lpstr>Zusammenfassung (Fortsetzung)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Dirk Moltzen</dc:creator>
  <cp:lastModifiedBy>Dirk Moltzen</cp:lastModifiedBy>
  <cp:revision>89</cp:revision>
  <dcterms:created xsi:type="dcterms:W3CDTF">2025-05-19T19:06:41Z</dcterms:created>
  <dcterms:modified xsi:type="dcterms:W3CDTF">2025-09-16T12:17:24Z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