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86" r:id="rId4"/>
    <p:sldId id="351" r:id="rId5"/>
    <p:sldId id="352" r:id="rId6"/>
    <p:sldId id="353" r:id="rId7"/>
    <p:sldId id="416" r:id="rId8"/>
    <p:sldId id="354" r:id="rId9"/>
    <p:sldId id="355" r:id="rId10"/>
    <p:sldId id="356" r:id="rId11"/>
    <p:sldId id="357" r:id="rId12"/>
    <p:sldId id="35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1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2: Grundsätze der Verarbeitung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>
                <a:solidFill>
                  <a:srgbClr val="0070C0"/>
                </a:solidFill>
              </a:rPr>
              <a:t>Teil 2:</a:t>
            </a:r>
            <a:r>
              <a:rPr lang="de-DE" b="1" dirty="0"/>
              <a:t> Grundsätze und Rechtmäßigkeit der Verarbeitung</a:t>
            </a:r>
          </a:p>
          <a:p>
            <a:pPr marL="0" indent="0">
              <a:buNone/>
            </a:pPr>
            <a:endParaRPr lang="de-DE" b="1" dirty="0">
              <a:solidFill>
                <a:srgbClr val="0070C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2.1: </a:t>
            </a:r>
            <a:r>
              <a:rPr lang="de-DE" b="1" dirty="0"/>
              <a:t>Grundsätze der Verarbeitung (</a:t>
            </a:r>
            <a:r>
              <a:rPr lang="de-DE" b="1" dirty="0" err="1"/>
              <a:t>pbD</a:t>
            </a:r>
            <a:r>
              <a:rPr lang="de-DE" b="1" dirty="0"/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2.2: </a:t>
            </a:r>
            <a:r>
              <a:rPr lang="de-DE" b="1" dirty="0"/>
              <a:t>Rechtmäßigkeit der Verarbeitung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2.3: </a:t>
            </a:r>
            <a:r>
              <a:rPr lang="de-DE" b="1" dirty="0"/>
              <a:t>Informationspflichten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2.4: </a:t>
            </a:r>
            <a:r>
              <a:rPr lang="de-DE" b="1" dirty="0"/>
              <a:t>Rechte der Betroffenen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2.5: </a:t>
            </a:r>
            <a:r>
              <a:rPr lang="de-DE" b="1" dirty="0"/>
              <a:t>Technisch-Organisatorische Maßnahmen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de-DE" b="1" dirty="0">
                <a:solidFill>
                  <a:srgbClr val="0070C0"/>
                </a:solidFill>
              </a:rPr>
              <a:t>Teil 2.6: </a:t>
            </a:r>
            <a:r>
              <a:rPr lang="de-DE" b="1" dirty="0"/>
              <a:t>Verzeichnis der Verarbeitungstätigkeiten (VVT)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26CA-1BB5-D9E4-C2F3-0EB9B313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fik 9" descr="Ein Bild, das Screenshot, Dunkelheit, Text, Schwarz enthält.&#10;&#10;KI-generierte Inhalte können fehlerhaft sein.">
            <a:extLst>
              <a:ext uri="{FF2B5EF4-FFF2-40B4-BE49-F238E27FC236}">
                <a16:creationId xmlns:a16="http://schemas.microsoft.com/office/drawing/2014/main" id="{22A7F07E-60BF-EC8D-1F48-F329402CC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69" t="4154" r="37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7D8F35-8BFB-3EDF-CB96-2547293B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Datenschutz</a:t>
            </a:r>
            <a:r>
              <a:rPr lang="en-US" sz="4800" dirty="0"/>
              <a:t> Teil 2.1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0E625-5C1D-BEF7-A788-BA5DF4D3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Grundsätze</a:t>
            </a:r>
            <a:r>
              <a:rPr lang="en-US" sz="2000" b="1" dirty="0">
                <a:solidFill>
                  <a:schemeClr val="tx1"/>
                </a:solidFill>
              </a:rPr>
              <a:t> der </a:t>
            </a:r>
            <a:r>
              <a:rPr lang="en-US" sz="2000" b="1">
                <a:solidFill>
                  <a:schemeClr val="tx1"/>
                </a:solidFill>
              </a:rPr>
              <a:t>Verarbeitung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Art. 5 ff DSGVO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F10496-2CA2-8CFB-B7E3-BA229B3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92321" y="6356350"/>
            <a:ext cx="302559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externer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900" kern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Datenschutzbeauftragter</a:t>
            </a:r>
            <a:r>
              <a:rPr lang="en-US" sz="90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C658C-B999-DEFF-0A1A-E2F9091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4733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6585317-BE60-D1CC-CB13-4C16874E2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9 Grundsätze des Datenschutzes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1214921-FD83-5084-1594-34AF114DF3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Rechtmäßigkeit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Treu und Glaube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Transparenz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Zweckbindung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Datenminimierung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F41398F6-106F-A820-1D4A-C15AC7D380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Richtigkeit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Speicherbgrenzung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Integrität &amp; Vertraulichkeit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Rechenschaftspflicht</a:t>
            </a:r>
            <a:endParaRPr kumimoji="0" lang="de-DE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  <a:p>
            <a:pPr marL="0" indent="0">
              <a:buNone/>
            </a:pPr>
            <a:r>
              <a:rPr lang="de-DE" b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de-DE" b="1" dirty="0">
                <a:solidFill>
                  <a:srgbClr val="7030A0"/>
                </a:solidFill>
              </a:rPr>
              <a:t>Art. 5 DSGVO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8D76DC-492D-7213-02FA-09E58AC0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E22B2D-B689-5B29-2198-6C26DD24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527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E823590C-FCD8-2D9E-B548-2C2073B6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Grundsatz 1: Definition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F78B041-286C-A269-79BE-66CD3A8D6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Rechtmäßigkeit:</a:t>
            </a:r>
            <a:r>
              <a:rPr lang="de-DE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(Verbot mit Erlaubnisvorbehalt)</a:t>
            </a:r>
            <a:b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Verarbeitung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ohne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Erlaubnis des Betroffenen </a:t>
            </a:r>
            <a:b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(außer gesetzlich erforderlich)</a:t>
            </a:r>
          </a:p>
          <a:p>
            <a:pPr>
              <a:lnSpc>
                <a:spcPct val="107000"/>
              </a:lnSpc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schriftlich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(empfohlen)</a:t>
            </a:r>
          </a:p>
          <a:p>
            <a:pPr>
              <a:lnSpc>
                <a:spcPct val="107000"/>
              </a:lnSpc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Zweckgebunden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zur Erlaubnis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Erlaubnistatbestände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in der </a:t>
            </a:r>
            <a:r>
              <a:rPr lang="de-DE" sz="2400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DSGVO Art. 6 bis 9</a:t>
            </a:r>
            <a:r>
              <a:rPr lang="de-DE" sz="2400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geregelt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E1442A-0EAC-6A13-9B34-5936F999F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7C2D42-7C77-E944-5D4B-40D968D4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138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D4B3CD-9282-9270-1130-B8AE9A30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Grundsatz 2: 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78FC39-4FE9-3EBD-BC6F-D32EDD6A7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b="1" i="0" u="sng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Treu und Glauben:</a:t>
            </a:r>
            <a:r>
              <a:rPr kumimoji="0" lang="de-DE" b="1" i="0" u="none" strike="noStrike" kern="1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 (Verhältnismäßigkeitsgrundsatz)</a:t>
            </a:r>
            <a:br>
              <a:rPr kumimoji="0" lang="de-DE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kumimoji="0" lang="de-DE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defRPr/>
            </a:pPr>
            <a:r>
              <a:rPr kumimoji="0" lang="de-DE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Legitimer Zweck </a:t>
            </a:r>
            <a:r>
              <a:rPr kumimoji="0" lang="de-DE" sz="240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(keine nachträgliche Zweckänderung)</a:t>
            </a:r>
          </a:p>
          <a:p>
            <a:pPr>
              <a:lnSpc>
                <a:spcPct val="107000"/>
              </a:lnSpc>
              <a:defRPr/>
            </a:pPr>
            <a:r>
              <a:rPr kumimoji="0" lang="de-DE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Maßhaltige Verarbeitung zur Erreichung des Zwecks (</a:t>
            </a:r>
            <a:r>
              <a:rPr kumimoji="0" lang="de-DE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Verhältnismäßigkeit</a:t>
            </a:r>
            <a:r>
              <a:rPr kumimoji="0" lang="de-DE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kumimoji="0" lang="de-DE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Erwartungen des </a:t>
            </a:r>
            <a:r>
              <a:rPr kumimoji="0" lang="de-DE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Betroffenen steh im Vordergrund </a:t>
            </a:r>
            <a:r>
              <a:rPr kumimoji="0" lang="de-DE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Aptos" panose="020B0004020202020204" pitchFamily="34" charset="0"/>
                <a:cs typeface="Times New Roman" panose="02020603050405020304" pitchFamily="18" charset="0"/>
              </a:rPr>
              <a:t>(nicht die des Verantwortlichen)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92EDEEA-7ABD-EA88-43BE-1AFC6579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229071-F7C1-EA33-19DB-73225043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6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147D64E-24AB-86EA-FE49-B53479C8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4101"/>
          </a:xfrm>
        </p:spPr>
        <p:txBody>
          <a:bodyPr/>
          <a:lstStyle/>
          <a:p>
            <a:r>
              <a:rPr lang="de-DE" dirty="0"/>
              <a:t>Zweck </a:t>
            </a:r>
            <a:r>
              <a:rPr lang="de-DE" sz="3200" dirty="0">
                <a:solidFill>
                  <a:srgbClr val="0070C0"/>
                </a:solidFill>
              </a:rPr>
              <a:t>(Praxis-Beispiele)</a:t>
            </a: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5964353B-B021-E10D-6AA0-C8B504075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853406"/>
              </p:ext>
            </p:extLst>
          </p:nvPr>
        </p:nvGraphicFramePr>
        <p:xfrm>
          <a:off x="838199" y="1099227"/>
          <a:ext cx="10515597" cy="5188379"/>
        </p:xfrm>
        <a:graphic>
          <a:graphicData uri="http://schemas.openxmlformats.org/drawingml/2006/table">
            <a:tbl>
              <a:tblPr firstRow="1" firstCol="1" bandRow="1"/>
              <a:tblGrid>
                <a:gridCol w="1749358">
                  <a:extLst>
                    <a:ext uri="{9D8B030D-6E8A-4147-A177-3AD203B41FA5}">
                      <a16:colId xmlns:a16="http://schemas.microsoft.com/office/drawing/2014/main" val="641390470"/>
                    </a:ext>
                  </a:extLst>
                </a:gridCol>
                <a:gridCol w="2101175">
                  <a:extLst>
                    <a:ext uri="{9D8B030D-6E8A-4147-A177-3AD203B41FA5}">
                      <a16:colId xmlns:a16="http://schemas.microsoft.com/office/drawing/2014/main" val="2436103579"/>
                    </a:ext>
                  </a:extLst>
                </a:gridCol>
                <a:gridCol w="2120630">
                  <a:extLst>
                    <a:ext uri="{9D8B030D-6E8A-4147-A177-3AD203B41FA5}">
                      <a16:colId xmlns:a16="http://schemas.microsoft.com/office/drawing/2014/main" val="277293148"/>
                    </a:ext>
                  </a:extLst>
                </a:gridCol>
                <a:gridCol w="1945532">
                  <a:extLst>
                    <a:ext uri="{9D8B030D-6E8A-4147-A177-3AD203B41FA5}">
                      <a16:colId xmlns:a16="http://schemas.microsoft.com/office/drawing/2014/main" val="2899056702"/>
                    </a:ext>
                  </a:extLst>
                </a:gridCol>
                <a:gridCol w="2598902">
                  <a:extLst>
                    <a:ext uri="{9D8B030D-6E8A-4147-A177-3AD203B41FA5}">
                      <a16:colId xmlns:a16="http://schemas.microsoft.com/office/drawing/2014/main" val="616845975"/>
                    </a:ext>
                  </a:extLst>
                </a:gridCol>
              </a:tblGrid>
              <a:tr h="1696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Beispiel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Zweck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Rechtsgrundlage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Betroffene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b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Bemerkungen</a:t>
                      </a:r>
                      <a:endParaRPr lang="de-DE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191047"/>
                  </a:ext>
                </a:extLst>
              </a:tr>
              <a:tr h="9622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Bewerberprozess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Onlinebewerbungsverfahren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§ 26 BDSG</a:t>
                      </a:r>
                      <a:b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Beschäftigtendatenschutz, dazu zählen auch Bewerber und Praktikanten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Bewerber wird über die Dauer der Datenspeicherung / Zeitpunkt der Löschung informiert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 Monate oder Bewerber-Pool, wenn der Bewerber eine Einwilligung unterschreibt (dann ca. 2 Jahre), Prozess muss im VVT angelegt werden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438900"/>
                  </a:ext>
                </a:extLst>
              </a:tr>
              <a:tr h="9622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Beschäftigtenprozess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Datenübertragung zum externen Lohnbüro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§ 26 BDSG Beschäftigtendatenschutz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Beschäftigter wird über die Datenübertragung informiert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Widerspricht der MA der Verarbeitung, dann kann kein Arbeitsvertrag geschlossen werden. Prozess muss im VVT angelegt werden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31916"/>
                  </a:ext>
                </a:extLst>
              </a:tr>
              <a:tr h="5211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Neukundenprozess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Angebotserstellung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Art. 6 (1) lit. b DSGVO</a:t>
                      </a:r>
                      <a:b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(Vor)vertragliche Erfüllung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Neukunde erfragt Angebot für eine Dienstleistung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Muss vom Kunden direkt angefragt werden, dann ist keine Einwilligung nötig. 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818829"/>
                  </a:ext>
                </a:extLst>
              </a:tr>
              <a:tr h="11235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Bestandskundenprozess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Newsletter Angebot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Art. 6 (1) lit. f DSGVO Berechtigtes Interesse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10% Rabatt Angebot bei Newsletteranmeldung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Zwingende Double Opt In Anmeldung erforderlich und muss protokolliert sein!</a:t>
                      </a:r>
                      <a:b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Kopplungsverbot, berechtigtes Interesse muss dokumentiert sein, 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872104"/>
                  </a:ext>
                </a:extLst>
              </a:tr>
              <a:tr h="14460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Websitebesucherprozess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Kontakt über </a:t>
                      </a:r>
                      <a:r>
                        <a:rPr lang="de-DE" sz="11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Kontaktfomular</a:t>
                      </a:r>
                      <a:endParaRPr lang="de-DE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Art. 6 (1) lit. a DSGVO Einwilligung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Freiwillige Kontaktaufnahme, Angaben vom Betroffenen selbst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de-DE" sz="11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Beachte DS-Informationen müssen angeboten werden und dieser Hinweis muss aktiv vom Nutzer angeklickt werden. Der Nutzer willigt in die DV ein, NICHT in die DSE. Diese nimmt er bestenfalls zur Kenntnis.</a:t>
                      </a:r>
                    </a:p>
                  </a:txBody>
                  <a:tcPr marL="54021" marR="5402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464249"/>
                  </a:ext>
                </a:extLst>
              </a:tr>
            </a:tbl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E66EC3-A48B-85CA-BE53-247F35EFB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FD86DF-DFF3-0F95-6106-C0EBB94F0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89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F1A6D4-86A4-46F0-CDE3-62EB3762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Grundsatz 3: Definition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BBA2B7-A70A-9FE7-100E-8BA40229D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Transparenz</a:t>
            </a:r>
            <a:r>
              <a:rPr lang="de-DE" b="1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Betroffener muss die Art und Weise der DV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nachvollziehen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können</a:t>
            </a: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Grundsätze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Informationspflichten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Betroffenenrechte nach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12, 13 und 14 DSGVO </a:t>
            </a:r>
            <a:r>
              <a:rPr lang="de-DE" kern="100" dirty="0">
                <a:ea typeface="Aptos" panose="020B0004020202020204" pitchFamily="34" charset="0"/>
                <a:cs typeface="Times New Roman" panose="02020603050405020304" pitchFamily="18" charset="0"/>
              </a:rPr>
              <a:t>finden Anwendung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Auskunftspflicht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den gespeicherten Daten und der Weitergabe an Dritte werden mitgeteilt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1B250F-1FCA-C8D8-D6B2-7D100B1D6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0D9C036-081D-10A1-D0D3-15153038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839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1E45-FBF6-F140-2B42-62388C62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Grundsatz 4: 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432E89-5BD6-2F8E-ED2C-409FA74D5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Zweckbindung: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entscheidet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über die Zulässigkeit der Verarbeitung</a:t>
            </a: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angegebene Zwecke gelten,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Zweckänderung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zulässig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i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Ausnahmen: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6 (4) DSGVO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Zweck ist schriftlich und möglichst genau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dokumentieren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D2FB78-F159-54CA-E2FB-5A5653434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4E6FDB-E790-AC0F-9D78-91378ECF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403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2C7F9-ED94-D3C4-F80A-18D032EA9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Grundsätze 5 &amp; 6: Definitionen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3DA170-C49B-EB9A-44B3-7F2B6AE24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Datenminimierung: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 viele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 erheben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wie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für den Zweck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erforderlich sind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Keine „Vorratsdatenspeicherung“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betreiben (unzulässig)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 prüfen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Aktualisieren,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korrigieren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oder löschen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ABE591-F3F7-1B79-14E0-69444DEF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5C679E-3994-285C-BEA8-D73477D48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601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FAB387-A088-417E-5A6F-5226D9EF1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Grundsatz 7: 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90621E-34A9-C6A5-531C-A7C143E01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Speicherbegrenzung: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Zeitraum der Speicherung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endet mit der Zweckerfüllung</a:t>
            </a:r>
            <a:b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Gesetzliche Aufbewahrungsfrist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erreicht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Löschpflicht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gem.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17 DSGVO</a:t>
            </a:r>
            <a:r>
              <a:rPr lang="de-DE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 zu beachten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0E8F4A5-EA6B-02CE-E171-871753F9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4B497A7-C8CE-D656-B190-FEC85EE0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543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95B332-1FF3-D24C-3BC2-B458FC2A5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1573"/>
          </a:xfrm>
        </p:spPr>
        <p:txBody>
          <a:bodyPr/>
          <a:lstStyle/>
          <a:p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Grundsätze 8 &amp; 9: Definitionen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7297E0-7232-616B-EE49-58E0BB786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3157"/>
            <a:ext cx="10515600" cy="450380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Integrität und Vertraulichkeit: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TOMs nach </a:t>
            </a: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24 und 32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Vermeidung von unberechtigter, unbefugter Verarbeitung, zufälligem Verlust/Zerstörung, Schädigung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de-DE" b="1" u="sng" kern="100" dirty="0">
                <a:solidFill>
                  <a:srgbClr val="0070C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Rechenschaftspflicht:</a:t>
            </a:r>
            <a:endParaRPr lang="de-DE" kern="100" dirty="0">
              <a:solidFill>
                <a:srgbClr val="0070C0"/>
              </a:solidFill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Sicherstellung und Nachweispflicht der TOMs des Verantwortlichen </a:t>
            </a:r>
            <a:b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de-DE" b="1" i="1" kern="100" dirty="0">
                <a:solidFill>
                  <a:srgbClr val="7030A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Art. 24 (1) Satz 1 DSGVO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C896E7E-8563-F80D-5140-77A02A3F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E67915-858F-C527-FFF8-A3151C32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912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4E21641-4E3D-4001-9003-879AF3501893}"/>
</file>

<file path=customXml/itemProps2.xml><?xml version="1.0" encoding="utf-8"?>
<ds:datastoreItem xmlns:ds="http://schemas.openxmlformats.org/officeDocument/2006/customXml" ds:itemID="{146F18FB-56FB-471F-B02F-D22F34DB8376}"/>
</file>

<file path=customXml/itemProps3.xml><?xml version="1.0" encoding="utf-8"?>
<ds:datastoreItem xmlns:ds="http://schemas.openxmlformats.org/officeDocument/2006/customXml" ds:itemID="{11415845-B279-4A25-ACBD-0D28AAEB911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Breitbild</PresentationFormat>
  <Paragraphs>121</Paragraphs>
  <Slides>12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</vt:lpstr>
      <vt:lpstr>DATENSCHUTZ-SCHULUNG Teil 2: Grundsätze der Verarbeitung</vt:lpstr>
      <vt:lpstr>Inhalte der Datenschutz-Themen</vt:lpstr>
      <vt:lpstr>Datenschutz Teil 2.1</vt:lpstr>
      <vt:lpstr>Die 9 Grundsätze des Datenschutzes</vt:lpstr>
      <vt:lpstr>Grundsatz 1: Definition</vt:lpstr>
      <vt:lpstr>Grundsatz 2: Definition</vt:lpstr>
      <vt:lpstr>Zweck (Praxis-Beispiele)</vt:lpstr>
      <vt:lpstr>Grundsatz 3: Definition</vt:lpstr>
      <vt:lpstr>Grundsatz 4: Definition</vt:lpstr>
      <vt:lpstr>Grundsätze 5 &amp; 6: Definitionen</vt:lpstr>
      <vt:lpstr>Grundsatz 7: Definition</vt:lpstr>
      <vt:lpstr>Grundsätze 8 &amp; 9: Definitionen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89</cp:revision>
  <dcterms:created xsi:type="dcterms:W3CDTF">2025-05-19T19:06:41Z</dcterms:created>
  <dcterms:modified xsi:type="dcterms:W3CDTF">2025-09-16T11:56:30Z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