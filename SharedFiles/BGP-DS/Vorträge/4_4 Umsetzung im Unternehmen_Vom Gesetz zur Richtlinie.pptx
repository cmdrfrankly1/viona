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8" r:id="rId3"/>
    <p:sldId id="289" r:id="rId4"/>
    <p:sldId id="314" r:id="rId5"/>
    <p:sldId id="315" r:id="rId6"/>
    <p:sldId id="316" r:id="rId7"/>
    <p:sldId id="317" r:id="rId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31" autoAdjust="0"/>
    <p:restoredTop sz="94660"/>
  </p:normalViewPr>
  <p:slideViewPr>
    <p:cSldViewPr snapToGrid="0">
      <p:cViewPr varScale="1">
        <p:scale>
          <a:sx n="60" d="100"/>
          <a:sy n="60" d="100"/>
        </p:scale>
        <p:origin x="79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2.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E2C052-91DF-4DB3-B342-3CD8D6AF7C71}" type="datetimeFigureOut">
              <a:rPr lang="de-DE" smtClean="0"/>
              <a:t>18.09.2025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4710CE-1ECF-4525-BFCD-FD2D0B83985D}" type="slidenum">
              <a:rPr lang="de-DE" smtClean="0"/>
              <a:t>‹Nr.›</a:t>
            </a:fld>
            <a:endParaRPr lang="de-DE"/>
          </a:p>
        </p:txBody>
      </p:sp>
    </p:spTree>
    <p:extLst>
      <p:ext uri="{BB962C8B-B14F-4D97-AF65-F5344CB8AC3E}">
        <p14:creationId xmlns:p14="http://schemas.microsoft.com/office/powerpoint/2010/main" val="902725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85193-DBDA-CBB6-9AFC-94475724860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F7DA607-06FF-995E-3F2E-6E0F50FD905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1B312C8-E47D-8012-538C-B1886CA18AE5}"/>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811C8395-E12C-5C9D-0B44-34228F99CF1B}"/>
              </a:ext>
            </a:extLst>
          </p:cNvPr>
          <p:cNvSpPr>
            <a:spLocks noGrp="1"/>
          </p:cNvSpPr>
          <p:nvPr>
            <p:ph type="sldNum" sz="quarter" idx="5"/>
          </p:nvPr>
        </p:nvSpPr>
        <p:spPr/>
        <p:txBody>
          <a:bodyPr/>
          <a:lstStyle/>
          <a:p>
            <a:fld id="{644710CE-1ECF-4525-BFCD-FD2D0B83985D}" type="slidenum">
              <a:rPr lang="de-DE" smtClean="0"/>
              <a:t>3</a:t>
            </a:fld>
            <a:endParaRPr lang="de-DE"/>
          </a:p>
        </p:txBody>
      </p:sp>
    </p:spTree>
    <p:extLst>
      <p:ext uri="{BB962C8B-B14F-4D97-AF65-F5344CB8AC3E}">
        <p14:creationId xmlns:p14="http://schemas.microsoft.com/office/powerpoint/2010/main" val="1106973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66B4CA0-0D9B-2397-636C-95227E6D191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8A6CBF7D-844C-C3E8-4791-B467FDCC44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936ED5D8-D21B-2991-AD91-EF8776526101}"/>
              </a:ext>
            </a:extLst>
          </p:cNvPr>
          <p:cNvSpPr>
            <a:spLocks noGrp="1"/>
          </p:cNvSpPr>
          <p:nvPr>
            <p:ph type="dt" sz="half" idx="10"/>
          </p:nvPr>
        </p:nvSpPr>
        <p:spPr/>
        <p:txBody>
          <a:bodyPr/>
          <a:lstStyle/>
          <a:p>
            <a:fld id="{C672DB5E-9D2D-453F-9BAF-14F389B2B6FD}" type="datetime1">
              <a:rPr lang="de-DE" smtClean="0"/>
              <a:t>18.09.2025</a:t>
            </a:fld>
            <a:endParaRPr lang="de-DE"/>
          </a:p>
        </p:txBody>
      </p:sp>
      <p:sp>
        <p:nvSpPr>
          <p:cNvPr id="5" name="Fußzeilenplatzhalter 4">
            <a:extLst>
              <a:ext uri="{FF2B5EF4-FFF2-40B4-BE49-F238E27FC236}">
                <a16:creationId xmlns:a16="http://schemas.microsoft.com/office/drawing/2014/main" id="{A6662200-947A-F1EA-2C52-A9ED73D7D776}"/>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A72F66E2-E057-AD36-C3DA-CE84D739FCD5}"/>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112674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21CDB6-2205-C649-0EFF-4AF9C88089C7}"/>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02738B8-DFE1-053C-8D14-65BDC42204EA}"/>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9443B26-B36D-01B6-8CB3-EBCCB41DBBFE}"/>
              </a:ext>
            </a:extLst>
          </p:cNvPr>
          <p:cNvSpPr>
            <a:spLocks noGrp="1"/>
          </p:cNvSpPr>
          <p:nvPr>
            <p:ph type="dt" sz="half" idx="10"/>
          </p:nvPr>
        </p:nvSpPr>
        <p:spPr/>
        <p:txBody>
          <a:bodyPr/>
          <a:lstStyle/>
          <a:p>
            <a:fld id="{B42EE8E6-ED59-4859-B0C3-225166F39F4E}" type="datetime1">
              <a:rPr lang="de-DE" smtClean="0"/>
              <a:t>18.09.2025</a:t>
            </a:fld>
            <a:endParaRPr lang="de-DE"/>
          </a:p>
        </p:txBody>
      </p:sp>
      <p:sp>
        <p:nvSpPr>
          <p:cNvPr id="5" name="Fußzeilenplatzhalter 4">
            <a:extLst>
              <a:ext uri="{FF2B5EF4-FFF2-40B4-BE49-F238E27FC236}">
                <a16:creationId xmlns:a16="http://schemas.microsoft.com/office/drawing/2014/main" id="{257B0E11-7309-8334-C745-4B8891F30ECE}"/>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DB474E42-1956-41CB-85EE-1D92BD077AA7}"/>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748882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AE3BDF-74CF-D836-BDF6-1A9E5CD1A8AC}"/>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8218F682-74D0-260C-C0FA-67608DE59C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9126DB74-0B12-4E55-DFE8-11C848ADC5FF}"/>
              </a:ext>
            </a:extLst>
          </p:cNvPr>
          <p:cNvSpPr>
            <a:spLocks noGrp="1"/>
          </p:cNvSpPr>
          <p:nvPr>
            <p:ph type="dt" sz="half" idx="10"/>
          </p:nvPr>
        </p:nvSpPr>
        <p:spPr/>
        <p:txBody>
          <a:bodyPr/>
          <a:lstStyle/>
          <a:p>
            <a:fld id="{21AF14BD-9277-4F74-8DB6-09E47A4EDF52}" type="datetime1">
              <a:rPr lang="de-DE" smtClean="0"/>
              <a:t>18.09.2025</a:t>
            </a:fld>
            <a:endParaRPr lang="de-DE"/>
          </a:p>
        </p:txBody>
      </p:sp>
      <p:sp>
        <p:nvSpPr>
          <p:cNvPr id="5" name="Fußzeilenplatzhalter 4">
            <a:extLst>
              <a:ext uri="{FF2B5EF4-FFF2-40B4-BE49-F238E27FC236}">
                <a16:creationId xmlns:a16="http://schemas.microsoft.com/office/drawing/2014/main" id="{B1BD3D0A-2DD9-A6B1-1489-6F90254082FA}"/>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9040CFB5-98C2-84E4-BDD3-F4C750AF4EB4}"/>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1816828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EA83CA-15C6-89A0-FEDA-18437CD00BEF}"/>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D6B2365-8E78-D10D-2C7A-CFA338DFD86E}"/>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09A9C519-780B-C21A-8A0F-FF13E8BA2330}"/>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C3BD13EC-EB69-D436-B6B3-336B02A7E1E9}"/>
              </a:ext>
            </a:extLst>
          </p:cNvPr>
          <p:cNvSpPr>
            <a:spLocks noGrp="1"/>
          </p:cNvSpPr>
          <p:nvPr>
            <p:ph type="dt" sz="half" idx="10"/>
          </p:nvPr>
        </p:nvSpPr>
        <p:spPr/>
        <p:txBody>
          <a:bodyPr/>
          <a:lstStyle/>
          <a:p>
            <a:fld id="{CA11EA98-5F69-4205-B62B-A9D2FE44DC9A}" type="datetime1">
              <a:rPr lang="de-DE" smtClean="0"/>
              <a:t>18.09.2025</a:t>
            </a:fld>
            <a:endParaRPr lang="de-DE"/>
          </a:p>
        </p:txBody>
      </p:sp>
      <p:sp>
        <p:nvSpPr>
          <p:cNvPr id="6" name="Fußzeilenplatzhalter 5">
            <a:extLst>
              <a:ext uri="{FF2B5EF4-FFF2-40B4-BE49-F238E27FC236}">
                <a16:creationId xmlns:a16="http://schemas.microsoft.com/office/drawing/2014/main" id="{3F54854A-5BCA-AA61-4794-C845E8410B0B}"/>
              </a:ext>
            </a:extLst>
          </p:cNvPr>
          <p:cNvSpPr>
            <a:spLocks noGrp="1"/>
          </p:cNvSpPr>
          <p:nvPr>
            <p:ph type="ftr" sz="quarter" idx="11"/>
          </p:nvPr>
        </p:nvSpPr>
        <p:spPr/>
        <p:txBody>
          <a:bodyPr/>
          <a:lstStyle/>
          <a:p>
            <a:r>
              <a:rPr lang="de-DE"/>
              <a:t>Dirk Moltzen - externer Datenschutzbeauftragter TÜV® CERT</a:t>
            </a:r>
          </a:p>
        </p:txBody>
      </p:sp>
      <p:sp>
        <p:nvSpPr>
          <p:cNvPr id="7" name="Foliennummernplatzhalter 6">
            <a:extLst>
              <a:ext uri="{FF2B5EF4-FFF2-40B4-BE49-F238E27FC236}">
                <a16:creationId xmlns:a16="http://schemas.microsoft.com/office/drawing/2014/main" id="{E1D920B8-0BB6-DC20-C44A-6FE1799AC842}"/>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989295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E7B4D7-5073-8EE2-C713-A9807BC24203}"/>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4515CB72-967C-1FE1-7266-4C90A820AE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2F2685B6-6BF1-51FC-0CC5-E6B83E0349D3}"/>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25C1FDDC-7DF7-F143-DB9D-5224023A29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8E1C4E95-7462-FA80-84AD-9D823B3D09FF}"/>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BDC635FA-7C5E-7A65-D6EA-6B07AE444101}"/>
              </a:ext>
            </a:extLst>
          </p:cNvPr>
          <p:cNvSpPr>
            <a:spLocks noGrp="1"/>
          </p:cNvSpPr>
          <p:nvPr>
            <p:ph type="dt" sz="half" idx="10"/>
          </p:nvPr>
        </p:nvSpPr>
        <p:spPr/>
        <p:txBody>
          <a:bodyPr/>
          <a:lstStyle/>
          <a:p>
            <a:fld id="{C8B5DD1B-5A4B-4D66-A112-730D2E7C9367}" type="datetime1">
              <a:rPr lang="de-DE" smtClean="0"/>
              <a:t>18.09.2025</a:t>
            </a:fld>
            <a:endParaRPr lang="de-DE"/>
          </a:p>
        </p:txBody>
      </p:sp>
      <p:sp>
        <p:nvSpPr>
          <p:cNvPr id="8" name="Fußzeilenplatzhalter 7">
            <a:extLst>
              <a:ext uri="{FF2B5EF4-FFF2-40B4-BE49-F238E27FC236}">
                <a16:creationId xmlns:a16="http://schemas.microsoft.com/office/drawing/2014/main" id="{D53E3795-8351-EACE-5649-C8A6261CFB9F}"/>
              </a:ext>
            </a:extLst>
          </p:cNvPr>
          <p:cNvSpPr>
            <a:spLocks noGrp="1"/>
          </p:cNvSpPr>
          <p:nvPr>
            <p:ph type="ftr" sz="quarter" idx="11"/>
          </p:nvPr>
        </p:nvSpPr>
        <p:spPr/>
        <p:txBody>
          <a:bodyPr/>
          <a:lstStyle/>
          <a:p>
            <a:r>
              <a:rPr lang="de-DE"/>
              <a:t>Dirk Moltzen - externer Datenschutzbeauftragter TÜV® CERT</a:t>
            </a:r>
          </a:p>
        </p:txBody>
      </p:sp>
      <p:sp>
        <p:nvSpPr>
          <p:cNvPr id="9" name="Foliennummernplatzhalter 8">
            <a:extLst>
              <a:ext uri="{FF2B5EF4-FFF2-40B4-BE49-F238E27FC236}">
                <a16:creationId xmlns:a16="http://schemas.microsoft.com/office/drawing/2014/main" id="{75980057-3041-8E66-F05F-0C6DAD687D7E}"/>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502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AB809C-717E-0BE3-A852-7D6ED08D1B60}"/>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CABDE474-BB62-A15B-AF69-1F53A895DCAB}"/>
              </a:ext>
            </a:extLst>
          </p:cNvPr>
          <p:cNvSpPr>
            <a:spLocks noGrp="1"/>
          </p:cNvSpPr>
          <p:nvPr>
            <p:ph type="dt" sz="half" idx="10"/>
          </p:nvPr>
        </p:nvSpPr>
        <p:spPr/>
        <p:txBody>
          <a:bodyPr/>
          <a:lstStyle/>
          <a:p>
            <a:fld id="{78260CA9-080E-495A-8A5A-989AC8DFCC2C}" type="datetime1">
              <a:rPr lang="de-DE" smtClean="0"/>
              <a:t>18.09.2025</a:t>
            </a:fld>
            <a:endParaRPr lang="de-DE"/>
          </a:p>
        </p:txBody>
      </p:sp>
      <p:sp>
        <p:nvSpPr>
          <p:cNvPr id="4" name="Fußzeilenplatzhalter 3">
            <a:extLst>
              <a:ext uri="{FF2B5EF4-FFF2-40B4-BE49-F238E27FC236}">
                <a16:creationId xmlns:a16="http://schemas.microsoft.com/office/drawing/2014/main" id="{3F009B64-7486-6B03-109F-0A1DB878FD8A}"/>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84E269A4-2AFB-0581-906E-331F89EFE6AE}"/>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526675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9BB4EF03-31AB-6045-F997-30142EC62E78}"/>
              </a:ext>
            </a:extLst>
          </p:cNvPr>
          <p:cNvSpPr>
            <a:spLocks noGrp="1"/>
          </p:cNvSpPr>
          <p:nvPr>
            <p:ph type="dt" sz="half" idx="10"/>
          </p:nvPr>
        </p:nvSpPr>
        <p:spPr/>
        <p:txBody>
          <a:bodyPr/>
          <a:lstStyle/>
          <a:p>
            <a:fld id="{8A7D2418-5A2A-4D67-823F-EC4266F86929}" type="datetime1">
              <a:rPr lang="de-DE" smtClean="0"/>
              <a:t>18.09.2025</a:t>
            </a:fld>
            <a:endParaRPr lang="de-DE"/>
          </a:p>
        </p:txBody>
      </p:sp>
      <p:sp>
        <p:nvSpPr>
          <p:cNvPr id="3" name="Fußzeilenplatzhalter 2">
            <a:extLst>
              <a:ext uri="{FF2B5EF4-FFF2-40B4-BE49-F238E27FC236}">
                <a16:creationId xmlns:a16="http://schemas.microsoft.com/office/drawing/2014/main" id="{4BECFB2D-8F62-0045-E978-BE3C6015B8F9}"/>
              </a:ext>
            </a:extLst>
          </p:cNvPr>
          <p:cNvSpPr>
            <a:spLocks noGrp="1"/>
          </p:cNvSpPr>
          <p:nvPr>
            <p:ph type="ftr" sz="quarter" idx="11"/>
          </p:nvPr>
        </p:nvSpPr>
        <p:spPr/>
        <p:txBody>
          <a:bodyPr/>
          <a:lstStyle/>
          <a:p>
            <a:r>
              <a:rPr lang="de-DE"/>
              <a:t>Dirk Moltzen - externer Datenschutzbeauftragter TÜV® CERT</a:t>
            </a:r>
          </a:p>
        </p:txBody>
      </p:sp>
      <p:sp>
        <p:nvSpPr>
          <p:cNvPr id="4" name="Foliennummernplatzhalter 3">
            <a:extLst>
              <a:ext uri="{FF2B5EF4-FFF2-40B4-BE49-F238E27FC236}">
                <a16:creationId xmlns:a16="http://schemas.microsoft.com/office/drawing/2014/main" id="{A81E2D0D-FB5B-18D9-CA46-B17F6D7D89C3}"/>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54337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14205B-67C0-3C72-1270-AB3F648C00E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B82FF748-A088-071E-017D-99500D75BF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B9A7AC7C-492C-90F4-8A67-7CBC818A01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13A1AFB3-C22B-78C8-5ABA-FE62DEB62C80}"/>
              </a:ext>
            </a:extLst>
          </p:cNvPr>
          <p:cNvSpPr>
            <a:spLocks noGrp="1"/>
          </p:cNvSpPr>
          <p:nvPr>
            <p:ph type="dt" sz="half" idx="10"/>
          </p:nvPr>
        </p:nvSpPr>
        <p:spPr/>
        <p:txBody>
          <a:bodyPr/>
          <a:lstStyle/>
          <a:p>
            <a:fld id="{BEA624FE-15BC-48DE-8943-3F775C222EF7}" type="datetime1">
              <a:rPr lang="de-DE" smtClean="0"/>
              <a:t>18.09.2025</a:t>
            </a:fld>
            <a:endParaRPr lang="de-DE"/>
          </a:p>
        </p:txBody>
      </p:sp>
      <p:sp>
        <p:nvSpPr>
          <p:cNvPr id="6" name="Fußzeilenplatzhalter 5">
            <a:extLst>
              <a:ext uri="{FF2B5EF4-FFF2-40B4-BE49-F238E27FC236}">
                <a16:creationId xmlns:a16="http://schemas.microsoft.com/office/drawing/2014/main" id="{70F01998-1EAE-F808-4FBE-68B2F851F599}"/>
              </a:ext>
            </a:extLst>
          </p:cNvPr>
          <p:cNvSpPr>
            <a:spLocks noGrp="1"/>
          </p:cNvSpPr>
          <p:nvPr>
            <p:ph type="ftr" sz="quarter" idx="11"/>
          </p:nvPr>
        </p:nvSpPr>
        <p:spPr/>
        <p:txBody>
          <a:bodyPr/>
          <a:lstStyle/>
          <a:p>
            <a:r>
              <a:rPr lang="de-DE"/>
              <a:t>Dirk Moltzen - externer Datenschutzbeauftragter TÜV® CERT</a:t>
            </a:r>
          </a:p>
        </p:txBody>
      </p:sp>
      <p:sp>
        <p:nvSpPr>
          <p:cNvPr id="7" name="Foliennummernplatzhalter 6">
            <a:extLst>
              <a:ext uri="{FF2B5EF4-FFF2-40B4-BE49-F238E27FC236}">
                <a16:creationId xmlns:a16="http://schemas.microsoft.com/office/drawing/2014/main" id="{C508FCF0-9A89-4F9E-90AA-7B6050B81313}"/>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733478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A74FCB-7070-9042-F162-D3957EF7F7CD}"/>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F661D97A-92D7-1999-21A5-2E494FE401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7CF8D34-1DA2-DB73-54B3-DE9EF87E2C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B3F5C852-F89D-BA31-F1F1-5908F9499CA8}"/>
              </a:ext>
            </a:extLst>
          </p:cNvPr>
          <p:cNvSpPr>
            <a:spLocks noGrp="1"/>
          </p:cNvSpPr>
          <p:nvPr>
            <p:ph type="dt" sz="half" idx="10"/>
          </p:nvPr>
        </p:nvSpPr>
        <p:spPr/>
        <p:txBody>
          <a:bodyPr/>
          <a:lstStyle/>
          <a:p>
            <a:fld id="{F1E1FB9E-692E-48A8-84C5-9952D749F23A}" type="datetime1">
              <a:rPr lang="de-DE" smtClean="0"/>
              <a:t>18.09.2025</a:t>
            </a:fld>
            <a:endParaRPr lang="de-DE"/>
          </a:p>
        </p:txBody>
      </p:sp>
      <p:sp>
        <p:nvSpPr>
          <p:cNvPr id="6" name="Fußzeilenplatzhalter 5">
            <a:extLst>
              <a:ext uri="{FF2B5EF4-FFF2-40B4-BE49-F238E27FC236}">
                <a16:creationId xmlns:a16="http://schemas.microsoft.com/office/drawing/2014/main" id="{B8837075-A10E-3C14-F3C3-2E9BE88FB3A1}"/>
              </a:ext>
            </a:extLst>
          </p:cNvPr>
          <p:cNvSpPr>
            <a:spLocks noGrp="1"/>
          </p:cNvSpPr>
          <p:nvPr>
            <p:ph type="ftr" sz="quarter" idx="11"/>
          </p:nvPr>
        </p:nvSpPr>
        <p:spPr/>
        <p:txBody>
          <a:bodyPr/>
          <a:lstStyle/>
          <a:p>
            <a:r>
              <a:rPr lang="de-DE"/>
              <a:t>Dirk Moltzen - externer Datenschutzbeauftragter TÜV® CERT</a:t>
            </a:r>
          </a:p>
        </p:txBody>
      </p:sp>
      <p:sp>
        <p:nvSpPr>
          <p:cNvPr id="7" name="Foliennummernplatzhalter 6">
            <a:extLst>
              <a:ext uri="{FF2B5EF4-FFF2-40B4-BE49-F238E27FC236}">
                <a16:creationId xmlns:a16="http://schemas.microsoft.com/office/drawing/2014/main" id="{734A5AF6-1125-19E3-786E-CE22A0A7447A}"/>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271625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D3F011-39E4-FEA4-5D0F-FD25397B8C7F}"/>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DB6A2C3D-19CA-3847-73C8-76EFE13A156C}"/>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5660374A-9259-29AD-05FF-F3A635147932}"/>
              </a:ext>
            </a:extLst>
          </p:cNvPr>
          <p:cNvSpPr>
            <a:spLocks noGrp="1"/>
          </p:cNvSpPr>
          <p:nvPr>
            <p:ph type="dt" sz="half" idx="10"/>
          </p:nvPr>
        </p:nvSpPr>
        <p:spPr/>
        <p:txBody>
          <a:bodyPr/>
          <a:lstStyle/>
          <a:p>
            <a:fld id="{3D55D161-017C-4308-B022-23EEBD4A53E7}" type="datetime1">
              <a:rPr lang="de-DE" smtClean="0"/>
              <a:t>18.09.2025</a:t>
            </a:fld>
            <a:endParaRPr lang="de-DE"/>
          </a:p>
        </p:txBody>
      </p:sp>
      <p:sp>
        <p:nvSpPr>
          <p:cNvPr id="5" name="Fußzeilenplatzhalter 4">
            <a:extLst>
              <a:ext uri="{FF2B5EF4-FFF2-40B4-BE49-F238E27FC236}">
                <a16:creationId xmlns:a16="http://schemas.microsoft.com/office/drawing/2014/main" id="{6D3CA8E5-3D50-1482-5EA3-0AE0CCD1C7D3}"/>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9D3B4CD6-D217-6A5A-C835-ABBF8EA87231}"/>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121701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3FAC6231-501D-5B6C-07CA-78E57495AD79}"/>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8A6AA6BA-E9E2-41B1-CDFA-CBD87B43E1E8}"/>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9405D0A-77D6-1022-E33C-FCFCDC61AC86}"/>
              </a:ext>
            </a:extLst>
          </p:cNvPr>
          <p:cNvSpPr>
            <a:spLocks noGrp="1"/>
          </p:cNvSpPr>
          <p:nvPr>
            <p:ph type="dt" sz="half" idx="10"/>
          </p:nvPr>
        </p:nvSpPr>
        <p:spPr/>
        <p:txBody>
          <a:bodyPr/>
          <a:lstStyle/>
          <a:p>
            <a:fld id="{685B6E2E-C33C-4093-9AD7-A0DDBAC742A6}" type="datetime1">
              <a:rPr lang="de-DE" smtClean="0"/>
              <a:t>18.09.2025</a:t>
            </a:fld>
            <a:endParaRPr lang="de-DE"/>
          </a:p>
        </p:txBody>
      </p:sp>
      <p:sp>
        <p:nvSpPr>
          <p:cNvPr id="5" name="Fußzeilenplatzhalter 4">
            <a:extLst>
              <a:ext uri="{FF2B5EF4-FFF2-40B4-BE49-F238E27FC236}">
                <a16:creationId xmlns:a16="http://schemas.microsoft.com/office/drawing/2014/main" id="{4BF6FBA2-0D4D-BABB-8A8B-7D96CF0C617D}"/>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814DBF3D-401F-3741-7E93-32CDCAC84CCE}"/>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538326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DE23AD2-A997-A50A-7B9B-51EFA4D8E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20E3F0D2-6FEC-0D1F-2B92-081695429A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4BFB01D-569E-09F5-F922-327089C50D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E4FBDE-3156-405F-8033-5D2AF69D6F32}" type="datetime1">
              <a:rPr lang="de-DE" smtClean="0"/>
              <a:t>18.09.2025</a:t>
            </a:fld>
            <a:endParaRPr lang="de-DE"/>
          </a:p>
        </p:txBody>
      </p:sp>
      <p:sp>
        <p:nvSpPr>
          <p:cNvPr id="5" name="Fußzeilenplatzhalter 4">
            <a:extLst>
              <a:ext uri="{FF2B5EF4-FFF2-40B4-BE49-F238E27FC236}">
                <a16:creationId xmlns:a16="http://schemas.microsoft.com/office/drawing/2014/main" id="{798C7273-F537-2E2B-2AA5-800EFD209D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044149FB-4F02-55E2-A3FF-E64D0BD50A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CE166D-2D50-44F1-A818-BFD238545C9D}" type="slidenum">
              <a:rPr lang="de-DE" smtClean="0"/>
              <a:t>‹Nr.›</a:t>
            </a:fld>
            <a:endParaRPr lang="de-DE"/>
          </a:p>
        </p:txBody>
      </p:sp>
    </p:spTree>
    <p:extLst>
      <p:ext uri="{BB962C8B-B14F-4D97-AF65-F5344CB8AC3E}">
        <p14:creationId xmlns:p14="http://schemas.microsoft.com/office/powerpoint/2010/main" val="19994179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el 3">
            <a:extLst>
              <a:ext uri="{FF2B5EF4-FFF2-40B4-BE49-F238E27FC236}">
                <a16:creationId xmlns:a16="http://schemas.microsoft.com/office/drawing/2014/main" id="{2CA4602F-1958-AB10-C35C-5E47C9E0BE01}"/>
              </a:ext>
            </a:extLst>
          </p:cNvPr>
          <p:cNvSpPr>
            <a:spLocks noGrp="1"/>
          </p:cNvSpPr>
          <p:nvPr>
            <p:ph type="ctrTitle"/>
          </p:nvPr>
        </p:nvSpPr>
        <p:spPr>
          <a:xfrm>
            <a:off x="804672" y="5116529"/>
            <a:ext cx="10592174" cy="1000655"/>
          </a:xfrm>
        </p:spPr>
        <p:txBody>
          <a:bodyPr anchor="t">
            <a:normAutofit fontScale="90000"/>
          </a:bodyPr>
          <a:lstStyle/>
          <a:p>
            <a:pPr algn="l"/>
            <a:r>
              <a:rPr lang="de-DE" sz="4000" dirty="0">
                <a:solidFill>
                  <a:schemeClr val="tx2"/>
                </a:solidFill>
              </a:rPr>
              <a:t>DATENSCHUTZ-SCHULUNG</a:t>
            </a:r>
            <a:br>
              <a:rPr lang="de-DE" sz="4000" dirty="0">
                <a:solidFill>
                  <a:schemeClr val="tx2"/>
                </a:solidFill>
              </a:rPr>
            </a:br>
            <a:r>
              <a:rPr lang="de-DE" sz="4000" dirty="0">
                <a:solidFill>
                  <a:schemeClr val="tx2"/>
                </a:solidFill>
              </a:rPr>
              <a:t>Teil 4: Umsetzung im Unternehmen</a:t>
            </a:r>
          </a:p>
        </p:txBody>
      </p:sp>
      <p:pic>
        <p:nvPicPr>
          <p:cNvPr id="7" name="Grafik 6" descr="Ein Bild, das Person, Raum, Hand enthält.&#10;&#10;KI-generierte Inhalte können fehlerhaft sein.">
            <a:extLst>
              <a:ext uri="{FF2B5EF4-FFF2-40B4-BE49-F238E27FC236}">
                <a16:creationId xmlns:a16="http://schemas.microsoft.com/office/drawing/2014/main" id="{A1489AE2-F9B8-F8ED-00E3-14646775A932}"/>
              </a:ext>
            </a:extLst>
          </p:cNvPr>
          <p:cNvPicPr>
            <a:picLocks noChangeAspect="1"/>
          </p:cNvPicPr>
          <p:nvPr/>
        </p:nvPicPr>
        <p:blipFill>
          <a:blip r:embed="rId2">
            <a:extLst>
              <a:ext uri="{28A0092B-C50C-407E-A947-70E740481C1C}">
                <a14:useLocalDpi xmlns:a14="http://schemas.microsoft.com/office/drawing/2010/main" val="0"/>
              </a:ext>
            </a:extLst>
          </a:blip>
          <a:srcRect t="21567" b="33968"/>
          <a:stretch>
            <a:fillRect/>
          </a:stretch>
        </p:blipFill>
        <p:spPr>
          <a:xfrm>
            <a:off x="-1" y="10"/>
            <a:ext cx="12192001" cy="4201449"/>
          </a:xfrm>
          <a:prstGeom prst="rect">
            <a:avLst/>
          </a:prstGeom>
        </p:spPr>
      </p:pic>
      <p:grpSp>
        <p:nvGrpSpPr>
          <p:cNvPr id="14" name="Group 13">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15" name="Freeform: Shape 14">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5" name="Untertitel 4">
            <a:extLst>
              <a:ext uri="{FF2B5EF4-FFF2-40B4-BE49-F238E27FC236}">
                <a16:creationId xmlns:a16="http://schemas.microsoft.com/office/drawing/2014/main" id="{F80A9AF6-4E73-62A3-65EE-D5681D90E29C}"/>
              </a:ext>
            </a:extLst>
          </p:cNvPr>
          <p:cNvSpPr>
            <a:spLocks noGrp="1"/>
          </p:cNvSpPr>
          <p:nvPr>
            <p:ph type="subTitle" idx="1"/>
          </p:nvPr>
        </p:nvSpPr>
        <p:spPr>
          <a:xfrm>
            <a:off x="804672" y="4580785"/>
            <a:ext cx="9416898" cy="484374"/>
          </a:xfrm>
        </p:spPr>
        <p:txBody>
          <a:bodyPr anchor="b">
            <a:normAutofit/>
          </a:bodyPr>
          <a:lstStyle/>
          <a:p>
            <a:pPr algn="l"/>
            <a:r>
              <a:rPr lang="de-DE" sz="2000" dirty="0">
                <a:solidFill>
                  <a:schemeClr val="tx2"/>
                </a:solidFill>
              </a:rPr>
              <a:t>Fachinformatiker </a:t>
            </a:r>
            <a:r>
              <a:rPr lang="de-DE" sz="2000" dirty="0" err="1">
                <a:solidFill>
                  <a:schemeClr val="tx2"/>
                </a:solidFill>
              </a:rPr>
              <a:t>by</a:t>
            </a:r>
            <a:r>
              <a:rPr lang="de-DE" sz="2000" dirty="0">
                <a:solidFill>
                  <a:schemeClr val="tx2"/>
                </a:solidFill>
              </a:rPr>
              <a:t> IBB</a:t>
            </a:r>
          </a:p>
        </p:txBody>
      </p:sp>
      <p:sp>
        <p:nvSpPr>
          <p:cNvPr id="2" name="Fußzeilenplatzhalter 1">
            <a:extLst>
              <a:ext uri="{FF2B5EF4-FFF2-40B4-BE49-F238E27FC236}">
                <a16:creationId xmlns:a16="http://schemas.microsoft.com/office/drawing/2014/main" id="{B335ED99-E2A6-072A-014D-0A8A58CD67B0}"/>
              </a:ext>
            </a:extLst>
          </p:cNvPr>
          <p:cNvSpPr>
            <a:spLocks noGrp="1"/>
          </p:cNvSpPr>
          <p:nvPr>
            <p:ph type="ftr" sz="quarter" idx="11"/>
          </p:nvPr>
        </p:nvSpPr>
        <p:spPr/>
        <p:txBody>
          <a:bodyPr/>
          <a:lstStyle/>
          <a:p>
            <a:r>
              <a:rPr lang="de-DE"/>
              <a:t>Dirk Moltzen - externer Datenschutzbeauftragter TÜV® CERT</a:t>
            </a:r>
          </a:p>
        </p:txBody>
      </p:sp>
      <p:sp>
        <p:nvSpPr>
          <p:cNvPr id="3" name="Foliennummernplatzhalter 2">
            <a:extLst>
              <a:ext uri="{FF2B5EF4-FFF2-40B4-BE49-F238E27FC236}">
                <a16:creationId xmlns:a16="http://schemas.microsoft.com/office/drawing/2014/main" id="{3DDA28E4-EC39-8437-806C-94417B853BCB}"/>
              </a:ext>
            </a:extLst>
          </p:cNvPr>
          <p:cNvSpPr>
            <a:spLocks noGrp="1"/>
          </p:cNvSpPr>
          <p:nvPr>
            <p:ph type="sldNum" sz="quarter" idx="12"/>
          </p:nvPr>
        </p:nvSpPr>
        <p:spPr/>
        <p:txBody>
          <a:bodyPr/>
          <a:lstStyle/>
          <a:p>
            <a:fld id="{B4CE166D-2D50-44F1-A818-BFD238545C9D}" type="slidenum">
              <a:rPr lang="de-DE" smtClean="0"/>
              <a:t>1</a:t>
            </a:fld>
            <a:endParaRPr lang="de-DE"/>
          </a:p>
        </p:txBody>
      </p:sp>
    </p:spTree>
    <p:extLst>
      <p:ext uri="{BB962C8B-B14F-4D97-AF65-F5344CB8AC3E}">
        <p14:creationId xmlns:p14="http://schemas.microsoft.com/office/powerpoint/2010/main" val="744624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929679-42D7-2E29-310F-FE4FD4DA6B1D}"/>
              </a:ext>
            </a:extLst>
          </p:cNvPr>
          <p:cNvSpPr>
            <a:spLocks noGrp="1"/>
          </p:cNvSpPr>
          <p:nvPr>
            <p:ph type="title"/>
          </p:nvPr>
        </p:nvSpPr>
        <p:spPr/>
        <p:txBody>
          <a:bodyPr/>
          <a:lstStyle/>
          <a:p>
            <a:r>
              <a:rPr lang="de-DE" dirty="0"/>
              <a:t>Inhalte der Datenschutz-Themen</a:t>
            </a:r>
          </a:p>
        </p:txBody>
      </p:sp>
      <p:sp>
        <p:nvSpPr>
          <p:cNvPr id="3" name="Inhaltsplatzhalter 2">
            <a:extLst>
              <a:ext uri="{FF2B5EF4-FFF2-40B4-BE49-F238E27FC236}">
                <a16:creationId xmlns:a16="http://schemas.microsoft.com/office/drawing/2014/main" id="{CD2D697B-EB54-E541-DE6C-A8AE0056CECB}"/>
              </a:ext>
            </a:extLst>
          </p:cNvPr>
          <p:cNvSpPr>
            <a:spLocks noGrp="1"/>
          </p:cNvSpPr>
          <p:nvPr>
            <p:ph idx="1"/>
          </p:nvPr>
        </p:nvSpPr>
        <p:spPr/>
        <p:txBody>
          <a:bodyPr/>
          <a:lstStyle/>
          <a:p>
            <a:pPr marL="0" indent="0">
              <a:buNone/>
            </a:pPr>
            <a:r>
              <a:rPr lang="de-DE" b="1" dirty="0"/>
              <a:t>Teil 4: Umsetzung im Unternehmen</a:t>
            </a:r>
          </a:p>
          <a:p>
            <a:pPr marL="0" indent="0">
              <a:buNone/>
            </a:pPr>
            <a:r>
              <a:rPr lang="de-DE" b="1" dirty="0"/>
              <a:t>Teil 4.1: DSMS (Datenschutz-Managementsysteme)</a:t>
            </a:r>
          </a:p>
          <a:p>
            <a:pPr marL="0" indent="0">
              <a:buNone/>
            </a:pPr>
            <a:r>
              <a:rPr lang="de-DE" b="1" dirty="0"/>
              <a:t>Teil 4.2: Zuständigkeiten / Verantwortlichkeiten</a:t>
            </a:r>
          </a:p>
          <a:p>
            <a:pPr marL="0" indent="0">
              <a:buNone/>
            </a:pPr>
            <a:r>
              <a:rPr lang="de-DE" b="1" dirty="0"/>
              <a:t>Teil 4.3: Datenpanne / Datenschutzverstoß</a:t>
            </a:r>
          </a:p>
          <a:p>
            <a:pPr marL="0" indent="0">
              <a:buNone/>
            </a:pPr>
            <a:r>
              <a:rPr lang="de-DE" b="1" dirty="0"/>
              <a:t>Teil 4.4: Vom Gesetz zur Richtlinie</a:t>
            </a:r>
          </a:p>
        </p:txBody>
      </p:sp>
      <p:sp>
        <p:nvSpPr>
          <p:cNvPr id="4" name="Fußzeilenplatzhalter 3">
            <a:extLst>
              <a:ext uri="{FF2B5EF4-FFF2-40B4-BE49-F238E27FC236}">
                <a16:creationId xmlns:a16="http://schemas.microsoft.com/office/drawing/2014/main" id="{F170A954-FCE7-117B-EFBF-DF9AE6259215}"/>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68C962AE-1470-67E5-A01D-2BFAC3ED24FA}"/>
              </a:ext>
            </a:extLst>
          </p:cNvPr>
          <p:cNvSpPr>
            <a:spLocks noGrp="1"/>
          </p:cNvSpPr>
          <p:nvPr>
            <p:ph type="sldNum" sz="quarter" idx="12"/>
          </p:nvPr>
        </p:nvSpPr>
        <p:spPr/>
        <p:txBody>
          <a:bodyPr/>
          <a:lstStyle/>
          <a:p>
            <a:fld id="{B4CE166D-2D50-44F1-A818-BFD238545C9D}" type="slidenum">
              <a:rPr lang="de-DE" smtClean="0"/>
              <a:t>2</a:t>
            </a:fld>
            <a:endParaRPr lang="de-DE"/>
          </a:p>
        </p:txBody>
      </p:sp>
    </p:spTree>
    <p:extLst>
      <p:ext uri="{BB962C8B-B14F-4D97-AF65-F5344CB8AC3E}">
        <p14:creationId xmlns:p14="http://schemas.microsoft.com/office/powerpoint/2010/main" val="2518218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54349B-8121-B6EF-09C9-9014ABAACFC2}"/>
            </a:ext>
          </a:extLst>
        </p:cNvPr>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ACFA3F5A-1FA5-C6DF-C3A7-1850AABD02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fik 6" descr="Ein Bild, das Person, Kleidung, Finger, Halten enthält.&#10;&#10;KI-generierte Inhalte können fehlerhaft sein.">
            <a:extLst>
              <a:ext uri="{FF2B5EF4-FFF2-40B4-BE49-F238E27FC236}">
                <a16:creationId xmlns:a16="http://schemas.microsoft.com/office/drawing/2014/main" id="{FAF75202-9D3B-6AD4-28E0-50EC571C74AC}"/>
              </a:ext>
            </a:extLst>
          </p:cNvPr>
          <p:cNvPicPr>
            <a:picLocks noChangeAspect="1"/>
          </p:cNvPicPr>
          <p:nvPr/>
        </p:nvPicPr>
        <p:blipFill>
          <a:blip r:embed="rId3">
            <a:extLst>
              <a:ext uri="{28A0092B-C50C-407E-A947-70E740481C1C}">
                <a14:useLocalDpi xmlns:a14="http://schemas.microsoft.com/office/drawing/2010/main" val="0"/>
              </a:ext>
            </a:extLst>
          </a:blip>
          <a:srcRect l="24528" t="249" r="4549"/>
          <a:stretch>
            <a:fillRect/>
          </a:stretch>
        </p:blipFill>
        <p:spPr>
          <a:xfrm>
            <a:off x="3523488" y="10"/>
            <a:ext cx="8668512" cy="6857990"/>
          </a:xfrm>
          <a:prstGeom prst="rect">
            <a:avLst/>
          </a:prstGeom>
        </p:spPr>
      </p:pic>
      <p:sp>
        <p:nvSpPr>
          <p:cNvPr id="45" name="Rectangle 44">
            <a:extLst>
              <a:ext uri="{FF2B5EF4-FFF2-40B4-BE49-F238E27FC236}">
                <a16:creationId xmlns:a16="http://schemas.microsoft.com/office/drawing/2014/main" id="{682C1731-D8D9-DC21-0C8F-27A10AED59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E6EC0023-089B-A06E-6378-E06DE7B61510}"/>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err="1"/>
              <a:t>Datenschutz</a:t>
            </a:r>
            <a:r>
              <a:rPr lang="en-US" sz="4800" dirty="0"/>
              <a:t> Teil 4.4</a:t>
            </a:r>
          </a:p>
        </p:txBody>
      </p:sp>
      <p:sp>
        <p:nvSpPr>
          <p:cNvPr id="3" name="Textplatzhalter 2">
            <a:extLst>
              <a:ext uri="{FF2B5EF4-FFF2-40B4-BE49-F238E27FC236}">
                <a16:creationId xmlns:a16="http://schemas.microsoft.com/office/drawing/2014/main" id="{4CA85B2D-854F-91F0-7DC4-9728E528BD70}"/>
              </a:ext>
            </a:extLst>
          </p:cNvPr>
          <p:cNvSpPr>
            <a:spLocks noGrp="1"/>
          </p:cNvSpPr>
          <p:nvPr>
            <p:ph type="body" idx="1"/>
          </p:nvPr>
        </p:nvSpPr>
        <p:spPr>
          <a:xfrm>
            <a:off x="477980" y="4872922"/>
            <a:ext cx="4023359" cy="1208141"/>
          </a:xfrm>
        </p:spPr>
        <p:txBody>
          <a:bodyPr vert="horz" lIns="91440" tIns="45720" rIns="91440" bIns="45720" rtlCol="0">
            <a:normAutofit/>
          </a:bodyPr>
          <a:lstStyle/>
          <a:p>
            <a:r>
              <a:rPr lang="en-US" sz="2000" b="1" dirty="0" err="1">
                <a:solidFill>
                  <a:schemeClr val="tx1"/>
                </a:solidFill>
              </a:rPr>
              <a:t>Vom</a:t>
            </a:r>
            <a:r>
              <a:rPr lang="en-US" sz="2000" b="1" dirty="0">
                <a:solidFill>
                  <a:schemeClr val="tx1"/>
                </a:solidFill>
              </a:rPr>
              <a:t> </a:t>
            </a:r>
            <a:r>
              <a:rPr lang="en-US" sz="2000" b="1" dirty="0" err="1">
                <a:solidFill>
                  <a:schemeClr val="tx1"/>
                </a:solidFill>
              </a:rPr>
              <a:t>Gesetz</a:t>
            </a:r>
            <a:r>
              <a:rPr lang="en-US" sz="2000" b="1" dirty="0">
                <a:solidFill>
                  <a:schemeClr val="tx1"/>
                </a:solidFill>
              </a:rPr>
              <a:t> </a:t>
            </a:r>
            <a:r>
              <a:rPr lang="en-US" sz="2000" b="1" dirty="0" err="1">
                <a:solidFill>
                  <a:schemeClr val="tx1"/>
                </a:solidFill>
              </a:rPr>
              <a:t>zur</a:t>
            </a:r>
            <a:r>
              <a:rPr lang="en-US" sz="2000" b="1" dirty="0">
                <a:solidFill>
                  <a:schemeClr val="tx1"/>
                </a:solidFill>
              </a:rPr>
              <a:t> </a:t>
            </a:r>
            <a:r>
              <a:rPr lang="en-US" sz="2000" b="1" dirty="0" err="1">
                <a:solidFill>
                  <a:schemeClr val="tx1"/>
                </a:solidFill>
              </a:rPr>
              <a:t>Richtlinie</a:t>
            </a:r>
            <a:endParaRPr lang="en-US" sz="2000" dirty="0">
              <a:solidFill>
                <a:schemeClr val="tx1"/>
              </a:solidFill>
            </a:endParaRPr>
          </a:p>
        </p:txBody>
      </p:sp>
      <p:sp>
        <p:nvSpPr>
          <p:cNvPr id="47" name="Rectangle 46">
            <a:extLst>
              <a:ext uri="{FF2B5EF4-FFF2-40B4-BE49-F238E27FC236}">
                <a16:creationId xmlns:a16="http://schemas.microsoft.com/office/drawing/2014/main" id="{4C8EE434-F218-830D-C142-5D501D3E3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9" name="Rectangle 48">
            <a:extLst>
              <a:ext uri="{FF2B5EF4-FFF2-40B4-BE49-F238E27FC236}">
                <a16:creationId xmlns:a16="http://schemas.microsoft.com/office/drawing/2014/main" id="{68DE9D4A-0387-1F79-5083-689B9C18A2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ußzeilenplatzhalter 3">
            <a:extLst>
              <a:ext uri="{FF2B5EF4-FFF2-40B4-BE49-F238E27FC236}">
                <a16:creationId xmlns:a16="http://schemas.microsoft.com/office/drawing/2014/main" id="{B1BD21F8-EA4B-3441-1D6F-08E6D67CBB42}"/>
              </a:ext>
            </a:extLst>
          </p:cNvPr>
          <p:cNvSpPr>
            <a:spLocks noGrp="1"/>
          </p:cNvSpPr>
          <p:nvPr>
            <p:ph type="ftr" sz="quarter" idx="11"/>
          </p:nvPr>
        </p:nvSpPr>
        <p:spPr>
          <a:xfrm>
            <a:off x="548087" y="6232317"/>
            <a:ext cx="3774624" cy="365125"/>
          </a:xfrm>
        </p:spPr>
        <p:txBody>
          <a:bodyPr vert="horz" lIns="91440" tIns="45720" rIns="91440" bIns="45720" rtlCol="0" anchor="ctr">
            <a:noAutofit/>
          </a:bodyPr>
          <a:lstStyle/>
          <a:p>
            <a:pPr algn="l">
              <a:lnSpc>
                <a:spcPct val="90000"/>
              </a:lnSpc>
              <a:spcAft>
                <a:spcPts val="600"/>
              </a:spcAft>
              <a:defRPr/>
            </a:pPr>
            <a:r>
              <a:rPr lang="en-US" sz="1100" kern="1200" dirty="0">
                <a:solidFill>
                  <a:schemeClr val="tx1">
                    <a:lumMod val="50000"/>
                    <a:lumOff val="50000"/>
                  </a:schemeClr>
                </a:solidFill>
                <a:ea typeface="+mn-ea"/>
                <a:cs typeface="+mn-cs"/>
              </a:rPr>
              <a:t>Dirk Moltzen - </a:t>
            </a:r>
            <a:r>
              <a:rPr lang="en-US" sz="1100" kern="1200" dirty="0" err="1">
                <a:solidFill>
                  <a:schemeClr val="tx1">
                    <a:lumMod val="50000"/>
                    <a:lumOff val="50000"/>
                  </a:schemeClr>
                </a:solidFill>
                <a:ea typeface="+mn-ea"/>
                <a:cs typeface="+mn-cs"/>
              </a:rPr>
              <a:t>externer</a:t>
            </a:r>
            <a:r>
              <a:rPr lang="en-US" sz="1100" kern="1200" dirty="0">
                <a:solidFill>
                  <a:schemeClr val="tx1">
                    <a:lumMod val="50000"/>
                    <a:lumOff val="50000"/>
                  </a:schemeClr>
                </a:solidFill>
                <a:ea typeface="+mn-ea"/>
                <a:cs typeface="+mn-cs"/>
              </a:rPr>
              <a:t> </a:t>
            </a:r>
            <a:r>
              <a:rPr lang="en-US" sz="1100" kern="1200" dirty="0" err="1">
                <a:solidFill>
                  <a:schemeClr val="tx1">
                    <a:lumMod val="50000"/>
                    <a:lumOff val="50000"/>
                  </a:schemeClr>
                </a:solidFill>
                <a:ea typeface="+mn-ea"/>
                <a:cs typeface="+mn-cs"/>
              </a:rPr>
              <a:t>Datenschutzbeauftragter</a:t>
            </a:r>
            <a:r>
              <a:rPr lang="en-US" sz="1100" kern="1200" dirty="0">
                <a:solidFill>
                  <a:schemeClr val="tx1">
                    <a:lumMod val="50000"/>
                    <a:lumOff val="50000"/>
                  </a:schemeClr>
                </a:solidFill>
                <a:ea typeface="+mn-ea"/>
                <a:cs typeface="+mn-cs"/>
              </a:rPr>
              <a:t> TÜV® CERT</a:t>
            </a:r>
          </a:p>
        </p:txBody>
      </p:sp>
      <p:sp>
        <p:nvSpPr>
          <p:cNvPr id="6" name="Foliennummernplatzhalter 5">
            <a:extLst>
              <a:ext uri="{FF2B5EF4-FFF2-40B4-BE49-F238E27FC236}">
                <a16:creationId xmlns:a16="http://schemas.microsoft.com/office/drawing/2014/main" id="{FC7D1299-67A4-000C-6BF4-09143135E4D0}"/>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defRPr/>
            </a:pPr>
            <a:fld id="{B4CE166D-2D50-44F1-A818-BFD238545C9D}" type="slidenum">
              <a:rPr lang="en-US">
                <a:solidFill>
                  <a:schemeClr val="bg1"/>
                </a:solidFill>
                <a:latin typeface="Calibri" panose="020F0502020204030204"/>
              </a:rPr>
              <a:pPr>
                <a:spcAft>
                  <a:spcPts val="600"/>
                </a:spcAft>
                <a:defRPr/>
              </a:pPr>
              <a:t>3</a:t>
            </a:fld>
            <a:endParaRPr lang="en-US">
              <a:solidFill>
                <a:schemeClr val="bg1"/>
              </a:solidFill>
              <a:latin typeface="Calibri" panose="020F0502020204030204"/>
            </a:endParaRPr>
          </a:p>
        </p:txBody>
      </p:sp>
    </p:spTree>
    <p:extLst>
      <p:ext uri="{BB962C8B-B14F-4D97-AF65-F5344CB8AC3E}">
        <p14:creationId xmlns:p14="http://schemas.microsoft.com/office/powerpoint/2010/main" val="4158519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5F024C83-8D5E-18A3-F6FA-B734F5222ABF}"/>
              </a:ext>
            </a:extLst>
          </p:cNvPr>
          <p:cNvSpPr>
            <a:spLocks noGrp="1"/>
          </p:cNvSpPr>
          <p:nvPr>
            <p:ph type="title"/>
          </p:nvPr>
        </p:nvSpPr>
        <p:spPr>
          <a:xfrm>
            <a:off x="838200" y="365125"/>
            <a:ext cx="10515600" cy="782739"/>
          </a:xfrm>
        </p:spPr>
        <p:txBody>
          <a:bodyPr/>
          <a:lstStyle/>
          <a:p>
            <a:r>
              <a:rPr lang="de-DE" dirty="0"/>
              <a:t>Vom Gesetz zur Richtlinie</a:t>
            </a:r>
          </a:p>
        </p:txBody>
      </p:sp>
      <p:sp>
        <p:nvSpPr>
          <p:cNvPr id="7" name="Inhaltsplatzhalter 6">
            <a:extLst>
              <a:ext uri="{FF2B5EF4-FFF2-40B4-BE49-F238E27FC236}">
                <a16:creationId xmlns:a16="http://schemas.microsoft.com/office/drawing/2014/main" id="{C2BDFEFF-D4F8-D19E-9727-4BB08FE7C330}"/>
              </a:ext>
            </a:extLst>
          </p:cNvPr>
          <p:cNvSpPr>
            <a:spLocks noGrp="1"/>
          </p:cNvSpPr>
          <p:nvPr>
            <p:ph idx="1"/>
          </p:nvPr>
        </p:nvSpPr>
        <p:spPr>
          <a:xfrm>
            <a:off x="838200" y="1605063"/>
            <a:ext cx="10515600" cy="4571899"/>
          </a:xfrm>
        </p:spPr>
        <p:txBody>
          <a:bodyPr>
            <a:normAutofit/>
          </a:bodyPr>
          <a:lstStyle/>
          <a:p>
            <a:pPr>
              <a:lnSpc>
                <a:spcPct val="107000"/>
              </a:lnSpc>
              <a:spcAft>
                <a:spcPts val="800"/>
              </a:spcAft>
            </a:pPr>
            <a:r>
              <a:rPr lang="de-DE" sz="2400" kern="100" dirty="0">
                <a:effectLst/>
                <a:latin typeface="Aptos" panose="020B0004020202020204" pitchFamily="34" charset="0"/>
                <a:ea typeface="Aptos" panose="020B0004020202020204" pitchFamily="34" charset="0"/>
                <a:cs typeface="Times New Roman" panose="02020603050405020304" pitchFamily="18" charset="0"/>
              </a:rPr>
              <a:t>Die Formulierung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vom Gesetz zur Unternehmensrichtlinie</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bezieht sich auf die Umsetzung von Gesetzen und Richtlinien in interne Regelungen und Verhaltensweisen im Unternehmen. Dies geschieht, um die Einhaltung gesetzlicher Vorgaben sicherzustellen und interne Abläufe zu strukturieren. </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Gesetze und Richtlinien: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Es handelt sich um verbindliche Vorschriften, die von staatlicher Seite oder im Rahmen der EU erlassen werden. </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Unternehmensrichtlinien: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Dies sind interne Regelwerke, die die Erwartungen, Regeln, Abläufe und Standards innerhalb eines Unternehmens festlegen. Sie dienen als Leitfaden für das Verhalten der Mitarbeiter und tragen dazu bei, ein geregeltes Umfeld zu schaffen. </a:t>
            </a:r>
          </a:p>
          <a:p>
            <a:endParaRPr lang="de-DE" sz="2400" dirty="0"/>
          </a:p>
        </p:txBody>
      </p:sp>
      <p:sp>
        <p:nvSpPr>
          <p:cNvPr id="4" name="Fußzeilenplatzhalter 3">
            <a:extLst>
              <a:ext uri="{FF2B5EF4-FFF2-40B4-BE49-F238E27FC236}">
                <a16:creationId xmlns:a16="http://schemas.microsoft.com/office/drawing/2014/main" id="{DCAEF542-5851-6D8B-B929-F831FB26EBBC}"/>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A4EA49FF-4549-4497-D0FE-5D3F64CAD5C0}"/>
              </a:ext>
            </a:extLst>
          </p:cNvPr>
          <p:cNvSpPr>
            <a:spLocks noGrp="1"/>
          </p:cNvSpPr>
          <p:nvPr>
            <p:ph type="sldNum" sz="quarter" idx="12"/>
          </p:nvPr>
        </p:nvSpPr>
        <p:spPr/>
        <p:txBody>
          <a:bodyPr/>
          <a:lstStyle/>
          <a:p>
            <a:fld id="{B4CE166D-2D50-44F1-A818-BFD238545C9D}" type="slidenum">
              <a:rPr lang="de-DE" smtClean="0"/>
              <a:t>4</a:t>
            </a:fld>
            <a:endParaRPr lang="de-DE"/>
          </a:p>
        </p:txBody>
      </p:sp>
    </p:spTree>
    <p:extLst>
      <p:ext uri="{BB962C8B-B14F-4D97-AF65-F5344CB8AC3E}">
        <p14:creationId xmlns:p14="http://schemas.microsoft.com/office/powerpoint/2010/main" val="1710825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48059F-198E-C10D-522E-EED13D609875}"/>
              </a:ext>
            </a:extLst>
          </p:cNvPr>
          <p:cNvSpPr>
            <a:spLocks noGrp="1"/>
          </p:cNvSpPr>
          <p:nvPr>
            <p:ph type="title"/>
          </p:nvPr>
        </p:nvSpPr>
        <p:spPr>
          <a:xfrm>
            <a:off x="838200" y="365126"/>
            <a:ext cx="10515600" cy="1025930"/>
          </a:xfrm>
        </p:spPr>
        <p:txBody>
          <a:bodyPr/>
          <a:lstStyle/>
          <a:p>
            <a:r>
              <a:rPr kumimoji="0" lang="de-DE" sz="4400" b="0" i="0" u="none" strike="noStrike" kern="1200" cap="none" spc="0" normalizeH="0" baseline="0" noProof="0" dirty="0">
                <a:ln>
                  <a:noFill/>
                </a:ln>
                <a:solidFill>
                  <a:prstClr val="black"/>
                </a:solidFill>
                <a:effectLst/>
                <a:uLnTx/>
                <a:uFillTx/>
                <a:latin typeface="Aptos Display" panose="02110004020202020204"/>
                <a:ea typeface="+mj-ea"/>
                <a:cs typeface="+mj-cs"/>
              </a:rPr>
              <a:t>Vom Gesetz zur Richtlinie</a:t>
            </a:r>
            <a:endParaRPr lang="de-DE" dirty="0"/>
          </a:p>
        </p:txBody>
      </p:sp>
      <p:sp>
        <p:nvSpPr>
          <p:cNvPr id="3" name="Inhaltsplatzhalter 2">
            <a:extLst>
              <a:ext uri="{FF2B5EF4-FFF2-40B4-BE49-F238E27FC236}">
                <a16:creationId xmlns:a16="http://schemas.microsoft.com/office/drawing/2014/main" id="{A8189096-6D6A-5938-3A25-C908643C1A38}"/>
              </a:ext>
            </a:extLst>
          </p:cNvPr>
          <p:cNvSpPr>
            <a:spLocks noGrp="1"/>
          </p:cNvSpPr>
          <p:nvPr>
            <p:ph idx="1"/>
          </p:nvPr>
        </p:nvSpPr>
        <p:spPr/>
        <p:txBody>
          <a:bodyPr>
            <a:normAutofit/>
          </a:bodyPr>
          <a:lstStyle/>
          <a:p>
            <a:pPr marL="0" indent="0">
              <a:lnSpc>
                <a:spcPct val="107000"/>
              </a:lnSpc>
              <a:spcAft>
                <a:spcPts val="800"/>
              </a:spcAft>
              <a:buNone/>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Umsetzung: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Die Übersetzung von Gesetzen und Richtlinien in Unternehmensrichtlinien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ist ein Prozess</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bei dem die gesetzlichen Anforderungen in interne Regelungen umgesetzt werden, um sicherzustellen, dass das Unternehmen die Gesetze und Richtlinien einhält. </a:t>
            </a:r>
          </a:p>
          <a:p>
            <a:pPr marL="0" indent="0">
              <a:lnSpc>
                <a:spcPct val="107000"/>
              </a:lnSpc>
              <a:spcAft>
                <a:spcPts val="800"/>
              </a:spcAft>
              <a:buNone/>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Compliance: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Compliance bezeichnet die Einhaltung von gesetzlichen Vorgaben und internen Unternehmensrichtlinien, die für Unternehmen gelten. Compliance-Richtlinien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sollen Straftaten wie Bestechlichkeit und andere Verstöße vermeiden</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und einheitliche Rahmenbedingungen für das Unternehmen schaffen. </a:t>
            </a:r>
            <a:endParaRPr lang="de-DE" sz="2400" dirty="0"/>
          </a:p>
        </p:txBody>
      </p:sp>
      <p:sp>
        <p:nvSpPr>
          <p:cNvPr id="4" name="Fußzeilenplatzhalter 3">
            <a:extLst>
              <a:ext uri="{FF2B5EF4-FFF2-40B4-BE49-F238E27FC236}">
                <a16:creationId xmlns:a16="http://schemas.microsoft.com/office/drawing/2014/main" id="{C1A10FCB-48C7-FF04-DF7D-DD71C95B0767}"/>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9A8038B2-3963-3C56-5A6C-8C4A5B3AA0A8}"/>
              </a:ext>
            </a:extLst>
          </p:cNvPr>
          <p:cNvSpPr>
            <a:spLocks noGrp="1"/>
          </p:cNvSpPr>
          <p:nvPr>
            <p:ph type="sldNum" sz="quarter" idx="12"/>
          </p:nvPr>
        </p:nvSpPr>
        <p:spPr/>
        <p:txBody>
          <a:bodyPr/>
          <a:lstStyle/>
          <a:p>
            <a:fld id="{B4CE166D-2D50-44F1-A818-BFD238545C9D}" type="slidenum">
              <a:rPr lang="de-DE" smtClean="0"/>
              <a:t>5</a:t>
            </a:fld>
            <a:endParaRPr lang="de-DE"/>
          </a:p>
        </p:txBody>
      </p:sp>
    </p:spTree>
    <p:extLst>
      <p:ext uri="{BB962C8B-B14F-4D97-AF65-F5344CB8AC3E}">
        <p14:creationId xmlns:p14="http://schemas.microsoft.com/office/powerpoint/2010/main" val="305971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1D224C-B2FF-DDB0-B3AA-B830D24CA10C}"/>
              </a:ext>
            </a:extLst>
          </p:cNvPr>
          <p:cNvSpPr>
            <a:spLocks noGrp="1"/>
          </p:cNvSpPr>
          <p:nvPr>
            <p:ph type="title"/>
          </p:nvPr>
        </p:nvSpPr>
        <p:spPr>
          <a:xfrm>
            <a:off x="838200" y="365125"/>
            <a:ext cx="10515600" cy="899471"/>
          </a:xfrm>
        </p:spPr>
        <p:txBody>
          <a:bodyPr/>
          <a:lstStyle/>
          <a:p>
            <a:r>
              <a:rPr kumimoji="0" lang="de-DE" sz="4400" b="0" i="0" u="none" strike="noStrike" kern="1200" cap="none" spc="0" normalizeH="0" baseline="0" noProof="0" dirty="0">
                <a:ln>
                  <a:noFill/>
                </a:ln>
                <a:solidFill>
                  <a:prstClr val="black"/>
                </a:solidFill>
                <a:effectLst/>
                <a:uLnTx/>
                <a:uFillTx/>
                <a:latin typeface="Aptos Display" panose="02110004020202020204"/>
                <a:ea typeface="+mj-ea"/>
                <a:cs typeface="+mj-cs"/>
              </a:rPr>
              <a:t>Beispiele: Vom Gesetz zur Richtlinie</a:t>
            </a:r>
            <a:endParaRPr lang="de-DE" dirty="0"/>
          </a:p>
        </p:txBody>
      </p:sp>
      <p:sp>
        <p:nvSpPr>
          <p:cNvPr id="3" name="Inhaltsplatzhalter 2">
            <a:extLst>
              <a:ext uri="{FF2B5EF4-FFF2-40B4-BE49-F238E27FC236}">
                <a16:creationId xmlns:a16="http://schemas.microsoft.com/office/drawing/2014/main" id="{3D3A979B-408A-E773-A37E-89EE3ABFE076}"/>
              </a:ext>
            </a:extLst>
          </p:cNvPr>
          <p:cNvSpPr>
            <a:spLocks noGrp="1"/>
          </p:cNvSpPr>
          <p:nvPr>
            <p:ph idx="1"/>
          </p:nvPr>
        </p:nvSpPr>
        <p:spPr>
          <a:xfrm>
            <a:off x="838200" y="1264596"/>
            <a:ext cx="10515600" cy="4912367"/>
          </a:xfrm>
        </p:spPr>
        <p:txBody>
          <a:bodyPr>
            <a:noAutofit/>
          </a:bodyPr>
          <a:lstStyle/>
          <a:p>
            <a:pPr>
              <a:lnSpc>
                <a:spcPct val="107000"/>
              </a:lnSpc>
              <a:spcAft>
                <a:spcPts val="800"/>
              </a:spcAft>
            </a:pPr>
            <a:r>
              <a:rPr lang="de-DE" b="1" kern="100" dirty="0">
                <a:effectLst/>
                <a:latin typeface="Aptos" panose="020B0004020202020204" pitchFamily="34" charset="0"/>
                <a:ea typeface="Aptos" panose="020B0004020202020204" pitchFamily="34" charset="0"/>
                <a:cs typeface="Times New Roman" panose="02020603050405020304" pitchFamily="18" charset="0"/>
              </a:rPr>
              <a:t>Hinweisgeberschutzgesetz</a:t>
            </a:r>
            <a:r>
              <a:rPr lang="de-DE" kern="100" dirty="0">
                <a:effectLst/>
                <a:latin typeface="Aptos" panose="020B0004020202020204" pitchFamily="34" charset="0"/>
                <a:ea typeface="Aptos" panose="020B0004020202020204" pitchFamily="34" charset="0"/>
                <a:cs typeface="Times New Roman" panose="02020603050405020304" pitchFamily="18" charset="0"/>
              </a:rPr>
              <a:t>: Die Umsetzung der EU-Richtlinie zum Schutz von Whistleblowern in das Hinweisgeberschutzgesetz (</a:t>
            </a:r>
            <a:r>
              <a:rPr lang="de-DE" kern="100" dirty="0" err="1">
                <a:effectLst/>
                <a:latin typeface="Aptos" panose="020B0004020202020204" pitchFamily="34" charset="0"/>
                <a:ea typeface="Aptos" panose="020B0004020202020204" pitchFamily="34" charset="0"/>
                <a:cs typeface="Times New Roman" panose="02020603050405020304" pitchFamily="18" charset="0"/>
              </a:rPr>
              <a:t>HinSchG</a:t>
            </a:r>
            <a:r>
              <a:rPr lang="de-DE" kern="100" dirty="0">
                <a:effectLst/>
                <a:latin typeface="Aptos" panose="020B0004020202020204" pitchFamily="34" charset="0"/>
                <a:ea typeface="Aptos" panose="020B0004020202020204" pitchFamily="34" charset="0"/>
                <a:cs typeface="Times New Roman" panose="02020603050405020304" pitchFamily="18" charset="0"/>
              </a:rPr>
              <a:t>) ist ein Beispiel dafür, wie Gesetze in nationales Recht umgesetzt werden. </a:t>
            </a:r>
          </a:p>
          <a:p>
            <a:pPr>
              <a:lnSpc>
                <a:spcPct val="107000"/>
              </a:lnSpc>
              <a:spcAft>
                <a:spcPts val="800"/>
              </a:spcAft>
            </a:pPr>
            <a:r>
              <a:rPr lang="de-DE" b="1" kern="100" dirty="0">
                <a:effectLst/>
                <a:latin typeface="Aptos" panose="020B0004020202020204" pitchFamily="34" charset="0"/>
                <a:ea typeface="Aptos" panose="020B0004020202020204" pitchFamily="34" charset="0"/>
                <a:cs typeface="Times New Roman" panose="02020603050405020304" pitchFamily="18" charset="0"/>
              </a:rPr>
              <a:t>EU-Lieferkettengesetz</a:t>
            </a:r>
            <a:r>
              <a:rPr lang="de-DE" kern="100" dirty="0">
                <a:effectLst/>
                <a:latin typeface="Aptos" panose="020B0004020202020204" pitchFamily="34" charset="0"/>
                <a:ea typeface="Aptos" panose="020B0004020202020204" pitchFamily="34" charset="0"/>
                <a:cs typeface="Times New Roman" panose="02020603050405020304" pitchFamily="18" charset="0"/>
              </a:rPr>
              <a:t>: Die CSDDD (Corporate </a:t>
            </a:r>
            <a:r>
              <a:rPr lang="de-DE" kern="100" dirty="0" err="1">
                <a:effectLst/>
                <a:latin typeface="Aptos" panose="020B0004020202020204" pitchFamily="34" charset="0"/>
                <a:ea typeface="Aptos" panose="020B0004020202020204" pitchFamily="34" charset="0"/>
                <a:cs typeface="Times New Roman" panose="02020603050405020304" pitchFamily="18" charset="0"/>
              </a:rPr>
              <a:t>Sustainability</a:t>
            </a:r>
            <a:r>
              <a:rPr lang="de-DE" kern="100" dirty="0">
                <a:effectLst/>
                <a:latin typeface="Aptos" panose="020B0004020202020204" pitchFamily="34" charset="0"/>
                <a:ea typeface="Aptos" panose="020B0004020202020204" pitchFamily="34" charset="0"/>
                <a:cs typeface="Times New Roman" panose="02020603050405020304" pitchFamily="18" charset="0"/>
              </a:rPr>
              <a:t> Due Diligence </a:t>
            </a:r>
            <a:r>
              <a:rPr lang="de-DE" kern="100" dirty="0" err="1">
                <a:effectLst/>
                <a:latin typeface="Aptos" panose="020B0004020202020204" pitchFamily="34" charset="0"/>
                <a:ea typeface="Aptos" panose="020B0004020202020204" pitchFamily="34" charset="0"/>
                <a:cs typeface="Times New Roman" panose="02020603050405020304" pitchFamily="18" charset="0"/>
              </a:rPr>
              <a:t>Directive</a:t>
            </a:r>
            <a:r>
              <a:rPr lang="de-DE" kern="100" dirty="0">
                <a:effectLst/>
                <a:latin typeface="Aptos" panose="020B0004020202020204" pitchFamily="34" charset="0"/>
                <a:ea typeface="Aptos" panose="020B0004020202020204" pitchFamily="34" charset="0"/>
                <a:cs typeface="Times New Roman" panose="02020603050405020304" pitchFamily="18" charset="0"/>
              </a:rPr>
              <a:t>) ist eine EU-Richtlinie, die die Sorgfaltspflichten von Unternehmen in Bezug auf Menschenrechts- und Umweltstandards regelt. Diese Richtlinie muss von den Mitgliedstaaten in nationales Recht umgesetzt werden. </a:t>
            </a:r>
          </a:p>
          <a:p>
            <a:endParaRPr lang="de-DE" dirty="0"/>
          </a:p>
        </p:txBody>
      </p:sp>
      <p:sp>
        <p:nvSpPr>
          <p:cNvPr id="4" name="Fußzeilenplatzhalter 3">
            <a:extLst>
              <a:ext uri="{FF2B5EF4-FFF2-40B4-BE49-F238E27FC236}">
                <a16:creationId xmlns:a16="http://schemas.microsoft.com/office/drawing/2014/main" id="{D0724CD6-DC65-E605-5CB9-963B76CB4C88}"/>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52C63E73-B93C-E904-780D-7865DC4096B0}"/>
              </a:ext>
            </a:extLst>
          </p:cNvPr>
          <p:cNvSpPr>
            <a:spLocks noGrp="1"/>
          </p:cNvSpPr>
          <p:nvPr>
            <p:ph type="sldNum" sz="quarter" idx="12"/>
          </p:nvPr>
        </p:nvSpPr>
        <p:spPr/>
        <p:txBody>
          <a:bodyPr/>
          <a:lstStyle/>
          <a:p>
            <a:fld id="{B4CE166D-2D50-44F1-A818-BFD238545C9D}" type="slidenum">
              <a:rPr lang="de-DE" smtClean="0"/>
              <a:t>6</a:t>
            </a:fld>
            <a:endParaRPr lang="de-DE"/>
          </a:p>
        </p:txBody>
      </p:sp>
    </p:spTree>
    <p:extLst>
      <p:ext uri="{BB962C8B-B14F-4D97-AF65-F5344CB8AC3E}">
        <p14:creationId xmlns:p14="http://schemas.microsoft.com/office/powerpoint/2010/main" val="2466478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B863C2-1E06-A333-DC8D-F6F95D73F97A}"/>
              </a:ext>
            </a:extLst>
          </p:cNvPr>
          <p:cNvSpPr>
            <a:spLocks noGrp="1"/>
          </p:cNvSpPr>
          <p:nvPr>
            <p:ph type="title"/>
          </p:nvPr>
        </p:nvSpPr>
        <p:spPr>
          <a:xfrm>
            <a:off x="838200" y="365126"/>
            <a:ext cx="10515600" cy="928654"/>
          </a:xfrm>
        </p:spPr>
        <p:txBody>
          <a:bodyPr/>
          <a:lstStyle/>
          <a:p>
            <a:r>
              <a:rPr lang="de-DE" dirty="0"/>
              <a:t>Ziele </a:t>
            </a:r>
            <a:r>
              <a:rPr lang="de-DE"/>
              <a:t>von Unternehmensrichtlinien</a:t>
            </a:r>
            <a:endParaRPr lang="de-DE" dirty="0"/>
          </a:p>
        </p:txBody>
      </p:sp>
      <p:sp>
        <p:nvSpPr>
          <p:cNvPr id="3" name="Inhaltsplatzhalter 2">
            <a:extLst>
              <a:ext uri="{FF2B5EF4-FFF2-40B4-BE49-F238E27FC236}">
                <a16:creationId xmlns:a16="http://schemas.microsoft.com/office/drawing/2014/main" id="{CC9543BB-15B8-40C9-939C-4A4EAAC9F940}"/>
              </a:ext>
            </a:extLst>
          </p:cNvPr>
          <p:cNvSpPr>
            <a:spLocks noGrp="1"/>
          </p:cNvSpPr>
          <p:nvPr>
            <p:ph idx="1"/>
          </p:nvPr>
        </p:nvSpPr>
        <p:spPr>
          <a:xfrm>
            <a:off x="838200" y="1585609"/>
            <a:ext cx="10515600" cy="4591354"/>
          </a:xfrm>
        </p:spPr>
        <p:txBody>
          <a:bodyPr>
            <a:normAutofit lnSpcReduction="10000"/>
          </a:bodyPr>
          <a:lstStyle/>
          <a:p>
            <a:pPr>
              <a:lnSpc>
                <a:spcPct val="107000"/>
              </a:lnSpc>
              <a:spcAft>
                <a:spcPts val="800"/>
              </a:spcAft>
            </a:pPr>
            <a:r>
              <a:rPr lang="de-DE" sz="2400" b="1" u="sng" kern="100" dirty="0">
                <a:effectLst/>
                <a:latin typeface="Aptos" panose="020B0004020202020204" pitchFamily="34" charset="0"/>
                <a:ea typeface="Aptos" panose="020B0004020202020204" pitchFamily="34" charset="0"/>
                <a:cs typeface="Times New Roman" panose="02020603050405020304" pitchFamily="18" charset="0"/>
              </a:rPr>
              <a:t>Ziele:</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Die Umsetzung von Gesetzen und Richtlinien in Unternehmensrichtlinien dient dazu, ein Unternehmen rechtlich absichern, das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Risikomanagement zu verbessern</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und die Einhaltung gesetzlicher Bestimmungen zu gewährleisten. </a:t>
            </a:r>
          </a:p>
          <a:p>
            <a:pPr>
              <a:lnSpc>
                <a:spcPct val="107000"/>
              </a:lnSpc>
              <a:spcAft>
                <a:spcPts val="800"/>
              </a:spcAft>
            </a:pPr>
            <a:r>
              <a:rPr lang="de-DE" sz="2400" b="1" u="sng" kern="100" dirty="0">
                <a:effectLst/>
                <a:latin typeface="Aptos" panose="020B0004020202020204" pitchFamily="34" charset="0"/>
                <a:ea typeface="Aptos" panose="020B0004020202020204" pitchFamily="34" charset="0"/>
                <a:cs typeface="Times New Roman" panose="02020603050405020304" pitchFamily="18" charset="0"/>
              </a:rPr>
              <a:t>Verbindlichkeit:</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Unternehmensrichtlinien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sind in der Regel verbindlich</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solange sie im Einklang mit den gesetzlichen Bestimmungen und den individuellen Arbeitsverträgen der Mitarbeiter stehen. Die Verbindlichkeit hängt auch von ihrer Kommunikation und Implementierung ab.</a:t>
            </a:r>
          </a:p>
          <a:p>
            <a:pPr>
              <a:lnSpc>
                <a:spcPct val="107000"/>
              </a:lnSpc>
              <a:spcAft>
                <a:spcPts val="800"/>
              </a:spcAft>
            </a:pPr>
            <a:r>
              <a:rPr lang="de-DE" sz="2400" b="1" u="sng" kern="100" dirty="0">
                <a:effectLst/>
                <a:latin typeface="Aptos" panose="020B0004020202020204" pitchFamily="34" charset="0"/>
                <a:ea typeface="Aptos" panose="020B0004020202020204" pitchFamily="34" charset="0"/>
                <a:cs typeface="Times New Roman" panose="02020603050405020304" pitchFamily="18" charset="0"/>
              </a:rPr>
              <a:t>Konsequenz</a:t>
            </a:r>
            <a:r>
              <a:rPr lang="de-DE" sz="2400" u="sng" kern="100" dirty="0">
                <a:effectLst/>
                <a:latin typeface="Aptos" panose="020B0004020202020204" pitchFamily="34" charset="0"/>
                <a:ea typeface="Aptos" panose="020B0004020202020204" pitchFamily="34" charset="0"/>
                <a:cs typeface="Times New Roman" panose="02020603050405020304" pitchFamily="18" charset="0"/>
              </a:rPr>
              <a:t>:</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Gem. </a:t>
            </a:r>
            <a:r>
              <a:rPr lang="de-DE" sz="2400" b="1" i="1" kern="100" dirty="0">
                <a:solidFill>
                  <a:srgbClr val="7030A0"/>
                </a:solidFill>
                <a:effectLst/>
                <a:latin typeface="Aptos" panose="020B0004020202020204" pitchFamily="34" charset="0"/>
                <a:ea typeface="Aptos" panose="020B0004020202020204" pitchFamily="34" charset="0"/>
                <a:cs typeface="Times New Roman" panose="02020603050405020304" pitchFamily="18" charset="0"/>
              </a:rPr>
              <a:t>Art. 29 DSGVO</a:t>
            </a:r>
            <a:r>
              <a:rPr lang="de-DE" sz="2400" kern="100" dirty="0">
                <a:solidFill>
                  <a:srgbClr val="7030A0"/>
                </a:solidFill>
                <a:effectLst/>
                <a:latin typeface="Aptos" panose="020B0004020202020204" pitchFamily="34" charset="0"/>
                <a:ea typeface="Aptos" panose="020B0004020202020204" pitchFamily="34" charset="0"/>
                <a:cs typeface="Times New Roman" panose="02020603050405020304" pitchFamily="18" charset="0"/>
              </a:rPr>
              <a:t>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arbeiten Sie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auf Weisung des Verantwortlichen</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Tun Sie es nicht, begehen Sie einen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Exzess</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und werden für ihr Tun selbst zum Verantwortlichen und damit auch sanktionierbar.</a:t>
            </a:r>
          </a:p>
          <a:p>
            <a:endParaRPr lang="de-DE" dirty="0"/>
          </a:p>
        </p:txBody>
      </p:sp>
      <p:sp>
        <p:nvSpPr>
          <p:cNvPr id="4" name="Fußzeilenplatzhalter 3">
            <a:extLst>
              <a:ext uri="{FF2B5EF4-FFF2-40B4-BE49-F238E27FC236}">
                <a16:creationId xmlns:a16="http://schemas.microsoft.com/office/drawing/2014/main" id="{B5EC20DA-1706-4F74-7A9D-41307CD76C21}"/>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046A07CE-76BE-AA94-74A0-0D99D61022B9}"/>
              </a:ext>
            </a:extLst>
          </p:cNvPr>
          <p:cNvSpPr>
            <a:spLocks noGrp="1"/>
          </p:cNvSpPr>
          <p:nvPr>
            <p:ph type="sldNum" sz="quarter" idx="12"/>
          </p:nvPr>
        </p:nvSpPr>
        <p:spPr/>
        <p:txBody>
          <a:bodyPr/>
          <a:lstStyle/>
          <a:p>
            <a:fld id="{B4CE166D-2D50-44F1-A818-BFD238545C9D}" type="slidenum">
              <a:rPr lang="de-DE" smtClean="0"/>
              <a:t>7</a:t>
            </a:fld>
            <a:endParaRPr lang="de-DE"/>
          </a:p>
        </p:txBody>
      </p:sp>
    </p:spTree>
    <p:extLst>
      <p:ext uri="{BB962C8B-B14F-4D97-AF65-F5344CB8AC3E}">
        <p14:creationId xmlns:p14="http://schemas.microsoft.com/office/powerpoint/2010/main" val="158598275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A955DCE652C8AD4696A873B53CCA776C" ma:contentTypeVersion="9" ma:contentTypeDescription="Ein neues Dokument erstellen." ma:contentTypeScope="" ma:versionID="a75b0d271db8e156752fd3af9960f3e7">
  <xsd:schema xmlns:xsd="http://www.w3.org/2001/XMLSchema" xmlns:xs="http://www.w3.org/2001/XMLSchema" xmlns:p="http://schemas.microsoft.com/office/2006/metadata/properties" xmlns:ns2="b2bcf77a-db99-4c6d-8596-ee1fc4b01288" xmlns:ns3="ce9d32c5-4bd0-492d-a196-e5e973bfded0" targetNamespace="http://schemas.microsoft.com/office/2006/metadata/properties" ma:root="true" ma:fieldsID="0cebbb3c6120016de2a0a64c84ca3718" ns2:_="" ns3:_="">
    <xsd:import namespace="b2bcf77a-db99-4c6d-8596-ee1fc4b01288"/>
    <xsd:import namespace="ce9d32c5-4bd0-492d-a196-e5e973bfded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2bcf77a-db99-4c6d-8596-ee1fc4b012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8af48a06-ed4b-42ab-a976-5013053131ad"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9d32c5-4bd0-492d-a196-e5e973bfded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6403cb9-dd32-4e21-bcc3-676a3ed5dd23}" ma:internalName="TaxCatchAll" ma:showField="CatchAllData" ma:web="ce9d32c5-4bd0-492d-a196-e5e973bfde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e9d32c5-4bd0-492d-a196-e5e973bfded0" xsi:nil="true"/>
    <lcf76f155ced4ddcb4097134ff3c332f xmlns="b2bcf77a-db99-4c6d-8596-ee1fc4b012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28D17AF-CBE7-4847-8323-1176221BD181}"/>
</file>

<file path=customXml/itemProps2.xml><?xml version="1.0" encoding="utf-8"?>
<ds:datastoreItem xmlns:ds="http://schemas.openxmlformats.org/officeDocument/2006/customXml" ds:itemID="{F5FFB286-D3E3-4A25-AB98-FF0659D51900}"/>
</file>

<file path=customXml/itemProps3.xml><?xml version="1.0" encoding="utf-8"?>
<ds:datastoreItem xmlns:ds="http://schemas.openxmlformats.org/officeDocument/2006/customXml" ds:itemID="{152D81A6-E495-4B93-A9F1-090B4A12E3E4}"/>
</file>

<file path=docProps/app.xml><?xml version="1.0" encoding="utf-8"?>
<Properties xmlns="http://schemas.openxmlformats.org/officeDocument/2006/extended-properties" xmlns:vt="http://schemas.openxmlformats.org/officeDocument/2006/docPropsVTypes">
  <TotalTime>0</TotalTime>
  <Words>482</Words>
  <Application>Microsoft Office PowerPoint</Application>
  <PresentationFormat>Breitbild</PresentationFormat>
  <Paragraphs>39</Paragraphs>
  <Slides>7</Slides>
  <Notes>1</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7</vt:i4>
      </vt:variant>
    </vt:vector>
  </HeadingPairs>
  <TitlesOfParts>
    <vt:vector size="12" baseType="lpstr">
      <vt:lpstr>Aptos</vt:lpstr>
      <vt:lpstr>Aptos Display</vt:lpstr>
      <vt:lpstr>Arial</vt:lpstr>
      <vt:lpstr>Calibri</vt:lpstr>
      <vt:lpstr>Office</vt:lpstr>
      <vt:lpstr>DATENSCHUTZ-SCHULUNG Teil 4: Umsetzung im Unternehmen</vt:lpstr>
      <vt:lpstr>Inhalte der Datenschutz-Themen</vt:lpstr>
      <vt:lpstr>Datenschutz Teil 4.4</vt:lpstr>
      <vt:lpstr>Vom Gesetz zur Richtlinie</vt:lpstr>
      <vt:lpstr>Vom Gesetz zur Richtlinie</vt:lpstr>
      <vt:lpstr>Beispiele: Vom Gesetz zur Richtlinie</vt:lpstr>
      <vt:lpstr>Ziele von Unternehmensrichtlinien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Dirk Moltzen</dc:creator>
  <cp:lastModifiedBy>Dirk Moltzen</cp:lastModifiedBy>
  <cp:revision>89</cp:revision>
  <dcterms:created xsi:type="dcterms:W3CDTF">2025-05-19T19:06:41Z</dcterms:created>
  <dcterms:modified xsi:type="dcterms:W3CDTF">2025-09-18T07:00:30Z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0x010100A955DCE652C8AD4696A873B53CCA776C</vt:lpwstr>
  </property>
</Properties>
</file>