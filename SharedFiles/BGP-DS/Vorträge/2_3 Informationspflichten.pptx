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360" r:id="rId4"/>
    <p:sldId id="377" r:id="rId5"/>
    <p:sldId id="378" r:id="rId6"/>
    <p:sldId id="379" r:id="rId7"/>
    <p:sldId id="382" r:id="rId8"/>
    <p:sldId id="380" r:id="rId9"/>
    <p:sldId id="381" r:id="rId10"/>
    <p:sldId id="383" r:id="rId11"/>
    <p:sldId id="384" r:id="rId12"/>
    <p:sldId id="385" r:id="rId13"/>
    <p:sldId id="386" r:id="rId14"/>
    <p:sldId id="407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C052-91DF-4DB3-B342-3CD8D6AF7C71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10CE-1ECF-4525-BFCD-FD2D0B839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72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B4CA0-0D9B-2397-636C-95227E6D1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6CBF7D-844C-C3E8-4791-B467FDCC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6ED5D8-D21B-2991-AD91-EF877652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DB5E-9D2D-453F-9BAF-14F389B2B6FD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662200-947A-F1EA-2C52-A9ED73D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2F66E2-E057-AD36-C3DA-CE84D739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7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1CDB6-2205-C649-0EFF-4AF9C88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2738B8-DFE1-053C-8D14-65BDC422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43B26-B36D-01B6-8CB3-EBCCB41D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EE8E6-ED59-4859-B0C3-225166F39F4E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B0E11-7309-8334-C745-4B8891F3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74E42-1956-41CB-85EE-1D92BD07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88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E3BDF-74CF-D836-BDF6-1A9E5CD1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8F682-74D0-260C-C0FA-67608DE5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26DB74-0B12-4E55-DFE8-11C848AD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F14BD-9277-4F74-8DB6-09E47A4EDF5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BD3D0A-2DD9-A6B1-1489-6F902540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40CFB5-98C2-84E4-BDD3-F4C750AF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8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A83CA-15C6-89A0-FEDA-18437CD0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B2365-8E78-D10D-2C7A-CFA338DFD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A9C519-780B-C21A-8A0F-FF13E8BA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D13EC-EB69-D436-B6B3-336B02A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A98-5F69-4205-B62B-A9D2FE44DC9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54854A-5BCA-AA61-4794-C845E841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D920B8-0BB6-DC20-C44A-6FE1799A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2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7B4D7-5073-8EE2-C713-A9807BC2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15CB72-967C-1FE1-7266-4C90A820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685B6-6BF1-51FC-0CC5-E6B83E03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C1FDDC-7DF7-F143-DB9D-5224023A2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1C4E95-7462-FA80-84AD-9D823B3D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C635FA-7C5E-7A65-D6EA-6B07AE44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DD1B-5A4B-4D66-A112-730D2E7C9367}" type="datetime1">
              <a:rPr lang="de-DE" smtClean="0"/>
              <a:t>16.09.2025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3E3795-8351-EACE-5649-C8A6261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980057-3041-8E66-F05F-0C6DAD68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B809C-717E-0BE3-A852-7D6ED08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BDE474-BB62-A15B-AF69-1F53A895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0CA9-080E-495A-8A5A-989AC8DFCC2C}" type="datetime1">
              <a:rPr lang="de-DE" smtClean="0"/>
              <a:t>16.09.2025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009B64-7486-6B03-109F-0A1DB87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E269A4-2AFB-0581-906E-331F89EF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7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4EF03-31AB-6045-F997-30142EC6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2418-5A2A-4D67-823F-EC4266F86929}" type="datetime1">
              <a:rPr lang="de-DE" smtClean="0"/>
              <a:t>16.09.2025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CFB2D-8F62-0045-E978-BE3C601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1E2D0D-FB5B-18D9-CA46-B17F6D7D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3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4205B-67C0-3C72-1270-AB3F648C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FF748-A088-071E-017D-99500D75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A7AC7C-492C-90F4-8A67-7CBC818A0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A1AFB3-C22B-78C8-5ABA-FE62DEB6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24FE-15BC-48DE-8943-3F775C222EF7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F01998-1EAE-F808-4FBE-68B2F851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08FCF0-9A89-4F9E-90AA-7B6050B8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4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74FCB-7070-9042-F162-D3957EF7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61D97A-92D7-1999-21A5-2E494FE40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CF8D34-1DA2-DB73-54B3-DE9EF87E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5C852-F89D-BA31-F1F1-5908F949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FB9E-692E-48A8-84C5-9952D749F23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837075-A10E-3C14-F3C3-2E9BE88F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4A5AF6-1125-19E3-786E-CE22A0A7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62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3F011-39E4-FEA4-5D0F-FD25397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6A2C3D-19CA-3847-73C8-76EFE13A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0374A-9259-29AD-05FF-F3A63514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D161-017C-4308-B022-23EEBD4A53E7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CA8E5-3D50-1482-5EA3-0AE0CCD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B4CD6-D217-6A5A-C835-ABBF8EA8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C6231-501D-5B6C-07CA-78E57495A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6AA6BA-E9E2-41B1-CDFA-CBD87B43E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405D0A-77D6-1022-E33C-FCFCDC61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6E2E-C33C-4093-9AD7-A0DDBAC742A6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F6FBA2-0D4D-BABB-8A8B-7D96CF0C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DBF3D-401F-3741-7E93-32CDCAC8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3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E23AD2-A997-A50A-7B9B-51EFA4D8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E3F0D2-6FEC-0D1F-2B92-08169542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FB01D-569E-09F5-F922-327089C50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4FBDE-3156-405F-8033-5D2AF69D6F3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8C7273-F537-2E2B-2AA5-800EFD209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4149FB-4F02-55E2-A3FF-E64D0BD50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41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CA4602F-1958-AB10-C35C-5E47C9E0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de-DE" sz="4000" dirty="0">
                <a:solidFill>
                  <a:schemeClr val="tx2"/>
                </a:solidFill>
              </a:rPr>
              <a:t>DATENSCHUTZ-SCHULUNG</a:t>
            </a:r>
            <a:br>
              <a:rPr lang="de-DE" sz="4000" dirty="0">
                <a:solidFill>
                  <a:schemeClr val="tx2"/>
                </a:solidFill>
              </a:rPr>
            </a:br>
            <a:r>
              <a:rPr lang="de-DE" sz="4000" dirty="0">
                <a:solidFill>
                  <a:schemeClr val="tx2"/>
                </a:solidFill>
              </a:rPr>
              <a:t>Teil 2: Grundsätze der Verarbeitung</a:t>
            </a:r>
          </a:p>
        </p:txBody>
      </p:sp>
      <p:pic>
        <p:nvPicPr>
          <p:cNvPr id="7" name="Grafik 6" descr="Ein Bild, das Person, Raum, Hand enthält.&#10;&#10;KI-generierte Inhalte können fehlerhaft sein.">
            <a:extLst>
              <a:ext uri="{FF2B5EF4-FFF2-40B4-BE49-F238E27FC236}">
                <a16:creationId xmlns:a16="http://schemas.microsoft.com/office/drawing/2014/main" id="{A1489AE2-F9B8-F8ED-00E3-14646775A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7" b="33968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Untertitel 4">
            <a:extLst>
              <a:ext uri="{FF2B5EF4-FFF2-40B4-BE49-F238E27FC236}">
                <a16:creationId xmlns:a16="http://schemas.microsoft.com/office/drawing/2014/main" id="{F80A9AF6-4E73-62A3-65EE-D5681D90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de-DE" sz="2000" dirty="0">
                <a:solidFill>
                  <a:schemeClr val="tx2"/>
                </a:solidFill>
              </a:rPr>
              <a:t>Fachinformatiker </a:t>
            </a:r>
            <a:r>
              <a:rPr lang="de-DE" sz="2000" dirty="0" err="1">
                <a:solidFill>
                  <a:schemeClr val="tx2"/>
                </a:solidFill>
              </a:rPr>
              <a:t>by</a:t>
            </a:r>
            <a:r>
              <a:rPr lang="de-DE" sz="2000" dirty="0">
                <a:solidFill>
                  <a:schemeClr val="tx2"/>
                </a:solidFill>
              </a:rPr>
              <a:t> IBB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335ED99-E2A6-072A-014D-0A8A58CD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DA28E4-EC39-8437-806C-94417B85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62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29679-42D7-2E29-310F-FE4FD4DA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 der Datenschutz-Themen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2D697B-EB54-E541-DE6C-A8AE0056C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rgbClr val="0070C0"/>
                </a:solidFill>
              </a:rPr>
              <a:t>Teil 2:</a:t>
            </a:r>
            <a:r>
              <a:rPr lang="de-DE" b="1" dirty="0"/>
              <a:t> Grundsätze und Rechtmäßigkeit der Verarbeitung</a:t>
            </a:r>
          </a:p>
          <a:p>
            <a:pPr marL="0" indent="0">
              <a:buNone/>
            </a:pPr>
            <a:endParaRPr lang="de-DE" b="1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2.1: </a:t>
            </a:r>
            <a:r>
              <a:rPr lang="de-DE" b="1" dirty="0"/>
              <a:t>Grundsätze der Verarbeitung (</a:t>
            </a:r>
            <a:r>
              <a:rPr lang="de-DE" b="1" dirty="0" err="1"/>
              <a:t>pbD</a:t>
            </a:r>
            <a:r>
              <a:rPr lang="de-DE" b="1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2.2: </a:t>
            </a:r>
            <a:r>
              <a:rPr lang="de-DE" b="1" dirty="0"/>
              <a:t>Rechtmäßigkeit der Verarbeitung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2.3: </a:t>
            </a:r>
            <a:r>
              <a:rPr lang="de-DE" b="1" dirty="0"/>
              <a:t>Informationspflichten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2.4: </a:t>
            </a:r>
            <a:r>
              <a:rPr lang="de-DE" b="1" dirty="0"/>
              <a:t>Rechte der Betroffenen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2.5: </a:t>
            </a:r>
            <a:r>
              <a:rPr lang="de-DE" b="1" dirty="0"/>
              <a:t>Technisch-Organisatorische Maßnahmen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2.6: </a:t>
            </a:r>
            <a:r>
              <a:rPr lang="de-DE" b="1" dirty="0"/>
              <a:t>Verzeichnis der Verarbeitungstätigkeiten (VVT)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70A954-FCE7-117B-EFBF-DF9AE625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962AE-1470-67E5-A01D-2BFAC3ED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21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BA3F9-171B-F8F4-A6CC-904911BC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Screenshot, Dunkelheit, Text, Schwarz enthält.&#10;&#10;KI-generierte Inhalte können fehlerhaft sein.">
            <a:extLst>
              <a:ext uri="{FF2B5EF4-FFF2-40B4-BE49-F238E27FC236}">
                <a16:creationId xmlns:a16="http://schemas.microsoft.com/office/drawing/2014/main" id="{BE42AEAD-5B04-E3B3-5775-269759AB2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69" t="4154" r="37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145616-B575-FC93-7470-E7AF6FBD5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Datenschutz</a:t>
            </a:r>
            <a:r>
              <a:rPr lang="en-US" sz="4800" dirty="0"/>
              <a:t> Teil 2.3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47FB53-D8D3-BC16-9A00-6840FE963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>
                <a:solidFill>
                  <a:schemeClr val="tx1"/>
                </a:solidFill>
              </a:rPr>
              <a:t>Informationspflichten</a:t>
            </a:r>
            <a:r>
              <a:rPr lang="en-US" sz="2000" dirty="0">
                <a:solidFill>
                  <a:schemeClr val="tx1"/>
                </a:solidFill>
              </a:rPr>
              <a:t> des </a:t>
            </a:r>
            <a:r>
              <a:rPr lang="en-US" sz="2000">
                <a:solidFill>
                  <a:schemeClr val="tx1"/>
                </a:solidFill>
              </a:rPr>
              <a:t>Verantwortlichen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oder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Auftragsverarbeiters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39D111B-1B1F-B6E6-5F47-D8868B2A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305477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Dirk Moltzen - </a:t>
            </a:r>
            <a:r>
              <a:rPr lang="en-US" sz="900" kern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externer</a:t>
            </a: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900" kern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Datenschutzbeauftragter</a:t>
            </a: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83199C-51CF-2431-672B-C9A7B2C9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38717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7A54CE-A134-A1CD-11E6-7EAD027CD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>
                <a:effectLst/>
                <a:ea typeface="Aptos" panose="020B0004020202020204" pitchFamily="34" charset="0"/>
              </a:rPr>
              <a:t>Informationspflichten des Verantwortlichen</a:t>
            </a:r>
            <a:br>
              <a:rPr lang="de-DE" dirty="0">
                <a:solidFill>
                  <a:srgbClr val="0070C0"/>
                </a:solidFill>
                <a:effectLst/>
                <a:ea typeface="Aptos" panose="020B0004020202020204" pitchFamily="34" charset="0"/>
              </a:rPr>
            </a:br>
            <a:r>
              <a:rPr lang="de-DE" sz="2400" b="1" i="1" dirty="0">
                <a:solidFill>
                  <a:srgbClr val="7030A0"/>
                </a:solidFill>
                <a:effectLst/>
                <a:ea typeface="Aptos" panose="020B0004020202020204" pitchFamily="34" charset="0"/>
              </a:rPr>
              <a:t>Art. 13 und 14 DSGVO</a:t>
            </a:r>
            <a:endParaRPr lang="de-DE" sz="2400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C8F638-621A-088C-DC62-00B7F8985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verantwortliche Stelle hat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umfangreiche Informationspflichten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erfüllen</a:t>
            </a: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Geregelt durch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13 und 14 DSGVO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sowie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§§ 32 und 33 BDSG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; sie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unterscheiden sich durch die Datenquelle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Direkte Erhebung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13 DSGVO</a:t>
            </a:r>
            <a:b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vom Betroffenen gewollt und angefragte Informationen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Indirekte Erhebung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14 DSGVO</a:t>
            </a:r>
            <a:b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Informationen zum Betroffenen durch Dritte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Informationspflicht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ist im allgemeinen Sprachgebrauch auch unter den Begriffen </a:t>
            </a:r>
            <a:r>
              <a:rPr lang="de-DE" sz="2000" b="1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Datenschutzhinweise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</a:t>
            </a:r>
            <a:r>
              <a:rPr lang="de-DE" sz="2000" b="1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Datenschutzerklärung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bekannt.</a:t>
            </a:r>
            <a:b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Schwerpunkt ist, den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Grundsatz der Transparenz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5 DSGVO</a:t>
            </a:r>
            <a:r>
              <a:rPr lang="de-DE" sz="20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 erfüllen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36FE76-8BAB-38C3-3E1B-CF26DC11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ABBF15-EA76-F3E3-89C1-BB79FAC5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7649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704953-A443-EC1A-888C-9AFD60294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Inhalte der Informationspflichten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FB9AC9-05B7-934B-31F7-61ED6A69F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13 (1) DSGVO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zählt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alle notwendigen Informationen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auf, die der Betroffene erhalten muss.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e-DE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a typeface="Aptos" panose="020B0004020202020204" pitchFamily="34" charset="0"/>
                <a:cs typeface="Times New Roman" panose="02020603050405020304" pitchFamily="18" charset="0"/>
              </a:rPr>
              <a:t>Eine</a:t>
            </a:r>
            <a:r>
              <a:rPr lang="de-DE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dirty="0">
                <a:solidFill>
                  <a:srgbClr val="0070C0"/>
                </a:solidFill>
                <a:effectLst/>
                <a:ea typeface="Aptos" panose="020B0004020202020204" pitchFamily="34" charset="0"/>
              </a:rPr>
              <a:t>Checkliste </a:t>
            </a:r>
            <a:r>
              <a:rPr lang="de-DE" dirty="0">
                <a:ea typeface="Aptos" panose="020B0004020202020204" pitchFamily="34" charset="0"/>
              </a:rPr>
              <a:t>als PDF-Datei gebe ich extra aus</a:t>
            </a:r>
            <a:br>
              <a:rPr lang="de-DE" dirty="0">
                <a:effectLst/>
                <a:ea typeface="Aptos" panose="020B0004020202020204" pitchFamily="34" charset="0"/>
              </a:rPr>
            </a:br>
            <a:endParaRPr lang="de-DE" dirty="0">
              <a:ea typeface="Aptos" panose="020B00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85741A-D321-4A06-2726-1497AC80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288103C-4855-7A63-7DA4-1F38AEF74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6176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ECDFE7-B5E1-7DBC-80FF-A0A2255B1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Automatisierte Entscheidungsfindung -</a:t>
            </a:r>
            <a:br>
              <a:rPr lang="de-DE" dirty="0"/>
            </a:br>
            <a:r>
              <a:rPr lang="de-DE" dirty="0" err="1"/>
              <a:t>Profiling</a:t>
            </a:r>
            <a:r>
              <a:rPr lang="de-DE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8DC9A0-33BD-9F5F-E156-D88AE8D2A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de-DE" b="1" i="1" dirty="0">
                <a:solidFill>
                  <a:srgbClr val="7030A0"/>
                </a:solidFill>
                <a:effectLst/>
                <a:ea typeface="Aptos" panose="020B0004020202020204" pitchFamily="34" charset="0"/>
              </a:rPr>
              <a:t>Art. 22 DSGVO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Anhand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festgelegter Kriterien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trifft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 System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eigenständige Entscheidung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Anhand von Profildaten wird das z.B. in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Partnerportalen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Bewerbungsportalen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angewendet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Pflicht zur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Aufklärung, wenn automatisierte Entscheidungsfindung und ein </a:t>
            </a:r>
            <a:r>
              <a:rPr lang="de-DE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Profiling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stattfindet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Dazu gehören die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Funktionsweise und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möglichen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Auswirkungen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623CEC5-60E7-E178-C763-156BFA1CE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056DE-9C19-3DA9-915C-9B38B908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8442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005D3D-B280-A531-879F-A52488C59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Ausnahmen bei Informationspflichten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639AA8-8B91-7C49-7F9C-7E6EFE67A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Ausnahmen für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13 (4) DSGVO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Dem Betroffenen liegen diese Informationen schon vor, dann besteht für den Verantwortlichen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keine Informationspflicht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Zusätzliche Informationspflicht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bei Erhebung </a:t>
            </a:r>
            <a:r>
              <a:rPr lang="de-DE" sz="2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gem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14 (d, f) DSGVO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 hier müssen zusätzlich die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Quelle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die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Kategorien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mitgeteilt werden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CC4B0F4-84A4-076A-07A4-0EFA46BF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339882-BDB5-9AA6-066C-D72885F4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3738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0D82C4-929F-0948-526E-DBC83AF7E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Ausnahmen bei Informationspflichten</a:t>
            </a:r>
            <a:endParaRPr lang="de-DE" sz="24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E62591-5388-6A39-11EE-DF70A5ACE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Ausnahmen für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14 DSGVO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0215">
              <a:lnSpc>
                <a:spcPct val="107000"/>
              </a:lnSpc>
              <a:buNone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1. Dem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liegen diese Informationen schon vor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dann besteht für den Verantwortlichen keine Informationspflicht </a:t>
            </a:r>
            <a:r>
              <a:rPr lang="de-DE" sz="1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14 (5) DSGVO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2. Die Bereitstellung von Informationen ist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unmöglich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stellt einen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unverhältnismäßigen Aufwand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dar</a:t>
            </a:r>
          </a:p>
          <a:p>
            <a:pPr marL="457200">
              <a:lnSpc>
                <a:spcPct val="107000"/>
              </a:lnSpc>
              <a:buNone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3. falls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Rechtsvorschriften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dem entgegenstehen</a:t>
            </a:r>
          </a:p>
          <a:p>
            <a:pPr marL="457200">
              <a:lnSpc>
                <a:spcPct val="107000"/>
              </a:lnSpc>
              <a:buNone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4. bei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Pflicht zur Geheimhaltung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5. bei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Gefährdung der Aufgabenerfüllung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(gilt für öffentliche Stelle) </a:t>
            </a:r>
            <a:r>
              <a:rPr lang="de-DE" sz="1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33 BDSG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6. bei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Gefährdung der öffentlichen Sicherheit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Ordnung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(gilt für öffentliche Stelle) </a:t>
            </a:r>
            <a:r>
              <a:rPr lang="de-DE" sz="1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33 BDSG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7. zur Verfolgung und Geltendmachung von zivilrechtlichen Ansprüchen </a:t>
            </a:r>
            <a:r>
              <a:rPr lang="de-DE" sz="1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33 BDSG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8. bei Übermittlungen an Sicherheitsbehörden (gilt für öffentliche Stellen) </a:t>
            </a:r>
            <a:r>
              <a:rPr lang="de-DE" sz="1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33 BDSG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18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0180AC1-ACCA-FBA9-23FF-5DB544744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5C65E-857E-BA7A-171E-8C6F41730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0856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C81DFC-FE88-3218-FEE5-CD7D2CD0B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sind Datenschutzhinweise?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5F11EE-9AD8-66F6-A59F-15806909A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lnSpc>
                <a:spcPct val="107000"/>
              </a:lnSpc>
              <a:buNone/>
            </a:pPr>
            <a:r>
              <a:rPr lang="de-DE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Informationspflichten werden häufig über sogenannte Datenschutzhinweise umgesetzt. Diese Datenschutzhinweise müssen nicht von den Betroffenen unterschrieben werden.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07000"/>
              </a:lnSpc>
              <a:buNone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indent="0">
              <a:lnSpc>
                <a:spcPct val="107000"/>
              </a:lnSpc>
              <a:buNone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Pflichtangaben zu den Informationspflichten sind in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13 und 14 DSGVO </a:t>
            </a:r>
            <a:r>
              <a:rPr lang="de-DE" b="1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geregelt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939527-69F9-6676-188B-81C8D5901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96B5758-872E-84EC-0BBF-6796E1370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413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1EF275-C1A7-E0AF-5327-618A4C5F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Unterschiedliche Datenschutzhinweise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68CEF9-BF07-7E9E-B22C-1976A1F56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0">
              <a:lnSpc>
                <a:spcPct val="107000"/>
              </a:lnSpc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Verarbeitungsprozess bedarf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eigenen Abfassung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Informationspflicht, sobald sich </a:t>
            </a:r>
            <a:r>
              <a:rPr lang="de-DE" sz="24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Kriterien in Datenkategorie, Zweck, Rechtsgrundlage, Löschfristen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unterscheiden.</a:t>
            </a:r>
          </a:p>
          <a:p>
            <a:pPr marL="457200">
              <a:lnSpc>
                <a:spcPct val="107000"/>
              </a:lnSpc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Mögliche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Prozesse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wären Informationspflichten für: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Neukundenprozess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Bewerbungsprozess / Bewerberpool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Gehaltsabrechnungsprozess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DV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firmeneigenen Website (Kontaktformular, Newsletter, Cookie-Banner)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u.v.m.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5B60949-32F9-4F62-316B-4059EBF5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A84E753-B72A-88B1-5BBC-BF90C6BD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0417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6D0AA3-6118-7228-0C01-48E8ADD49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Form der Umsetzung von Informationen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16B02E-DFF1-8231-32C5-FF95163FC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Gem. </a:t>
            </a:r>
            <a:r>
              <a:rPr lang="de-DE" sz="2000" b="1" i="1" u="sng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DSGVO</a:t>
            </a:r>
            <a:r>
              <a:rPr lang="de-DE" sz="2000" u="sng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 die zulässige Form: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schriftlich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elektronisch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in einer anderen Form 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Merkblatt oder Flyer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E-Mail,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z.B. mit PDF-Anhang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Hinweise auf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Website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+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Link in der Signatur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E-Mail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SMS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Aufsteller oder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Aushang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Telefonansage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…</a:t>
            </a: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7F83DE1-8041-DC44-7C00-224835C9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246184C-14E3-8CBB-AAE9-3D1FB03F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6646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9A1B98-3857-61D2-20CF-DFC44006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Form der Umsetzung </a:t>
            </a:r>
            <a:r>
              <a:rPr lang="de-DE"/>
              <a:t>von Informationen (2)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722CB9-38DF-2E97-7DD8-2A938A726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lnSpc>
                <a:spcPct val="107000"/>
              </a:lnSpc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bequemste Art ist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Link-Lösung, </a:t>
            </a:r>
            <a:r>
              <a:rPr lang="de-DE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z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.B. als Deep Link auf einer versteckten Unterseite der Website</a:t>
            </a:r>
          </a:p>
          <a:p>
            <a:pPr marL="457200">
              <a:lnSpc>
                <a:spcPct val="107000"/>
              </a:lnSpc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indent="0">
              <a:lnSpc>
                <a:spcPct val="107000"/>
              </a:lnSpc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Für Ärzte kann 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Aushang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/ Aufsteller als Lösung besser funktionieren. Hier muss im Einzelfall die praktikabelste Variante gewählt werden.</a:t>
            </a:r>
          </a:p>
          <a:p>
            <a:pPr marL="457200">
              <a:lnSpc>
                <a:spcPct val="107000"/>
              </a:lnSpc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de-DE" sz="2400" b="1" kern="100" dirty="0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Datenschutzhinweise</a:t>
            </a:r>
            <a:r>
              <a:rPr lang="de-DE" sz="2400" kern="100" dirty="0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 müssen </a:t>
            </a:r>
            <a:r>
              <a:rPr lang="de-DE" sz="2400" b="1" kern="100" dirty="0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nicht unterschrieben, akzeptiert oder angenommen</a:t>
            </a:r>
            <a:r>
              <a:rPr lang="de-DE" sz="2400" kern="100" dirty="0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 werden!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5D04B99-98F8-ABEF-F9DC-8BF2B2D26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30DA87F-B972-81B1-F652-35BCFB979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1389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961804-AB79-83A8-E702-804DF1D53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Zeitpunkt der Information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061EA3-B0F3-46BE-4966-E25B779EA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lnSpc>
                <a:spcPct val="107000"/>
              </a:lnSpc>
              <a:buNone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direkter Erhebung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gem.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13 DSGVO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(gewollt, angefragt)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SOFORT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indent="-342900">
              <a:lnSpc>
                <a:spcPct val="107000"/>
              </a:lnSpc>
            </a:pPr>
            <a:r>
              <a:rPr lang="de-DE" sz="24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Information muss</a:t>
            </a: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zum Zeitpunkt der Datenerhebung </a:t>
            </a:r>
            <a:r>
              <a:rPr lang="de-DE" sz="24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erfolgen!</a:t>
            </a:r>
            <a:br>
              <a:rPr lang="de-DE" sz="24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Um das </a:t>
            </a:r>
            <a:r>
              <a:rPr lang="de-DE" sz="24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praktikabel umsetzen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können,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erlauben die Aufsichtsbehörden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zeitnahe Zustellung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Informationen, sowie einen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Medienbruch</a:t>
            </a:r>
            <a:r>
              <a:rPr lang="de-DE" sz="2400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>
              <a:lnSpc>
                <a:spcPct val="107000"/>
              </a:lnSpc>
              <a:buNone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indirekter Erhebung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gem.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14 DSGVO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(über Dritte)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zeitnah, spätestens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innerhalb eines Monats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7931F44-48F5-67DF-B897-0A941F829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A07C3F-A041-F31E-92FA-6CB011D7E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3428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A1DAC5-D9D3-48FF-91D1-343322047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015"/>
          </a:xfrm>
        </p:spPr>
        <p:txBody>
          <a:bodyPr/>
          <a:lstStyle/>
          <a:p>
            <a:r>
              <a:rPr lang="de-DE" dirty="0"/>
              <a:t>Datenschutzerklärung (DSE) der Website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54313C-761D-6073-FA3B-442CF39A0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966"/>
            <a:ext cx="10515600" cy="4746997"/>
          </a:xfrm>
        </p:spPr>
        <p:txBody>
          <a:bodyPr>
            <a:normAutofit/>
          </a:bodyPr>
          <a:lstStyle/>
          <a:p>
            <a:r>
              <a:rPr lang="de-DE" dirty="0"/>
              <a:t>Die DSE der Website ist </a:t>
            </a:r>
            <a:r>
              <a:rPr lang="de-DE" b="1" dirty="0"/>
              <a:t>keine Allroundlösung</a:t>
            </a:r>
            <a:r>
              <a:rPr lang="de-DE" dirty="0"/>
              <a:t>, sondern eine von diversen Datenschutzhinweisen</a:t>
            </a:r>
          </a:p>
          <a:p>
            <a:r>
              <a:rPr lang="de-DE" dirty="0"/>
              <a:t>Eine DSE der Website </a:t>
            </a:r>
            <a:r>
              <a:rPr lang="de-DE" b="1" dirty="0"/>
              <a:t>informiert</a:t>
            </a:r>
            <a:r>
              <a:rPr lang="de-DE" dirty="0"/>
              <a:t> über die DV der Website und der damit verbundenen Dienstanbieter wie Hosting, API-Tool, Cookie-Banner-DL, Zahlungsdienste, Cloud-DL, etc.</a:t>
            </a:r>
          </a:p>
          <a:p>
            <a:r>
              <a:rPr lang="de-DE" dirty="0"/>
              <a:t>Der </a:t>
            </a:r>
            <a:r>
              <a:rPr lang="de-DE" b="1" dirty="0"/>
              <a:t>Verantwortliche und </a:t>
            </a:r>
            <a:r>
              <a:rPr lang="de-DE" dirty="0"/>
              <a:t>der </a:t>
            </a:r>
            <a:r>
              <a:rPr lang="de-DE" b="1" dirty="0"/>
              <a:t>DSB</a:t>
            </a:r>
            <a:r>
              <a:rPr lang="de-DE" dirty="0"/>
              <a:t> (wenn vorhanden) müssen dort als Kontakte </a:t>
            </a:r>
            <a:r>
              <a:rPr lang="de-DE" b="1" dirty="0"/>
              <a:t>angegeben werden</a:t>
            </a:r>
          </a:p>
          <a:p>
            <a:r>
              <a:rPr lang="de-DE" dirty="0"/>
              <a:t>Eine </a:t>
            </a:r>
            <a:r>
              <a:rPr lang="de-DE" b="1" dirty="0"/>
              <a:t>klare Beschreibung </a:t>
            </a:r>
            <a:r>
              <a:rPr lang="de-DE" dirty="0"/>
              <a:t>der DV, Übertragung, Speicherung und die </a:t>
            </a:r>
            <a:r>
              <a:rPr lang="de-DE" b="1" dirty="0"/>
              <a:t>Rechte der Betroffenen </a:t>
            </a:r>
            <a:r>
              <a:rPr lang="de-DE" dirty="0"/>
              <a:t>müssen darin aufgezählt werden</a:t>
            </a:r>
          </a:p>
          <a:p>
            <a:r>
              <a:rPr lang="de-DE" dirty="0"/>
              <a:t>In der Regel </a:t>
            </a:r>
            <a:r>
              <a:rPr lang="de-DE" b="1" dirty="0"/>
              <a:t>prüft der DSB </a:t>
            </a:r>
            <a:r>
              <a:rPr lang="de-DE" dirty="0"/>
              <a:t>eine DSE.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1828990-5E4E-8BA5-2490-72571AEB0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82BD42-5049-FDB9-D9BA-74E39264B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6340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9" ma:contentTypeDescription="Ein neues Dokument erstellen." ma:contentTypeScope="" ma:versionID="a75b0d271db8e156752fd3af9960f3e7">
  <xsd:schema xmlns:xsd="http://www.w3.org/2001/XMLSchema" xmlns:xs="http://www.w3.org/2001/XMLSchema" xmlns:p="http://schemas.microsoft.com/office/2006/metadata/properties" xmlns:ns2="b2bcf77a-db99-4c6d-8596-ee1fc4b01288" xmlns:ns3="ce9d32c5-4bd0-492d-a196-e5e973bfded0" targetNamespace="http://schemas.microsoft.com/office/2006/metadata/properties" ma:root="true" ma:fieldsID="0cebbb3c6120016de2a0a64c84ca3718" ns2:_="" ns3:_="">
    <xsd:import namespace="b2bcf77a-db99-4c6d-8596-ee1fc4b01288"/>
    <xsd:import namespace="ce9d32c5-4bd0-492d-a196-e5e973bfde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af48a06-ed4b-42ab-a976-5013053131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d32c5-4bd0-492d-a196-e5e973bfded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6403cb9-dd32-4e21-bcc3-676a3ed5dd23}" ma:internalName="TaxCatchAll" ma:showField="CatchAllData" ma:web="ce9d32c5-4bd0-492d-a196-e5e973bfde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9d32c5-4bd0-492d-a196-e5e973bfded0" xsi:nil="true"/>
    <lcf76f155ced4ddcb4097134ff3c332f xmlns="b2bcf77a-db99-4c6d-8596-ee1fc4b012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0F3E0D6-3DCF-4B50-90A1-18EFFA79E449}"/>
</file>

<file path=customXml/itemProps2.xml><?xml version="1.0" encoding="utf-8"?>
<ds:datastoreItem xmlns:ds="http://schemas.openxmlformats.org/officeDocument/2006/customXml" ds:itemID="{3FFDA052-08C0-49E8-B15E-3C0917805F40}"/>
</file>

<file path=customXml/itemProps3.xml><?xml version="1.0" encoding="utf-8"?>
<ds:datastoreItem xmlns:ds="http://schemas.openxmlformats.org/officeDocument/2006/customXml" ds:itemID="{83264DDC-EDF6-4C49-93B8-823BF6A5A43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914</Words>
  <Application>Microsoft Office PowerPoint</Application>
  <PresentationFormat>Breitbild</PresentationFormat>
  <Paragraphs>108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Symbol</vt:lpstr>
      <vt:lpstr>Wingdings</vt:lpstr>
      <vt:lpstr>Office</vt:lpstr>
      <vt:lpstr>DATENSCHUTZ-SCHULUNG Teil 2: Grundsätze der Verarbeitung</vt:lpstr>
      <vt:lpstr>Inhalte der Datenschutz-Themen</vt:lpstr>
      <vt:lpstr>Datenschutz Teil 2.3</vt:lpstr>
      <vt:lpstr>Informationspflichten des Verantwortlichen Art. 13 und 14 DSGVO</vt:lpstr>
      <vt:lpstr>Inhalte der Informationspflichten</vt:lpstr>
      <vt:lpstr>Automatisierte Entscheidungsfindung - Profiling </vt:lpstr>
      <vt:lpstr>Ausnahmen bei Informationspflichten</vt:lpstr>
      <vt:lpstr>Ausnahmen bei Informationspflichten</vt:lpstr>
      <vt:lpstr>Was sind Datenschutzhinweise?</vt:lpstr>
      <vt:lpstr>Unterschiedliche Datenschutzhinweise</vt:lpstr>
      <vt:lpstr>Form der Umsetzung von Informationen</vt:lpstr>
      <vt:lpstr>Form der Umsetzung von Informationen (2)</vt:lpstr>
      <vt:lpstr>Zeitpunkt der Information</vt:lpstr>
      <vt:lpstr>Datenschutzerklärung (DSE) der Website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Moltzen</dc:creator>
  <cp:lastModifiedBy>Dirk Moltzen</cp:lastModifiedBy>
  <cp:revision>89</cp:revision>
  <dcterms:created xsi:type="dcterms:W3CDTF">2025-05-19T19:06:41Z</dcterms:created>
  <dcterms:modified xsi:type="dcterms:W3CDTF">2025-09-16T12:00:18Z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