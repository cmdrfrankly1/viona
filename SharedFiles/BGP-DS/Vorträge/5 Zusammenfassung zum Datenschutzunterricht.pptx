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86" r:id="rId3"/>
    <p:sldId id="287" r:id="rId4"/>
    <p:sldId id="288" r:id="rId5"/>
    <p:sldId id="289" r:id="rId6"/>
    <p:sldId id="290" r:id="rId7"/>
    <p:sldId id="292" r:id="rId8"/>
    <p:sldId id="352" r:id="rId9"/>
    <p:sldId id="353" r:id="rId10"/>
    <p:sldId id="295" r:id="rId11"/>
    <p:sldId id="296" r:id="rId12"/>
    <p:sldId id="321" r:id="rId13"/>
    <p:sldId id="328" r:id="rId14"/>
    <p:sldId id="329" r:id="rId15"/>
    <p:sldId id="333" r:id="rId16"/>
    <p:sldId id="334" r:id="rId17"/>
    <p:sldId id="335" r:id="rId18"/>
    <p:sldId id="355" r:id="rId19"/>
    <p:sldId id="359" r:id="rId20"/>
    <p:sldId id="360" r:id="rId21"/>
    <p:sldId id="351" r:id="rId22"/>
    <p:sldId id="361" r:id="rId23"/>
    <p:sldId id="368" r:id="rId24"/>
    <p:sldId id="369" r:id="rId25"/>
    <p:sldId id="371" r:id="rId26"/>
    <p:sldId id="372" r:id="rId27"/>
    <p:sldId id="373" r:id="rId28"/>
    <p:sldId id="375" r:id="rId29"/>
    <p:sldId id="386" r:id="rId30"/>
    <p:sldId id="403" r:id="rId31"/>
    <p:sldId id="404" r:id="rId32"/>
    <p:sldId id="405" r:id="rId33"/>
    <p:sldId id="297" r:id="rId34"/>
    <p:sldId id="299" r:id="rId35"/>
    <p:sldId id="320" r:id="rId36"/>
    <p:sldId id="342" r:id="rId37"/>
    <p:sldId id="343" r:id="rId38"/>
    <p:sldId id="415" r:id="rId39"/>
    <p:sldId id="416" r:id="rId40"/>
    <p:sldId id="417" r:id="rId41"/>
    <p:sldId id="345" r:id="rId42"/>
    <p:sldId id="418" r:id="rId43"/>
    <p:sldId id="436" r:id="rId44"/>
    <p:sldId id="437" r:id="rId45"/>
    <p:sldId id="430" r:id="rId46"/>
    <p:sldId id="435" r:id="rId47"/>
    <p:sldId id="439" r:id="rId48"/>
    <p:sldId id="443" r:id="rId49"/>
    <p:sldId id="446" r:id="rId50"/>
    <p:sldId id="447" r:id="rId51"/>
    <p:sldId id="456" r:id="rId52"/>
    <p:sldId id="460" r:id="rId53"/>
    <p:sldId id="461" r:id="rId5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4660"/>
  </p:normalViewPr>
  <p:slideViewPr>
    <p:cSldViewPr snapToGrid="0">
      <p:cViewPr varScale="1">
        <p:scale>
          <a:sx n="79" d="100"/>
          <a:sy n="79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CBA629-D975-42F7-BF01-E9D737F5E382}" type="doc">
      <dgm:prSet loTypeId="urn:microsoft.com/office/officeart/2005/8/layout/chevron1" loCatId="process" qsTypeId="urn:microsoft.com/office/officeart/2005/8/quickstyle/simple1" qsCatId="simple" csTypeId="urn:microsoft.com/office/officeart/2005/8/colors/accent4_2" csCatId="accent4" phldr="1"/>
      <dgm:spPr/>
    </dgm:pt>
    <dgm:pt modelId="{D62C51F3-46E3-45AA-870C-26B1C0092448}">
      <dgm:prSet phldrT="[Text]"/>
      <dgm:spPr/>
      <dgm:t>
        <a:bodyPr/>
        <a:lstStyle/>
        <a:p>
          <a:r>
            <a:rPr lang="de-DE" b="1" dirty="0"/>
            <a:t>DV im Rahmen der Zweckbestimmung</a:t>
          </a:r>
        </a:p>
      </dgm:t>
    </dgm:pt>
    <dgm:pt modelId="{AB6185D0-DE72-4661-AFA2-6AA330ADF371}" type="parTrans" cxnId="{4B2C4BA7-70AD-4384-98A2-5F38C3589132}">
      <dgm:prSet/>
      <dgm:spPr/>
      <dgm:t>
        <a:bodyPr/>
        <a:lstStyle/>
        <a:p>
          <a:endParaRPr lang="de-DE"/>
        </a:p>
      </dgm:t>
    </dgm:pt>
    <dgm:pt modelId="{AD5ACE92-12D1-44F6-90A8-F19080688052}" type="sibTrans" cxnId="{4B2C4BA7-70AD-4384-98A2-5F38C3589132}">
      <dgm:prSet/>
      <dgm:spPr/>
      <dgm:t>
        <a:bodyPr/>
        <a:lstStyle/>
        <a:p>
          <a:endParaRPr lang="de-DE"/>
        </a:p>
      </dgm:t>
    </dgm:pt>
    <dgm:pt modelId="{00FF24F7-B96E-47C0-8C23-C155055DE8D2}">
      <dgm:prSet phldrT="[Text]"/>
      <dgm:spPr/>
      <dgm:t>
        <a:bodyPr/>
        <a:lstStyle/>
        <a:p>
          <a:r>
            <a:rPr lang="de-DE" b="1" dirty="0"/>
            <a:t>Sperrphase bei Zweckende</a:t>
          </a:r>
        </a:p>
      </dgm:t>
    </dgm:pt>
    <dgm:pt modelId="{AC3102C6-9E06-4627-9626-87EEAD5B17C0}" type="parTrans" cxnId="{23E8E71D-1BC5-40E0-8414-5BC8CC46148A}">
      <dgm:prSet/>
      <dgm:spPr/>
      <dgm:t>
        <a:bodyPr/>
        <a:lstStyle/>
        <a:p>
          <a:endParaRPr lang="de-DE"/>
        </a:p>
      </dgm:t>
    </dgm:pt>
    <dgm:pt modelId="{5F2F05F1-FDF8-4D36-837D-F7EC897ADF84}" type="sibTrans" cxnId="{23E8E71D-1BC5-40E0-8414-5BC8CC46148A}">
      <dgm:prSet/>
      <dgm:spPr/>
      <dgm:t>
        <a:bodyPr/>
        <a:lstStyle/>
        <a:p>
          <a:endParaRPr lang="de-DE"/>
        </a:p>
      </dgm:t>
    </dgm:pt>
    <dgm:pt modelId="{64BFBA46-8765-4CAE-AAFF-78C0BB28D4E6}">
      <dgm:prSet phldrT="[Text]"/>
      <dgm:spPr/>
      <dgm:t>
        <a:bodyPr/>
        <a:lstStyle/>
        <a:p>
          <a:r>
            <a:rPr lang="de-DE" b="1" dirty="0"/>
            <a:t>Endgültige Löschung</a:t>
          </a:r>
        </a:p>
      </dgm:t>
    </dgm:pt>
    <dgm:pt modelId="{A63671F7-B36C-40E3-A24B-DAFAABE55485}" type="parTrans" cxnId="{A6AD2A16-4C1C-4DC5-B552-540479BBFC1D}">
      <dgm:prSet/>
      <dgm:spPr/>
      <dgm:t>
        <a:bodyPr/>
        <a:lstStyle/>
        <a:p>
          <a:endParaRPr lang="de-DE"/>
        </a:p>
      </dgm:t>
    </dgm:pt>
    <dgm:pt modelId="{64292CDF-C288-44AE-94BF-4CECA7EF68D6}" type="sibTrans" cxnId="{A6AD2A16-4C1C-4DC5-B552-540479BBFC1D}">
      <dgm:prSet/>
      <dgm:spPr/>
      <dgm:t>
        <a:bodyPr/>
        <a:lstStyle/>
        <a:p>
          <a:endParaRPr lang="de-DE"/>
        </a:p>
      </dgm:t>
    </dgm:pt>
    <dgm:pt modelId="{0D38757E-B875-4B15-A0BB-CE20D15F4241}" type="pres">
      <dgm:prSet presAssocID="{49CBA629-D975-42F7-BF01-E9D737F5E382}" presName="Name0" presStyleCnt="0">
        <dgm:presLayoutVars>
          <dgm:dir/>
          <dgm:animLvl val="lvl"/>
          <dgm:resizeHandles val="exact"/>
        </dgm:presLayoutVars>
      </dgm:prSet>
      <dgm:spPr/>
    </dgm:pt>
    <dgm:pt modelId="{75305A14-BC9E-410B-9584-84C98397B21C}" type="pres">
      <dgm:prSet presAssocID="{D62C51F3-46E3-45AA-870C-26B1C0092448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B7311C6-0B0C-4A1B-A2B4-FB3016C850D3}" type="pres">
      <dgm:prSet presAssocID="{AD5ACE92-12D1-44F6-90A8-F19080688052}" presName="parTxOnlySpace" presStyleCnt="0"/>
      <dgm:spPr/>
    </dgm:pt>
    <dgm:pt modelId="{055CED82-435D-44D0-ADC7-7BEBD63E4BB6}" type="pres">
      <dgm:prSet presAssocID="{00FF24F7-B96E-47C0-8C23-C155055DE8D2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E05D59DD-2EA7-4956-A4F4-4DE088096CD0}" type="pres">
      <dgm:prSet presAssocID="{5F2F05F1-FDF8-4D36-837D-F7EC897ADF84}" presName="parTxOnlySpace" presStyleCnt="0"/>
      <dgm:spPr/>
    </dgm:pt>
    <dgm:pt modelId="{016D1399-6FED-49CD-953A-369C6DAD6FA3}" type="pres">
      <dgm:prSet presAssocID="{64BFBA46-8765-4CAE-AAFF-78C0BB28D4E6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6AD2A16-4C1C-4DC5-B552-540479BBFC1D}" srcId="{49CBA629-D975-42F7-BF01-E9D737F5E382}" destId="{64BFBA46-8765-4CAE-AAFF-78C0BB28D4E6}" srcOrd="2" destOrd="0" parTransId="{A63671F7-B36C-40E3-A24B-DAFAABE55485}" sibTransId="{64292CDF-C288-44AE-94BF-4CECA7EF68D6}"/>
    <dgm:cxn modelId="{23E8E71D-1BC5-40E0-8414-5BC8CC46148A}" srcId="{49CBA629-D975-42F7-BF01-E9D737F5E382}" destId="{00FF24F7-B96E-47C0-8C23-C155055DE8D2}" srcOrd="1" destOrd="0" parTransId="{AC3102C6-9E06-4627-9626-87EEAD5B17C0}" sibTransId="{5F2F05F1-FDF8-4D36-837D-F7EC897ADF84}"/>
    <dgm:cxn modelId="{B5A17337-A395-46F0-A9F8-7CEF540D4580}" type="presOf" srcId="{49CBA629-D975-42F7-BF01-E9D737F5E382}" destId="{0D38757E-B875-4B15-A0BB-CE20D15F4241}" srcOrd="0" destOrd="0" presId="urn:microsoft.com/office/officeart/2005/8/layout/chevron1"/>
    <dgm:cxn modelId="{B5313C71-ED17-4522-B83E-C68AC147CC3E}" type="presOf" srcId="{64BFBA46-8765-4CAE-AAFF-78C0BB28D4E6}" destId="{016D1399-6FED-49CD-953A-369C6DAD6FA3}" srcOrd="0" destOrd="0" presId="urn:microsoft.com/office/officeart/2005/8/layout/chevron1"/>
    <dgm:cxn modelId="{4B2C4BA7-70AD-4384-98A2-5F38C3589132}" srcId="{49CBA629-D975-42F7-BF01-E9D737F5E382}" destId="{D62C51F3-46E3-45AA-870C-26B1C0092448}" srcOrd="0" destOrd="0" parTransId="{AB6185D0-DE72-4661-AFA2-6AA330ADF371}" sibTransId="{AD5ACE92-12D1-44F6-90A8-F19080688052}"/>
    <dgm:cxn modelId="{B81C4FEF-587A-4C58-BFFF-55C010BD5B85}" type="presOf" srcId="{D62C51F3-46E3-45AA-870C-26B1C0092448}" destId="{75305A14-BC9E-410B-9584-84C98397B21C}" srcOrd="0" destOrd="0" presId="urn:microsoft.com/office/officeart/2005/8/layout/chevron1"/>
    <dgm:cxn modelId="{C47180FC-099E-4493-96FA-7F74A9582751}" type="presOf" srcId="{00FF24F7-B96E-47C0-8C23-C155055DE8D2}" destId="{055CED82-435D-44D0-ADC7-7BEBD63E4BB6}" srcOrd="0" destOrd="0" presId="urn:microsoft.com/office/officeart/2005/8/layout/chevron1"/>
    <dgm:cxn modelId="{CB6CF0BE-81FC-46B7-878C-1A619065C359}" type="presParOf" srcId="{0D38757E-B875-4B15-A0BB-CE20D15F4241}" destId="{75305A14-BC9E-410B-9584-84C98397B21C}" srcOrd="0" destOrd="0" presId="urn:microsoft.com/office/officeart/2005/8/layout/chevron1"/>
    <dgm:cxn modelId="{A83E398C-C4C0-47B0-92E1-3DCFE2CD1428}" type="presParOf" srcId="{0D38757E-B875-4B15-A0BB-CE20D15F4241}" destId="{9B7311C6-0B0C-4A1B-A2B4-FB3016C850D3}" srcOrd="1" destOrd="0" presId="urn:microsoft.com/office/officeart/2005/8/layout/chevron1"/>
    <dgm:cxn modelId="{B0889381-F6DB-4400-BF4A-4808E997B3C8}" type="presParOf" srcId="{0D38757E-B875-4B15-A0BB-CE20D15F4241}" destId="{055CED82-435D-44D0-ADC7-7BEBD63E4BB6}" srcOrd="2" destOrd="0" presId="urn:microsoft.com/office/officeart/2005/8/layout/chevron1"/>
    <dgm:cxn modelId="{B54D2CD6-F930-416F-A91E-CA05C74845BB}" type="presParOf" srcId="{0D38757E-B875-4B15-A0BB-CE20D15F4241}" destId="{E05D59DD-2EA7-4956-A4F4-4DE088096CD0}" srcOrd="3" destOrd="0" presId="urn:microsoft.com/office/officeart/2005/8/layout/chevron1"/>
    <dgm:cxn modelId="{C7C9910A-6CE9-447B-BCA5-6E3F8A7E9BAC}" type="presParOf" srcId="{0D38757E-B875-4B15-A0BB-CE20D15F4241}" destId="{016D1399-6FED-49CD-953A-369C6DAD6FA3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05A14-BC9E-410B-9584-84C98397B21C}">
      <dsp:nvSpPr>
        <dsp:cNvPr id="0" name=""/>
        <dsp:cNvSpPr/>
      </dsp:nvSpPr>
      <dsp:spPr>
        <a:xfrm>
          <a:off x="3080" y="259676"/>
          <a:ext cx="3753370" cy="150134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1" kern="1200" dirty="0"/>
            <a:t>DV im Rahmen der Zweckbestimmung</a:t>
          </a:r>
        </a:p>
      </dsp:txBody>
      <dsp:txXfrm>
        <a:off x="753754" y="259676"/>
        <a:ext cx="2252022" cy="1501348"/>
      </dsp:txXfrm>
    </dsp:sp>
    <dsp:sp modelId="{055CED82-435D-44D0-ADC7-7BEBD63E4BB6}">
      <dsp:nvSpPr>
        <dsp:cNvPr id="0" name=""/>
        <dsp:cNvSpPr/>
      </dsp:nvSpPr>
      <dsp:spPr>
        <a:xfrm>
          <a:off x="3381114" y="259676"/>
          <a:ext cx="3753370" cy="150134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1" kern="1200" dirty="0"/>
            <a:t>Sperrphase bei Zweckende</a:t>
          </a:r>
        </a:p>
      </dsp:txBody>
      <dsp:txXfrm>
        <a:off x="4131788" y="259676"/>
        <a:ext cx="2252022" cy="1501348"/>
      </dsp:txXfrm>
    </dsp:sp>
    <dsp:sp modelId="{016D1399-6FED-49CD-953A-369C6DAD6FA3}">
      <dsp:nvSpPr>
        <dsp:cNvPr id="0" name=""/>
        <dsp:cNvSpPr/>
      </dsp:nvSpPr>
      <dsp:spPr>
        <a:xfrm>
          <a:off x="6759148" y="259676"/>
          <a:ext cx="3753370" cy="150134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1" kern="1200" dirty="0"/>
            <a:t>Endgültige Löschung</a:t>
          </a:r>
        </a:p>
      </dsp:txBody>
      <dsp:txXfrm>
        <a:off x="7509822" y="259676"/>
        <a:ext cx="2252022" cy="1501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11.06.2025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11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6E2FF-CC47-6395-2299-A0AB1859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CBE43A1-1B3D-48D0-B3FA-8F526F54E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29CB40E-2AE6-F2E9-244C-8B95A6F27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3EFAEA-CDA8-127C-8B5E-318B2B788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9693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57AB0-6B9C-E84D-61E6-06225C03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9B06BAE-6A7C-EBEE-90A1-D783E8E72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09FA1D-A2AE-2EB8-FF10-17F5724A7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4A1CB4-7B83-F98A-578D-F8DE4A8E3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6899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11.06.2025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11.06.2025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11.06.2025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11.06.2025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11.06.2025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11.06.2025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11.06.2025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11.06.2025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11.06.2025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11.06.2025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11.06.2025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11.06.2025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5: Zusammenfassung der Datenschutzthemen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226CA-1BB5-D9E4-C2F3-0EB9B313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4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Kopfschutz, Kleidung, Nahaufnahme, Wimper enthält.&#10;&#10;KI-generierte Inhalte können fehlerhaft sein.">
            <a:extLst>
              <a:ext uri="{FF2B5EF4-FFF2-40B4-BE49-F238E27FC236}">
                <a16:creationId xmlns:a16="http://schemas.microsoft.com/office/drawing/2014/main" id="{ADE8D585-573C-D8DF-90C8-5B6D71999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25" b="1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52" name="Rectangle 4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20E625-5C1D-BEF7-A788-BA5DF4D3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229" y="4629234"/>
            <a:ext cx="397338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Zusammenfassung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der </a:t>
            </a:r>
            <a:r>
              <a:rPr lang="en-US" dirty="0" err="1">
                <a:solidFill>
                  <a:schemeClr val="tx1"/>
                </a:solidFill>
              </a:rPr>
              <a:t>Datenschutzthemen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Teil 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F10496-2CA2-8CFB-B7E3-BA229B3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" y="6128469"/>
            <a:ext cx="3973384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100" kern="1200" dirty="0">
                <a:solidFill>
                  <a:schemeClr val="tx1"/>
                </a:solidFill>
                <a:ea typeface="+mn-ea"/>
                <a:cs typeface="+mn-cs"/>
              </a:rPr>
              <a:t>Dirk Moltzen - </a:t>
            </a:r>
            <a:r>
              <a:rPr lang="en-US" sz="1100" kern="1200" dirty="0" err="1">
                <a:solidFill>
                  <a:schemeClr val="tx1"/>
                </a:solidFill>
                <a:ea typeface="+mn-ea"/>
                <a:cs typeface="+mn-cs"/>
              </a:rPr>
              <a:t>externer</a:t>
            </a:r>
            <a:r>
              <a:rPr lang="en-US" sz="1100" kern="1200" dirty="0">
                <a:solidFill>
                  <a:schemeClr val="tx1"/>
                </a:solidFill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ea typeface="+mn-ea"/>
                <a:cs typeface="+mn-cs"/>
              </a:rPr>
              <a:t>Datenschutzbeauftragter</a:t>
            </a:r>
            <a:r>
              <a:rPr lang="en-US" sz="1100" kern="1200" dirty="0">
                <a:solidFill>
                  <a:schemeClr val="tx1"/>
                </a:solidFill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FC658C-B999-DEFF-0A1A-E2F90913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7D8F35-8BFB-3EDF-CB96-2547293B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 err="1"/>
              <a:t>Datenschutz</a:t>
            </a:r>
            <a:r>
              <a:rPr lang="en-US" sz="5200" dirty="0"/>
              <a:t> Teil 5</a:t>
            </a:r>
          </a:p>
        </p:txBody>
      </p:sp>
    </p:spTree>
    <p:extLst>
      <p:ext uri="{BB962C8B-B14F-4D97-AF65-F5344CB8AC3E}">
        <p14:creationId xmlns:p14="http://schemas.microsoft.com/office/powerpoint/2010/main" val="3147331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740077D-BA70-91C7-CDEA-23CCB15EC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544"/>
          </a:xfrm>
        </p:spPr>
        <p:txBody>
          <a:bodyPr/>
          <a:lstStyle/>
          <a:p>
            <a:r>
              <a:rPr lang="de-DE" dirty="0"/>
              <a:t>Zusammenfassung Teil 1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BD8D22F-D9D7-F1A2-C788-BF727484C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6621"/>
            <a:ext cx="10515600" cy="427034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7000"/>
              </a:lnSpc>
            </a:pP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 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wird 2018 in Kraft gesetz</a:t>
            </a:r>
            <a:r>
              <a:rPr lang="de-DE" sz="2800" kern="100" dirty="0"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de-DE" sz="2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, regelt den Datenschutz innerhalb der EU</a:t>
            </a:r>
            <a:endParaRPr lang="de-DE" sz="2800" b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BDSG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regelt den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 innerhalb Deutschlands und für Bundesbehörden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LDSG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regeln den Datenschutz für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öffentliche Stellen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innerhalb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Deutschlands.</a:t>
            </a: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Digital Service Act (DSA) 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EU hatte 2022 beschlossen eine zusätzliche Verordnung zu erlassen. </a:t>
            </a:r>
            <a:r>
              <a:rPr lang="de-DE" sz="2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 über digitale Dienste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Ziel ist es einen Binnenmarkt für Daten zu schaffen.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TDDDG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(Telekommunikation-Digitale-Dienste-Datenschutz-Gesetz) ehemals TTDSG</a:t>
            </a:r>
            <a:b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 das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DDG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(Digitale-Dienste-Gesetz) ehemals TMG </a:t>
            </a:r>
            <a:r>
              <a:rPr lang="de-DE" sz="2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[Impressum 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5 DDG</a:t>
            </a:r>
            <a:r>
              <a:rPr lang="de-DE" sz="2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] 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treten im Mai 2024 in Kraft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E6F9C4-1EB1-D6FF-4E03-82F4AEE14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0CBC27-836F-B544-0ED6-1AEF874BE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2629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61AA84-3EB0-B029-F60D-F860978B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 Teil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B55EC6-5DDE-6C26-2D33-E4D93EC9E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Datenschutz:</a:t>
            </a:r>
            <a:br>
              <a:rPr lang="de-DE" sz="2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 der Privatsphäre eines jeden Menschen vor Missbrauch der persönlichen Daten.</a:t>
            </a:r>
            <a:b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8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Durch Einhaltung der Regelungen der DSGVO und BDSG.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Datensicherheit:</a:t>
            </a:r>
            <a:br>
              <a:rPr lang="de-DE" sz="2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 aller Daten vor Manipulation, Verlust oder unberechtigter Kenntnisnahme.</a:t>
            </a:r>
            <a:b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8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Durch Umsetzung und Einhaltung der TOMs. </a:t>
            </a:r>
            <a:r>
              <a:rPr lang="de-DE" sz="2800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24 +32 DSGVO</a:t>
            </a:r>
            <a:r>
              <a:rPr lang="de-DE" sz="2800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5B69DE-E360-592E-9456-B01AF255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94B0EA-7745-0662-1298-E04BB0292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274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109C5E-92E4-E4AB-F25A-7F1934F6D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DSGVO und BDSG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F0E557-5EB5-9E72-4662-8E6A5BD17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Aufbau</a:t>
            </a:r>
          </a:p>
          <a:p>
            <a:r>
              <a:rPr lang="de-DE" dirty="0"/>
              <a:t>Öffnungsklauseln</a:t>
            </a:r>
          </a:p>
          <a:p>
            <a:r>
              <a:rPr lang="de-DE" dirty="0"/>
              <a:t>Erwägungsgründe DSGVO</a:t>
            </a:r>
          </a:p>
          <a:p>
            <a:r>
              <a:rPr lang="de-DE" dirty="0"/>
              <a:t>Sachlicher und räumlicher Anwendungsbereich</a:t>
            </a:r>
          </a:p>
          <a:p>
            <a:r>
              <a:rPr lang="de-DE" dirty="0"/>
              <a:t>Begriffsbestimmungen aus Art. 4 DSGVO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7CC771-46D0-CB77-17A1-2922900C6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9E7E1B-96D8-2338-8E10-678537A7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041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A8795-EDB0-BE03-79EB-6D8436B70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D40F1-46E2-911E-9D09-92C9C43C6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DSGVO und BDSG: Zusammenfassung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ED82D6-FF13-75B9-6E8D-9388BAF6F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Auch wenn die eigentliche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personenbezogenen Daten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Ausland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erfolgt, sind die Vorschriften der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 einzuhalten, 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wenn die </a:t>
            </a:r>
            <a:r>
              <a:rPr lang="de-DE" sz="2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de-DE" sz="2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bD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 der EU erfasst wurden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 der Anwendung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DSGVO und des BDSG ist der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sachliche und räumliche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Anwendungsbereich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prüfen</a:t>
            </a: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BDSG unterscheidet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zwischen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öffentlichen und nicht-öffentlichen Stellen</a:t>
            </a: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Neben dem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Territorial- und Niederlassungsprinzip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gilt in der DSGVO und im BDSG auch das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Markortprinzip</a:t>
            </a: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 automatisiert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verarbeitete </a:t>
            </a:r>
            <a:r>
              <a:rPr lang="de-DE" sz="2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unterliegen der DSGVO nur, wenn die Daten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einem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Dateisystem gespeichert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sind/werden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Private Tätigkeiten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 von Verstorbenen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anonymisierten Personen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fallen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 den Anwendungsbereich der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</a:t>
            </a: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05360B-C06E-8B26-1A90-2D66FF42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407067-FD33-BE1E-4E14-3DEBCA38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26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9FC6-021E-1B52-7A2A-34968B89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648F16-9800-D767-F7B0-2203F8B99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/>
              <a:t>Skills der </a:t>
            </a:r>
            <a:r>
              <a:rPr lang="en-US" sz="4400" dirty="0" err="1"/>
              <a:t>Informationssicherheit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80B63F-45EE-9962-64C3-F1AA9AD4E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Hauptinhalte sind dann: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Abgrenzung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Bedingtheit des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Datenschutzes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Informationssicherheit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Gesetzl. Grundlagen zu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TOMs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(Beispiele für TOMs)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Allg. Anforderungen an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IT-Sicherheit, Schutzziele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nach DSGVO und BSI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Begriffe wie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Integrität, Vertraulichkeit, Pseudonymisierung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Kontrollarten wie: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Zutrittskontrolle, Zugangskontrolle, Eingabekontrolle, Zugriffskontrolle, Weitergabekontrolle, Auftragskontrolle, Verfügbarkeitskontrolle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Rollen- und Berechtigungskonzepte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7E95C8-2947-16FC-7998-BDE4452BD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E106D7-14D5-6A7F-10ED-06444481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520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CA0DA4D-26DC-2A7E-4718-3E8170AB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Unterschiede BSI Grundschutz zum SDM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95E6D1C-55A3-B446-FF20-CD51ABA9C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Der quantitative Risikoansatz</a:t>
            </a: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im </a:t>
            </a:r>
            <a: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BSI</a:t>
            </a: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(Bundesamt für Sicherheit in der Informationstechnik) bezieht sich auf die Bewertung von Risiken in der IT-Sicherheit, bei der die Wahrscheinlichkeit des Eintritts einer Gefährdung und die Höhe des möglichen Schadens mit Zahlenwerten oder anderen messbaren Größen beschrieben werden. </a:t>
            </a:r>
            <a:r>
              <a:rPr lang="de-DE" u="sng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Aufgabe:</a:t>
            </a: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ISB</a:t>
            </a:r>
            <a:b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Dies </a:t>
            </a:r>
            <a: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steht im Gegensatz </a:t>
            </a: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zur qualitativen Bewertung (siehe SDM), bei den Risiken in Kategorien wie "niedrig", "mittel" oder "hoch" eingestuft werden.</a:t>
            </a:r>
            <a:b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de-D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1ECE84-8088-89B6-11AE-4602E5CA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E09F27-EA2D-D05C-25EB-0AA9926F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6445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3ACDF5-B2BF-CBBB-1A99-03F7FC4D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Unterschiede BSI Grundschutz zum SDM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17981F-816F-C2DC-0F5B-DC4D74A34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Der qualitative Risikoansatz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durch das Standard-Datenschutzmodell (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SDM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wird durch ein Rahmenwerk und eine systematische Vorgehensweise erreicht, die die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Auswahl und Bewertung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von technischen und organisatorischen Maßnahmen (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TOM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unterstützt, um die Anforderungen der Datenschutz-Grundverordnung (DSGVO) in der Praxis umzusetzen. Das SDM hilft, die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Einhaltung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DSGVO zu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gewährleisten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Nachweise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für rechtskonforme Datenverarbeitung zu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erbringen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Aufgabe: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DSB</a:t>
            </a:r>
            <a:endParaRPr lang="de-D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0127EF-6C76-26CC-715C-AE9FA64E7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BAEFB8-62B8-1453-BFAC-5576ABB8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287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87085-56E0-8F6E-BC37-E65A48FB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768FD5-DD7A-43C7-8DEA-1F5DB3CB5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1627DF-6A61-DE03-6900-75CF7998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746" y="3703975"/>
            <a:ext cx="4337858" cy="2398713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Notwendigkeit der Datensicherheit</a:t>
            </a:r>
            <a:endParaRPr lang="de-DE" sz="4000"/>
          </a:p>
        </p:txBody>
      </p:sp>
      <p:pic>
        <p:nvPicPr>
          <p:cNvPr id="9" name="Grafik 8" descr="Ein Bild, das Augen, Screenshot, Digitales Compositing, Kunst enthält.&#10;&#10;KI-generierte Inhalte können fehlerhaft sein.">
            <a:extLst>
              <a:ext uri="{FF2B5EF4-FFF2-40B4-BE49-F238E27FC236}">
                <a16:creationId xmlns:a16="http://schemas.microsoft.com/office/drawing/2014/main" id="{0FD9DDD0-18DF-9817-F61E-1C88CB659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1"/>
          <a:stretch>
            <a:fillRect/>
          </a:stretch>
        </p:blipFill>
        <p:spPr>
          <a:xfrm>
            <a:off x="2" y="10"/>
            <a:ext cx="12191999" cy="3154014"/>
          </a:xfrm>
          <a:custGeom>
            <a:avLst/>
            <a:gdLst/>
            <a:ahLst/>
            <a:cxnLst/>
            <a:rect l="l" t="t" r="r" b="b"/>
            <a:pathLst>
              <a:path w="12191999" h="3428999">
                <a:moveTo>
                  <a:pt x="0" y="0"/>
                </a:moveTo>
                <a:lnTo>
                  <a:pt x="12191999" y="0"/>
                </a:lnTo>
                <a:lnTo>
                  <a:pt x="12191999" y="920893"/>
                </a:lnTo>
                <a:lnTo>
                  <a:pt x="12191999" y="1514929"/>
                </a:lnTo>
                <a:lnTo>
                  <a:pt x="12191999" y="3130902"/>
                </a:lnTo>
                <a:lnTo>
                  <a:pt x="12188051" y="3131476"/>
                </a:lnTo>
                <a:cubicBezTo>
                  <a:pt x="12153000" y="3135813"/>
                  <a:pt x="12133655" y="3136025"/>
                  <a:pt x="12112012" y="3138906"/>
                </a:cubicBezTo>
                <a:cubicBezTo>
                  <a:pt x="12076970" y="3145595"/>
                  <a:pt x="12039899" y="3160769"/>
                  <a:pt x="12018752" y="3165642"/>
                </a:cubicBezTo>
                <a:lnTo>
                  <a:pt x="11985122" y="3168147"/>
                </a:lnTo>
                <a:lnTo>
                  <a:pt x="11986344" y="3172878"/>
                </a:lnTo>
                <a:lnTo>
                  <a:pt x="11973852" y="3173226"/>
                </a:lnTo>
                <a:lnTo>
                  <a:pt x="11945968" y="3173341"/>
                </a:lnTo>
                <a:cubicBezTo>
                  <a:pt x="11928568" y="3174057"/>
                  <a:pt x="11880184" y="3172923"/>
                  <a:pt x="11862470" y="3174654"/>
                </a:cubicBezTo>
                <a:cubicBezTo>
                  <a:pt x="11857360" y="3179700"/>
                  <a:pt x="11849473" y="3182451"/>
                  <a:pt x="11839688" y="3183726"/>
                </a:cubicBezTo>
                <a:lnTo>
                  <a:pt x="11818138" y="3183868"/>
                </a:lnTo>
                <a:lnTo>
                  <a:pt x="11693161" y="3196027"/>
                </a:lnTo>
                <a:lnTo>
                  <a:pt x="11675978" y="3196936"/>
                </a:lnTo>
                <a:lnTo>
                  <a:pt x="11666672" y="3201013"/>
                </a:lnTo>
                <a:cubicBezTo>
                  <a:pt x="11659568" y="3201827"/>
                  <a:pt x="11639160" y="3201301"/>
                  <a:pt x="11633348" y="3201823"/>
                </a:cubicBezTo>
                <a:lnTo>
                  <a:pt x="11631806" y="3204144"/>
                </a:lnTo>
                <a:cubicBezTo>
                  <a:pt x="11613292" y="3207852"/>
                  <a:pt x="11543654" y="3220200"/>
                  <a:pt x="11522270" y="3224070"/>
                </a:cubicBezTo>
                <a:cubicBezTo>
                  <a:pt x="11517998" y="3220503"/>
                  <a:pt x="11508432" y="3226137"/>
                  <a:pt x="11503503" y="3227361"/>
                </a:cubicBezTo>
                <a:cubicBezTo>
                  <a:pt x="11502740" y="3224959"/>
                  <a:pt x="11490808" y="3224226"/>
                  <a:pt x="11487288" y="3226364"/>
                </a:cubicBezTo>
                <a:cubicBezTo>
                  <a:pt x="11403406" y="3238085"/>
                  <a:pt x="11445394" y="3213864"/>
                  <a:pt x="11397514" y="3229209"/>
                </a:cubicBezTo>
                <a:cubicBezTo>
                  <a:pt x="11389044" y="3230225"/>
                  <a:pt x="11382180" y="3229256"/>
                  <a:pt x="11376160" y="3227461"/>
                </a:cubicBezTo>
                <a:lnTo>
                  <a:pt x="11367180" y="3223774"/>
                </a:lnTo>
                <a:lnTo>
                  <a:pt x="11332420" y="3230742"/>
                </a:lnTo>
                <a:cubicBezTo>
                  <a:pt x="11315298" y="3233171"/>
                  <a:pt x="11297277" y="3234781"/>
                  <a:pt x="11278786" y="3235517"/>
                </a:cubicBezTo>
                <a:cubicBezTo>
                  <a:pt x="11274637" y="3230607"/>
                  <a:pt x="11260123" y="3237582"/>
                  <a:pt x="11253295" y="3238964"/>
                </a:cubicBezTo>
                <a:cubicBezTo>
                  <a:pt x="11253224" y="3235757"/>
                  <a:pt x="11238096" y="3234220"/>
                  <a:pt x="11232727" y="3236871"/>
                </a:cubicBezTo>
                <a:cubicBezTo>
                  <a:pt x="11119903" y="3248332"/>
                  <a:pt x="11183388" y="3218382"/>
                  <a:pt x="11115682" y="3236341"/>
                </a:cubicBezTo>
                <a:cubicBezTo>
                  <a:pt x="11104356" y="3237278"/>
                  <a:pt x="11095858" y="3235671"/>
                  <a:pt x="11088768" y="3233017"/>
                </a:cubicBezTo>
                <a:lnTo>
                  <a:pt x="11076012" y="3226390"/>
                </a:lnTo>
                <a:lnTo>
                  <a:pt x="11066016" y="3228753"/>
                </a:lnTo>
                <a:cubicBezTo>
                  <a:pt x="11028292" y="3228939"/>
                  <a:pt x="11017169" y="3222147"/>
                  <a:pt x="10995221" y="3228989"/>
                </a:cubicBezTo>
                <a:cubicBezTo>
                  <a:pt x="10962786" y="3214768"/>
                  <a:pt x="10973708" y="3227571"/>
                  <a:pt x="10949038" y="3229747"/>
                </a:cubicBezTo>
                <a:cubicBezTo>
                  <a:pt x="10929576" y="3232582"/>
                  <a:pt x="10965306" y="3238039"/>
                  <a:pt x="10946231" y="3238844"/>
                </a:cubicBezTo>
                <a:cubicBezTo>
                  <a:pt x="10925596" y="3235173"/>
                  <a:pt x="10926566" y="3246575"/>
                  <a:pt x="10905107" y="3242085"/>
                </a:cubicBezTo>
                <a:cubicBezTo>
                  <a:pt x="10910320" y="3233495"/>
                  <a:pt x="10862761" y="3243750"/>
                  <a:pt x="10861282" y="3236246"/>
                </a:cubicBezTo>
                <a:cubicBezTo>
                  <a:pt x="10843055" y="3246977"/>
                  <a:pt x="10833897" y="3233757"/>
                  <a:pt x="10809627" y="3237064"/>
                </a:cubicBezTo>
                <a:cubicBezTo>
                  <a:pt x="10798198" y="3241124"/>
                  <a:pt x="10789952" y="3241821"/>
                  <a:pt x="10778718" y="3237455"/>
                </a:cubicBezTo>
                <a:cubicBezTo>
                  <a:pt x="10726069" y="3257219"/>
                  <a:pt x="10746866" y="3238339"/>
                  <a:pt x="10697595" y="3245939"/>
                </a:cubicBezTo>
                <a:cubicBezTo>
                  <a:pt x="10655146" y="3253933"/>
                  <a:pt x="10607026" y="3259119"/>
                  <a:pt x="10565970" y="3278201"/>
                </a:cubicBezTo>
                <a:cubicBezTo>
                  <a:pt x="10558434" y="3283608"/>
                  <a:pt x="10539930" y="3285654"/>
                  <a:pt x="10524645" y="3282773"/>
                </a:cubicBezTo>
                <a:cubicBezTo>
                  <a:pt x="10522018" y="3282276"/>
                  <a:pt x="10519582" y="3281649"/>
                  <a:pt x="10517421" y="3280913"/>
                </a:cubicBezTo>
                <a:cubicBezTo>
                  <a:pt x="10481928" y="3283832"/>
                  <a:pt x="10352108" y="3296870"/>
                  <a:pt x="10311683" y="3300288"/>
                </a:cubicBezTo>
                <a:cubicBezTo>
                  <a:pt x="10308410" y="3293342"/>
                  <a:pt x="10287968" y="3305875"/>
                  <a:pt x="10274873" y="3301423"/>
                </a:cubicBezTo>
                <a:cubicBezTo>
                  <a:pt x="10265494" y="3297516"/>
                  <a:pt x="10257104" y="3300407"/>
                  <a:pt x="10247307" y="3300714"/>
                </a:cubicBezTo>
                <a:cubicBezTo>
                  <a:pt x="10234401" y="3297643"/>
                  <a:pt x="10192308" y="3303190"/>
                  <a:pt x="10181334" y="3307168"/>
                </a:cubicBezTo>
                <a:cubicBezTo>
                  <a:pt x="10155109" y="3320992"/>
                  <a:pt x="10095518" y="3310726"/>
                  <a:pt x="10073729" y="3321318"/>
                </a:cubicBezTo>
                <a:cubicBezTo>
                  <a:pt x="10065823" y="3322872"/>
                  <a:pt x="10058087" y="3323501"/>
                  <a:pt x="10050495" y="3323554"/>
                </a:cubicBezTo>
                <a:lnTo>
                  <a:pt x="10029247" y="3322387"/>
                </a:lnTo>
                <a:lnTo>
                  <a:pt x="10023206" y="3319426"/>
                </a:lnTo>
                <a:lnTo>
                  <a:pt x="10010221" y="3320159"/>
                </a:lnTo>
                <a:lnTo>
                  <a:pt x="10006500" y="3319709"/>
                </a:lnTo>
                <a:cubicBezTo>
                  <a:pt x="9999392" y="3318836"/>
                  <a:pt x="9992376" y="3318075"/>
                  <a:pt x="9985433" y="3317775"/>
                </a:cubicBezTo>
                <a:cubicBezTo>
                  <a:pt x="9994564" y="3332623"/>
                  <a:pt x="9927872" y="3317665"/>
                  <a:pt x="9947096" y="3329673"/>
                </a:cubicBezTo>
                <a:cubicBezTo>
                  <a:pt x="9910530" y="3330603"/>
                  <a:pt x="9938422" y="3341787"/>
                  <a:pt x="9894468" y="3331125"/>
                </a:cubicBezTo>
                <a:cubicBezTo>
                  <a:pt x="9837697" y="3343266"/>
                  <a:pt x="9748207" y="3338748"/>
                  <a:pt x="9703741" y="3357170"/>
                </a:cubicBezTo>
                <a:cubicBezTo>
                  <a:pt x="9709264" y="3350136"/>
                  <a:pt x="9685337" y="3344679"/>
                  <a:pt x="9668763" y="3348169"/>
                </a:cubicBezTo>
                <a:cubicBezTo>
                  <a:pt x="9688139" y="3320571"/>
                  <a:pt x="9603232" y="3373038"/>
                  <a:pt x="9588644" y="3354205"/>
                </a:cubicBezTo>
                <a:cubicBezTo>
                  <a:pt x="9587925" y="3371689"/>
                  <a:pt x="9513642" y="3401336"/>
                  <a:pt x="9478680" y="3386990"/>
                </a:cubicBezTo>
                <a:cubicBezTo>
                  <a:pt x="9425416" y="3390492"/>
                  <a:pt x="9387699" y="3404944"/>
                  <a:pt x="9331856" y="3399166"/>
                </a:cubicBezTo>
                <a:cubicBezTo>
                  <a:pt x="9330123" y="3401505"/>
                  <a:pt x="9327283" y="3403463"/>
                  <a:pt x="9323679" y="3405145"/>
                </a:cubicBezTo>
                <a:lnTo>
                  <a:pt x="9311620" y="3409223"/>
                </a:lnTo>
                <a:lnTo>
                  <a:pt x="9309289" y="3408926"/>
                </a:lnTo>
                <a:cubicBezTo>
                  <a:pt x="9300131" y="3408873"/>
                  <a:pt x="9295442" y="3409859"/>
                  <a:pt x="9292731" y="3411301"/>
                </a:cubicBezTo>
                <a:lnTo>
                  <a:pt x="9290814" y="3413412"/>
                </a:lnTo>
                <a:lnTo>
                  <a:pt x="9279990" y="3415541"/>
                </a:lnTo>
                <a:lnTo>
                  <a:pt x="9260104" y="3421077"/>
                </a:lnTo>
                <a:lnTo>
                  <a:pt x="9255034" y="3420853"/>
                </a:lnTo>
                <a:lnTo>
                  <a:pt x="9222941" y="3427242"/>
                </a:lnTo>
                <a:lnTo>
                  <a:pt x="9221858" y="3426731"/>
                </a:lnTo>
                <a:cubicBezTo>
                  <a:pt x="9218700" y="3425733"/>
                  <a:pt x="9214983" y="3425271"/>
                  <a:pt x="9210014" y="3425917"/>
                </a:cubicBezTo>
                <a:cubicBezTo>
                  <a:pt x="9208256" y="3416158"/>
                  <a:pt x="9203342" y="3422957"/>
                  <a:pt x="9188839" y="3425728"/>
                </a:cubicBezTo>
                <a:cubicBezTo>
                  <a:pt x="9182870" y="3411188"/>
                  <a:pt x="9147335" y="3424352"/>
                  <a:pt x="9132080" y="3417886"/>
                </a:cubicBezTo>
                <a:cubicBezTo>
                  <a:pt x="9121557" y="3420249"/>
                  <a:pt x="9110321" y="3422482"/>
                  <a:pt x="9098549" y="3424480"/>
                </a:cubicBezTo>
                <a:lnTo>
                  <a:pt x="9003970" y="3425484"/>
                </a:lnTo>
                <a:lnTo>
                  <a:pt x="8904921" y="3413774"/>
                </a:lnTo>
                <a:cubicBezTo>
                  <a:pt x="8868284" y="3413519"/>
                  <a:pt x="8836559" y="3409171"/>
                  <a:pt x="8805551" y="3412237"/>
                </a:cubicBezTo>
                <a:cubicBezTo>
                  <a:pt x="8792955" y="3408854"/>
                  <a:pt x="8781083" y="3407488"/>
                  <a:pt x="8769572" y="3412551"/>
                </a:cubicBezTo>
                <a:cubicBezTo>
                  <a:pt x="8735382" y="3410862"/>
                  <a:pt x="8727105" y="3403632"/>
                  <a:pt x="8705440" y="3409271"/>
                </a:cubicBezTo>
                <a:cubicBezTo>
                  <a:pt x="8686231" y="3397576"/>
                  <a:pt x="8685094" y="3402040"/>
                  <a:pt x="8676067" y="3405389"/>
                </a:cubicBezTo>
                <a:lnTo>
                  <a:pt x="8674779" y="3405628"/>
                </a:lnTo>
                <a:lnTo>
                  <a:pt x="8672154" y="3403956"/>
                </a:lnTo>
                <a:lnTo>
                  <a:pt x="8666720" y="3403182"/>
                </a:lnTo>
                <a:lnTo>
                  <a:pt x="8651886" y="3403680"/>
                </a:lnTo>
                <a:lnTo>
                  <a:pt x="8646307" y="3404298"/>
                </a:lnTo>
                <a:cubicBezTo>
                  <a:pt x="8642465" y="3404565"/>
                  <a:pt x="8639912" y="3404534"/>
                  <a:pt x="8638145" y="3404287"/>
                </a:cubicBezTo>
                <a:lnTo>
                  <a:pt x="8637941" y="3404149"/>
                </a:lnTo>
                <a:lnTo>
                  <a:pt x="8630296" y="3404406"/>
                </a:lnTo>
                <a:cubicBezTo>
                  <a:pt x="8617394" y="3405155"/>
                  <a:pt x="8604838" y="3406180"/>
                  <a:pt x="8592887" y="3407398"/>
                </a:cubicBezTo>
                <a:cubicBezTo>
                  <a:pt x="8582781" y="3399722"/>
                  <a:pt x="8538622" y="3408789"/>
                  <a:pt x="8543455" y="3394319"/>
                </a:cubicBezTo>
                <a:cubicBezTo>
                  <a:pt x="8527334" y="3395534"/>
                  <a:pt x="8517583" y="3401542"/>
                  <a:pt x="8523012" y="3392051"/>
                </a:cubicBezTo>
                <a:cubicBezTo>
                  <a:pt x="8517705" y="3392178"/>
                  <a:pt x="8514435" y="3391372"/>
                  <a:pt x="8512093" y="3390108"/>
                </a:cubicBezTo>
                <a:lnTo>
                  <a:pt x="8511416" y="3389513"/>
                </a:lnTo>
                <a:lnTo>
                  <a:pt x="8475551" y="3392450"/>
                </a:lnTo>
                <a:lnTo>
                  <a:pt x="8470789" y="3391736"/>
                </a:lnTo>
                <a:lnTo>
                  <a:pt x="8447414" y="3395064"/>
                </a:lnTo>
                <a:lnTo>
                  <a:pt x="8435335" y="3396028"/>
                </a:lnTo>
                <a:lnTo>
                  <a:pt x="8431923" y="3397855"/>
                </a:lnTo>
                <a:cubicBezTo>
                  <a:pt x="8428239" y="3398965"/>
                  <a:pt x="8422959" y="3399444"/>
                  <a:pt x="8414099" y="3398491"/>
                </a:cubicBezTo>
                <a:lnTo>
                  <a:pt x="8412049" y="3397978"/>
                </a:lnTo>
                <a:lnTo>
                  <a:pt x="8397349" y="3400683"/>
                </a:lnTo>
                <a:cubicBezTo>
                  <a:pt x="8392615" y="3401933"/>
                  <a:pt x="8388424" y="3403524"/>
                  <a:pt x="8385030" y="3405585"/>
                </a:cubicBezTo>
                <a:cubicBezTo>
                  <a:pt x="8334977" y="3394568"/>
                  <a:pt x="8287750" y="3404648"/>
                  <a:pt x="8233422" y="3402742"/>
                </a:cubicBezTo>
                <a:cubicBezTo>
                  <a:pt x="8209936" y="3385601"/>
                  <a:pt x="8116056" y="3406588"/>
                  <a:pt x="8102569" y="3423208"/>
                </a:cubicBezTo>
                <a:cubicBezTo>
                  <a:pt x="8102264" y="3408645"/>
                  <a:pt x="8034186" y="3428475"/>
                  <a:pt x="8016625" y="3428989"/>
                </a:cubicBezTo>
                <a:cubicBezTo>
                  <a:pt x="8010771" y="3429161"/>
                  <a:pt x="8010530" y="3427186"/>
                  <a:pt x="8020284" y="3421076"/>
                </a:cubicBezTo>
                <a:cubicBezTo>
                  <a:pt x="8001623" y="3422777"/>
                  <a:pt x="7982361" y="3415208"/>
                  <a:pt x="7992871" y="3409037"/>
                </a:cubicBezTo>
                <a:cubicBezTo>
                  <a:pt x="7936181" y="3422244"/>
                  <a:pt x="7852511" y="3409112"/>
                  <a:pt x="7788452" y="3415110"/>
                </a:cubicBezTo>
                <a:cubicBezTo>
                  <a:pt x="7753529" y="3400598"/>
                  <a:pt x="7772461" y="3414025"/>
                  <a:pt x="7736237" y="3411311"/>
                </a:cubicBezTo>
                <a:cubicBezTo>
                  <a:pt x="7746145" y="3424670"/>
                  <a:pt x="7692261" y="3403816"/>
                  <a:pt x="7690279" y="3418893"/>
                </a:cubicBezTo>
                <a:cubicBezTo>
                  <a:pt x="7683750" y="3417921"/>
                  <a:pt x="7677487" y="3416505"/>
                  <a:pt x="7671219" y="3414970"/>
                </a:cubicBezTo>
                <a:lnTo>
                  <a:pt x="7667928" y="3414173"/>
                </a:lnTo>
                <a:lnTo>
                  <a:pt x="7654774" y="3413595"/>
                </a:lnTo>
                <a:lnTo>
                  <a:pt x="7651067" y="3410171"/>
                </a:lnTo>
                <a:lnTo>
                  <a:pt x="7631267" y="3406963"/>
                </a:lnTo>
                <a:cubicBezTo>
                  <a:pt x="7623851" y="3406267"/>
                  <a:pt x="7615871" y="3406106"/>
                  <a:pt x="7607053" y="3406809"/>
                </a:cubicBezTo>
                <a:cubicBezTo>
                  <a:pt x="7585359" y="3412784"/>
                  <a:pt x="7551579" y="3405461"/>
                  <a:pt x="7521027" y="3405904"/>
                </a:cubicBezTo>
                <a:lnTo>
                  <a:pt x="7506997" y="3407754"/>
                </a:lnTo>
                <a:lnTo>
                  <a:pt x="7461204" y="3404669"/>
                </a:lnTo>
                <a:cubicBezTo>
                  <a:pt x="7448169" y="3404071"/>
                  <a:pt x="7434640" y="3403756"/>
                  <a:pt x="7420396" y="3403975"/>
                </a:cubicBezTo>
                <a:lnTo>
                  <a:pt x="7393955" y="3405447"/>
                </a:lnTo>
                <a:lnTo>
                  <a:pt x="7387024" y="3404227"/>
                </a:lnTo>
                <a:cubicBezTo>
                  <a:pt x="7374952" y="3404363"/>
                  <a:pt x="7358975" y="3408656"/>
                  <a:pt x="7360398" y="3403441"/>
                </a:cubicBezTo>
                <a:lnTo>
                  <a:pt x="7346837" y="3405249"/>
                </a:lnTo>
                <a:lnTo>
                  <a:pt x="7333451" y="3401087"/>
                </a:lnTo>
                <a:cubicBezTo>
                  <a:pt x="7331985" y="3400120"/>
                  <a:pt x="7330882" y="3399091"/>
                  <a:pt x="7330179" y="3398037"/>
                </a:cubicBezTo>
                <a:lnTo>
                  <a:pt x="7311232" y="3399406"/>
                </a:lnTo>
                <a:lnTo>
                  <a:pt x="7295699" y="3396426"/>
                </a:lnTo>
                <a:lnTo>
                  <a:pt x="7282158" y="3398374"/>
                </a:lnTo>
                <a:lnTo>
                  <a:pt x="7276538" y="3397935"/>
                </a:lnTo>
                <a:lnTo>
                  <a:pt x="7262569" y="3396460"/>
                </a:lnTo>
                <a:cubicBezTo>
                  <a:pt x="7255407" y="3395426"/>
                  <a:pt x="7247392" y="3394180"/>
                  <a:pt x="7238468" y="3393183"/>
                </a:cubicBezTo>
                <a:lnTo>
                  <a:pt x="7230949" y="3392727"/>
                </a:lnTo>
                <a:lnTo>
                  <a:pt x="7214580" y="3387715"/>
                </a:lnTo>
                <a:cubicBezTo>
                  <a:pt x="7202670" y="3383926"/>
                  <a:pt x="7193296" y="3381373"/>
                  <a:pt x="7182893" y="3383429"/>
                </a:cubicBezTo>
                <a:cubicBezTo>
                  <a:pt x="7165160" y="3378534"/>
                  <a:pt x="7152772" y="3364815"/>
                  <a:pt x="7127104" y="3368475"/>
                </a:cubicBezTo>
                <a:cubicBezTo>
                  <a:pt x="7134894" y="3362260"/>
                  <a:pt x="7098599" y="3367723"/>
                  <a:pt x="7094311" y="3361339"/>
                </a:cubicBezTo>
                <a:cubicBezTo>
                  <a:pt x="7092331" y="3356198"/>
                  <a:pt x="7080860" y="3356657"/>
                  <a:pt x="7072124" y="3354762"/>
                </a:cubicBezTo>
                <a:cubicBezTo>
                  <a:pt x="7065898" y="3349511"/>
                  <a:pt x="7021942" y="3344717"/>
                  <a:pt x="7006638" y="3345473"/>
                </a:cubicBezTo>
                <a:cubicBezTo>
                  <a:pt x="6963504" y="3350697"/>
                  <a:pt x="6928807" y="3329559"/>
                  <a:pt x="6894320" y="3333192"/>
                </a:cubicBezTo>
                <a:cubicBezTo>
                  <a:pt x="6885290" y="3332697"/>
                  <a:pt x="6877803" y="3331507"/>
                  <a:pt x="6871318" y="3329892"/>
                </a:cubicBezTo>
                <a:lnTo>
                  <a:pt x="6855157" y="3324330"/>
                </a:lnTo>
                <a:cubicBezTo>
                  <a:pt x="6854956" y="3323109"/>
                  <a:pt x="6854755" y="3321887"/>
                  <a:pt x="6854555" y="3320665"/>
                </a:cubicBezTo>
                <a:lnTo>
                  <a:pt x="6842483" y="3318413"/>
                </a:lnTo>
                <a:lnTo>
                  <a:pt x="6840027" y="3317245"/>
                </a:lnTo>
                <a:cubicBezTo>
                  <a:pt x="6835354" y="3315001"/>
                  <a:pt x="6830588" y="3312868"/>
                  <a:pt x="6825185" y="3311114"/>
                </a:cubicBezTo>
                <a:cubicBezTo>
                  <a:pt x="6810331" y="3324866"/>
                  <a:pt x="6776772" y="3298463"/>
                  <a:pt x="6774755" y="3312168"/>
                </a:cubicBezTo>
                <a:cubicBezTo>
                  <a:pt x="6742477" y="3304924"/>
                  <a:pt x="6749024" y="3319870"/>
                  <a:pt x="6728129" y="3301832"/>
                </a:cubicBezTo>
                <a:cubicBezTo>
                  <a:pt x="6661764" y="3299056"/>
                  <a:pt x="6593104" y="3275946"/>
                  <a:pt x="6527587" y="3280829"/>
                </a:cubicBezTo>
                <a:cubicBezTo>
                  <a:pt x="6542935" y="3276465"/>
                  <a:pt x="6531033" y="3266920"/>
                  <a:pt x="6511742" y="3266067"/>
                </a:cubicBezTo>
                <a:cubicBezTo>
                  <a:pt x="6570025" y="3248440"/>
                  <a:pt x="6418649" y="3271458"/>
                  <a:pt x="6434953" y="3253360"/>
                </a:cubicBezTo>
                <a:cubicBezTo>
                  <a:pt x="6407781" y="3267048"/>
                  <a:pt x="6300040" y="3274313"/>
                  <a:pt x="6292331" y="3255322"/>
                </a:cubicBezTo>
                <a:cubicBezTo>
                  <a:pt x="6242057" y="3246469"/>
                  <a:pt x="6188266" y="3249680"/>
                  <a:pt x="6149913" y="3232917"/>
                </a:cubicBezTo>
                <a:cubicBezTo>
                  <a:pt x="6144898" y="3234391"/>
                  <a:pt x="6139526" y="3235322"/>
                  <a:pt x="6133930" y="3235867"/>
                </a:cubicBezTo>
                <a:lnTo>
                  <a:pt x="6117554" y="3236464"/>
                </a:lnTo>
                <a:lnTo>
                  <a:pt x="6116039" y="3235720"/>
                </a:lnTo>
                <a:cubicBezTo>
                  <a:pt x="6108393" y="3233681"/>
                  <a:pt x="6102936" y="3233437"/>
                  <a:pt x="6098459" y="3233988"/>
                </a:cubicBezTo>
                <a:lnTo>
                  <a:pt x="6093630" y="3235240"/>
                </a:lnTo>
                <a:lnTo>
                  <a:pt x="6081261" y="3234563"/>
                </a:lnTo>
                <a:lnTo>
                  <a:pt x="6056067" y="3234608"/>
                </a:lnTo>
                <a:lnTo>
                  <a:pt x="6052129" y="3233324"/>
                </a:lnTo>
                <a:lnTo>
                  <a:pt x="6015338" y="3231378"/>
                </a:lnTo>
                <a:cubicBezTo>
                  <a:pt x="6015291" y="3231165"/>
                  <a:pt x="6015245" y="3230951"/>
                  <a:pt x="6015198" y="3230737"/>
                </a:cubicBezTo>
                <a:cubicBezTo>
                  <a:pt x="6014048" y="3229257"/>
                  <a:pt x="6011617" y="3228081"/>
                  <a:pt x="6006436" y="3227508"/>
                </a:cubicBezTo>
                <a:cubicBezTo>
                  <a:pt x="6019781" y="3219395"/>
                  <a:pt x="6005305" y="3223709"/>
                  <a:pt x="5988851" y="3222735"/>
                </a:cubicBezTo>
                <a:cubicBezTo>
                  <a:pt x="6005907" y="3209918"/>
                  <a:pt x="5955918" y="3212588"/>
                  <a:pt x="5952863" y="3204137"/>
                </a:cubicBezTo>
                <a:cubicBezTo>
                  <a:pt x="5940395" y="3203711"/>
                  <a:pt x="5927517" y="3203028"/>
                  <a:pt x="5914548" y="3202041"/>
                </a:cubicBezTo>
                <a:lnTo>
                  <a:pt x="5907020" y="3201283"/>
                </a:lnTo>
                <a:cubicBezTo>
                  <a:pt x="5906995" y="3201231"/>
                  <a:pt x="5906969" y="3201180"/>
                  <a:pt x="5906944" y="3201129"/>
                </a:cubicBezTo>
                <a:cubicBezTo>
                  <a:pt x="5905471" y="3200668"/>
                  <a:pt x="5903056" y="3200308"/>
                  <a:pt x="5899155" y="3200053"/>
                </a:cubicBezTo>
                <a:lnTo>
                  <a:pt x="5893294" y="3199901"/>
                </a:lnTo>
                <a:lnTo>
                  <a:pt x="5878691" y="3198431"/>
                </a:lnTo>
                <a:lnTo>
                  <a:pt x="5874165" y="3197003"/>
                </a:lnTo>
                <a:lnTo>
                  <a:pt x="5873092" y="3195108"/>
                </a:lnTo>
                <a:lnTo>
                  <a:pt x="5871658" y="3195162"/>
                </a:lnTo>
                <a:cubicBezTo>
                  <a:pt x="5860152" y="3197097"/>
                  <a:pt x="5855231" y="3201097"/>
                  <a:pt x="5846928" y="3187725"/>
                </a:cubicBezTo>
                <a:cubicBezTo>
                  <a:pt x="5821379" y="3190142"/>
                  <a:pt x="5819686" y="3182343"/>
                  <a:pt x="5788468" y="3176316"/>
                </a:cubicBezTo>
                <a:cubicBezTo>
                  <a:pt x="5773119" y="3179521"/>
                  <a:pt x="5762947" y="3176704"/>
                  <a:pt x="5753823" y="3171919"/>
                </a:cubicBezTo>
                <a:cubicBezTo>
                  <a:pt x="5721557" y="3170726"/>
                  <a:pt x="5694983" y="3162549"/>
                  <a:pt x="5660194" y="3157536"/>
                </a:cubicBezTo>
                <a:cubicBezTo>
                  <a:pt x="5619608" y="3159495"/>
                  <a:pt x="5604384" y="3146636"/>
                  <a:pt x="5567188" y="3141325"/>
                </a:cubicBezTo>
                <a:cubicBezTo>
                  <a:pt x="5530345" y="3148235"/>
                  <a:pt x="5543868" y="3129416"/>
                  <a:pt x="5526178" y="3123274"/>
                </a:cubicBezTo>
                <a:lnTo>
                  <a:pt x="5520866" y="3122322"/>
                </a:lnTo>
                <a:lnTo>
                  <a:pt x="5506009" y="3122332"/>
                </a:lnTo>
                <a:lnTo>
                  <a:pt x="5500363" y="3122766"/>
                </a:lnTo>
                <a:cubicBezTo>
                  <a:pt x="5496497" y="3122905"/>
                  <a:pt x="5493953" y="3122792"/>
                  <a:pt x="5492228" y="3122486"/>
                </a:cubicBezTo>
                <a:lnTo>
                  <a:pt x="5492044" y="3122342"/>
                </a:lnTo>
                <a:lnTo>
                  <a:pt x="5484386" y="3122347"/>
                </a:lnTo>
                <a:cubicBezTo>
                  <a:pt x="5471420" y="3122670"/>
                  <a:pt x="5458764" y="3123280"/>
                  <a:pt x="5446679" y="3124105"/>
                </a:cubicBezTo>
                <a:cubicBezTo>
                  <a:pt x="5437659" y="3116107"/>
                  <a:pt x="5392392" y="3123709"/>
                  <a:pt x="5399188" y="3109418"/>
                </a:cubicBezTo>
                <a:cubicBezTo>
                  <a:pt x="5382948" y="3110102"/>
                  <a:pt x="5372407" y="3115781"/>
                  <a:pt x="5379117" y="3106482"/>
                </a:cubicBezTo>
                <a:cubicBezTo>
                  <a:pt x="5373809" y="3106435"/>
                  <a:pt x="5370660" y="3105521"/>
                  <a:pt x="5368499" y="3104181"/>
                </a:cubicBezTo>
                <a:lnTo>
                  <a:pt x="5367902" y="3103566"/>
                </a:lnTo>
                <a:lnTo>
                  <a:pt x="5331747" y="3105319"/>
                </a:lnTo>
                <a:lnTo>
                  <a:pt x="5327095" y="3104450"/>
                </a:lnTo>
                <a:lnTo>
                  <a:pt x="5303337" y="3107003"/>
                </a:lnTo>
                <a:lnTo>
                  <a:pt x="5291164" y="3107570"/>
                </a:lnTo>
                <a:lnTo>
                  <a:pt x="5287515" y="3109282"/>
                </a:lnTo>
                <a:cubicBezTo>
                  <a:pt x="5283689" y="3110269"/>
                  <a:pt x="5278356" y="3110573"/>
                  <a:pt x="5269654" y="3109330"/>
                </a:cubicBezTo>
                <a:lnTo>
                  <a:pt x="5267681" y="3108752"/>
                </a:lnTo>
                <a:lnTo>
                  <a:pt x="5252655" y="3110969"/>
                </a:lnTo>
                <a:cubicBezTo>
                  <a:pt x="5247766" y="3112062"/>
                  <a:pt x="5243369" y="3113511"/>
                  <a:pt x="5239703" y="3115460"/>
                </a:cubicBezTo>
                <a:cubicBezTo>
                  <a:pt x="5191311" y="3102811"/>
                  <a:pt x="5142849" y="3111324"/>
                  <a:pt x="5088947" y="3107634"/>
                </a:cubicBezTo>
                <a:cubicBezTo>
                  <a:pt x="5027989" y="3108214"/>
                  <a:pt x="4985627" y="3110432"/>
                  <a:pt x="4945514" y="3110162"/>
                </a:cubicBezTo>
                <a:cubicBezTo>
                  <a:pt x="4926678" y="3111245"/>
                  <a:pt x="4789238" y="3111826"/>
                  <a:pt x="4800559" y="3106010"/>
                </a:cubicBezTo>
                <a:cubicBezTo>
                  <a:pt x="4742239" y="3117333"/>
                  <a:pt x="4708324" y="3101468"/>
                  <a:pt x="4643642" y="3105351"/>
                </a:cubicBezTo>
                <a:cubicBezTo>
                  <a:pt x="4610808" y="3089712"/>
                  <a:pt x="4627845" y="3103743"/>
                  <a:pt x="4592107" y="3099840"/>
                </a:cubicBezTo>
                <a:cubicBezTo>
                  <a:pt x="4600157" y="3113506"/>
                  <a:pt x="4549287" y="3090911"/>
                  <a:pt x="4545249" y="3105899"/>
                </a:cubicBezTo>
                <a:cubicBezTo>
                  <a:pt x="4538872" y="3104716"/>
                  <a:pt x="4532825" y="3103094"/>
                  <a:pt x="4526782" y="3101355"/>
                </a:cubicBezTo>
                <a:lnTo>
                  <a:pt x="4523614" y="3100453"/>
                </a:lnTo>
                <a:lnTo>
                  <a:pt x="4510579" y="3099442"/>
                </a:lnTo>
                <a:lnTo>
                  <a:pt x="4507348" y="3095901"/>
                </a:lnTo>
                <a:lnTo>
                  <a:pt x="4348949" y="3090220"/>
                </a:lnTo>
                <a:cubicBezTo>
                  <a:pt x="4335046" y="3092487"/>
                  <a:pt x="4290056" y="3092155"/>
                  <a:pt x="4280362" y="3087618"/>
                </a:cubicBezTo>
                <a:cubicBezTo>
                  <a:pt x="4270739" y="3086627"/>
                  <a:pt x="4260237" y="3088220"/>
                  <a:pt x="4254634" y="3083366"/>
                </a:cubicBezTo>
                <a:cubicBezTo>
                  <a:pt x="4233731" y="3080512"/>
                  <a:pt x="4185859" y="3073948"/>
                  <a:pt x="4154942" y="3070490"/>
                </a:cubicBezTo>
                <a:cubicBezTo>
                  <a:pt x="4138280" y="3076599"/>
                  <a:pt x="4112117" y="3064194"/>
                  <a:pt x="4069131" y="3062612"/>
                </a:cubicBezTo>
                <a:cubicBezTo>
                  <a:pt x="4050897" y="3069679"/>
                  <a:pt x="4040160" y="3061449"/>
                  <a:pt x="4005249" y="3070810"/>
                </a:cubicBezTo>
                <a:cubicBezTo>
                  <a:pt x="4003818" y="3069842"/>
                  <a:pt x="4002032" y="3068943"/>
                  <a:pt x="3999945" y="3068139"/>
                </a:cubicBezTo>
                <a:cubicBezTo>
                  <a:pt x="3987818" y="3063468"/>
                  <a:pt x="3968381" y="3062958"/>
                  <a:pt x="3956529" y="3067000"/>
                </a:cubicBezTo>
                <a:cubicBezTo>
                  <a:pt x="3900898" y="3079382"/>
                  <a:pt x="3850463" y="3077929"/>
                  <a:pt x="3803031" y="3079823"/>
                </a:cubicBezTo>
                <a:cubicBezTo>
                  <a:pt x="3749421" y="3080464"/>
                  <a:pt x="3785521" y="3065630"/>
                  <a:pt x="3718229" y="3077134"/>
                </a:cubicBezTo>
                <a:cubicBezTo>
                  <a:pt x="3711244" y="3071611"/>
                  <a:pt x="3702770" y="3071184"/>
                  <a:pt x="3688357" y="3073468"/>
                </a:cubicBezTo>
                <a:cubicBezTo>
                  <a:pt x="3662326" y="3073378"/>
                  <a:pt x="3664937" y="3059899"/>
                  <a:pt x="3638298" y="3067494"/>
                </a:cubicBezTo>
                <a:cubicBezTo>
                  <a:pt x="3643333" y="3060328"/>
                  <a:pt x="3589079" y="3063658"/>
                  <a:pt x="3601443" y="3056355"/>
                </a:cubicBezTo>
                <a:cubicBezTo>
                  <a:pt x="3584797" y="3049384"/>
                  <a:pt x="3575923" y="3060108"/>
                  <a:pt x="3559361" y="3054005"/>
                </a:cubicBezTo>
                <a:cubicBezTo>
                  <a:pt x="3540444" y="3052269"/>
                  <a:pt x="3569896" y="3061996"/>
                  <a:pt x="3548859" y="3062094"/>
                </a:cubicBezTo>
                <a:cubicBezTo>
                  <a:pt x="3523419" y="3060901"/>
                  <a:pt x="3522848" y="3074222"/>
                  <a:pt x="3504082" y="3056779"/>
                </a:cubicBezTo>
                <a:lnTo>
                  <a:pt x="3436234" y="3047769"/>
                </a:lnTo>
                <a:cubicBezTo>
                  <a:pt x="3420764" y="3051629"/>
                  <a:pt x="3408644" y="3049227"/>
                  <a:pt x="3396914" y="3044803"/>
                </a:cubicBezTo>
                <a:cubicBezTo>
                  <a:pt x="3361398" y="3044955"/>
                  <a:pt x="3329425" y="3037856"/>
                  <a:pt x="3289720" y="3034278"/>
                </a:cubicBezTo>
                <a:cubicBezTo>
                  <a:pt x="3246348" y="3037943"/>
                  <a:pt x="3224942" y="3025667"/>
                  <a:pt x="3182509" y="3021890"/>
                </a:cubicBezTo>
                <a:cubicBezTo>
                  <a:pt x="3139731" y="3031583"/>
                  <a:pt x="3155749" y="3004773"/>
                  <a:pt x="3119879" y="3004134"/>
                </a:cubicBezTo>
                <a:cubicBezTo>
                  <a:pt x="3060941" y="3012153"/>
                  <a:pt x="3121880" y="2995117"/>
                  <a:pt x="3031656" y="2995077"/>
                </a:cubicBezTo>
                <a:cubicBezTo>
                  <a:pt x="3026453" y="2996603"/>
                  <a:pt x="3015685" y="2994367"/>
                  <a:pt x="3017018" y="2992034"/>
                </a:cubicBezTo>
                <a:cubicBezTo>
                  <a:pt x="2997245" y="2992118"/>
                  <a:pt x="2941342" y="2976346"/>
                  <a:pt x="2913012" y="2978042"/>
                </a:cubicBezTo>
                <a:cubicBezTo>
                  <a:pt x="2858481" y="2969139"/>
                  <a:pt x="2831094" y="2979433"/>
                  <a:pt x="2791382" y="2975899"/>
                </a:cubicBezTo>
                <a:cubicBezTo>
                  <a:pt x="2745836" y="2966063"/>
                  <a:pt x="2719288" y="2957529"/>
                  <a:pt x="2639738" y="2936567"/>
                </a:cubicBezTo>
                <a:lnTo>
                  <a:pt x="2369741" y="2876435"/>
                </a:lnTo>
                <a:cubicBezTo>
                  <a:pt x="2269614" y="2832081"/>
                  <a:pt x="2140023" y="2856176"/>
                  <a:pt x="2078755" y="2852909"/>
                </a:cubicBezTo>
                <a:cubicBezTo>
                  <a:pt x="2053362" y="2866100"/>
                  <a:pt x="2032778" y="2851474"/>
                  <a:pt x="2002128" y="2856835"/>
                </a:cubicBezTo>
                <a:cubicBezTo>
                  <a:pt x="1933939" y="2859736"/>
                  <a:pt x="1866254" y="2874726"/>
                  <a:pt x="1777746" y="2864566"/>
                </a:cubicBezTo>
                <a:cubicBezTo>
                  <a:pt x="1737851" y="2905864"/>
                  <a:pt x="1634115" y="2880970"/>
                  <a:pt x="1549425" y="2904556"/>
                </a:cubicBezTo>
                <a:cubicBezTo>
                  <a:pt x="1500265" y="2909373"/>
                  <a:pt x="1423030" y="2888862"/>
                  <a:pt x="1405992" y="2911144"/>
                </a:cubicBezTo>
                <a:cubicBezTo>
                  <a:pt x="1383494" y="2897507"/>
                  <a:pt x="1362438" y="2919536"/>
                  <a:pt x="1337848" y="2921491"/>
                </a:cubicBezTo>
                <a:cubicBezTo>
                  <a:pt x="1318218" y="2912820"/>
                  <a:pt x="1308478" y="2920319"/>
                  <a:pt x="1290645" y="2921985"/>
                </a:cubicBezTo>
                <a:cubicBezTo>
                  <a:pt x="1282569" y="2916637"/>
                  <a:pt x="1267476" y="2916916"/>
                  <a:pt x="1262341" y="2923190"/>
                </a:cubicBezTo>
                <a:cubicBezTo>
                  <a:pt x="1269627" y="2937654"/>
                  <a:pt x="1217209" y="2930439"/>
                  <a:pt x="1213314" y="2940415"/>
                </a:cubicBezTo>
                <a:cubicBezTo>
                  <a:pt x="1182890" y="2942495"/>
                  <a:pt x="1050782" y="2929830"/>
                  <a:pt x="1028405" y="2945799"/>
                </a:cubicBezTo>
                <a:cubicBezTo>
                  <a:pt x="966896" y="2953381"/>
                  <a:pt x="877997" y="2927977"/>
                  <a:pt x="851857" y="2928423"/>
                </a:cubicBezTo>
                <a:cubicBezTo>
                  <a:pt x="825919" y="2899251"/>
                  <a:pt x="699677" y="2976135"/>
                  <a:pt x="588681" y="2977769"/>
                </a:cubicBezTo>
                <a:cubicBezTo>
                  <a:pt x="573724" y="2974953"/>
                  <a:pt x="565729" y="2974991"/>
                  <a:pt x="561717" y="2981641"/>
                </a:cubicBezTo>
                <a:cubicBezTo>
                  <a:pt x="532860" y="2985482"/>
                  <a:pt x="475932" y="2991762"/>
                  <a:pt x="415541" y="3000819"/>
                </a:cubicBezTo>
                <a:cubicBezTo>
                  <a:pt x="370154" y="3008289"/>
                  <a:pt x="146634" y="3001788"/>
                  <a:pt x="86183" y="3009699"/>
                </a:cubicBezTo>
                <a:lnTo>
                  <a:pt x="0" y="3044978"/>
                </a:lnTo>
                <a:close/>
              </a:path>
            </a:pathLst>
          </a:cu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EAD3BB8-E64B-2415-B2CE-E0DA09EB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703975"/>
            <a:ext cx="5257800" cy="239871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fortschreitende Potenzierung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des Sicherheitsbedarfs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durch Weiterentwicklung der Hardware sowie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zunehmenden Komplexität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Netzwerkverbindungen, der Betriebssysteme und der eingesetzten Software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klar erkennbar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Deshalb muss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Fokus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permanent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Datensicherheit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liegen.</a:t>
            </a: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C398ED-DD54-5A34-A90D-9F52D7B6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E65F3C-ED9F-3C8B-0507-1543C306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276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C360B-45E0-2068-468B-DAAF559A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5D7EBD-9C04-27B4-CE93-A2212F324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 err="1"/>
              <a:t>Zusammenfassung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6E6E9A-5CB2-A524-4988-6D3889BE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fünf wesentlichen Anforderungen der Informationssicherheit: 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-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Sicherstellung der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Vertraulichkeit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 und Programmen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-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Authentizität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Nicht-</a:t>
            </a:r>
            <a:r>
              <a:rPr lang="de-DE" sz="18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Abstreitbarkeit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hinsichtlich der Benutzung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-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Jederzeitige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Verfügbarkeit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Hard- und Software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Problematisch: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Rechnersysteme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heutzutage überwiegend miteinander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vernetzt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Problematisch: Oft ist eine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Systemnutzung ohne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Zugriffs-, und / oder Zugangskontrolle möglich.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Problematisch: unkontrollierter / unkontrollierbarer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Austausch von Daten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 Schnittstellen unterschiedlichster Art von Programmen, Rechner und Systemen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Problematisch: Nur wenige Mitarbeiter sind in der Lage Rechnersysteme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adäquat zu konfigurieren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zu warten, zu bedienen und zu nutzen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Personen mit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krimineller Energie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Fachwissen im Bereich IT stellen eine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erhebliche Gefahr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dar, die insbesondere von fremden Staaten oder Organisationen aus geht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0FF22F-14A3-4FAB-2835-1585DAB46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BEA0D9-C2FE-D629-5A9B-0EF98D63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463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" name="Inhaltsplatzhalter 6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F294989D-413E-F00F-130E-72878D989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680" y="916674"/>
            <a:ext cx="5660288" cy="5023506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91C1C3-634F-58C7-F15B-1BA64342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79576" y="6356350"/>
            <a:ext cx="56692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6ED07E-1118-F247-75A3-1EC98775C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928" y="6356350"/>
            <a:ext cx="1188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9EF16F3-0004-E7EC-5476-FD24193E6536}"/>
              </a:ext>
            </a:extLst>
          </p:cNvPr>
          <p:cNvSpPr txBox="1"/>
          <p:nvPr/>
        </p:nvSpPr>
        <p:spPr>
          <a:xfrm>
            <a:off x="557701" y="196727"/>
            <a:ext cx="7989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Grobe Schutzziele der DSGVO aus Art. 32 (1)</a:t>
            </a:r>
          </a:p>
        </p:txBody>
      </p:sp>
    </p:spTree>
    <p:extLst>
      <p:ext uri="{BB962C8B-B14F-4D97-AF65-F5344CB8AC3E}">
        <p14:creationId xmlns:p14="http://schemas.microsoft.com/office/powerpoint/2010/main" val="4082496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E02CE-3F6A-CDD3-0B5B-25CDC724F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7564"/>
          </a:xfrm>
        </p:spPr>
        <p:txBody>
          <a:bodyPr/>
          <a:lstStyle/>
          <a:p>
            <a:r>
              <a:rPr lang="de-DE" dirty="0"/>
              <a:t>Need-</a:t>
            </a:r>
            <a:r>
              <a:rPr lang="de-DE" dirty="0" err="1"/>
              <a:t>To</a:t>
            </a:r>
            <a:r>
              <a:rPr lang="de-DE" dirty="0"/>
              <a:t>-</a:t>
            </a:r>
            <a:r>
              <a:rPr lang="de-DE" dirty="0" err="1"/>
              <a:t>Know</a:t>
            </a:r>
            <a:r>
              <a:rPr lang="de-DE" dirty="0"/>
              <a:t> Prinzip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5175AA-206F-6C46-C9EE-C570BC892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702"/>
            <a:ext cx="10515600" cy="452326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 der Berechtigung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sollte zwischen Admin-, Lese- und Schreibrechten unterscheiden!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Einfaches Berechtigungskonzept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(Name und Berechtigung) [kleine Unternehmen]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Rollenkonzept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(verschiedene Rollen und deren Berechtigungen) [Vorstufe]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Berechtigungskonzept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(Rollen werden zugewiesen) [Endstufe]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Veränderungen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am Berechtigungskonzept müssen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protokolliert und aufgezeichnet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werden. 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Rechenschaftspflicht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des Verantwortlichen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Berechtigungskonzept ist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technische </a:t>
            </a:r>
            <a:r>
              <a:rPr lang="de-DE" sz="20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organisatorische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Maßnahme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Art. 32 DSGVO. 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regelmäßige Testen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Wirksamkeit aller TOMs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durch den Verantwortlichen fordert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32 (1) </a:t>
            </a:r>
            <a:r>
              <a:rPr lang="de-DE" sz="20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 DSGVO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B55F3C-F5FB-25F9-FC62-693009D4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9F7F7C-A750-9817-5B9D-970DFDAA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8754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60A2AF-3C9B-358A-929C-59B65716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>
            <a:noAutofit/>
          </a:bodyPr>
          <a:lstStyle/>
          <a:p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Zwecke von Rollen- und Rechtekonzepten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166CC-3843-544A-B171-D3EC58522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Erfüllung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Forderungen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aus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24 und </a:t>
            </a:r>
            <a:r>
              <a:rPr lang="de-DE" b="1" i="1" kern="10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32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Teil des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Datenschutzkonzeptes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Erfüllung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Rechenschaftspflichten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nach </a:t>
            </a:r>
            <a:r>
              <a:rPr lang="de-DE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5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Teil einer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möglichen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Auditierung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Zertifizierung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Verhinderung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Datenpanne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Mildernde Umstände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im Falle einer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Datenpanne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CE315A-1895-AD58-3A3E-44277466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734FBB-F2A1-3996-01D3-D4B426C0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6975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A58E9-DA73-9F03-B775-FF522A89B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Beispiele: Zutrittskontrolle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B312C8-017A-0250-3A68-2AB222125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Absicherung von Gebäuden, Türen und Fenstern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Alarmanlage, Einbruchmelder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Zutrittskontrollsysteme (Transponder, Ausweis, Schlüssel, …)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Befugte Personen festlegen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Personenkontrolle, Besucherdokumentation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77D072-201D-0097-9978-9A430D0F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15A2BF6-9ECD-F6C7-7F6B-FFF5E529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649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D4D2EF-6B5D-AC99-DE73-DEEABC09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Beispiele: Zugangskontrolle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10B4C8-1210-9056-9004-5837B07F4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Sperren von Laufwerken, Ordnern, etc.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Kennwörter, 2FA, MFA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Firewall und Antivirenprogramme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Bildschirmsperre mit Passwortabfrage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Sicheres Verschließen von Unterlagen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Clean-Desk-Policy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22C109-D7DE-2BA9-7C34-1C632046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2406D3-9544-401C-6683-D62F70D5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2094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57691-8205-242B-F819-57ED4278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Beispiele: Zugriffskontrolle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10D0CF-3413-285D-62FA-046126C77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Rollen- und Berechtigungskonzepte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Regelmäßige Kontrollen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Protokolle (Log-Management)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Intrusion-</a:t>
            </a:r>
            <a:r>
              <a:rPr lang="de-DE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Detection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-Systeme (IDS)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Verschlüsselung, Zertifikate</a:t>
            </a:r>
          </a:p>
          <a:p>
            <a:pPr marL="0" indent="0"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Authentifizierung ist der Nachweis einer behaupteten Berechtigung, deren Echtheit geprüft wird. Nach Bestätigung der Echtheit durch einen Abgleich der Daten ist der Nutzer autorisiert.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701F98-6E29-5B1C-C77B-BA514C88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6C347E-A4B3-A266-3B83-02D45DE6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083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05B5AA3-D1AD-E388-4CDD-7EBE5D247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7344"/>
          </a:xfrm>
        </p:spPr>
        <p:txBody>
          <a:bodyPr/>
          <a:lstStyle/>
          <a:p>
            <a:r>
              <a:rPr lang="de-DE" dirty="0"/>
              <a:t>Verantwortlichkeiten im Unternehmen</a:t>
            </a:r>
            <a:br>
              <a:rPr lang="de-DE" dirty="0"/>
            </a:br>
            <a:r>
              <a:rPr lang="de-DE" sz="2400" dirty="0"/>
              <a:t>Beispiel Organigramm</a:t>
            </a:r>
          </a:p>
        </p:txBody>
      </p:sp>
      <p:pic>
        <p:nvPicPr>
          <p:cNvPr id="9" name="Inhaltsplatzhalter 8" descr="Ein Bild, das Text, Screenshot, Rechteck, Quadrat enthält.&#10;&#10;KI-generierte Inhalte können fehlerhaft sein.">
            <a:extLst>
              <a:ext uri="{FF2B5EF4-FFF2-40B4-BE49-F238E27FC236}">
                <a16:creationId xmlns:a16="http://schemas.microsoft.com/office/drawing/2014/main" id="{D7B3854B-C2B0-AEE2-1D44-3F00F6495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012" y="1571185"/>
            <a:ext cx="8501976" cy="4445876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3A8605-EE28-0F74-4746-45A421ED8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2B2381-D658-F86C-2013-DB5927AE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8467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59FC33-9835-12C9-4DC9-602AAA609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Lebenszyklus </a:t>
            </a:r>
            <a:r>
              <a:rPr kumimoji="0" lang="de-DE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pbD</a:t>
            </a: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als Schema</a:t>
            </a:r>
            <a:endParaRPr lang="de-DE" dirty="0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377000B7-307D-F3D6-3A58-4E7A7186F9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8728"/>
          <a:ext cx="10515600" cy="20207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684170-E5A3-3930-E097-33C67A94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6B3731-9383-6648-B95F-EFE2815C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5D18BC7-16D8-D9F6-8947-CCF719EC4A11}"/>
              </a:ext>
            </a:extLst>
          </p:cNvPr>
          <p:cNvSpPr txBox="1"/>
          <p:nvPr/>
        </p:nvSpPr>
        <p:spPr>
          <a:xfrm>
            <a:off x="1488332" y="3949430"/>
            <a:ext cx="2550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Phase der Datenverarbeitung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CA49A46-D03D-5813-DD41-055C9B2F96C4}"/>
              </a:ext>
            </a:extLst>
          </p:cNvPr>
          <p:cNvSpPr txBox="1"/>
          <p:nvPr/>
        </p:nvSpPr>
        <p:spPr>
          <a:xfrm>
            <a:off x="4173166" y="3949430"/>
            <a:ext cx="35797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Ende des Verwendungszweckes, </a:t>
            </a:r>
            <a:b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DV nur für Berechtigte, Erfüllung von gesetzlichen Aufbewahrungspflichten, </a:t>
            </a:r>
            <a:b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Phase der Aufbewahrung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02264F8-21D8-6886-A033-95520DD9952D}"/>
              </a:ext>
            </a:extLst>
          </p:cNvPr>
          <p:cNvSpPr txBox="1"/>
          <p:nvPr/>
        </p:nvSpPr>
        <p:spPr>
          <a:xfrm>
            <a:off x="7960468" y="405470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Ende der Aufbewahrung</a:t>
            </a:r>
          </a:p>
        </p:txBody>
      </p:sp>
    </p:spTree>
    <p:extLst>
      <p:ext uri="{BB962C8B-B14F-4D97-AF65-F5344CB8AC3E}">
        <p14:creationId xmlns:p14="http://schemas.microsoft.com/office/powerpoint/2010/main" val="11279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1F434-7388-A1B4-2EAB-6F9D6CC2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42">
            <a:extLst>
              <a:ext uri="{FF2B5EF4-FFF2-40B4-BE49-F238E27FC236}">
                <a16:creationId xmlns:a16="http://schemas.microsoft.com/office/drawing/2014/main" id="{81A39B25-2EB4-3498-FE1C-BE453387C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Kopfschutz, Kleidung, Nahaufnahme, Wimper enthält.&#10;&#10;KI-generierte Inhalte können fehlerhaft sein.">
            <a:extLst>
              <a:ext uri="{FF2B5EF4-FFF2-40B4-BE49-F238E27FC236}">
                <a16:creationId xmlns:a16="http://schemas.microsoft.com/office/drawing/2014/main" id="{AD6FD192-26DA-E1F7-01EF-013276289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25" b="1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52" name="Rectangle 44">
            <a:extLst>
              <a:ext uri="{FF2B5EF4-FFF2-40B4-BE49-F238E27FC236}">
                <a16:creationId xmlns:a16="http://schemas.microsoft.com/office/drawing/2014/main" id="{9A7AF66E-A275-2B81-15B0-08C157362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58A6D0-1DCB-948F-CA97-C25AEBFA5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229" y="4629234"/>
            <a:ext cx="397338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Zusammenfassung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der </a:t>
            </a:r>
            <a:r>
              <a:rPr lang="en-US" dirty="0" err="1">
                <a:solidFill>
                  <a:schemeClr val="tx1"/>
                </a:solidFill>
              </a:rPr>
              <a:t>Datenschutzthemen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Teil 2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048098-87A0-3A89-BF20-1E9855C62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" y="6128469"/>
            <a:ext cx="3973384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100" kern="1200" dirty="0">
                <a:solidFill>
                  <a:schemeClr val="tx1"/>
                </a:solidFill>
                <a:ea typeface="+mn-ea"/>
                <a:cs typeface="+mn-cs"/>
              </a:rPr>
              <a:t>Dirk Moltzen - </a:t>
            </a:r>
            <a:r>
              <a:rPr lang="en-US" sz="1100" kern="1200" dirty="0" err="1">
                <a:solidFill>
                  <a:schemeClr val="tx1"/>
                </a:solidFill>
                <a:ea typeface="+mn-ea"/>
                <a:cs typeface="+mn-cs"/>
              </a:rPr>
              <a:t>externer</a:t>
            </a:r>
            <a:r>
              <a:rPr lang="en-US" sz="1100" kern="1200" dirty="0">
                <a:solidFill>
                  <a:schemeClr val="tx1"/>
                </a:solidFill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ea typeface="+mn-ea"/>
                <a:cs typeface="+mn-cs"/>
              </a:rPr>
              <a:t>Datenschutzbeauftragter</a:t>
            </a:r>
            <a:r>
              <a:rPr lang="en-US" sz="1100" kern="1200" dirty="0">
                <a:solidFill>
                  <a:schemeClr val="tx1"/>
                </a:solidFill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A5CBED-3EC8-5BFB-E03A-D4A6C333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20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609243-605F-069C-6239-4916AB9A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 err="1"/>
              <a:t>Datenschutz</a:t>
            </a:r>
            <a:r>
              <a:rPr lang="en-US" sz="5200" dirty="0"/>
              <a:t> Teil 5</a:t>
            </a:r>
          </a:p>
        </p:txBody>
      </p:sp>
    </p:spTree>
    <p:extLst>
      <p:ext uri="{BB962C8B-B14F-4D97-AF65-F5344CB8AC3E}">
        <p14:creationId xmlns:p14="http://schemas.microsoft.com/office/powerpoint/2010/main" val="1865899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6585317-BE60-D1CC-CB13-4C16874E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9 Grundsätze des Datenschutzes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1214921-FD83-5084-1594-34AF114DF3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Rechtmäßigkeit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Treu und Glaube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Transparenz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Zweckbindung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Datenminimierung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F41398F6-106F-A820-1D4A-C15AC7D380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DE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Richtigkeit</a:t>
            </a:r>
            <a:endParaRPr kumimoji="0" lang="de-DE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DE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Speicherbgrenzung</a:t>
            </a:r>
            <a:endParaRPr kumimoji="0" lang="de-DE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DE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Integrität &amp; Vertraulichkeit</a:t>
            </a:r>
            <a:endParaRPr kumimoji="0" lang="de-DE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DE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Rechenschaftspflicht</a:t>
            </a:r>
            <a:endParaRPr kumimoji="0" lang="de-DE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  <a:p>
            <a:pPr marL="0" indent="0">
              <a:buNone/>
            </a:pPr>
            <a:r>
              <a:rPr lang="de-DE" b="1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de-DE" b="1" dirty="0">
                <a:solidFill>
                  <a:srgbClr val="7030A0"/>
                </a:solidFill>
              </a:rPr>
              <a:t>Art. 5 DSGVO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8D76DC-492D-7213-02FA-09E58AC0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E22B2D-B689-5B29-2198-6C26DD24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527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65E22CE-7F76-6C02-9698-6CCCF1F1C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Rechtmäßigkeit der Verarbeitung </a:t>
            </a:r>
            <a:br>
              <a:rPr lang="de-DE" dirty="0"/>
            </a:br>
            <a:r>
              <a:rPr lang="de-DE" sz="2400" b="1" dirty="0">
                <a:solidFill>
                  <a:srgbClr val="7030A0"/>
                </a:solidFill>
              </a:rPr>
              <a:t>Art. 6 (1) DSGVO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C83E6F0-CAFB-017C-7A78-428450CC7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Hier findet man die Erlaubnistatbestände unter denen eine Verarbeitung legitim ist.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Es gilt zunächst das Verbot einer Verarbeitung. Gekennzeichnet durch das Wort „nur“ im Artikel 6.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Die Verarbeitung ist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nur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zulässig, wenn mindestens eine der nachstehenden Bedingungen erfüllt ist: </a:t>
            </a:r>
            <a:r>
              <a:rPr lang="de-DE" sz="1800" b="1" i="1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Art. 6 (1) DSGVO </a:t>
            </a:r>
            <a:r>
              <a:rPr lang="de-DE" sz="1800" b="1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= </a:t>
            </a:r>
            <a:r>
              <a:rPr lang="de-DE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Verbot mit Erlaubnisvorbehalt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Vertrag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Gesetz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Einwilligung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Öffentliche Aufgaben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Wahrung berechtigter Interessen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Schutz lebenswichtiger Interessen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5376C4-09EB-DCB5-7498-C5908552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6F8AF3-326C-06FD-45AD-1C92650F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7871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29230-962E-23C5-671D-5557E9C1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Besondere Kategorie </a:t>
            </a:r>
            <a:r>
              <a:rPr lang="de-DE" dirty="0" err="1"/>
              <a:t>pb</a:t>
            </a:r>
            <a:r>
              <a:rPr lang="de-DE" dirty="0"/>
              <a:t>-Daten: Definition</a:t>
            </a:r>
            <a:br>
              <a:rPr lang="de-DE" dirty="0"/>
            </a:br>
            <a:r>
              <a:rPr kumimoji="0" lang="de-DE" sz="28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Art. 9 (1) DSGVO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0E167A-2858-4D06-D232-AB5D5AD41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Rassische</a:t>
            </a:r>
            <a:r>
              <a:rPr lang="de-DE" dirty="0"/>
              <a:t> und </a:t>
            </a:r>
            <a:r>
              <a:rPr lang="de-DE" b="1" dirty="0"/>
              <a:t>ethnische</a:t>
            </a:r>
            <a:r>
              <a:rPr lang="de-DE" dirty="0"/>
              <a:t> Herkunft</a:t>
            </a:r>
          </a:p>
          <a:p>
            <a:r>
              <a:rPr lang="de-DE" b="1" dirty="0"/>
              <a:t>Politische</a:t>
            </a:r>
            <a:r>
              <a:rPr lang="de-DE" dirty="0"/>
              <a:t> Meinung</a:t>
            </a:r>
          </a:p>
          <a:p>
            <a:r>
              <a:rPr lang="de-DE" b="1" dirty="0"/>
              <a:t>Religiöse</a:t>
            </a:r>
            <a:r>
              <a:rPr lang="de-DE" dirty="0"/>
              <a:t> oder weltanschauliche Überzeugung</a:t>
            </a:r>
          </a:p>
          <a:p>
            <a:r>
              <a:rPr lang="de-DE" b="1" dirty="0"/>
              <a:t>Gewerkschaftszugehörigkeit</a:t>
            </a:r>
          </a:p>
          <a:p>
            <a:r>
              <a:rPr lang="de-DE" b="1" dirty="0"/>
              <a:t>Genetische</a:t>
            </a:r>
            <a:r>
              <a:rPr lang="de-DE" dirty="0"/>
              <a:t> Daten</a:t>
            </a:r>
          </a:p>
          <a:p>
            <a:r>
              <a:rPr lang="de-DE" b="1" dirty="0"/>
              <a:t>Biometrische</a:t>
            </a:r>
            <a:r>
              <a:rPr lang="de-DE" dirty="0"/>
              <a:t> Daten</a:t>
            </a:r>
          </a:p>
          <a:p>
            <a:r>
              <a:rPr lang="de-DE" b="1" dirty="0"/>
              <a:t>Gesundheitsdaten</a:t>
            </a:r>
          </a:p>
          <a:p>
            <a:r>
              <a:rPr lang="de-DE" dirty="0"/>
              <a:t>Sexuelle Orientierung, </a:t>
            </a:r>
            <a:r>
              <a:rPr lang="de-DE" b="1" dirty="0"/>
              <a:t>Sexualleben</a:t>
            </a:r>
            <a:endParaRPr lang="de-DE" b="1" i="1" dirty="0">
              <a:solidFill>
                <a:srgbClr val="7030A0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3603284-7B00-338E-5237-E93B7E7B4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B4281D-8A99-E360-7441-BD9E20DF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765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4974AD-6CE0-177B-9E25-4E02598C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Verarbeitung besonderer Kategorien </a:t>
            </a:r>
            <a:r>
              <a:rPr lang="de-DE" dirty="0" err="1"/>
              <a:t>pbD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3C3B51-3D2C-A02D-D391-EE7631B0A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diesen Fällen darf die Verarbeitung erfolgen: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Ausdrückliche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Einwilligung der betroffenen Person</a:t>
            </a: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Zur Durchsetzung von Arbeits- und Sozialrechten 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b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Nutzung bereits veröffentlichter Daten 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e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Zwecke der Gesundheitsvorsorge oder Arbeitsmedizin 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h DSGVO auch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i.V.m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§ 26 BDSG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C52051-F64D-2FD6-9020-BFDB7157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0BC81B-2232-77F6-4AB1-EB41CA194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427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DD312F-FB2F-911C-DBDB-84012841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Beschäftigtendatenschutz: </a:t>
            </a:r>
            <a:br>
              <a:rPr lang="de-DE" dirty="0"/>
            </a:br>
            <a:r>
              <a:rPr lang="de-DE" dirty="0"/>
              <a:t>Warum BDSG und nicht DSGVO?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56D170-A6C6-584B-A8E8-95ABAAD37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sz="24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Erlaubt ist die Verarbeitung aller Beschäftigtendaten (allgemeine oder besondere personenbezogene Daten), die zur Erfüllung des Arbeitsvertrages dienen. Wenn die Daten zu einem anderen Zweck dienen, dann bedarf es der Einwilligung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143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der Verarbeitung von Mitarbeiterdaten gilt für die Rechtsgrundlage nicht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oder 9 DSGVO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sondern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BDSG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 ansonsten viele Einwilligungen nötig wären. Auch wenn diese nicht elektronisch, sondern in Hängeregistern oder Akten vorliegen 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=&gt;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(7) BDSG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28A449-EAB1-C34F-D338-AA8C4301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3AE40D-3881-86C0-1F40-33841CD3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591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3FF11-1D11-2FAA-E5F8-0332BC6C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1377"/>
          </a:xfrm>
        </p:spPr>
        <p:txBody>
          <a:bodyPr/>
          <a:lstStyle/>
          <a:p>
            <a:r>
              <a:rPr lang="de-DE" dirty="0"/>
              <a:t>Zusammenfassung </a:t>
            </a:r>
            <a:r>
              <a:rPr lang="de-DE" sz="2400"/>
              <a:t>(Rechtsgrundlagen </a:t>
            </a:r>
            <a:r>
              <a:rPr lang="de-DE" sz="2400" dirty="0"/>
              <a:t>der DV)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988B3A-95DD-2FCC-1A16-2D8EA8A33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694"/>
            <a:ext cx="10515600" cy="4737269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Alle Regelungen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 der DSGVO bauen auf den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Datenschutzes auf.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gibt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neun Grundsätze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die bei jeder Verarbeitung von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gleichermaßen erfüllt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sein müssen.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jeder Verarbeitung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Rechtmäßigke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it der Verarbeitung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geprüft werden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Grundsätzlich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ist 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verboten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 einige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in den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Erlaubnistatbeständen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erläutert; es gilt ein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Verbot mit Erlaubnisvorbehalt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Erlaubnistatbestände (Rechtmäßigkeit) einer Verarbeitung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in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und 9 DSGVO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sowie</a:t>
            </a:r>
            <a:r>
              <a:rPr lang="de-DE" sz="2000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88 DSGVO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i.V. m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§ 26 BDSG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geregelt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besonderer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personenbezogener Daten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Beschäftigtendaten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bedürfen einer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Sondererlaubnis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DSGVO</a:t>
            </a:r>
            <a:r>
              <a:rPr lang="de-DE" sz="20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26 BDSG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Verarbeitung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im Rahmen eines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berechtigten Interesses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sz="20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f DSGVO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setzt immer 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dokumentierte Interessenabwägung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voraus</a:t>
            </a: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511CBC6-4048-4B05-AA29-043964DD3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C9EB22-BD1E-F3B2-72F7-BCAB5C95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1445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82726691-087A-5ED3-243D-2E1EC4DD8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1922"/>
          </a:xfrm>
        </p:spPr>
        <p:txBody>
          <a:bodyPr/>
          <a:lstStyle/>
          <a:p>
            <a:r>
              <a:rPr lang="de-DE" dirty="0"/>
              <a:t>Die Rechte betroffener Personen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9678888-3B92-925E-F208-4C5188196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 Personen können zu jeder Zeit umfangreiche Rechte geltend machen. Dass diese Rechte gewahrt bleiben, liegt im Verantwortungsbereich des betrieblichen oder externen DSBs: er oder sie muss diese prüfen und ggf. auftretende Mängel abstellen.</a:t>
            </a:r>
            <a:endParaRPr lang="de-DE" sz="2000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Auskunft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Berichtigung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Löschung und Einschränkung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Datenübertragbarkeit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gegen die Verarbeitung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Widerruf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gegen eine bereits erteilte Einwilligung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Beschwerde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einer Aufsichtsbehörde</a:t>
            </a:r>
          </a:p>
          <a:p>
            <a:endParaRPr lang="de-DE" sz="2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C1A27A-4E48-E8B5-2962-4B99B8F7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854AD8-A2C2-FC14-FE61-0998099D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716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AAA4-84A2-6902-A77B-1003B0B8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C28F09-0B10-BD40-D3D4-D1468DD5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Anforderungen zu Betroffenenrechten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6135E8-6DD1-5907-A6BF-E1F82BDEE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Anforderungen aus: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 Form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Mitteilung ist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zulässig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(schriftlich, mündlich, elektronisch)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Mitteilung muss über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gleiche Medium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erfolgen, wie der Betroffene es für die Anfrage genutzt hat. (Medienbruch vermeiden)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Frist: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1 Monat, um 2 Monate verlängerbar mit Begründung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exzessiven Anträgen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kann ein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Entgelt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verlangt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Antrag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abgelehnt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ggf.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Identität prüfen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548C23-84D1-00EC-2FDA-30ABA59D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A50D3-FD4B-3620-49C0-DFD378806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205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961804-AB79-83A8-E702-804DF1D5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Zeitpunkt der Information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061EA3-B0F3-46BE-4966-E25B779EA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direkter Erhebung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(gewollt, angefragt)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SOFORT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342900">
              <a:lnSpc>
                <a:spcPct val="107000"/>
              </a:lnSpc>
            </a:pP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Information muss</a:t>
            </a: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zum Zeitpunkt der Datenerhebung </a:t>
            </a: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erfolgen!</a:t>
            </a:r>
            <a:b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Um das </a:t>
            </a: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praktikabel umsetzen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können,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erlauben die Aufsichtsbehörden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zeitnahe Zustellung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Informationen, sowie einen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Medienbruch</a:t>
            </a:r>
            <a:r>
              <a:rPr lang="de-DE" sz="2400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indirekter Erhebung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14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(über Dritte)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zeitnah, spätestens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innerhalb eines Monats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7931F44-48F5-67DF-B897-0A941F82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A07C3F-A041-F31E-92FA-6CB011D7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428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EECD60-45BC-AD75-8277-C6E7D951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 </a:t>
            </a:r>
            <a:r>
              <a:rPr lang="de-DE" sz="2800" dirty="0"/>
              <a:t>(Betroffenenrechte)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1B32E6-8C77-6751-4FA9-10763C96F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Kap. III der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werden die Rechte der betroffenen Personen erläutert. Plus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7 (3) und 77 DSGVO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der Durchsetzung der Rechte sind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Fristen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wahren (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 bis 3 Monate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Mitteilungen und Umsetzungen der Rechte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müssen unentgeltlich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erfolgen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Ausnahmen: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(5) 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 der Durchsetzung der Rechte muss die verantwortliche Stelle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Identität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betroffenen Person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geprüft werden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Informationspflicht unterscheidet sich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und 14 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 </a:t>
            </a: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dem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Betroffenen selbst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 Dritte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420436-DA0B-0229-80DA-3F1778D0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89BCB1-3B4D-183E-A8EB-5C892AF9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2799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B1E12-E9C2-63DA-0163-B5D40B96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Zusammenfassung 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(Betroffenenrechte)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6537DB-34FD-645C-59F5-F3993A214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332"/>
            <a:ext cx="10515600" cy="4688631"/>
          </a:xfrm>
        </p:spPr>
        <p:txBody>
          <a:bodyPr>
            <a:no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Folgende Rechte müssen dem Betroffenen ausdrücklich eingeräumt werden: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Auskunft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Datenübertragbarkeit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Berichtigung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Löschung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Einschränkung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gege</a:t>
            </a: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n die Verarbeitung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Beschwerde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einer Aufsichtsbehörde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Widerruf einer Einwilligung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2C2056-F9A3-8EAD-6B70-401C9656A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69F798-303E-00AF-FA71-64DCE569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959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3E039-D48A-CFBC-796B-CC1B94B4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de-DE" sz="4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Zusammenfassung 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(Betroffenenrechte)</a:t>
            </a:r>
            <a:endParaRPr lang="de-DE" sz="2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E254FA-07C5-8D1F-3FA4-997A46A6D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Wenn das Recht auf Löschung (vorübergehend) nicht umsetzbar ist, muss die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der Daten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wenigstens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eingeschränkt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</a:t>
            </a:r>
            <a:b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Recht auf Beschwerde bei einer Aufsichtsbehörde wird im 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Kap. VIII der DSGVO</a:t>
            </a:r>
            <a:r>
              <a:rPr lang="de-DE" sz="28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behandelt, genauer in 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77 +78 DSGVO</a:t>
            </a:r>
            <a:b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Einwilligung kann widerrufen werden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einer Verarbeitung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aufgrund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eines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berechtigten Interesses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kann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widersprochen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A8B6AC-C5D5-A971-9E25-FC42A0CE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8CC6FB-C1D9-E88F-7B1E-25362A6E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1639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6C42B-90E9-24FB-119A-7D1C9FD7C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0C5B4C-836B-FE3B-2FE0-B88E2E6B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>
            <a:normAutofit fontScale="90000"/>
          </a:bodyPr>
          <a:lstStyle/>
          <a:p>
            <a:r>
              <a:rPr lang="en-US" dirty="0"/>
              <a:t>TOMs (</a:t>
            </a:r>
            <a:r>
              <a:rPr lang="en-US" dirty="0" err="1"/>
              <a:t>technisch-organisatorische</a:t>
            </a:r>
            <a:r>
              <a:rPr lang="en-US" dirty="0"/>
              <a:t> </a:t>
            </a:r>
            <a:r>
              <a:rPr lang="en-US" dirty="0" err="1"/>
              <a:t>Maßnahmen</a:t>
            </a:r>
            <a:r>
              <a:rPr lang="en-US" dirty="0"/>
              <a:t>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1E2BCE-E605-20B8-A150-EE1575AC2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de-DE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Zur Verhinderung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unberechtigter Manipulation</a:t>
            </a:r>
            <a:b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Sicherstellung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Verhinderung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unberechtigten Zugriffs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auf Daten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de-DE" dirty="0">
                <a:effectLst/>
                <a:ea typeface="Aptos" panose="020B0004020202020204" pitchFamily="34" charset="0"/>
              </a:rPr>
              <a:t>Regelung des </a:t>
            </a:r>
            <a:r>
              <a:rPr lang="de-DE" b="1" dirty="0">
                <a:effectLst/>
                <a:ea typeface="Aptos" panose="020B0004020202020204" pitchFamily="34" charset="0"/>
              </a:rPr>
              <a:t>Zugangs und Zugriffs</a:t>
            </a:r>
            <a:r>
              <a:rPr lang="de-DE" dirty="0">
                <a:effectLst/>
                <a:ea typeface="Aptos" panose="020B0004020202020204" pitchFamily="34" charset="0"/>
              </a:rPr>
              <a:t> auf technische Systeme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5F0FCBF-8481-8F2B-C44A-07D41D2A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D433A3-EBA6-016D-5304-1EB817FF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044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068A2-6411-CE85-072F-9D2FD088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B231CC-30E1-3397-A35A-2F39A01C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>
            <a:normAutofit/>
          </a:bodyPr>
          <a:lstStyle/>
          <a:p>
            <a:r>
              <a:rPr lang="en-US" dirty="0" err="1"/>
              <a:t>Gewährleistung</a:t>
            </a:r>
            <a:r>
              <a:rPr lang="en-US" dirty="0"/>
              <a:t> von TOMs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6B9D66-A6CD-8587-330A-9BA39387A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</a:pPr>
            <a:endParaRPr lang="de-DE" sz="2400" b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 Daten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bekannten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vertrauenswürdigen Personen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Programmen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technischen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Diensten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nachvollziehbar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sein, welche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welches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Programm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technischer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Dienst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welchem Zeitpunkt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auf die Daten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zugegriffen hat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jeder Organisation sollte ein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abgestuftes System zum Zugriff auf Informationen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vorhanden sein</a:t>
            </a:r>
          </a:p>
          <a:p>
            <a:r>
              <a:rPr lang="de-DE" sz="2400" dirty="0">
                <a:effectLst/>
                <a:ea typeface="Aptos" panose="020B0004020202020204" pitchFamily="34" charset="0"/>
              </a:rPr>
              <a:t>Jeder Mitarbeiter sollte </a:t>
            </a:r>
            <a:r>
              <a:rPr lang="de-DE" sz="2400" b="1" dirty="0">
                <a:effectLst/>
                <a:ea typeface="Aptos" panose="020B0004020202020204" pitchFamily="34" charset="0"/>
              </a:rPr>
              <a:t>nur</a:t>
            </a:r>
            <a:r>
              <a:rPr lang="de-DE" sz="2400" dirty="0">
                <a:effectLst/>
                <a:ea typeface="Aptos" panose="020B0004020202020204" pitchFamily="34" charset="0"/>
              </a:rPr>
              <a:t> </a:t>
            </a:r>
            <a:r>
              <a:rPr lang="de-DE" sz="2400" b="1" dirty="0">
                <a:effectLst/>
                <a:ea typeface="Aptos" panose="020B0004020202020204" pitchFamily="34" charset="0"/>
              </a:rPr>
              <a:t>Zugriff auf Ressourcen</a:t>
            </a:r>
            <a:r>
              <a:rPr lang="de-DE" sz="2400" dirty="0">
                <a:effectLst/>
                <a:ea typeface="Aptos" panose="020B0004020202020204" pitchFamily="34" charset="0"/>
              </a:rPr>
              <a:t> (Informationen, Daten, Gebäude, Räume, Geräte, Personal) haben, </a:t>
            </a:r>
            <a:r>
              <a:rPr lang="de-DE" sz="2400" b="1" dirty="0">
                <a:effectLst/>
                <a:ea typeface="Aptos" panose="020B0004020202020204" pitchFamily="34" charset="0"/>
              </a:rPr>
              <a:t>die</a:t>
            </a:r>
            <a:r>
              <a:rPr lang="de-DE" sz="2400" dirty="0">
                <a:effectLst/>
                <a:ea typeface="Aptos" panose="020B0004020202020204" pitchFamily="34" charset="0"/>
              </a:rPr>
              <a:t> für seine Aufgabe </a:t>
            </a:r>
            <a:r>
              <a:rPr lang="de-DE" sz="2400" b="1" dirty="0">
                <a:effectLst/>
                <a:ea typeface="Aptos" panose="020B0004020202020204" pitchFamily="34" charset="0"/>
              </a:rPr>
              <a:t>unbedingt nötig sind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CDC09B-40DA-78D7-F4A3-EEFA8BBEC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7D47A0-78F1-E569-D022-92ACCC686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6248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BD0C34-EEC1-43A7-7FA8-31C1177F0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TOMs gem. DSK, BSI; Aufsichtsbehörden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12E178-70FD-9AAA-8130-9BDF75832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Website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muss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verschlüsselt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sein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 kosten gering, gilt 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verschlüsselte Website als Stand der Technik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Verschlüsselung mobiler Speichermedien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einfach und kostengünstig (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z.B.Bitlocker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Nutzung von Passwörtern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(technischer Standard von Programmen und Systemen)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Einsatz einer Firewall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(bei Firmennetzzugriff von außen unerlässlich)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Remote-Verbindungen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zum Firmennetzwerk nur via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VPN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Einschränkung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Datenübertragung an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Microsoft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Deaktivierung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Telemetriedaten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Aktueller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Virenschutz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Mildernder Zusatz im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32 DSGVO: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es müssen nur die Maßnahmen ergriffen werden, 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verhältnismäßig zu den Implementierungskosten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sind.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434DD6-AE9B-AF6B-17D0-460F13B1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DEE4B3-1BA1-99B0-ED43-F8838C82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8317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488D19-93F0-BC63-675A-59A22B1F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739"/>
          </a:xfrm>
        </p:spPr>
        <p:txBody>
          <a:bodyPr/>
          <a:lstStyle/>
          <a:p>
            <a:r>
              <a:rPr lang="de-DE" dirty="0"/>
              <a:t>Zusammenfassung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A02E18-D50B-39CA-F3C6-9D7467B1D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140"/>
            <a:ext cx="10515600" cy="4931823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Ziele der Integrität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die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 der Daten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gewähren und die berechtigte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Veränderung der Daten zu verhindern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b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die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Daten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gesichert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so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können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Daten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 unbemerkt manipuliert / geändert werden.</a:t>
            </a:r>
            <a:b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Als Grundlage der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Integritätsprüfung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bieten sich erzeugte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Prüfsummen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an.</a:t>
            </a:r>
            <a:b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kann auch mittels Berechtigungen, die in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Rollen- und Rechtekonzepten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dokumentiert wurden, gewährleistet werden.</a:t>
            </a:r>
            <a:b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Zur Wahrung der Vertraulichkeit dürfen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berechtigte Personen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Kenntnis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</a:t>
            </a:r>
            <a:r>
              <a:rPr lang="de-DE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haben oder verarbeiten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b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de-DE" sz="1800" dirty="0">
                <a:effectLst/>
                <a:ea typeface="Aptos" panose="020B0004020202020204" pitchFamily="34" charset="0"/>
              </a:rPr>
              <a:t>Die </a:t>
            </a:r>
            <a:r>
              <a:rPr lang="de-DE" sz="1800" b="1" dirty="0">
                <a:effectLst/>
                <a:ea typeface="Aptos" panose="020B0004020202020204" pitchFamily="34" charset="0"/>
              </a:rPr>
              <a:t>Berechtigung wird sichergestellt</a:t>
            </a:r>
            <a:r>
              <a:rPr lang="de-DE" sz="1800" dirty="0">
                <a:effectLst/>
                <a:ea typeface="Aptos" panose="020B0004020202020204" pitchFamily="34" charset="0"/>
              </a:rPr>
              <a:t> durch verschiedene Maßnahmen der </a:t>
            </a:r>
            <a:r>
              <a:rPr lang="de-DE" sz="1800" b="1" dirty="0">
                <a:effectLst/>
                <a:ea typeface="Aptos" panose="020B0004020202020204" pitchFamily="34" charset="0"/>
              </a:rPr>
              <a:t>Zutritts-, Zugangs- und Zugriffskontrolle.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2FEA13-19E7-439D-D4A2-7DC371B60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E53BC1-069B-A869-88BF-6EC5E60F6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35429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249E2E-67C9-D0A4-1FA0-5ECD0F15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739"/>
          </a:xfrm>
        </p:spPr>
        <p:txBody>
          <a:bodyPr/>
          <a:lstStyle/>
          <a:p>
            <a:r>
              <a:rPr lang="de-DE" dirty="0"/>
              <a:t>Zusammenfassung </a:t>
            </a:r>
            <a:r>
              <a:rPr lang="de-DE" sz="2800" dirty="0"/>
              <a:t>(Fortsetzung)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0A63A9-D2E6-DE75-85B5-1454A9EB7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745" y="1147864"/>
            <a:ext cx="11245174" cy="5208486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Gängige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Zutrittskontrollmaßnahmen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die Verwendung von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Schlüsseln, Chipkarten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Transpondern.</a:t>
            </a:r>
            <a:b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000" b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Gängige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Zugangskontrollmaßnahmen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die Verwendung von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Kennwörtern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Chipkarten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der Einsatz einer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Firewall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Gängige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Zugriffskontrollmaßnahmen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die Verwendung von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Benutzerrechten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Protokollierung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sowie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Auswertung der Zugriffe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Moderne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sichere Zutritts- und Zugangskontrollsysteme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verwenden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biometrische Merkmale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DSFA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kann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dann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erforderlich sein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Besonderen Schutz bieten 2FA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bei denen die berechtigte Person sich mittels zweier getrennter Authentifizierungsmerkmale ausweisen muss, z.B.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Passwort und Chipkarte oder Passwort und SMS-PIN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A2E68B-3B45-C88E-0AEB-C3B58C89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F0C49C-148D-B72E-F22D-B0539ED0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303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C5D2B6D-E143-386C-7740-D4674ECF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 VVT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0B103FC-F9BB-CECC-FE08-E1F2EB21F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 Organisation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 Auftragsverarbeiter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VVZ führen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Inhalte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gesetzlich vorgeschrieben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 prüft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das Verzeichnis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Verzeichnis dient als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Grundlage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Umsetzung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Informationspflichten, Auskunftsrechte und Löschkonzepte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Verzeichnis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auf Verlangen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Aufsichtsbehörde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vorgelegt werden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können (Rechenschaftspflicht)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548DDB-4ABC-F673-AF0D-0E293574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4D1BFE-8B6C-9922-0278-DE5E433A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37373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42D01-23DA-82F4-923D-D5F4F3451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42">
            <a:extLst>
              <a:ext uri="{FF2B5EF4-FFF2-40B4-BE49-F238E27FC236}">
                <a16:creationId xmlns:a16="http://schemas.microsoft.com/office/drawing/2014/main" id="{E0FB9753-8D80-7879-E79E-61601BA5E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Kopfschutz, Kleidung, Nahaufnahme, Wimper enthält.&#10;&#10;KI-generierte Inhalte können fehlerhaft sein.">
            <a:extLst>
              <a:ext uri="{FF2B5EF4-FFF2-40B4-BE49-F238E27FC236}">
                <a16:creationId xmlns:a16="http://schemas.microsoft.com/office/drawing/2014/main" id="{886C5C03-34AF-B8E5-393E-E3E554A09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25" b="1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52" name="Rectangle 44">
            <a:extLst>
              <a:ext uri="{FF2B5EF4-FFF2-40B4-BE49-F238E27FC236}">
                <a16:creationId xmlns:a16="http://schemas.microsoft.com/office/drawing/2014/main" id="{98426A42-772A-D0AC-C20F-A8289271E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AE2512-B015-9FD9-4D74-613105E49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229" y="4629234"/>
            <a:ext cx="397338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Zusammenfassung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der </a:t>
            </a:r>
            <a:r>
              <a:rPr lang="en-US" dirty="0" err="1">
                <a:solidFill>
                  <a:schemeClr val="tx1"/>
                </a:solidFill>
              </a:rPr>
              <a:t>Datenschutzthemen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Teil 3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5A1457-52E3-39DA-8F17-7081BDE6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290" y="6128469"/>
            <a:ext cx="3973384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100" kern="1200" dirty="0">
                <a:solidFill>
                  <a:schemeClr val="tx1"/>
                </a:solidFill>
                <a:ea typeface="+mn-ea"/>
                <a:cs typeface="+mn-cs"/>
              </a:rPr>
              <a:t>Dirk Moltzen - </a:t>
            </a:r>
            <a:r>
              <a:rPr lang="en-US" sz="1100" kern="1200" dirty="0" err="1">
                <a:solidFill>
                  <a:schemeClr val="tx1"/>
                </a:solidFill>
                <a:ea typeface="+mn-ea"/>
                <a:cs typeface="+mn-cs"/>
              </a:rPr>
              <a:t>externer</a:t>
            </a:r>
            <a:r>
              <a:rPr lang="en-US" sz="1100" kern="1200" dirty="0">
                <a:solidFill>
                  <a:schemeClr val="tx1"/>
                </a:solidFill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/>
                </a:solidFill>
                <a:ea typeface="+mn-ea"/>
                <a:cs typeface="+mn-cs"/>
              </a:rPr>
              <a:t>Datenschutzbeauftragter</a:t>
            </a:r>
            <a:r>
              <a:rPr lang="en-US" sz="1100" kern="1200" dirty="0">
                <a:solidFill>
                  <a:schemeClr val="tx1"/>
                </a:solidFill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E94A9F-9C31-C8B0-2533-83E5DAB9A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39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E530FC-22D6-5E29-554E-7D7EDB1B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 err="1"/>
              <a:t>Datenschutz</a:t>
            </a:r>
            <a:r>
              <a:rPr lang="en-US" sz="5200" dirty="0"/>
              <a:t> Teil 5</a:t>
            </a:r>
          </a:p>
        </p:txBody>
      </p:sp>
    </p:spTree>
    <p:extLst>
      <p:ext uri="{BB962C8B-B14F-4D97-AF65-F5344CB8AC3E}">
        <p14:creationId xmlns:p14="http://schemas.microsoft.com/office/powerpoint/2010/main" val="34484009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2989EE-D8A9-23C2-6F78-5A304D73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/>
          <a:lstStyle/>
          <a:p>
            <a:r>
              <a:rPr lang="de-DE" dirty="0"/>
              <a:t>Zusammenfassung AV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4F8279-6174-710E-8594-EA71A57FC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8682"/>
            <a:ext cx="10515600" cy="523766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 ist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</a:t>
            </a:r>
            <a:r>
              <a:rPr lang="de-DE" sz="2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durch ein beauftragtes Unternehmen</a:t>
            </a:r>
            <a:endParaRPr lang="de-DE" sz="2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Auch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bloße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zufällige Kenntnisnahme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kann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bereits eine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darstellen </a:t>
            </a:r>
            <a:r>
              <a:rPr lang="de-DE" sz="22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(Beispiel: IT-Fernwartung)</a:t>
            </a:r>
            <a:endParaRPr lang="de-DE" sz="2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Verantwortliche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Datenverarbeitung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Auftraggeber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beauftragte Unternehmen ist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Auftragnehmer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der auch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genannt wird.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ist eine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schriftliche Vereinbarung notwendig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Mindestinhalte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gesetzlich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vorgeschrieben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dürfen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Organisationen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mit der Verarbeitung der Daten beauftragt werden,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ausreichende Garantien bieten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dass die Daten geschützt sind.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 prüft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ob ein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 geeignet ist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die Daten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Sinne der DSGVO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verarbeiten.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 prüft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Verträge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auf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Vollständigkeit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inhaltliche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sz="22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49271DF-023B-7736-4B14-47B142DA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B297F3-F569-99BD-5143-46F9A2FF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8077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AC853-3842-E08C-2800-9C42F633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effectLst/>
                <a:ea typeface="Aptos" panose="020B0004020202020204" pitchFamily="34" charset="0"/>
              </a:rPr>
              <a:t>Datenschutzkonforme Vernichtung von Daten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03A682-E201-C936-DDCE-AB4BEE26D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nicht-datenschutzkonforme Vernichtung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kann Datenschutzverletzungen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mit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Bußgeldforderungen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auslösen. 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Mitarbeiter müssen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dementsprechend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geschult werden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Daten richtig zu vernichten.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Zwischen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analogen und digitalen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Daten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unterschieden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werden.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Papier / Aktenvernichtung erfolgt über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Schredder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 entsprechenden Schutzklassen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Personalakten Schutzstufe P3, Gesundheitsdaten Schutzstufe P4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Vorgaben durch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DIN 66933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DSB prüft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ob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für die entsprechenden Schutzklassen, der richtige Aktenvernichter (Schredder) bereitsteht.</a:t>
            </a:r>
          </a:p>
          <a:p>
            <a:endParaRPr lang="de-DE" sz="1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1EE14B-393C-CD5D-50A8-F77DB7CE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065863-ECE4-8CD8-DD65-F20C2374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4860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E5046-87CB-163A-74AF-5562750B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de-DE" dirty="0"/>
              <a:t>Löschkonzept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089383-F076-8177-7A52-36EC601D3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2689"/>
            <a:ext cx="10515600" cy="4844274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Ein </a:t>
            </a:r>
            <a:r>
              <a:rPr lang="de-DE" b="1" dirty="0"/>
              <a:t>Löschkonzept</a:t>
            </a:r>
            <a:r>
              <a:rPr lang="de-DE" dirty="0"/>
              <a:t> ist eine Unternehmensrichtlinie, die festlegt </a:t>
            </a:r>
            <a:r>
              <a:rPr lang="de-DE" b="1" dirty="0"/>
              <a:t>wer löscht </a:t>
            </a:r>
            <a:r>
              <a:rPr lang="de-DE" dirty="0"/>
              <a:t>und </a:t>
            </a:r>
            <a:r>
              <a:rPr lang="de-DE" b="1" dirty="0"/>
              <a:t>wann</a:t>
            </a:r>
            <a:r>
              <a:rPr lang="de-DE" dirty="0"/>
              <a:t> dies durchgeführt wird. Ob </a:t>
            </a:r>
            <a:r>
              <a:rPr lang="de-DE" b="1" dirty="0"/>
              <a:t>automatisch</a:t>
            </a:r>
            <a:r>
              <a:rPr lang="de-DE" dirty="0"/>
              <a:t> oder </a:t>
            </a:r>
            <a:r>
              <a:rPr lang="de-DE" b="1" dirty="0"/>
              <a:t>manuell</a:t>
            </a:r>
            <a:r>
              <a:rPr lang="de-DE" dirty="0"/>
              <a:t>. Welche </a:t>
            </a:r>
            <a:r>
              <a:rPr lang="de-DE" b="1" dirty="0"/>
              <a:t>Übergangsfristen</a:t>
            </a:r>
            <a:r>
              <a:rPr lang="de-DE" dirty="0"/>
              <a:t> festgelegt sind.</a:t>
            </a:r>
          </a:p>
          <a:p>
            <a:r>
              <a:rPr lang="de-DE" dirty="0"/>
              <a:t>Der </a:t>
            </a:r>
            <a:r>
              <a:rPr lang="de-DE" b="1" dirty="0"/>
              <a:t>DSB</a:t>
            </a:r>
            <a:r>
              <a:rPr lang="de-DE" dirty="0"/>
              <a:t> ist bei der Ausgestaltung und späteren Überwachung des Löschkonzeptes zu </a:t>
            </a:r>
            <a:r>
              <a:rPr lang="de-DE" b="1" dirty="0"/>
              <a:t>konsultieren.</a:t>
            </a:r>
          </a:p>
          <a:p>
            <a:r>
              <a:rPr lang="de-DE" dirty="0"/>
              <a:t>Es gibt </a:t>
            </a:r>
            <a:r>
              <a:rPr lang="de-DE" b="1" dirty="0"/>
              <a:t>Regellöschungen</a:t>
            </a:r>
            <a:r>
              <a:rPr lang="de-DE" dirty="0"/>
              <a:t> und </a:t>
            </a:r>
            <a:r>
              <a:rPr lang="de-DE" b="1" dirty="0"/>
              <a:t>anlassbezogene Löschungen</a:t>
            </a:r>
            <a:r>
              <a:rPr lang="de-DE" dirty="0"/>
              <a:t>, wie z.B. eine Löschanfrage aus den Betroffenenrechten</a:t>
            </a:r>
          </a:p>
          <a:p>
            <a:r>
              <a:rPr lang="de-DE" dirty="0"/>
              <a:t>Für diese gibt es </a:t>
            </a:r>
            <a:r>
              <a:rPr lang="de-DE" b="1" dirty="0"/>
              <a:t>Bearbeitungsfristen</a:t>
            </a:r>
            <a:r>
              <a:rPr lang="de-DE" dirty="0"/>
              <a:t> (1 Monat)(max. 2 Monate Verlängerung)</a:t>
            </a:r>
          </a:p>
          <a:p>
            <a:r>
              <a:rPr lang="de-DE" b="1" dirty="0"/>
              <a:t>Gesetzliche Aufbewahrungsfristen </a:t>
            </a:r>
            <a:r>
              <a:rPr lang="de-DE" dirty="0"/>
              <a:t>stehen einer Löschung entgegen. Diese liegen zwischen 6 Monaten bis 30 Jahre oder mehr. Danach kann die </a:t>
            </a:r>
            <a:r>
              <a:rPr lang="de-DE" b="1" dirty="0"/>
              <a:t>Regellöschung</a:t>
            </a:r>
            <a:r>
              <a:rPr lang="de-DE" dirty="0"/>
              <a:t> erfolgen. Die GF legt das Löschkonzept mit dem DSB fest. Die IT-Abteilung setzt ggf. den Prozess der Löschung um.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BDB76D-FFA4-4304-E597-8FC86D12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29910B-3445-17EF-06CF-16D83011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512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A8DE63-4B3A-4B29-5246-FFDCE8896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109"/>
          </a:xfrm>
        </p:spPr>
        <p:txBody>
          <a:bodyPr/>
          <a:lstStyle/>
          <a:p>
            <a:r>
              <a:rPr lang="de-DE" dirty="0"/>
              <a:t>Relevante Inhalte des TDDDG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D334CBE-3C72-AF91-7E49-39497F8FCC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1 (1) Nr. 2 TDDDG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besondere Vorschriften zum Schutz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1 (3) TDDDG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Vorrangig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Anbieter von Diensten</a:t>
            </a:r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 (2) Nr. 1 TDDDG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Begriffsbestimmung „Anbieter“</a:t>
            </a:r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1 (4) Nr. 1 TDDDG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Begriffsbestimmung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Digitale Dienste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D02B82A-F285-C66E-6C07-0241B0D7ED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Beispiele: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Digitale Dienste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Online-Angebote (Waren)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Video-on-</a:t>
            </a: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demand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(YouTube)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Suchmaschinen (Google)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Webportale, private Homepages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Firmeneigene Websites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6BBD6A-2173-6C8C-D3E2-3A35EC50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6924D2-68E7-F939-E8B5-DBD310CAF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6480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4F1BD45-C5E9-2956-8D14-8A62EA55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Relevante Inhalte des TDDDG </a:t>
            </a:r>
            <a:r>
              <a:rPr lang="de-DE" sz="2800" dirty="0"/>
              <a:t>(Fortsetzung)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C873583-54A7-78B8-37F7-E5FB81D0C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4 TDDDG</a:t>
            </a:r>
            <a:b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Rechte von Erben 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Digitale Rechte und Daten vererben (z.B. Accountdaten)</a:t>
            </a:r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19 TDDDG</a:t>
            </a:r>
            <a:b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Technisch-organisatorische Schutzmaßnahmen (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TOM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),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 vor Kenntnisnahme Dritter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25 TDDDG</a:t>
            </a:r>
            <a:b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Regelung der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Cookie Speicherung / Einwilligung 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Besuch einer Website 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25 (1) TDDDG</a:t>
            </a: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234C77-9D40-1DEA-EF7E-B832CCA6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7FF9E-E916-71E6-AB9A-C1A446F36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60094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73480B2-EA58-1070-CCD3-412DAD5C0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9198"/>
          </a:xfrm>
        </p:spPr>
        <p:txBody>
          <a:bodyPr/>
          <a:lstStyle/>
          <a:p>
            <a:r>
              <a:rPr lang="de-DE" dirty="0"/>
              <a:t>DDG (Digitale-Dienste-Gesetz)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33710C4-509A-1A2C-3FD1-D890356A4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966"/>
            <a:ext cx="10515600" cy="474699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DDG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ist im Mai 2024 in Kraft getreten und hat damit gleichzeitig das TMG außer Kraft gesetzt. Es setzt die Vorschriften des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EU Digital Services Act 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um. Es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regelt auf nationaler Ebene 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das, was der DSA für die EU regelt.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Der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DSA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soll ein sicheres Online-Umfeld schaffen. Ziel ist die Verbreitung illegaler Inhalte zu reduzieren. Das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DDG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regelt für Deutschland, wie die entsprechenden Pflichten umzusetzen sind.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digitaler Dienst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bezieht sich auf Online-Diensteanbieter, die für ihre Dienstleistung bezahlt werden und unter das Fernabsatzgesetz fallen. Z.B. Webdesigner, Online-Shop-Inhaber, Gaming-Plattformen, soziale Netzwerke, Content Sharing Plattformen, App Stores und Online, o.ä.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97ED7D-47BE-E1EC-AB5B-CD6A4D270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42E930-40E5-7509-FEC5-B024B9D8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3177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9CEE25-49D5-1D22-60E6-F08596458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832"/>
          </a:xfrm>
        </p:spPr>
        <p:txBody>
          <a:bodyPr/>
          <a:lstStyle/>
          <a:p>
            <a:r>
              <a:rPr lang="de-DE" dirty="0"/>
              <a:t>Datenschutz und Werbung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317189-0DD9-1E84-A819-4BECE84AE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234"/>
            <a:ext cx="10515600" cy="4863729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Folgende Gesetze 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regulieren direkte Werbemaßnahmen wie Telefon- und E-Mail-Werbung: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Gesetz gegen den unlauteren Wettbewerb (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UWG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Bürgerliches Gesetzbuch (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BGB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Telekommunikationsgesetz (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TKG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Bundesdatenschutzgesetz (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BDSG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Datenschutz-Grundverordnung (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DSGVO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ePrivacy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-VO soll die Regeln der DSGVO im Bereich elektronischer Kommunikationsdaten ergänzen.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Die DSGVO hat das rechtliche Umfeld für die Neukundenakquise bereits geändert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Somit brauchen Sie </a:t>
            </a:r>
            <a:r>
              <a:rPr lang="de-D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grundsätzlich eine Einwilligung des Nutzers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165B11-5606-987C-5BAD-4F65E8BE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E8FA0E-3385-FD9B-6EF1-F0809CDB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32516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B5CA6B-C3F8-506F-96DC-F6BBBA277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Belästigende Werbung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7606B3-49EC-3FC2-6FB2-74F211C84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Die DSGVO ist für den Verbraucher ein Segen,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für den Unternehmer jedoch ein Fluch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Bei der Kundenakquise gilt die Faustregel: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Mit Einwilligung ist fast alles möglich – ohne nur wenig.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Belästigende Werbung ist nach </a:t>
            </a:r>
            <a:r>
              <a:rPr lang="de-DE" sz="2400" b="1" i="1" kern="1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§ 7 UWG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verboten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Das bedeutet, dass Sie weder per E-Mail noch per Telefon oder SMS Kundenakquise betreiben dürfen, sofern Sie nicht im Vorfeld die Einwilligung des jeweiligen Nutzers eingeholt haben.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Schon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eine einzige unverlangte Werbemail 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 eine Person bzw. ein Unternehmen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gilt als belästigende Werbung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A44CEE0-90D4-E5FB-5E67-C8202B707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59ABF3-F934-98A5-0862-FE1B9422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3153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85727153-3E08-C0BD-7024-F14A57B4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739"/>
          </a:xfrm>
        </p:spPr>
        <p:txBody>
          <a:bodyPr/>
          <a:lstStyle/>
          <a:p>
            <a:r>
              <a:rPr lang="de-DE" dirty="0"/>
              <a:t>Das Standard-Datenschutzmodell (SDM)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28DF577D-9453-3617-D030-2E92CA4D1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27250"/>
            <a:ext cx="5181600" cy="5029099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Nach dem Standard-Datenschutzmodell (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SDM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ergibt sich der Schutzbedarf aus dem Risiko einer Verarbeitungstätigkeit,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bevor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ein Verantwortlicher technische und organisatorische Maßnahmen bestimmt und umgesetzt hat.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Insofern gilt der folgende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Zusammenhang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zwischen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Risikohöhe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im Sinne eines Ausgangsrisikos, und der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Schutzbedarfsstufe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endParaRPr lang="de-DE" sz="2400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3F4102D6-B2C2-F868-A073-767C64AC5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27251"/>
            <a:ext cx="5181600" cy="484971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kein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geringes Risiko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Verarbeitung: normaler Schutzbedarf für von der Verarbeitung betroffene Personen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normales Risiko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Verarbeitung: normaler Schutzbedarf für von der Verarbeitung betroffene Personen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hohes Risiko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Verarbeitung: hoher Schutzbedarf für von der Verarbeitung betroffene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B4596C-D53F-EE50-7D73-493D6699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6061C8-7A14-E616-1300-7192D9E4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6078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9BD38BB-A994-0209-30D2-2B8A25DD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2194"/>
          </a:xfrm>
        </p:spPr>
        <p:txBody>
          <a:bodyPr/>
          <a:lstStyle/>
          <a:p>
            <a:r>
              <a:rPr lang="de-DE" dirty="0"/>
              <a:t>KRITIS (Kritische Infrastrukturen)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920468A-EDC9-8306-BCC2-9BE5C5DBE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511"/>
            <a:ext cx="10515600" cy="4766452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Kritische Infrastrukturen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(KRITIS) sind Organisationen und Einrichtungen mit wichtiger Bedeutung für das staatliche Gemeinwesen, bei deren Ausfall oder Beeinträchtigung nachhaltig wirkende Versorgungsengpässe,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erhebliche Störungen der öffentlichen Sicherheit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oder andere dramatische Folgen eintreten würden.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KRITIS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gilt für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Deutschland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NIS2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gilt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EU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-weit.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852BC0-B00D-DBFA-7022-02B9450D4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7E27D7-617C-F90D-D659-6A764886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60577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0B2E385-56F9-E4DE-6A53-BACE4F3A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1013"/>
          </a:xfrm>
        </p:spPr>
        <p:txBody>
          <a:bodyPr/>
          <a:lstStyle/>
          <a:p>
            <a:r>
              <a:rPr lang="de-DE" dirty="0"/>
              <a:t>KRITIS Sektoren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2E85594-C5D6-384B-D264-DDD8609FF4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Energie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Informationstechnik und Telekommunikation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Transport und Verkehr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Gesundheit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Medien und Kultur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Wasser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Ernährung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Finanz- und Versicherungswesen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Siedlungsabfallentsorgung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de-D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Staat und Verwaltung</a:t>
            </a:r>
          </a:p>
          <a:p>
            <a:endParaRPr lang="de-DE" dirty="0"/>
          </a:p>
        </p:txBody>
      </p:sp>
      <p:pic>
        <p:nvPicPr>
          <p:cNvPr id="10" name="Inhaltsplatzhalter 9" descr="Ein Bild, das Kreis, Grafiken, Schwarzweiß, Screenshot enthält.&#10;&#10;KI-generierte Inhalte können fehlerhaft sein.">
            <a:extLst>
              <a:ext uri="{FF2B5EF4-FFF2-40B4-BE49-F238E27FC236}">
                <a16:creationId xmlns:a16="http://schemas.microsoft.com/office/drawing/2014/main" id="{809137D0-6A46-E5A6-8569-2E6BCA7DC9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691" y="1646238"/>
            <a:ext cx="7390337" cy="4322227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9E88AA-F47D-4CA3-FB43-CA717A37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A69C24-A5C5-92D4-C483-332319F8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3691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5AAE6EA-BB4C-197B-DAFC-B547C60B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1649"/>
          </a:xfrm>
        </p:spPr>
        <p:txBody>
          <a:bodyPr/>
          <a:lstStyle/>
          <a:p>
            <a:r>
              <a:rPr lang="de-DE" dirty="0"/>
              <a:t>NIS2-betroffene Einrichtungen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1F9BD0D-B38E-0F76-9C5C-70776ECE2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7515"/>
            <a:ext cx="5181600" cy="465944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DNS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-Diensteanbieter,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TLD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-Namenregister,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 von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Cloud-Computing-Diensten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 von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Rechenzentrumsdiensten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Betreiber von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Inhaltszustellnetzen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 verwalteter Dienste (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MSP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</a:t>
            </a:r>
          </a:p>
          <a:p>
            <a:endParaRPr lang="de-DE" sz="24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8C1FF14-D445-0DB5-D8EC-18FEBE7C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17515"/>
            <a:ext cx="5181600" cy="465944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 verwalteter Sicherheitsdienste (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MSSP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 von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Online-Marktplätzen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Online-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Suchmaschinen</a:t>
            </a:r>
            <a:endParaRPr lang="de-DE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Plattformen für Dienste </a:t>
            </a: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sozialer Netzwerke</a:t>
            </a:r>
            <a:endParaRPr lang="de-DE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de-DE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Vertrauensdienste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anbieter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(Zeitstempel, elektr. Signatur)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896F42-00AE-47F7-EE15-1BFEB5C56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116A68-A4EA-1ECA-B369-6017E514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241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053BCB-0902-2A9D-97B1-AE3AEA30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837"/>
          </a:xfrm>
        </p:spPr>
        <p:txBody>
          <a:bodyPr/>
          <a:lstStyle/>
          <a:p>
            <a:r>
              <a:rPr lang="de-DE" dirty="0"/>
              <a:t>Ziele von NIS2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F4BB68-3AFE-EB5E-B1E0-2954E1C9B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962"/>
            <a:ext cx="10515600" cy="491246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lphaL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Konzepte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Bezug auf die Risikoanalyse und Sicherheit für Informationssysteme;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Bewältigung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von Sicherheitsvorfällen;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Aufrechterhaltung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 Betriebs, wie Backup-Management und Wiederherstellung nach einem Notfall, und Krisenmanagement;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Sicherheit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Lieferkette einschließlich sicherheitsbezogener Aspekte der Beziehungen zwischen den einzelnen Einrichtungen und ihren unmittelbaren Anbietern oder Diensteanbietern;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de-DE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Sicherheitsmaßnahmen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bei Erwerb, Entwicklung und Wartung von Netz- und Informationssystemen, einschließlich Management und Offenlegung von Schwachstellen;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3AC744-1E8C-5D4E-2DD5-263555967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B155D1-BDA7-854D-0B40-994228F44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64357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9EF793-BCA4-1BF5-FBD3-1C5047B43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5930"/>
          </a:xfrm>
        </p:spPr>
        <p:txBody>
          <a:bodyPr/>
          <a:lstStyle/>
          <a:p>
            <a:r>
              <a:rPr lang="de-DE" dirty="0"/>
              <a:t>Ziele von NIS2 </a:t>
            </a:r>
            <a:r>
              <a:rPr lang="de-DE" sz="2800" dirty="0"/>
              <a:t>(Fortsetzung)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8AE77E-6024-F130-4031-1CEC260C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056"/>
            <a:ext cx="10515600" cy="4965294"/>
          </a:xfrm>
        </p:spPr>
        <p:txBody>
          <a:bodyPr>
            <a:noAutofit/>
          </a:bodyPr>
          <a:lstStyle/>
          <a:p>
            <a:pPr marL="457200" lvl="0" indent="-457200">
              <a:lnSpc>
                <a:spcPct val="107000"/>
              </a:lnSpc>
              <a:buFont typeface="+mj-lt"/>
              <a:buAutoNum type="alphaLcPeriod" startAt="6"/>
            </a:pP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Konzepte und Verfahren zur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Bewertung der Wirksamkeit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von Risikomanagementmaßnahmen im Bereich der Cybersicherheit;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 startAt="6"/>
            </a:pP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grundlegende Verfahren im Bereich der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Cyberhygiene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Schulungen im Bereich der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Cybersicherheit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 startAt="6"/>
            </a:pP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Konzepte und Verfahren für den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Einsatz von Kryptografie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gegebenenfalls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Verschlüsselung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eriod" startAt="6"/>
            </a:pP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Sicherheit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 Personals, Konzepte für die Zugriffskontrolle und Management von Anlagen;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eriod" startAt="6"/>
            </a:pP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Verwendung von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Lösungen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zur Multi-Faktor-Authentifizierung oder kontinuierlichen Authentifizierung, gesicherte Sprach-, Video- und Textkommunikation sowie gegebenenfalls gesicherte </a:t>
            </a:r>
            <a:r>
              <a:rPr lang="de-DE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Notfallkommunikationssysteme</a:t>
            </a:r>
            <a:r>
              <a:rPr lang="de-DE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innerhalb der Einrichtung.</a:t>
            </a:r>
          </a:p>
          <a:p>
            <a:endParaRPr lang="de-DE" sz="22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CB097F-9B3B-E18F-E886-7C897232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F2CFEB-E7BA-4D28-46E9-9C7B4ECB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CE166D-2D50-44F1-A818-BFD238545C9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440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60DBE8D-C8C6-416B-9253-775EFAF9204E}"/>
</file>

<file path=customXml/itemProps2.xml><?xml version="1.0" encoding="utf-8"?>
<ds:datastoreItem xmlns:ds="http://schemas.openxmlformats.org/officeDocument/2006/customXml" ds:itemID="{291ECB11-2B97-4100-9A14-E375A41F727B}"/>
</file>

<file path=customXml/itemProps3.xml><?xml version="1.0" encoding="utf-8"?>
<ds:datastoreItem xmlns:ds="http://schemas.openxmlformats.org/officeDocument/2006/customXml" ds:itemID="{AA55FEA0-6332-49A3-8FD5-0373369A71D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3921</Words>
  <Application>Microsoft Office PowerPoint</Application>
  <PresentationFormat>Breitbild</PresentationFormat>
  <Paragraphs>436</Paragraphs>
  <Slides>53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53</vt:i4>
      </vt:variant>
    </vt:vector>
  </HeadingPairs>
  <TitlesOfParts>
    <vt:vector size="62" baseType="lpstr">
      <vt:lpstr>Meiryo</vt:lpstr>
      <vt:lpstr>Aptos</vt:lpstr>
      <vt:lpstr>Aptos Display</vt:lpstr>
      <vt:lpstr>Arial</vt:lpstr>
      <vt:lpstr>Calibri</vt:lpstr>
      <vt:lpstr>Symbol</vt:lpstr>
      <vt:lpstr>Times New Roman</vt:lpstr>
      <vt:lpstr>Wingdings</vt:lpstr>
      <vt:lpstr>Office</vt:lpstr>
      <vt:lpstr>DATENSCHUTZ-SCHULUNG Teil 5: Zusammenfassung der Datenschutzthemen</vt:lpstr>
      <vt:lpstr>Datenschutz Teil 5</vt:lpstr>
      <vt:lpstr>Zusammenfassung Teil 1</vt:lpstr>
      <vt:lpstr>Zusammenfassung Teil 1</vt:lpstr>
      <vt:lpstr>DSGVO und BDSG</vt:lpstr>
      <vt:lpstr>DSGVO und BDSG: Zusammenfassung</vt:lpstr>
      <vt:lpstr>Skills der Informationssicherheit</vt:lpstr>
      <vt:lpstr>Unterschiede BSI Grundschutz zum SDM</vt:lpstr>
      <vt:lpstr>Unterschiede BSI Grundschutz zum SDM</vt:lpstr>
      <vt:lpstr>Notwendigkeit der Datensicherheit</vt:lpstr>
      <vt:lpstr>Zusammenfassung</vt:lpstr>
      <vt:lpstr>PowerPoint-Präsentation</vt:lpstr>
      <vt:lpstr>Need-To-Know Prinzip</vt:lpstr>
      <vt:lpstr>Zwecke von Rollen- und Rechtekonzepten</vt:lpstr>
      <vt:lpstr>Beispiele: Zutrittskontrolle</vt:lpstr>
      <vt:lpstr>Beispiele: Zugangskontrolle</vt:lpstr>
      <vt:lpstr>Beispiele: Zugriffskontrolle</vt:lpstr>
      <vt:lpstr>Verantwortlichkeiten im Unternehmen Beispiel Organigramm</vt:lpstr>
      <vt:lpstr>Lebenszyklus pbD als Schema</vt:lpstr>
      <vt:lpstr>Datenschutz Teil 5</vt:lpstr>
      <vt:lpstr>Die 9 Grundsätze des Datenschutzes</vt:lpstr>
      <vt:lpstr>Rechtmäßigkeit der Verarbeitung  Art. 6 (1) DSGVO</vt:lpstr>
      <vt:lpstr>Besondere Kategorie pb-Daten: Definition Art. 9 (1) DSGVO</vt:lpstr>
      <vt:lpstr>Verarbeitung besonderer Kategorien pbD</vt:lpstr>
      <vt:lpstr>Beschäftigtendatenschutz:  Warum BDSG und nicht DSGVO?</vt:lpstr>
      <vt:lpstr>Zusammenfassung (Rechtsgrundlagen der DV)</vt:lpstr>
      <vt:lpstr>Die Rechte betroffener Personen</vt:lpstr>
      <vt:lpstr>Anforderungen zu Betroffenenrechten</vt:lpstr>
      <vt:lpstr>Zeitpunkt der Information</vt:lpstr>
      <vt:lpstr>Zusammenfassung (Betroffenenrechte)</vt:lpstr>
      <vt:lpstr>Zusammenfassung (Betroffenenrechte)</vt:lpstr>
      <vt:lpstr>Zusammenfassung (Betroffenenrechte)</vt:lpstr>
      <vt:lpstr>TOMs (technisch-organisatorische Maßnahmen)</vt:lpstr>
      <vt:lpstr>Gewährleistung von TOMs</vt:lpstr>
      <vt:lpstr>TOMs gem. DSK, BSI; Aufsichtsbehörden</vt:lpstr>
      <vt:lpstr>Zusammenfassung</vt:lpstr>
      <vt:lpstr>Zusammenfassung (Fortsetzung)</vt:lpstr>
      <vt:lpstr>Zusammenfassung VVT</vt:lpstr>
      <vt:lpstr>Datenschutz Teil 5</vt:lpstr>
      <vt:lpstr>Zusammenfassung AV</vt:lpstr>
      <vt:lpstr>Datenschutzkonforme Vernichtung von Daten</vt:lpstr>
      <vt:lpstr>Löschkonzept</vt:lpstr>
      <vt:lpstr>Relevante Inhalte des TDDDG</vt:lpstr>
      <vt:lpstr>Relevante Inhalte des TDDDG (Fortsetzung)</vt:lpstr>
      <vt:lpstr>DDG (Digitale-Dienste-Gesetz)</vt:lpstr>
      <vt:lpstr>Datenschutz und Werbung</vt:lpstr>
      <vt:lpstr>Belästigende Werbung</vt:lpstr>
      <vt:lpstr>Das Standard-Datenschutzmodell (SDM)</vt:lpstr>
      <vt:lpstr>KRITIS (Kritische Infrastrukturen)</vt:lpstr>
      <vt:lpstr>KRITIS Sektoren</vt:lpstr>
      <vt:lpstr>NIS2-betroffene Einrichtungen</vt:lpstr>
      <vt:lpstr>Ziele von NIS2</vt:lpstr>
      <vt:lpstr>Ziele von NIS2 (Fortsetzung)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90</cp:revision>
  <dcterms:created xsi:type="dcterms:W3CDTF">2025-05-19T19:06:41Z</dcterms:created>
  <dcterms:modified xsi:type="dcterms:W3CDTF">2025-06-11T12:24:10Z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