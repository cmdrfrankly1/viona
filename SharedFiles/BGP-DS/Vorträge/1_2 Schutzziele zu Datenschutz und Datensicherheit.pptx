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6" r:id="rId5"/>
    <p:sldId id="258" r:id="rId6"/>
    <p:sldId id="286" r:id="rId7"/>
    <p:sldId id="289" r:id="rId8"/>
    <p:sldId id="290" r:id="rId9"/>
    <p:sldId id="291" r:id="rId10"/>
    <p:sldId id="292" r:id="rId11"/>
    <p:sldId id="293" r:id="rId12"/>
    <p:sldId id="352" r:id="rId13"/>
    <p:sldId id="353" r:id="rId14"/>
    <p:sldId id="294" r:id="rId15"/>
    <p:sldId id="295" r:id="rId16"/>
    <p:sldId id="296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1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29.09.2026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29.09.2026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29.09.2026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29.09.2026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29.09.2026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29.09.2026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29.09.2026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29.09.2026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29.09.2026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29.09.2026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29.09.2026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29.09.2026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065159"/>
            <a:ext cx="10592174" cy="105202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/>
              <a:t>Teil 1 </a:t>
            </a:r>
            <a:r>
              <a:rPr lang="de-DE" sz="4000" b="1" dirty="0">
                <a:solidFill>
                  <a:srgbClr val="0070C0"/>
                </a:solidFill>
              </a:rPr>
              <a:t>Datenschutz und Datensicherheit</a:t>
            </a:r>
            <a:br>
              <a:rPr lang="de-DE" sz="4000" dirty="0">
                <a:solidFill>
                  <a:schemeClr val="tx2"/>
                </a:solidFill>
              </a:rPr>
            </a:br>
            <a:endParaRPr lang="de-DE" sz="4000" dirty="0">
              <a:solidFill>
                <a:schemeClr val="tx2"/>
              </a:solidFill>
            </a:endParaRP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3"/>
            <a:ext cx="10515600" cy="41925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1: </a:t>
            </a:r>
            <a:r>
              <a:rPr lang="de-DE" b="1" dirty="0"/>
              <a:t>Datenschutz und Datensicherheit</a:t>
            </a:r>
            <a:br>
              <a:rPr lang="de-DE" b="1" dirty="0"/>
            </a:br>
            <a:endParaRPr lang="de-DE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1.1: </a:t>
            </a:r>
            <a:r>
              <a:rPr lang="de-DE" b="1" dirty="0"/>
              <a:t>Einführung in den Datenschutz</a:t>
            </a:r>
            <a:br>
              <a:rPr lang="de-DE" b="1" dirty="0"/>
            </a:br>
            <a:r>
              <a:rPr lang="de-DE" dirty="0"/>
              <a:t>DSGVO, BDSG, Begriffsbestimmungen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1.2: </a:t>
            </a:r>
            <a:r>
              <a:rPr lang="de-DE" b="1" dirty="0"/>
              <a:t>Schutzziele / Schutzobjekte</a:t>
            </a:r>
            <a:br>
              <a:rPr lang="de-DE" b="1" dirty="0"/>
            </a:br>
            <a:r>
              <a:rPr lang="de-DE" dirty="0"/>
              <a:t>Informationssicherheit, Abgrenzung BSI zu SDM, TOMs,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1.3: </a:t>
            </a:r>
            <a:r>
              <a:rPr lang="de-DE" b="1" dirty="0"/>
              <a:t>Verantwortlichkeiten im Unternehmen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1.4: </a:t>
            </a:r>
            <a:r>
              <a:rPr lang="de-DE" b="1" dirty="0"/>
              <a:t>Lebenszyklus </a:t>
            </a:r>
            <a:r>
              <a:rPr lang="de-DE" b="1" dirty="0" err="1"/>
              <a:t>pb</a:t>
            </a:r>
            <a:r>
              <a:rPr lang="de-DE" b="1" dirty="0"/>
              <a:t> Daten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1.5: </a:t>
            </a:r>
            <a:r>
              <a:rPr lang="de-DE" b="1" dirty="0"/>
              <a:t>Fragen, Beispiele &amp; Übungen</a:t>
            </a:r>
          </a:p>
          <a:p>
            <a:endParaRPr lang="de-DE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 Stunden Theorie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Stunden Praxis</a:t>
            </a:r>
          </a:p>
          <a:p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26CA-1BB5-D9E4-C2F3-0EB9B313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 descr="Ein Bild, das Kreis, Licht, Kunst enthält.&#10;&#10;KI-generierte Inhalte können fehlerhaft sein.">
            <a:extLst>
              <a:ext uri="{FF2B5EF4-FFF2-40B4-BE49-F238E27FC236}">
                <a16:creationId xmlns:a16="http://schemas.microsoft.com/office/drawing/2014/main" id="{E48E58F1-6F7A-E3B1-A93A-4C019783D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89" b="2807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7D8F35-8BFB-3EDF-CB96-2547293B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1.2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0E625-5C1D-BEF7-A788-BA5DF4D3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 err="1">
                <a:solidFill>
                  <a:schemeClr val="tx1"/>
                </a:solidFill>
              </a:rPr>
              <a:t>Schutzziele</a:t>
            </a:r>
            <a:r>
              <a:rPr lang="en-US" sz="2000" b="1" dirty="0">
                <a:solidFill>
                  <a:schemeClr val="tx1"/>
                </a:solidFill>
              </a:rPr>
              <a:t> / </a:t>
            </a:r>
            <a:r>
              <a:rPr lang="en-US" sz="2000" b="1" dirty="0" err="1">
                <a:solidFill>
                  <a:schemeClr val="tx1"/>
                </a:solidFill>
              </a:rPr>
              <a:t>Schutzobjekte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dirty="0" err="1">
                <a:solidFill>
                  <a:schemeClr val="tx1"/>
                </a:solidFill>
              </a:rPr>
              <a:t>im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Datenschutz</a:t>
            </a:r>
            <a:r>
              <a:rPr lang="en-US" sz="2000" dirty="0">
                <a:solidFill>
                  <a:schemeClr val="tx1"/>
                </a:solidFill>
              </a:rPr>
              <a:t> und in der </a:t>
            </a:r>
            <a:r>
              <a:rPr lang="en-US" sz="2000" dirty="0" err="1">
                <a:solidFill>
                  <a:schemeClr val="tx1"/>
                </a:solidFill>
              </a:rPr>
              <a:t>Informationssicherheit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F10496-2CA2-8CFB-B7E3-BA229B3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3640" y="6356350"/>
            <a:ext cx="32785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C658C-B999-DEFF-0A1A-E2F9091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4733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E65D-F222-3C43-88B1-1962594C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6E8AC-4B3A-B67B-05A2-D86D621B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sz="4400" dirty="0"/>
              <a:t>Der </a:t>
            </a:r>
            <a:r>
              <a:rPr lang="en-US" sz="4400" dirty="0" err="1"/>
              <a:t>Beginn</a:t>
            </a:r>
            <a:r>
              <a:rPr lang="en-US" sz="4400" dirty="0"/>
              <a:t>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7112CC-95A2-3119-91D0-2C9127F2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Urteil Bundesverfassungsgericht in 2008:</a:t>
            </a:r>
            <a:endParaRPr lang="de-DE" sz="2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„Ein Grundrecht auf Vertraulichkeit und Integrität informationstechnischer Systeme besteht.“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"/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sogenannte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IT-Grundrecht.</a:t>
            </a:r>
            <a:endParaRPr lang="de-DE" sz="2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Datensicherheit besitzt mit schnell wachsender Digitalisierung immer größere Bedeutung:</a:t>
            </a:r>
          </a:p>
          <a:p>
            <a:pPr>
              <a:lnSpc>
                <a:spcPct val="107000"/>
              </a:lnSpc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Internet </a:t>
            </a:r>
            <a:r>
              <a:rPr lang="de-DE" sz="2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Things (IoT)</a:t>
            </a:r>
          </a:p>
          <a:p>
            <a:pPr>
              <a:lnSpc>
                <a:spcPct val="107000"/>
              </a:lnSpc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Smartphones</a:t>
            </a:r>
          </a:p>
          <a:p>
            <a:pPr>
              <a:lnSpc>
                <a:spcPct val="107000"/>
              </a:lnSpc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Assistenzsysteme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kern="100" dirty="0"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tc.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b="1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Verantwortliche müssen die Daten der Betroffenen mit allen zur Verfügung stehenden rechtlichen Mitteln schützen.</a:t>
            </a:r>
            <a:endParaRPr lang="de-DE" sz="2600" kern="100" dirty="0">
              <a:effectLst/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AB907B-4D1A-CB8D-771B-1AC21380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5E863B-BFFB-D0C9-CB2F-8EFE7C82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328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5BAC1-E5AF-927B-8803-088C69A1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3B9D3-1A1E-1371-45D8-DD56744E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Allgemeines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565A01-65D6-C239-0BC5-19BC9CA79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einen wirksamen Datenschutz ist es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 technischer Sicht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notwendig, dass der DSB die ordnungsgemäße Anwendung der eingesetzten Datenverarbeitungsprogramme überprüfen kann.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Einblick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den Bereich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IT-Sicherheit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hinsichtlich häufiger Schwachstellen und der Bedrohungen beim Einsatz technischer Informations- und Speichersysteme (wie Datenbanken)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unvermeidbar und wichtig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der Tätigkeit als DSB.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Dazu gehören ein Repertoire an möglichen, zu ergreifenden Maßnahmen über die ein DSB / ISB verfügen sollte: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F49057-59B9-6DDB-66EB-CC66064A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AB6667-A045-D67B-0B7B-EEF25B7E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82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37E90-2A00-7EB8-541E-40C8670C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81738-603B-568D-9F2B-C654C2C55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Aspekte</a:t>
            </a:r>
            <a:r>
              <a:rPr lang="en-US" dirty="0"/>
              <a:t>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541096-27D7-69B8-0BC1-E3DA7354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Berechtigungskonzepte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Schutzziele und Schutzmaßnahmen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Konzepte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Datensicherung / Archivierung (inkl.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rechtl. Grundlagen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Kenntnisse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Risikobewertung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Risikomanagement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Praktische Hinweise zur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Gebäudesicherung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5C3989-CAD6-2CAF-0B93-85272004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788C14-27A0-2BB7-3123-5910E02D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906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9FC6-021E-1B52-7A2A-34968B89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648F16-9800-D767-F7B0-2203F8B99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/>
              <a:t>Skills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80B63F-45EE-9962-64C3-F1AA9AD4E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Hauptinhalte sind dann: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Abgrenzung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Bedingtheit des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Datenschutzes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Informationssicherheit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Gesetzl. Grundlagen zu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TOMs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Allg. Anforderungen an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IT-Sicherheit, Schutzziele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 DSGVO und BSI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Begriffe wie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Integrität, Vertraulichkeit, Pseudonymisierung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Kontrollarten wie: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Zutrittskontrolle, Zugangskontrolle, Eingabekontrolle, Zugriffskontrolle, Weitergabekontrolle, Auftragskontrolle, Verfügbarkeitskontrolle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Berechtigungskonzepte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7E95C8-2947-16FC-7998-BDE4452B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E106D7-14D5-6A7F-10ED-06444481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352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B070-2A98-6D61-2A70-EA6CDF45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D7C26-8E4D-93B5-D225-DB08033D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Grundsätze</a:t>
            </a:r>
            <a:r>
              <a:rPr lang="en-US" dirty="0"/>
              <a:t>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81A4DA-66FB-E748-BC10-515533B2B4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fünf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wesentlichen Anforderungen der Informationssicherheit: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Sicherstellung der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Vertraulichkeit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von Daten und Programmen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Authentizität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Nicht-</a:t>
            </a:r>
            <a:r>
              <a:rPr lang="de-DE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Abstreitbarkeit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hinsichtlich der Benutzung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Jederzeitige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Verfügbarkeit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der Hard- und Software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nhaltsplatzhalter 9" descr="Ein Bild, das Text, Screenshot, Schrift, Grafikdesign enthält.&#10;&#10;KI-generierte Inhalte können fehlerhaft sein.">
            <a:extLst>
              <a:ext uri="{FF2B5EF4-FFF2-40B4-BE49-F238E27FC236}">
                <a16:creationId xmlns:a16="http://schemas.microsoft.com/office/drawing/2014/main" id="{97A26D6D-9EC4-6236-3928-D24EC1D343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887" y="1825625"/>
            <a:ext cx="6380671" cy="359854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62DE53-3296-37F6-4D73-A2694D9D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A003A0-3DC2-6EC2-6D9A-569B413A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31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CA0DA4D-26DC-2A7E-4718-3E8170AB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Unterschiede BSI Grundschutz zum SDM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95E6D1C-55A3-B446-FF20-CD51ABA9C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Der quantitative Risikoansatz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im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BSI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(Bundesamt für Sicherheit in der Informationstechnik) bezieht sich auf die Bewertung von Risiken in der IT-Sicherheit, bei der die Wahrscheinlichkeit des Eintritts einer Gefährdung und die Höhe des möglichen Schadens mit Zahlenwerten oder anderen messbaren Größen beschrieben werden. </a:t>
            </a:r>
            <a:r>
              <a:rPr lang="de-DE" u="sng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Aufgabe: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ISB</a:t>
            </a:r>
            <a:b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Dies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steht im Gegensatz 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zur qualitativen Bewertung (siehe SDM), bei den Risiken in Kategorien wie "niedrig", "mittel" oder "hoch" eingestuft werden.</a:t>
            </a:r>
            <a:b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de-D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1ECE84-8088-89B6-11AE-4602E5CA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E09F27-EA2D-D05C-25EB-0AA9926F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445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ACDF5-B2BF-CBBB-1A99-03F7FC4D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Unterschiede BSI Grundschutz zum SDM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17981F-816F-C2DC-0F5B-DC4D74A34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Der qualitative Risikoansatz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durch das Standard-Datenschutzmodell (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SDM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wird durch ein Rahmenwerk und eine systematische Vorgehensweise erreicht, die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Auswahl und Bewertung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technischen und organisatorischen Maßnahmen (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unterstützt, um die Anforderungen der Datenschutz-Grundverordnung (DSGVO) in der Praxis umzusetzen. Das SDM hilft,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Einhaltung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DSGVO zu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gewährleisten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Nachweise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für rechtskonforme Datenverarbeitung zu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erbringen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Aufgabe: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DSB</a:t>
            </a:r>
            <a:endParaRPr lang="de-D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0127EF-6C76-26CC-715C-AE9FA64E7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BAEFB8-62B8-1453-BFAC-5576ABB8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287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5191A-FF3F-F9E1-452A-4D445722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48300-FBA3-2A26-EB17-BBF868F0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Anforderungen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TOMs </a:t>
            </a:r>
            <a:r>
              <a:rPr lang="en-US" dirty="0" err="1"/>
              <a:t>erfüllt</a:t>
            </a:r>
            <a:endParaRPr lang="de-DE" dirty="0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91EA6A74-D0A6-30AF-AE54-87E879AC2E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349461"/>
              </p:ext>
            </p:extLst>
          </p:nvPr>
        </p:nvGraphicFramePr>
        <p:xfrm>
          <a:off x="979251" y="1404588"/>
          <a:ext cx="9798996" cy="2457293"/>
        </p:xfrm>
        <a:graphic>
          <a:graphicData uri="http://schemas.openxmlformats.org/drawingml/2006/table">
            <a:tbl>
              <a:tblPr firstRow="1" firstCol="1" bandRow="1"/>
              <a:tblGrid>
                <a:gridCol w="2714017">
                  <a:extLst>
                    <a:ext uri="{9D8B030D-6E8A-4147-A177-3AD203B41FA5}">
                      <a16:colId xmlns:a16="http://schemas.microsoft.com/office/drawing/2014/main" val="293465751"/>
                    </a:ext>
                  </a:extLst>
                </a:gridCol>
                <a:gridCol w="7084979">
                  <a:extLst>
                    <a:ext uri="{9D8B030D-6E8A-4147-A177-3AD203B41FA5}">
                      <a16:colId xmlns:a16="http://schemas.microsoft.com/office/drawing/2014/main" val="3539143772"/>
                    </a:ext>
                  </a:extLst>
                </a:gridCol>
              </a:tblGrid>
              <a:tr h="7042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Integrität 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der Daten</a:t>
                      </a: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de-DE" sz="2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Unversehrtheit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und </a:t>
                      </a: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Richtigkeit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der Daten ohne unrechtmäßige Veränderung</a:t>
                      </a:r>
                      <a:endParaRPr lang="de-DE" sz="2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455057"/>
                  </a:ext>
                </a:extLst>
              </a:tr>
              <a:tr h="7042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Vertraulichkeit:</a:t>
                      </a:r>
                      <a:endParaRPr lang="de-DE" sz="2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Keine unbefugte Offenlegung</a:t>
                      </a:r>
                      <a:r>
                        <a:rPr lang="de-DE" sz="2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von Daten gegenüber unbefugten Personen</a:t>
                      </a:r>
                      <a:endParaRPr lang="de-DE" sz="2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256477"/>
                  </a:ext>
                </a:extLst>
              </a:tr>
              <a:tr h="7042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Authentizität:</a:t>
                      </a:r>
                      <a:endParaRPr lang="de-DE" sz="2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Echtheit, Überprüfbarkeit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und </a:t>
                      </a: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Vertrauenswürdigkeit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von Daten</a:t>
                      </a:r>
                      <a:endParaRPr lang="de-DE" sz="2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572953"/>
                  </a:ext>
                </a:extLst>
              </a:tr>
              <a:tr h="3445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Verfügbarkeit:</a:t>
                      </a:r>
                      <a:endParaRPr lang="de-DE" sz="2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 sind </a:t>
                      </a: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mehrfach gesichert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(Backup)</a:t>
                      </a:r>
                      <a:endParaRPr lang="de-DE" sz="2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242251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C35BAA-7A63-58EA-77B6-45490576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9C8156-78F3-A18B-D313-C88DFB3C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342451C-F836-85FF-E3B0-CA9991CDEB1B}"/>
              </a:ext>
            </a:extLst>
          </p:cNvPr>
          <p:cNvSpPr txBox="1"/>
          <p:nvPr/>
        </p:nvSpPr>
        <p:spPr>
          <a:xfrm>
            <a:off x="979251" y="4060239"/>
            <a:ext cx="10233498" cy="1993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Forderungen der Informationssicherheit müssen so definiert sein:</a:t>
            </a:r>
            <a:r>
              <a:rPr lang="de-DE" sz="2000" b="1" u="none" strike="noStrike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Datenbestände müssen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vertraulich und integer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bleiben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Nutzende müssen immer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identifiziert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werden können, d.h. vor der Nutzung findet immer eine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Authentifizierung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statt und nach der Nutzung kann diese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niemand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abstreiten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Datenbestände müssen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wiederherstellbar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sein (im Rahmen gesetzlicher Vorgaben) und die Systeme sollten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ohne Verzug nutzbar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sein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07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87085-56E0-8F6E-BC37-E65A48FB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68FD5-DD7A-43C7-8DEA-1F5DB3CB5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1627DF-6A61-DE03-6900-75CF7998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746" y="3703975"/>
            <a:ext cx="4337858" cy="2398713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Notwendigkeit der Datensicherheit</a:t>
            </a:r>
            <a:endParaRPr lang="de-DE" sz="4000"/>
          </a:p>
        </p:txBody>
      </p:sp>
      <p:pic>
        <p:nvPicPr>
          <p:cNvPr id="9" name="Grafik 8" descr="Ein Bild, das Augen, Screenshot, Digitales Compositing, Kunst enthält.&#10;&#10;KI-generierte Inhalte können fehlerhaft sein.">
            <a:extLst>
              <a:ext uri="{FF2B5EF4-FFF2-40B4-BE49-F238E27FC236}">
                <a16:creationId xmlns:a16="http://schemas.microsoft.com/office/drawing/2014/main" id="{0FD9DDD0-18DF-9817-F61E-1C88CB659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1"/>
          <a:stretch>
            <a:fillRect/>
          </a:stretch>
        </p:blipFill>
        <p:spPr>
          <a:xfrm>
            <a:off x="2" y="10"/>
            <a:ext cx="12191999" cy="3154014"/>
          </a:xfrm>
          <a:custGeom>
            <a:avLst/>
            <a:gdLst/>
            <a:ahLst/>
            <a:cxnLst/>
            <a:rect l="l" t="t" r="r" b="b"/>
            <a:pathLst>
              <a:path w="12191999" h="3428999">
                <a:moveTo>
                  <a:pt x="0" y="0"/>
                </a:moveTo>
                <a:lnTo>
                  <a:pt x="12191999" y="0"/>
                </a:lnTo>
                <a:lnTo>
                  <a:pt x="12191999" y="920893"/>
                </a:lnTo>
                <a:lnTo>
                  <a:pt x="12191999" y="1514929"/>
                </a:lnTo>
                <a:lnTo>
                  <a:pt x="12191999" y="3130902"/>
                </a:lnTo>
                <a:lnTo>
                  <a:pt x="12188051" y="3131476"/>
                </a:lnTo>
                <a:cubicBezTo>
                  <a:pt x="12153000" y="3135813"/>
                  <a:pt x="12133655" y="3136025"/>
                  <a:pt x="12112012" y="3138906"/>
                </a:cubicBezTo>
                <a:cubicBezTo>
                  <a:pt x="12076970" y="3145595"/>
                  <a:pt x="12039899" y="3160769"/>
                  <a:pt x="12018752" y="3165642"/>
                </a:cubicBezTo>
                <a:lnTo>
                  <a:pt x="11985122" y="3168147"/>
                </a:lnTo>
                <a:lnTo>
                  <a:pt x="11986344" y="3172878"/>
                </a:lnTo>
                <a:lnTo>
                  <a:pt x="11973852" y="3173226"/>
                </a:lnTo>
                <a:lnTo>
                  <a:pt x="11945968" y="3173341"/>
                </a:lnTo>
                <a:cubicBezTo>
                  <a:pt x="11928568" y="3174057"/>
                  <a:pt x="11880184" y="3172923"/>
                  <a:pt x="11862470" y="3174654"/>
                </a:cubicBezTo>
                <a:cubicBezTo>
                  <a:pt x="11857360" y="3179700"/>
                  <a:pt x="11849473" y="3182451"/>
                  <a:pt x="11839688" y="3183726"/>
                </a:cubicBezTo>
                <a:lnTo>
                  <a:pt x="11818138" y="3183868"/>
                </a:lnTo>
                <a:lnTo>
                  <a:pt x="11693161" y="3196027"/>
                </a:lnTo>
                <a:lnTo>
                  <a:pt x="11675978" y="3196936"/>
                </a:lnTo>
                <a:lnTo>
                  <a:pt x="11666672" y="3201013"/>
                </a:lnTo>
                <a:cubicBezTo>
                  <a:pt x="11659568" y="3201827"/>
                  <a:pt x="11639160" y="3201301"/>
                  <a:pt x="11633348" y="3201823"/>
                </a:cubicBezTo>
                <a:lnTo>
                  <a:pt x="11631806" y="3204144"/>
                </a:lnTo>
                <a:cubicBezTo>
                  <a:pt x="11613292" y="3207852"/>
                  <a:pt x="11543654" y="3220200"/>
                  <a:pt x="11522270" y="3224070"/>
                </a:cubicBezTo>
                <a:cubicBezTo>
                  <a:pt x="11517998" y="3220503"/>
                  <a:pt x="11508432" y="3226137"/>
                  <a:pt x="11503503" y="3227361"/>
                </a:cubicBezTo>
                <a:cubicBezTo>
                  <a:pt x="11502740" y="3224959"/>
                  <a:pt x="11490808" y="3224226"/>
                  <a:pt x="11487288" y="3226364"/>
                </a:cubicBezTo>
                <a:cubicBezTo>
                  <a:pt x="11403406" y="3238085"/>
                  <a:pt x="11445394" y="3213864"/>
                  <a:pt x="11397514" y="3229209"/>
                </a:cubicBezTo>
                <a:cubicBezTo>
                  <a:pt x="11389044" y="3230225"/>
                  <a:pt x="11382180" y="3229256"/>
                  <a:pt x="11376160" y="3227461"/>
                </a:cubicBezTo>
                <a:lnTo>
                  <a:pt x="11367180" y="3223774"/>
                </a:lnTo>
                <a:lnTo>
                  <a:pt x="11332420" y="3230742"/>
                </a:lnTo>
                <a:cubicBezTo>
                  <a:pt x="11315298" y="3233171"/>
                  <a:pt x="11297277" y="3234781"/>
                  <a:pt x="11278786" y="3235517"/>
                </a:cubicBezTo>
                <a:cubicBezTo>
                  <a:pt x="11274637" y="3230607"/>
                  <a:pt x="11260123" y="3237582"/>
                  <a:pt x="11253295" y="3238964"/>
                </a:cubicBezTo>
                <a:cubicBezTo>
                  <a:pt x="11253224" y="3235757"/>
                  <a:pt x="11238096" y="3234220"/>
                  <a:pt x="11232727" y="3236871"/>
                </a:cubicBezTo>
                <a:cubicBezTo>
                  <a:pt x="11119903" y="3248332"/>
                  <a:pt x="11183388" y="3218382"/>
                  <a:pt x="11115682" y="3236341"/>
                </a:cubicBezTo>
                <a:cubicBezTo>
                  <a:pt x="11104356" y="3237278"/>
                  <a:pt x="11095858" y="3235671"/>
                  <a:pt x="11088768" y="3233017"/>
                </a:cubicBezTo>
                <a:lnTo>
                  <a:pt x="11076012" y="3226390"/>
                </a:lnTo>
                <a:lnTo>
                  <a:pt x="11066016" y="3228753"/>
                </a:lnTo>
                <a:cubicBezTo>
                  <a:pt x="11028292" y="3228939"/>
                  <a:pt x="11017169" y="3222147"/>
                  <a:pt x="10995221" y="3228989"/>
                </a:cubicBezTo>
                <a:cubicBezTo>
                  <a:pt x="10962786" y="3214768"/>
                  <a:pt x="10973708" y="3227571"/>
                  <a:pt x="10949038" y="3229747"/>
                </a:cubicBezTo>
                <a:cubicBezTo>
                  <a:pt x="10929576" y="3232582"/>
                  <a:pt x="10965306" y="3238039"/>
                  <a:pt x="10946231" y="3238844"/>
                </a:cubicBezTo>
                <a:cubicBezTo>
                  <a:pt x="10925596" y="3235173"/>
                  <a:pt x="10926566" y="3246575"/>
                  <a:pt x="10905107" y="3242085"/>
                </a:cubicBezTo>
                <a:cubicBezTo>
                  <a:pt x="10910320" y="3233495"/>
                  <a:pt x="10862761" y="3243750"/>
                  <a:pt x="10861282" y="3236246"/>
                </a:cubicBezTo>
                <a:cubicBezTo>
                  <a:pt x="10843055" y="3246977"/>
                  <a:pt x="10833897" y="3233757"/>
                  <a:pt x="10809627" y="3237064"/>
                </a:cubicBezTo>
                <a:cubicBezTo>
                  <a:pt x="10798198" y="3241124"/>
                  <a:pt x="10789952" y="3241821"/>
                  <a:pt x="10778718" y="3237455"/>
                </a:cubicBezTo>
                <a:cubicBezTo>
                  <a:pt x="10726069" y="3257219"/>
                  <a:pt x="10746866" y="3238339"/>
                  <a:pt x="10697595" y="3245939"/>
                </a:cubicBezTo>
                <a:cubicBezTo>
                  <a:pt x="10655146" y="3253933"/>
                  <a:pt x="10607026" y="3259119"/>
                  <a:pt x="10565970" y="3278201"/>
                </a:cubicBezTo>
                <a:cubicBezTo>
                  <a:pt x="10558434" y="3283608"/>
                  <a:pt x="10539930" y="3285654"/>
                  <a:pt x="10524645" y="3282773"/>
                </a:cubicBezTo>
                <a:cubicBezTo>
                  <a:pt x="10522018" y="3282276"/>
                  <a:pt x="10519582" y="3281649"/>
                  <a:pt x="10517421" y="3280913"/>
                </a:cubicBezTo>
                <a:cubicBezTo>
                  <a:pt x="10481928" y="3283832"/>
                  <a:pt x="10352108" y="3296870"/>
                  <a:pt x="10311683" y="3300288"/>
                </a:cubicBezTo>
                <a:cubicBezTo>
                  <a:pt x="10308410" y="3293342"/>
                  <a:pt x="10287968" y="3305875"/>
                  <a:pt x="10274873" y="3301423"/>
                </a:cubicBezTo>
                <a:cubicBezTo>
                  <a:pt x="10265494" y="3297516"/>
                  <a:pt x="10257104" y="3300407"/>
                  <a:pt x="10247307" y="3300714"/>
                </a:cubicBezTo>
                <a:cubicBezTo>
                  <a:pt x="10234401" y="3297643"/>
                  <a:pt x="10192308" y="3303190"/>
                  <a:pt x="10181334" y="3307168"/>
                </a:cubicBezTo>
                <a:cubicBezTo>
                  <a:pt x="10155109" y="3320992"/>
                  <a:pt x="10095518" y="3310726"/>
                  <a:pt x="10073729" y="3321318"/>
                </a:cubicBezTo>
                <a:cubicBezTo>
                  <a:pt x="10065823" y="3322872"/>
                  <a:pt x="10058087" y="3323501"/>
                  <a:pt x="10050495" y="3323554"/>
                </a:cubicBezTo>
                <a:lnTo>
                  <a:pt x="10029247" y="3322387"/>
                </a:lnTo>
                <a:lnTo>
                  <a:pt x="10023206" y="3319426"/>
                </a:lnTo>
                <a:lnTo>
                  <a:pt x="10010221" y="3320159"/>
                </a:lnTo>
                <a:lnTo>
                  <a:pt x="10006500" y="3319709"/>
                </a:lnTo>
                <a:cubicBezTo>
                  <a:pt x="9999392" y="3318836"/>
                  <a:pt x="9992376" y="3318075"/>
                  <a:pt x="9985433" y="3317775"/>
                </a:cubicBezTo>
                <a:cubicBezTo>
                  <a:pt x="9994564" y="3332623"/>
                  <a:pt x="9927872" y="3317665"/>
                  <a:pt x="9947096" y="3329673"/>
                </a:cubicBezTo>
                <a:cubicBezTo>
                  <a:pt x="9910530" y="3330603"/>
                  <a:pt x="9938422" y="3341787"/>
                  <a:pt x="9894468" y="3331125"/>
                </a:cubicBezTo>
                <a:cubicBezTo>
                  <a:pt x="9837697" y="3343266"/>
                  <a:pt x="9748207" y="3338748"/>
                  <a:pt x="9703741" y="3357170"/>
                </a:cubicBezTo>
                <a:cubicBezTo>
                  <a:pt x="9709264" y="3350136"/>
                  <a:pt x="9685337" y="3344679"/>
                  <a:pt x="9668763" y="3348169"/>
                </a:cubicBezTo>
                <a:cubicBezTo>
                  <a:pt x="9688139" y="3320571"/>
                  <a:pt x="9603232" y="3373038"/>
                  <a:pt x="9588644" y="3354205"/>
                </a:cubicBezTo>
                <a:cubicBezTo>
                  <a:pt x="9587925" y="3371689"/>
                  <a:pt x="9513642" y="3401336"/>
                  <a:pt x="9478680" y="3386990"/>
                </a:cubicBezTo>
                <a:cubicBezTo>
                  <a:pt x="9425416" y="3390492"/>
                  <a:pt x="9387699" y="3404944"/>
                  <a:pt x="9331856" y="3399166"/>
                </a:cubicBezTo>
                <a:cubicBezTo>
                  <a:pt x="9330123" y="3401505"/>
                  <a:pt x="9327283" y="3403463"/>
                  <a:pt x="9323679" y="3405145"/>
                </a:cubicBezTo>
                <a:lnTo>
                  <a:pt x="9311620" y="3409223"/>
                </a:lnTo>
                <a:lnTo>
                  <a:pt x="9309289" y="3408926"/>
                </a:lnTo>
                <a:cubicBezTo>
                  <a:pt x="9300131" y="3408873"/>
                  <a:pt x="9295442" y="3409859"/>
                  <a:pt x="9292731" y="3411301"/>
                </a:cubicBezTo>
                <a:lnTo>
                  <a:pt x="9290814" y="3413412"/>
                </a:lnTo>
                <a:lnTo>
                  <a:pt x="9279990" y="3415541"/>
                </a:lnTo>
                <a:lnTo>
                  <a:pt x="9260104" y="3421077"/>
                </a:lnTo>
                <a:lnTo>
                  <a:pt x="9255034" y="3420853"/>
                </a:lnTo>
                <a:lnTo>
                  <a:pt x="9222941" y="3427242"/>
                </a:lnTo>
                <a:lnTo>
                  <a:pt x="9221858" y="3426731"/>
                </a:lnTo>
                <a:cubicBezTo>
                  <a:pt x="9218700" y="3425733"/>
                  <a:pt x="9214983" y="3425271"/>
                  <a:pt x="9210014" y="3425917"/>
                </a:cubicBezTo>
                <a:cubicBezTo>
                  <a:pt x="9208256" y="3416158"/>
                  <a:pt x="9203342" y="3422957"/>
                  <a:pt x="9188839" y="3425728"/>
                </a:cubicBezTo>
                <a:cubicBezTo>
                  <a:pt x="9182870" y="3411188"/>
                  <a:pt x="9147335" y="3424352"/>
                  <a:pt x="9132080" y="3417886"/>
                </a:cubicBezTo>
                <a:cubicBezTo>
                  <a:pt x="9121557" y="3420249"/>
                  <a:pt x="9110321" y="3422482"/>
                  <a:pt x="9098549" y="3424480"/>
                </a:cubicBezTo>
                <a:lnTo>
                  <a:pt x="9003970" y="3425484"/>
                </a:lnTo>
                <a:lnTo>
                  <a:pt x="8904921" y="3413774"/>
                </a:lnTo>
                <a:cubicBezTo>
                  <a:pt x="8868284" y="3413519"/>
                  <a:pt x="8836559" y="3409171"/>
                  <a:pt x="8805551" y="3412237"/>
                </a:cubicBezTo>
                <a:cubicBezTo>
                  <a:pt x="8792955" y="3408854"/>
                  <a:pt x="8781083" y="3407488"/>
                  <a:pt x="8769572" y="3412551"/>
                </a:cubicBezTo>
                <a:cubicBezTo>
                  <a:pt x="8735382" y="3410862"/>
                  <a:pt x="8727105" y="3403632"/>
                  <a:pt x="8705440" y="3409271"/>
                </a:cubicBezTo>
                <a:cubicBezTo>
                  <a:pt x="8686231" y="3397576"/>
                  <a:pt x="8685094" y="3402040"/>
                  <a:pt x="8676067" y="3405389"/>
                </a:cubicBezTo>
                <a:lnTo>
                  <a:pt x="8674779" y="3405628"/>
                </a:lnTo>
                <a:lnTo>
                  <a:pt x="8672154" y="3403956"/>
                </a:lnTo>
                <a:lnTo>
                  <a:pt x="8666720" y="3403182"/>
                </a:lnTo>
                <a:lnTo>
                  <a:pt x="8651886" y="3403680"/>
                </a:lnTo>
                <a:lnTo>
                  <a:pt x="8646307" y="3404298"/>
                </a:lnTo>
                <a:cubicBezTo>
                  <a:pt x="8642465" y="3404565"/>
                  <a:pt x="8639912" y="3404534"/>
                  <a:pt x="8638145" y="3404287"/>
                </a:cubicBezTo>
                <a:lnTo>
                  <a:pt x="8637941" y="3404149"/>
                </a:lnTo>
                <a:lnTo>
                  <a:pt x="8630296" y="3404406"/>
                </a:lnTo>
                <a:cubicBezTo>
                  <a:pt x="8617394" y="3405155"/>
                  <a:pt x="8604838" y="3406180"/>
                  <a:pt x="8592887" y="3407398"/>
                </a:cubicBezTo>
                <a:cubicBezTo>
                  <a:pt x="8582781" y="3399722"/>
                  <a:pt x="8538622" y="3408789"/>
                  <a:pt x="8543455" y="3394319"/>
                </a:cubicBezTo>
                <a:cubicBezTo>
                  <a:pt x="8527334" y="3395534"/>
                  <a:pt x="8517583" y="3401542"/>
                  <a:pt x="8523012" y="3392051"/>
                </a:cubicBezTo>
                <a:cubicBezTo>
                  <a:pt x="8517705" y="3392178"/>
                  <a:pt x="8514435" y="3391372"/>
                  <a:pt x="8512093" y="3390108"/>
                </a:cubicBezTo>
                <a:lnTo>
                  <a:pt x="8511416" y="3389513"/>
                </a:lnTo>
                <a:lnTo>
                  <a:pt x="8475551" y="3392450"/>
                </a:lnTo>
                <a:lnTo>
                  <a:pt x="8470789" y="3391736"/>
                </a:lnTo>
                <a:lnTo>
                  <a:pt x="8447414" y="3395064"/>
                </a:lnTo>
                <a:lnTo>
                  <a:pt x="8435335" y="3396028"/>
                </a:lnTo>
                <a:lnTo>
                  <a:pt x="8431923" y="3397855"/>
                </a:lnTo>
                <a:cubicBezTo>
                  <a:pt x="8428239" y="3398965"/>
                  <a:pt x="8422959" y="3399444"/>
                  <a:pt x="8414099" y="3398491"/>
                </a:cubicBezTo>
                <a:lnTo>
                  <a:pt x="8412049" y="3397978"/>
                </a:lnTo>
                <a:lnTo>
                  <a:pt x="8397349" y="3400683"/>
                </a:lnTo>
                <a:cubicBezTo>
                  <a:pt x="8392615" y="3401933"/>
                  <a:pt x="8388424" y="3403524"/>
                  <a:pt x="8385030" y="3405585"/>
                </a:cubicBezTo>
                <a:cubicBezTo>
                  <a:pt x="8334977" y="3394568"/>
                  <a:pt x="8287750" y="3404648"/>
                  <a:pt x="8233422" y="3402742"/>
                </a:cubicBezTo>
                <a:cubicBezTo>
                  <a:pt x="8209936" y="3385601"/>
                  <a:pt x="8116056" y="3406588"/>
                  <a:pt x="8102569" y="3423208"/>
                </a:cubicBezTo>
                <a:cubicBezTo>
                  <a:pt x="8102264" y="3408645"/>
                  <a:pt x="8034186" y="3428475"/>
                  <a:pt x="8016625" y="3428989"/>
                </a:cubicBezTo>
                <a:cubicBezTo>
                  <a:pt x="8010771" y="3429161"/>
                  <a:pt x="8010530" y="3427186"/>
                  <a:pt x="8020284" y="3421076"/>
                </a:cubicBezTo>
                <a:cubicBezTo>
                  <a:pt x="8001623" y="3422777"/>
                  <a:pt x="7982361" y="3415208"/>
                  <a:pt x="7992871" y="3409037"/>
                </a:cubicBezTo>
                <a:cubicBezTo>
                  <a:pt x="7936181" y="3422244"/>
                  <a:pt x="7852511" y="3409112"/>
                  <a:pt x="7788452" y="3415110"/>
                </a:cubicBezTo>
                <a:cubicBezTo>
                  <a:pt x="7753529" y="3400598"/>
                  <a:pt x="7772461" y="3414025"/>
                  <a:pt x="7736237" y="3411311"/>
                </a:cubicBezTo>
                <a:cubicBezTo>
                  <a:pt x="7746145" y="3424670"/>
                  <a:pt x="7692261" y="3403816"/>
                  <a:pt x="7690279" y="3418893"/>
                </a:cubicBezTo>
                <a:cubicBezTo>
                  <a:pt x="7683750" y="3417921"/>
                  <a:pt x="7677487" y="3416505"/>
                  <a:pt x="7671219" y="3414970"/>
                </a:cubicBezTo>
                <a:lnTo>
                  <a:pt x="7667928" y="3414173"/>
                </a:lnTo>
                <a:lnTo>
                  <a:pt x="7654774" y="3413595"/>
                </a:lnTo>
                <a:lnTo>
                  <a:pt x="7651067" y="3410171"/>
                </a:lnTo>
                <a:lnTo>
                  <a:pt x="7631267" y="3406963"/>
                </a:lnTo>
                <a:cubicBezTo>
                  <a:pt x="7623851" y="3406267"/>
                  <a:pt x="7615871" y="3406106"/>
                  <a:pt x="7607053" y="3406809"/>
                </a:cubicBezTo>
                <a:cubicBezTo>
                  <a:pt x="7585359" y="3412784"/>
                  <a:pt x="7551579" y="3405461"/>
                  <a:pt x="7521027" y="3405904"/>
                </a:cubicBezTo>
                <a:lnTo>
                  <a:pt x="7506997" y="3407754"/>
                </a:lnTo>
                <a:lnTo>
                  <a:pt x="7461204" y="3404669"/>
                </a:lnTo>
                <a:cubicBezTo>
                  <a:pt x="7448169" y="3404071"/>
                  <a:pt x="7434640" y="3403756"/>
                  <a:pt x="7420396" y="3403975"/>
                </a:cubicBezTo>
                <a:lnTo>
                  <a:pt x="7393955" y="3405447"/>
                </a:lnTo>
                <a:lnTo>
                  <a:pt x="7387024" y="3404227"/>
                </a:lnTo>
                <a:cubicBezTo>
                  <a:pt x="7374952" y="3404363"/>
                  <a:pt x="7358975" y="3408656"/>
                  <a:pt x="7360398" y="3403441"/>
                </a:cubicBezTo>
                <a:lnTo>
                  <a:pt x="7346837" y="3405249"/>
                </a:lnTo>
                <a:lnTo>
                  <a:pt x="7333451" y="3401087"/>
                </a:lnTo>
                <a:cubicBezTo>
                  <a:pt x="7331985" y="3400120"/>
                  <a:pt x="7330882" y="3399091"/>
                  <a:pt x="7330179" y="3398037"/>
                </a:cubicBezTo>
                <a:lnTo>
                  <a:pt x="7311232" y="3399406"/>
                </a:lnTo>
                <a:lnTo>
                  <a:pt x="7295699" y="3396426"/>
                </a:lnTo>
                <a:lnTo>
                  <a:pt x="7282158" y="3398374"/>
                </a:lnTo>
                <a:lnTo>
                  <a:pt x="7276538" y="3397935"/>
                </a:lnTo>
                <a:lnTo>
                  <a:pt x="7262569" y="3396460"/>
                </a:lnTo>
                <a:cubicBezTo>
                  <a:pt x="7255407" y="3395426"/>
                  <a:pt x="7247392" y="3394180"/>
                  <a:pt x="7238468" y="3393183"/>
                </a:cubicBezTo>
                <a:lnTo>
                  <a:pt x="7230949" y="3392727"/>
                </a:lnTo>
                <a:lnTo>
                  <a:pt x="7214580" y="3387715"/>
                </a:lnTo>
                <a:cubicBezTo>
                  <a:pt x="7202670" y="3383926"/>
                  <a:pt x="7193296" y="3381373"/>
                  <a:pt x="7182893" y="3383429"/>
                </a:cubicBezTo>
                <a:cubicBezTo>
                  <a:pt x="7165160" y="3378534"/>
                  <a:pt x="7152772" y="3364815"/>
                  <a:pt x="7127104" y="3368475"/>
                </a:cubicBezTo>
                <a:cubicBezTo>
                  <a:pt x="7134894" y="3362260"/>
                  <a:pt x="7098599" y="3367723"/>
                  <a:pt x="7094311" y="3361339"/>
                </a:cubicBezTo>
                <a:cubicBezTo>
                  <a:pt x="7092331" y="3356198"/>
                  <a:pt x="7080860" y="3356657"/>
                  <a:pt x="7072124" y="3354762"/>
                </a:cubicBezTo>
                <a:cubicBezTo>
                  <a:pt x="7065898" y="3349511"/>
                  <a:pt x="7021942" y="3344717"/>
                  <a:pt x="7006638" y="3345473"/>
                </a:cubicBezTo>
                <a:cubicBezTo>
                  <a:pt x="6963504" y="3350697"/>
                  <a:pt x="6928807" y="3329559"/>
                  <a:pt x="6894320" y="3333192"/>
                </a:cubicBezTo>
                <a:cubicBezTo>
                  <a:pt x="6885290" y="3332697"/>
                  <a:pt x="6877803" y="3331507"/>
                  <a:pt x="6871318" y="3329892"/>
                </a:cubicBezTo>
                <a:lnTo>
                  <a:pt x="6855157" y="3324330"/>
                </a:lnTo>
                <a:cubicBezTo>
                  <a:pt x="6854956" y="3323109"/>
                  <a:pt x="6854755" y="3321887"/>
                  <a:pt x="6854555" y="3320665"/>
                </a:cubicBezTo>
                <a:lnTo>
                  <a:pt x="6842483" y="3318413"/>
                </a:lnTo>
                <a:lnTo>
                  <a:pt x="6840027" y="3317245"/>
                </a:lnTo>
                <a:cubicBezTo>
                  <a:pt x="6835354" y="3315001"/>
                  <a:pt x="6830588" y="3312868"/>
                  <a:pt x="6825185" y="3311114"/>
                </a:cubicBezTo>
                <a:cubicBezTo>
                  <a:pt x="6810331" y="3324866"/>
                  <a:pt x="6776772" y="3298463"/>
                  <a:pt x="6774755" y="3312168"/>
                </a:cubicBezTo>
                <a:cubicBezTo>
                  <a:pt x="6742477" y="3304924"/>
                  <a:pt x="6749024" y="3319870"/>
                  <a:pt x="6728129" y="3301832"/>
                </a:cubicBezTo>
                <a:cubicBezTo>
                  <a:pt x="6661764" y="3299056"/>
                  <a:pt x="6593104" y="3275946"/>
                  <a:pt x="6527587" y="3280829"/>
                </a:cubicBezTo>
                <a:cubicBezTo>
                  <a:pt x="6542935" y="3276465"/>
                  <a:pt x="6531033" y="3266920"/>
                  <a:pt x="6511742" y="3266067"/>
                </a:cubicBezTo>
                <a:cubicBezTo>
                  <a:pt x="6570025" y="3248440"/>
                  <a:pt x="6418649" y="3271458"/>
                  <a:pt x="6434953" y="3253360"/>
                </a:cubicBezTo>
                <a:cubicBezTo>
                  <a:pt x="6407781" y="3267048"/>
                  <a:pt x="6300040" y="3274313"/>
                  <a:pt x="6292331" y="3255322"/>
                </a:cubicBezTo>
                <a:cubicBezTo>
                  <a:pt x="6242057" y="3246469"/>
                  <a:pt x="6188266" y="3249680"/>
                  <a:pt x="6149913" y="3232917"/>
                </a:cubicBezTo>
                <a:cubicBezTo>
                  <a:pt x="6144898" y="3234391"/>
                  <a:pt x="6139526" y="3235322"/>
                  <a:pt x="6133930" y="3235867"/>
                </a:cubicBezTo>
                <a:lnTo>
                  <a:pt x="6117554" y="3236464"/>
                </a:lnTo>
                <a:lnTo>
                  <a:pt x="6116039" y="3235720"/>
                </a:lnTo>
                <a:cubicBezTo>
                  <a:pt x="6108393" y="3233681"/>
                  <a:pt x="6102936" y="3233437"/>
                  <a:pt x="6098459" y="3233988"/>
                </a:cubicBezTo>
                <a:lnTo>
                  <a:pt x="6093630" y="3235240"/>
                </a:lnTo>
                <a:lnTo>
                  <a:pt x="6081261" y="3234563"/>
                </a:lnTo>
                <a:lnTo>
                  <a:pt x="6056067" y="3234608"/>
                </a:lnTo>
                <a:lnTo>
                  <a:pt x="6052129" y="3233324"/>
                </a:lnTo>
                <a:lnTo>
                  <a:pt x="6015338" y="3231378"/>
                </a:lnTo>
                <a:cubicBezTo>
                  <a:pt x="6015291" y="3231165"/>
                  <a:pt x="6015245" y="3230951"/>
                  <a:pt x="6015198" y="3230737"/>
                </a:cubicBezTo>
                <a:cubicBezTo>
                  <a:pt x="6014048" y="3229257"/>
                  <a:pt x="6011617" y="3228081"/>
                  <a:pt x="6006436" y="3227508"/>
                </a:cubicBezTo>
                <a:cubicBezTo>
                  <a:pt x="6019781" y="3219395"/>
                  <a:pt x="6005305" y="3223709"/>
                  <a:pt x="5988851" y="3222735"/>
                </a:cubicBezTo>
                <a:cubicBezTo>
                  <a:pt x="6005907" y="3209918"/>
                  <a:pt x="5955918" y="3212588"/>
                  <a:pt x="5952863" y="3204137"/>
                </a:cubicBezTo>
                <a:cubicBezTo>
                  <a:pt x="5940395" y="3203711"/>
                  <a:pt x="5927517" y="3203028"/>
                  <a:pt x="5914548" y="3202041"/>
                </a:cubicBezTo>
                <a:lnTo>
                  <a:pt x="5907020" y="3201283"/>
                </a:lnTo>
                <a:cubicBezTo>
                  <a:pt x="5906995" y="3201231"/>
                  <a:pt x="5906969" y="3201180"/>
                  <a:pt x="5906944" y="3201129"/>
                </a:cubicBezTo>
                <a:cubicBezTo>
                  <a:pt x="5905471" y="3200668"/>
                  <a:pt x="5903056" y="3200308"/>
                  <a:pt x="5899155" y="3200053"/>
                </a:cubicBezTo>
                <a:lnTo>
                  <a:pt x="5893294" y="3199901"/>
                </a:lnTo>
                <a:lnTo>
                  <a:pt x="5878691" y="3198431"/>
                </a:lnTo>
                <a:lnTo>
                  <a:pt x="5874165" y="3197003"/>
                </a:lnTo>
                <a:lnTo>
                  <a:pt x="5873092" y="3195108"/>
                </a:lnTo>
                <a:lnTo>
                  <a:pt x="5871658" y="3195162"/>
                </a:lnTo>
                <a:cubicBezTo>
                  <a:pt x="5860152" y="3197097"/>
                  <a:pt x="5855231" y="3201097"/>
                  <a:pt x="5846928" y="3187725"/>
                </a:cubicBezTo>
                <a:cubicBezTo>
                  <a:pt x="5821379" y="3190142"/>
                  <a:pt x="5819686" y="3182343"/>
                  <a:pt x="5788468" y="3176316"/>
                </a:cubicBezTo>
                <a:cubicBezTo>
                  <a:pt x="5773119" y="3179521"/>
                  <a:pt x="5762947" y="3176704"/>
                  <a:pt x="5753823" y="3171919"/>
                </a:cubicBezTo>
                <a:cubicBezTo>
                  <a:pt x="5721557" y="3170726"/>
                  <a:pt x="5694983" y="3162549"/>
                  <a:pt x="5660194" y="3157536"/>
                </a:cubicBezTo>
                <a:cubicBezTo>
                  <a:pt x="5619608" y="3159495"/>
                  <a:pt x="5604384" y="3146636"/>
                  <a:pt x="5567188" y="3141325"/>
                </a:cubicBezTo>
                <a:cubicBezTo>
                  <a:pt x="5530345" y="3148235"/>
                  <a:pt x="5543868" y="3129416"/>
                  <a:pt x="5526178" y="3123274"/>
                </a:cubicBezTo>
                <a:lnTo>
                  <a:pt x="5520866" y="3122322"/>
                </a:lnTo>
                <a:lnTo>
                  <a:pt x="5506009" y="3122332"/>
                </a:lnTo>
                <a:lnTo>
                  <a:pt x="5500363" y="3122766"/>
                </a:lnTo>
                <a:cubicBezTo>
                  <a:pt x="5496497" y="3122905"/>
                  <a:pt x="5493953" y="3122792"/>
                  <a:pt x="5492228" y="3122486"/>
                </a:cubicBezTo>
                <a:lnTo>
                  <a:pt x="5492044" y="3122342"/>
                </a:lnTo>
                <a:lnTo>
                  <a:pt x="5484386" y="3122347"/>
                </a:lnTo>
                <a:cubicBezTo>
                  <a:pt x="5471420" y="3122670"/>
                  <a:pt x="5458764" y="3123280"/>
                  <a:pt x="5446679" y="3124105"/>
                </a:cubicBezTo>
                <a:cubicBezTo>
                  <a:pt x="5437659" y="3116107"/>
                  <a:pt x="5392392" y="3123709"/>
                  <a:pt x="5399188" y="3109418"/>
                </a:cubicBezTo>
                <a:cubicBezTo>
                  <a:pt x="5382948" y="3110102"/>
                  <a:pt x="5372407" y="3115781"/>
                  <a:pt x="5379117" y="3106482"/>
                </a:cubicBezTo>
                <a:cubicBezTo>
                  <a:pt x="5373809" y="3106435"/>
                  <a:pt x="5370660" y="3105521"/>
                  <a:pt x="5368499" y="3104181"/>
                </a:cubicBezTo>
                <a:lnTo>
                  <a:pt x="5367902" y="3103566"/>
                </a:lnTo>
                <a:lnTo>
                  <a:pt x="5331747" y="3105319"/>
                </a:lnTo>
                <a:lnTo>
                  <a:pt x="5327095" y="3104450"/>
                </a:lnTo>
                <a:lnTo>
                  <a:pt x="5303337" y="3107003"/>
                </a:lnTo>
                <a:lnTo>
                  <a:pt x="5291164" y="3107570"/>
                </a:lnTo>
                <a:lnTo>
                  <a:pt x="5287515" y="3109282"/>
                </a:lnTo>
                <a:cubicBezTo>
                  <a:pt x="5283689" y="3110269"/>
                  <a:pt x="5278356" y="3110573"/>
                  <a:pt x="5269654" y="3109330"/>
                </a:cubicBezTo>
                <a:lnTo>
                  <a:pt x="5267681" y="3108752"/>
                </a:lnTo>
                <a:lnTo>
                  <a:pt x="5252655" y="3110969"/>
                </a:lnTo>
                <a:cubicBezTo>
                  <a:pt x="5247766" y="3112062"/>
                  <a:pt x="5243369" y="3113511"/>
                  <a:pt x="5239703" y="3115460"/>
                </a:cubicBezTo>
                <a:cubicBezTo>
                  <a:pt x="5191311" y="3102811"/>
                  <a:pt x="5142849" y="3111324"/>
                  <a:pt x="5088947" y="3107634"/>
                </a:cubicBezTo>
                <a:cubicBezTo>
                  <a:pt x="5027989" y="3108214"/>
                  <a:pt x="4985627" y="3110432"/>
                  <a:pt x="4945514" y="3110162"/>
                </a:cubicBezTo>
                <a:cubicBezTo>
                  <a:pt x="4926678" y="3111245"/>
                  <a:pt x="4789238" y="3111826"/>
                  <a:pt x="4800559" y="3106010"/>
                </a:cubicBezTo>
                <a:cubicBezTo>
                  <a:pt x="4742239" y="3117333"/>
                  <a:pt x="4708324" y="3101468"/>
                  <a:pt x="4643642" y="3105351"/>
                </a:cubicBezTo>
                <a:cubicBezTo>
                  <a:pt x="4610808" y="3089712"/>
                  <a:pt x="4627845" y="3103743"/>
                  <a:pt x="4592107" y="3099840"/>
                </a:cubicBezTo>
                <a:cubicBezTo>
                  <a:pt x="4600157" y="3113506"/>
                  <a:pt x="4549287" y="3090911"/>
                  <a:pt x="4545249" y="3105899"/>
                </a:cubicBezTo>
                <a:cubicBezTo>
                  <a:pt x="4538872" y="3104716"/>
                  <a:pt x="4532825" y="3103094"/>
                  <a:pt x="4526782" y="3101355"/>
                </a:cubicBezTo>
                <a:lnTo>
                  <a:pt x="4523614" y="3100453"/>
                </a:lnTo>
                <a:lnTo>
                  <a:pt x="4510579" y="3099442"/>
                </a:lnTo>
                <a:lnTo>
                  <a:pt x="4507348" y="3095901"/>
                </a:lnTo>
                <a:lnTo>
                  <a:pt x="4348949" y="3090220"/>
                </a:lnTo>
                <a:cubicBezTo>
                  <a:pt x="4335046" y="3092487"/>
                  <a:pt x="4290056" y="3092155"/>
                  <a:pt x="4280362" y="3087618"/>
                </a:cubicBezTo>
                <a:cubicBezTo>
                  <a:pt x="4270739" y="3086627"/>
                  <a:pt x="4260237" y="3088220"/>
                  <a:pt x="4254634" y="3083366"/>
                </a:cubicBezTo>
                <a:cubicBezTo>
                  <a:pt x="4233731" y="3080512"/>
                  <a:pt x="4185859" y="3073948"/>
                  <a:pt x="4154942" y="3070490"/>
                </a:cubicBezTo>
                <a:cubicBezTo>
                  <a:pt x="4138280" y="3076599"/>
                  <a:pt x="4112117" y="3064194"/>
                  <a:pt x="4069131" y="3062612"/>
                </a:cubicBezTo>
                <a:cubicBezTo>
                  <a:pt x="4050897" y="3069679"/>
                  <a:pt x="4040160" y="3061449"/>
                  <a:pt x="4005249" y="3070810"/>
                </a:cubicBezTo>
                <a:cubicBezTo>
                  <a:pt x="4003818" y="3069842"/>
                  <a:pt x="4002032" y="3068943"/>
                  <a:pt x="3999945" y="3068139"/>
                </a:cubicBezTo>
                <a:cubicBezTo>
                  <a:pt x="3987818" y="3063468"/>
                  <a:pt x="3968381" y="3062958"/>
                  <a:pt x="3956529" y="3067000"/>
                </a:cubicBezTo>
                <a:cubicBezTo>
                  <a:pt x="3900898" y="3079382"/>
                  <a:pt x="3850463" y="3077929"/>
                  <a:pt x="3803031" y="3079823"/>
                </a:cubicBezTo>
                <a:cubicBezTo>
                  <a:pt x="3749421" y="3080464"/>
                  <a:pt x="3785521" y="3065630"/>
                  <a:pt x="3718229" y="3077134"/>
                </a:cubicBezTo>
                <a:cubicBezTo>
                  <a:pt x="3711244" y="3071611"/>
                  <a:pt x="3702770" y="3071184"/>
                  <a:pt x="3688357" y="3073468"/>
                </a:cubicBezTo>
                <a:cubicBezTo>
                  <a:pt x="3662326" y="3073378"/>
                  <a:pt x="3664937" y="3059899"/>
                  <a:pt x="3638298" y="3067494"/>
                </a:cubicBezTo>
                <a:cubicBezTo>
                  <a:pt x="3643333" y="3060328"/>
                  <a:pt x="3589079" y="3063658"/>
                  <a:pt x="3601443" y="3056355"/>
                </a:cubicBezTo>
                <a:cubicBezTo>
                  <a:pt x="3584797" y="3049384"/>
                  <a:pt x="3575923" y="3060108"/>
                  <a:pt x="3559361" y="3054005"/>
                </a:cubicBezTo>
                <a:cubicBezTo>
                  <a:pt x="3540444" y="3052269"/>
                  <a:pt x="3569896" y="3061996"/>
                  <a:pt x="3548859" y="3062094"/>
                </a:cubicBezTo>
                <a:cubicBezTo>
                  <a:pt x="3523419" y="3060901"/>
                  <a:pt x="3522848" y="3074222"/>
                  <a:pt x="3504082" y="3056779"/>
                </a:cubicBezTo>
                <a:lnTo>
                  <a:pt x="3436234" y="3047769"/>
                </a:lnTo>
                <a:cubicBezTo>
                  <a:pt x="3420764" y="3051629"/>
                  <a:pt x="3408644" y="3049227"/>
                  <a:pt x="3396914" y="3044803"/>
                </a:cubicBezTo>
                <a:cubicBezTo>
                  <a:pt x="3361398" y="3044955"/>
                  <a:pt x="3329425" y="3037856"/>
                  <a:pt x="3289720" y="3034278"/>
                </a:cubicBezTo>
                <a:cubicBezTo>
                  <a:pt x="3246348" y="3037943"/>
                  <a:pt x="3224942" y="3025667"/>
                  <a:pt x="3182509" y="3021890"/>
                </a:cubicBezTo>
                <a:cubicBezTo>
                  <a:pt x="3139731" y="3031583"/>
                  <a:pt x="3155749" y="3004773"/>
                  <a:pt x="3119879" y="3004134"/>
                </a:cubicBezTo>
                <a:cubicBezTo>
                  <a:pt x="3060941" y="3012153"/>
                  <a:pt x="3121880" y="2995117"/>
                  <a:pt x="3031656" y="2995077"/>
                </a:cubicBezTo>
                <a:cubicBezTo>
                  <a:pt x="3026453" y="2996603"/>
                  <a:pt x="3015685" y="2994367"/>
                  <a:pt x="3017018" y="2992034"/>
                </a:cubicBezTo>
                <a:cubicBezTo>
                  <a:pt x="2997245" y="2992118"/>
                  <a:pt x="2941342" y="2976346"/>
                  <a:pt x="2913012" y="2978042"/>
                </a:cubicBezTo>
                <a:cubicBezTo>
                  <a:pt x="2858481" y="2969139"/>
                  <a:pt x="2831094" y="2979433"/>
                  <a:pt x="2791382" y="2975899"/>
                </a:cubicBezTo>
                <a:cubicBezTo>
                  <a:pt x="2745836" y="2966063"/>
                  <a:pt x="2719288" y="2957529"/>
                  <a:pt x="2639738" y="2936567"/>
                </a:cubicBezTo>
                <a:lnTo>
                  <a:pt x="2369741" y="2876435"/>
                </a:lnTo>
                <a:cubicBezTo>
                  <a:pt x="2269614" y="2832081"/>
                  <a:pt x="2140023" y="2856176"/>
                  <a:pt x="2078755" y="2852909"/>
                </a:cubicBezTo>
                <a:cubicBezTo>
                  <a:pt x="2053362" y="2866100"/>
                  <a:pt x="2032778" y="2851474"/>
                  <a:pt x="2002128" y="2856835"/>
                </a:cubicBezTo>
                <a:cubicBezTo>
                  <a:pt x="1933939" y="2859736"/>
                  <a:pt x="1866254" y="2874726"/>
                  <a:pt x="1777746" y="2864566"/>
                </a:cubicBezTo>
                <a:cubicBezTo>
                  <a:pt x="1737851" y="2905864"/>
                  <a:pt x="1634115" y="2880970"/>
                  <a:pt x="1549425" y="2904556"/>
                </a:cubicBezTo>
                <a:cubicBezTo>
                  <a:pt x="1500265" y="2909373"/>
                  <a:pt x="1423030" y="2888862"/>
                  <a:pt x="1405992" y="2911144"/>
                </a:cubicBezTo>
                <a:cubicBezTo>
                  <a:pt x="1383494" y="2897507"/>
                  <a:pt x="1362438" y="2919536"/>
                  <a:pt x="1337848" y="2921491"/>
                </a:cubicBezTo>
                <a:cubicBezTo>
                  <a:pt x="1318218" y="2912820"/>
                  <a:pt x="1308478" y="2920319"/>
                  <a:pt x="1290645" y="2921985"/>
                </a:cubicBezTo>
                <a:cubicBezTo>
                  <a:pt x="1282569" y="2916637"/>
                  <a:pt x="1267476" y="2916916"/>
                  <a:pt x="1262341" y="2923190"/>
                </a:cubicBezTo>
                <a:cubicBezTo>
                  <a:pt x="1269627" y="2937654"/>
                  <a:pt x="1217209" y="2930439"/>
                  <a:pt x="1213314" y="2940415"/>
                </a:cubicBezTo>
                <a:cubicBezTo>
                  <a:pt x="1182890" y="2942495"/>
                  <a:pt x="1050782" y="2929830"/>
                  <a:pt x="1028405" y="2945799"/>
                </a:cubicBezTo>
                <a:cubicBezTo>
                  <a:pt x="966896" y="2953381"/>
                  <a:pt x="877997" y="2927977"/>
                  <a:pt x="851857" y="2928423"/>
                </a:cubicBezTo>
                <a:cubicBezTo>
                  <a:pt x="825919" y="2899251"/>
                  <a:pt x="699677" y="2976135"/>
                  <a:pt x="588681" y="2977769"/>
                </a:cubicBezTo>
                <a:cubicBezTo>
                  <a:pt x="573724" y="2974953"/>
                  <a:pt x="565729" y="2974991"/>
                  <a:pt x="561717" y="2981641"/>
                </a:cubicBezTo>
                <a:cubicBezTo>
                  <a:pt x="532860" y="2985482"/>
                  <a:pt x="475932" y="2991762"/>
                  <a:pt x="415541" y="3000819"/>
                </a:cubicBezTo>
                <a:cubicBezTo>
                  <a:pt x="370154" y="3008289"/>
                  <a:pt x="146634" y="3001788"/>
                  <a:pt x="86183" y="3009699"/>
                </a:cubicBezTo>
                <a:lnTo>
                  <a:pt x="0" y="3044978"/>
                </a:lnTo>
                <a:close/>
              </a:path>
            </a:pathLst>
          </a:cu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EAD3BB8-E64B-2415-B2CE-E0DA09EB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703975"/>
            <a:ext cx="5257800" cy="23987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fortschreitende Potenzierung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 Sicherheitsbedarfs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Weiterentwicklung der Hardware sowie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zunehmenden Komplexität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Netzwerkverbindungen, der Betriebssysteme und der eingesetzten Software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klar erkennbar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Deshalb muss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Fokus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permanent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Datensicherheit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liegen.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C398ED-DD54-5A34-A90D-9F52D7B6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 sz="1000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E65F3C-ED9F-3C8B-0507-1543C306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4CE166D-2D50-44F1-A818-BFD238545C9D}" type="slidenum">
              <a:rPr lang="de-DE" sz="1000"/>
              <a:pPr>
                <a:spcAft>
                  <a:spcPts val="600"/>
                </a:spcAft>
              </a:pPr>
              <a:t>12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445276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360B-45E0-2068-468B-DAAF559A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D7EBD-9C04-27B4-CE93-A2212F32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Zusammenfassung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6E6E9A-5CB2-A524-4988-6D3889BE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fünf wesentlichen Anforderungen der Informationssicherheit: 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Sicherstellung 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Vertraulichkeit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und Programmen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Authentizität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Nicht-</a:t>
            </a:r>
            <a:r>
              <a:rPr lang="de-DE" sz="18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Abstreitbarkeit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hinsichtlich der Benutzung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Jederzeitige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Verfügbarkeit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Hard- und Software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Rechnersysteme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heutzutage überwiegend miteinander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vernetzt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Oft ist eine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Systemnutzung ohne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Zugriffs-, und / oder Zugangskontrolle möglich.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unkontrollierter / unkontrollierbarer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Austausch von Daten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 Schnittstellen unterschiedlichster Art von Programmen, Rechner und Systemen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Nur wenige Mitarbeiter sind in der Lage Rechnersysteme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adäquat zu konfigurieren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zu warten, zu bedienen und zu nutzen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 mit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krimineller Energie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Fachwissen im Bereich IT stellen eine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erhebliche Gefahr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dar, die insbesondere von fremden Staaten oder Organisationen aus geht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0FF22F-14A3-4FAB-2835-1585DAB4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BEA0D9-C2FE-D629-5A9B-0EF98D63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463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Inhaltsplatzhalter 6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F294989D-413E-F00F-130E-72878D989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680" y="916674"/>
            <a:ext cx="5660288" cy="502350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91C1C3-634F-58C7-F15B-1BA64342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79576" y="6356350"/>
            <a:ext cx="56692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6ED07E-1118-F247-75A3-1EC98775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B4CE166D-2D50-44F1-A818-BFD238545C9D}" type="slidenum"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pPr algn="l">
                <a:spcAft>
                  <a:spcPts val="600"/>
                </a:spcAft>
              </a:pPr>
              <a:t>14</a:t>
            </a:fld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9EF16F3-0004-E7EC-5476-FD24193E6536}"/>
              </a:ext>
            </a:extLst>
          </p:cNvPr>
          <p:cNvSpPr txBox="1"/>
          <p:nvPr/>
        </p:nvSpPr>
        <p:spPr>
          <a:xfrm>
            <a:off x="557701" y="196727"/>
            <a:ext cx="798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Grobe Schutzziele der DSGVO aus Art. 32 (1)</a:t>
            </a:r>
          </a:p>
        </p:txBody>
      </p:sp>
    </p:spTree>
    <p:extLst>
      <p:ext uri="{BB962C8B-B14F-4D97-AF65-F5344CB8AC3E}">
        <p14:creationId xmlns:p14="http://schemas.microsoft.com/office/powerpoint/2010/main" val="4082496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E6801-7CE4-F4B8-5656-71535F09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4997"/>
          </a:xfrm>
        </p:spPr>
        <p:txBody>
          <a:bodyPr/>
          <a:lstStyle/>
          <a:p>
            <a:r>
              <a:rPr lang="de-DE" dirty="0"/>
              <a:t>3 Ansätze, um Schutzziele umzusetzen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AE4C5C-C57F-0198-C926-EE7F54F61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509"/>
            <a:ext cx="10515600" cy="4827454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Verantwortliche und Auftragsverarbeiter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hat eine Übersicht aller getroffenen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Schutzmaßnahmen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führen. Das Schema dieser Übersicht ist unterschiedlich.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5FAF21-1968-0369-ADAF-9CC5DDCF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16A556-CB8E-E9DB-6B84-D4EAC7A0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15</a:t>
            </a:fld>
            <a:endParaRPr lang="de-DE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C237C7F1-3271-25F7-E14C-B7F8C9887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843112"/>
              </p:ext>
            </p:extLst>
          </p:nvPr>
        </p:nvGraphicFramePr>
        <p:xfrm>
          <a:off x="838200" y="2712199"/>
          <a:ext cx="10515600" cy="3464764"/>
        </p:xfrm>
        <a:graphic>
          <a:graphicData uri="http://schemas.openxmlformats.org/drawingml/2006/table">
            <a:tbl>
              <a:tblPr firstRow="1" firstCol="1" bandRow="1"/>
              <a:tblGrid>
                <a:gridCol w="5257800">
                  <a:extLst>
                    <a:ext uri="{9D8B030D-6E8A-4147-A177-3AD203B41FA5}">
                      <a16:colId xmlns:a16="http://schemas.microsoft.com/office/drawing/2014/main" val="7238199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84223968"/>
                    </a:ext>
                  </a:extLst>
                </a:gridCol>
              </a:tblGrid>
              <a:tr h="350078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Schutzziele nach…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2424"/>
                  </a:ext>
                </a:extLst>
              </a:tr>
              <a:tr h="8096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 Ziele der Informationssicherheit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 Standarddatenschutzmodell 3.0 (SDM)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865716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Integrität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Datenminimierung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462198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Vertraulichkeit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Verfügbarkeit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97272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Nichtabstreitbarkeit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Integrität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387677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Verfügbarkeit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Vertraulichkeit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629669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Authentizität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Nichtverkettung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858130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i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Transparenz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197344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i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Intervenierbarkeit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215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462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C157A2-6F73-5961-EA96-32DAE996A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 Ansätze Schutzziele umzusetzen </a:t>
            </a:r>
            <a:r>
              <a:rPr lang="de-DE" sz="2400" dirty="0"/>
              <a:t>(Fortsetzung)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3F933FC-CEB6-613C-AF57-DA810D52B9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größte Anteil aller Unternehmen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Einrichtungen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gestaltet diese Übersicht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TOMs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nach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den Schutzzielen in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32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Verbindung mit den alten Schutzmaßnahmen aus § 9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BDSG_alt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Gestaltung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Übersicht steht den Unternehmen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frei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sie sollte sich aber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grob nach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einem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drei Standards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Schutzziele beeinflussen sich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teilweise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gegenseitig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Schutzmaßnahme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z.B. die Vertraulichkeit als auch die Integrität der Daten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verbessern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Eine Bedrohung kann sich z.B. gleichzeitig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negativ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 die Vertraulichkeit und die Verfügbarkeit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auswirken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B7A3011B-BB9C-1D64-2D34-6D0D452934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35413041"/>
              </p:ext>
            </p:extLst>
          </p:nvPr>
        </p:nvGraphicFramePr>
        <p:xfrm>
          <a:off x="6408550" y="1825625"/>
          <a:ext cx="4945250" cy="4239430"/>
        </p:xfrm>
        <a:graphic>
          <a:graphicData uri="http://schemas.openxmlformats.org/drawingml/2006/table">
            <a:tbl>
              <a:tblPr firstRow="1" firstCol="1" bandRow="1"/>
              <a:tblGrid>
                <a:gridCol w="4945250">
                  <a:extLst>
                    <a:ext uri="{9D8B030D-6E8A-4147-A177-3AD203B41FA5}">
                      <a16:colId xmlns:a16="http://schemas.microsoft.com/office/drawing/2014/main" val="1651778706"/>
                    </a:ext>
                  </a:extLst>
                </a:gridCol>
              </a:tblGrid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 Nach Art. 32 DSGVO </a:t>
                      </a:r>
                      <a:r>
                        <a:rPr lang="de-DE" sz="2000" b="1" kern="100" dirty="0" err="1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i.V.m</a:t>
                      </a:r>
                      <a:r>
                        <a:rPr lang="de-DE" sz="20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 § 9 </a:t>
                      </a:r>
                      <a:r>
                        <a:rPr lang="de-DE" sz="2000" b="1" kern="100" dirty="0" err="1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BDSG_alt</a:t>
                      </a:r>
                      <a:endParaRPr lang="de-DE" sz="2000" b="1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443153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Vertraulichkeit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72780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Zutrittskontrolle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319806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Zugangskontrolle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762610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Zugriffskontrolle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54221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Trennungsgebot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493285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Pseudonymisierung und Verschlüsselung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09924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Integrität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279299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Eingabekontrolle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674652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Weitergabekontrolle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849575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Verfügbarkeit + Belastbarkeit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87395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Wirksamkeit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813681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Auftragskontrolle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458397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B7A8C4-C406-59C2-62CA-C70F0CD0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4C6F33-98BE-94D2-40EF-58358F36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339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4712124-9325-1121-1F23-1397DE20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>
                <a:effectLst/>
                <a:latin typeface="+mn-lt"/>
                <a:ea typeface="Aptos" panose="020B0004020202020204" pitchFamily="34" charset="0"/>
              </a:rPr>
              <a:t>Integrität und Vertraulichkeit</a:t>
            </a:r>
            <a:endParaRPr lang="de-DE" dirty="0">
              <a:latin typeface="+mn-lt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FB055B4-4A6D-B746-6819-33BE77A1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Sicherstellung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und Programmen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essenziell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Verrat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vertraulichen Informationen oder Verlust / Veränderungen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kann leicht zu einem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Schaden Betroffener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führen</a:t>
            </a:r>
          </a:p>
          <a:p>
            <a:pPr marL="57150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Integrität: 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wurde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keiner Weise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nachträglich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unbefugt oder unbeabsichtigt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manipuliert.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Vertraulichkeit: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ausgewählte Personen haben Zugriff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 die Informationen.</a:t>
            </a:r>
          </a:p>
          <a:p>
            <a:endParaRPr lang="de-DE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75CA81-FDB2-B60F-1459-293520B2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2E7F7F-2BFE-6FFF-C1D3-538A197B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451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645BF-FE6A-ACC6-946E-0E17C974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Integrität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C656B0-8100-7A22-BACF-8CB3B5128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beim Speichern von Daten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gesichert sein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Technische Verfahren müssen implementiert werden und stellen das sicher, dass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berechtigten Personen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gespeichert, geändert oder gelöscht werden können, sowie das sich Änderungen im Nachhinein erkennen lassen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 verfolgt 2 Ziele:</a:t>
            </a:r>
            <a:endParaRPr lang="de-DE" sz="24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 der Daten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sicherstellen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Überwachung der Verarbeitung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D58BCB-E99C-39F1-C5ED-D58B04D1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571110-A923-EF9B-A946-FF9F49A1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8901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192417-096C-F022-43DE-52C471FF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Integrität </a:t>
            </a:r>
            <a:r>
              <a:rPr lang="de-DE" sz="2400" dirty="0"/>
              <a:t>(Fortsetzung)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450765-636F-9565-59D4-EF76E1AF2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8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Lösung zu Ziel #1: </a:t>
            </a: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technische Schutzmaßnahme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Bildung einer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Prüfsumme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jeweiligen Daten. 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 Daten verändert, so stimmt die Prüfsumme später nicht mehr und die Manipulation fällt auf. Prüfsummen belegen u.a. die Unverfälschtheit von Software.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de-DE" sz="28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Lösung zu Ziel #1: </a:t>
            </a: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organisatorische Maßnahme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Protokollierung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Änderungen und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Auswertung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Protokollen.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Bindet mehr Personal, standardisiertes Verfahren, Dokumentation, Stichproben, Anweisungen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Beide Lösungen unterscheiden sich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auch in finanzieller Hinsicht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FCC99D-2EFF-3D24-78C8-8BE5313E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AD2352-717C-DE97-1020-E2D7AAEF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938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B4578B0-5252-F3B1-41F9-742200B1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Integrität </a:t>
            </a:r>
            <a:r>
              <a:rPr lang="de-DE" sz="2400" dirty="0"/>
              <a:t>(Fortsetzung)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D299F56-97B5-C62B-10C9-EDCF018EE3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u="sng" kern="100" dirty="0">
                <a:solidFill>
                  <a:srgbClr val="0070C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Lösung zu Ziel 2:</a:t>
            </a:r>
            <a:endParaRPr lang="de-DE" sz="2400" b="1" u="sng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Überwachung der Verarbeitung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 der Berechtigungen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erstellt der Verantwortliche ein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Berechtigungskonzept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Dieses enthält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jeden Nutzer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eines Systems / Programmes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entsprechende Berechtigung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wird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 einbezogen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achtet darauf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dass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die Mitarbeiter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 die Daten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 haben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die sie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auch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 sind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zweckgebunden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de-DE" sz="20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Beispiel: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Trennung von Personalbereich und Marketing.</a:t>
            </a:r>
          </a:p>
          <a:p>
            <a:endParaRPr lang="de-DE" sz="2000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AA05F188-FD7F-90D5-9791-44C71987D8B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28345911"/>
              </p:ext>
            </p:extLst>
          </p:nvPr>
        </p:nvGraphicFramePr>
        <p:xfrm>
          <a:off x="6172201" y="1825625"/>
          <a:ext cx="5181600" cy="4351338"/>
        </p:xfrm>
        <a:graphic>
          <a:graphicData uri="http://schemas.openxmlformats.org/drawingml/2006/table">
            <a:tbl>
              <a:tblPr firstRow="1" firstCol="1" bandRow="1"/>
              <a:tblGrid>
                <a:gridCol w="2103894">
                  <a:extLst>
                    <a:ext uri="{9D8B030D-6E8A-4147-A177-3AD203B41FA5}">
                      <a16:colId xmlns:a16="http://schemas.microsoft.com/office/drawing/2014/main" val="1270976037"/>
                    </a:ext>
                  </a:extLst>
                </a:gridCol>
                <a:gridCol w="3077706">
                  <a:extLst>
                    <a:ext uri="{9D8B030D-6E8A-4147-A177-3AD203B41FA5}">
                      <a16:colId xmlns:a16="http://schemas.microsoft.com/office/drawing/2014/main" val="3648176447"/>
                    </a:ext>
                  </a:extLst>
                </a:gridCol>
              </a:tblGrid>
              <a:tr h="21756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Weitergabekontrolle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54" marR="6175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Gewährleistung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das Unbefugte 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keinen Zugriff auf Daten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während des 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Transportes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oder einer 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Übertragung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haben und die 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 nicht verändert werden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können.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54" marR="6175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100602"/>
                  </a:ext>
                </a:extLst>
              </a:tr>
              <a:tr h="21756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Eingabekontrolle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54" marR="6175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Gewährleistung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dass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nachträglich überprüft und festgestellt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werden kann,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welche Daten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 welcher Zeit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und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von wem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in das System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eingegeben oder verändert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worden sind (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Protokolle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54" marR="6175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331801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E3E0D7-BA66-2C66-A296-8C9F3E69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5F704F-DF45-7B34-5E8C-29649613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5097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E02CE-3F6A-CDD3-0B5B-25CDC724F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7564"/>
          </a:xfrm>
        </p:spPr>
        <p:txBody>
          <a:bodyPr/>
          <a:lstStyle/>
          <a:p>
            <a:r>
              <a:rPr lang="de-DE" dirty="0"/>
              <a:t>Need-</a:t>
            </a:r>
            <a:r>
              <a:rPr lang="de-DE" dirty="0" err="1"/>
              <a:t>To</a:t>
            </a:r>
            <a:r>
              <a:rPr lang="de-DE" dirty="0"/>
              <a:t>-</a:t>
            </a:r>
            <a:r>
              <a:rPr lang="de-DE" dirty="0" err="1"/>
              <a:t>Know</a:t>
            </a:r>
            <a:r>
              <a:rPr lang="de-DE" dirty="0"/>
              <a:t> 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5175AA-206F-6C46-C9EE-C570BC892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702"/>
            <a:ext cx="10515600" cy="452326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 der Berechtigung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sollte zwischen Admin-, Lese- und Schreibrechten unterscheiden!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Einfaches Berechtigungskonzept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(Name und Berechtigung) [kleine Unternehmen]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(verschiedene Rollen und deren Berechtigungen) [Vorstufe]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Berechtigungskonzept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(Rollen werden zugewiesen) [Endstufe]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Veränderungen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am Berechtigungskonzept müssen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protokolliert und aufgezeichnet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werden. 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 Verantwortlichen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Berechtigungskonzept ist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technische </a:t>
            </a:r>
            <a:r>
              <a:rPr lang="de-DE" sz="20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organisatorische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Maßnahme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Art. 32 DSGVO. 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regelmäßige Testen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Wirksamkeit aller TOMs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den Verantwortlichen fordert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32 (1) </a:t>
            </a:r>
            <a:r>
              <a:rPr lang="de-DE" sz="20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 DSGVO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B55F3C-F5FB-25F9-FC62-693009D4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9F7F7C-A750-9817-5B9D-970DFDAA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754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0A2AF-3C9B-358A-929C-59B65716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>
            <a:no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Zwecke von Rollen- und Rechtekonzepten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166CC-3843-544A-B171-D3EC58522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Erfüllung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Forderungen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aus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24 und </a:t>
            </a:r>
            <a:r>
              <a:rPr lang="de-DE" b="1" i="1" kern="10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32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Teil des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Datenschutzkonzeptes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Erfüllung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 </a:t>
            </a:r>
            <a:r>
              <a:rPr lang="de-DE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5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Teil einer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möglichen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Auditierung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Zertifizierung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Verhinderung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Datenpanne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Mildernde Umstände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Falle einer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Datenpanne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CE315A-1895-AD58-3A3E-44277466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734FBB-F2A1-3996-01D3-D4B426C0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6975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8365D3-839C-5E65-D45D-23F7AE3B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Vertraulichkeit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FBCE9-E14C-EBE3-6F04-AB94554B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Wahrung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Vertraulichkeit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stellt sicher, dass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berechtigte Personen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Dienste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 auf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jeweilige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erhalten.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 Verschlüsselung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konkrete Regelung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Zugriffberechtigungen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dirty="0">
                <a:effectLst/>
                <a:ea typeface="Aptos" panose="020B0004020202020204" pitchFamily="34" charset="0"/>
              </a:rPr>
              <a:t>Schutzmaßnahmen </a:t>
            </a:r>
            <a:r>
              <a:rPr lang="de-DE" dirty="0">
                <a:effectLst/>
                <a:ea typeface="Aptos" panose="020B0004020202020204" pitchFamily="34" charset="0"/>
              </a:rPr>
              <a:t>der „Vertraulichkeit“ </a:t>
            </a:r>
            <a:r>
              <a:rPr lang="de-DE" b="1" dirty="0">
                <a:effectLst/>
                <a:ea typeface="Aptos" panose="020B0004020202020204" pitchFamily="34" charset="0"/>
              </a:rPr>
              <a:t>unterscheiden sich </a:t>
            </a:r>
            <a:r>
              <a:rPr lang="de-DE" dirty="0">
                <a:effectLst/>
                <a:ea typeface="Aptos" panose="020B0004020202020204" pitchFamily="34" charset="0"/>
              </a:rPr>
              <a:t>in </a:t>
            </a:r>
            <a:r>
              <a:rPr lang="de-DE" b="1" dirty="0">
                <a:effectLst/>
                <a:ea typeface="Aptos" panose="020B0004020202020204" pitchFamily="34" charset="0"/>
              </a:rPr>
              <a:t>Zutritts-, Zugangs- und Zugriffskontrollen</a:t>
            </a:r>
            <a:br>
              <a:rPr lang="de-DE" b="1" dirty="0">
                <a:effectLst/>
                <a:ea typeface="Aptos" panose="020B0004020202020204" pitchFamily="34" charset="0"/>
              </a:rPr>
            </a:b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3100BA-81B8-41E7-A169-558873A11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B2462B-A8C7-EE13-AA15-DA960BBED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35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F8D66-C851-065A-08CB-4173A193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Vertraulichkeit </a:t>
            </a:r>
            <a:r>
              <a:rPr lang="de-DE" sz="2800" dirty="0"/>
              <a:t>(Fortsetzung)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624DC3F1-5256-A019-09F3-31B348498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512684"/>
              </p:ext>
            </p:extLst>
          </p:nvPr>
        </p:nvGraphicFramePr>
        <p:xfrm>
          <a:off x="838199" y="1774866"/>
          <a:ext cx="10515600" cy="4367719"/>
        </p:xfrm>
        <a:graphic>
          <a:graphicData uri="http://schemas.openxmlformats.org/drawingml/2006/table">
            <a:tbl>
              <a:tblPr firstRow="1" firstCol="1" bandRow="1"/>
              <a:tblGrid>
                <a:gridCol w="2887495">
                  <a:extLst>
                    <a:ext uri="{9D8B030D-6E8A-4147-A177-3AD203B41FA5}">
                      <a16:colId xmlns:a16="http://schemas.microsoft.com/office/drawing/2014/main" val="1299350513"/>
                    </a:ext>
                  </a:extLst>
                </a:gridCol>
                <a:gridCol w="7628105">
                  <a:extLst>
                    <a:ext uri="{9D8B030D-6E8A-4147-A177-3AD203B41FA5}">
                      <a16:colId xmlns:a16="http://schemas.microsoft.com/office/drawing/2014/main" val="895279912"/>
                    </a:ext>
                  </a:extLst>
                </a:gridCol>
              </a:tblGrid>
              <a:tr h="1086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Zutrittskontrolle</a:t>
                      </a:r>
                      <a:endParaRPr lang="de-DE" sz="2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Unbefugten wird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der Zutritt</a:t>
                      </a: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zu den Daten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verwehrt </a:t>
                      </a: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(physisch)</a:t>
                      </a:r>
                      <a:endParaRPr lang="de-DE" sz="2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01038"/>
                  </a:ext>
                </a:extLst>
              </a:tr>
              <a:tr h="1086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Zugangskontrolle</a:t>
                      </a:r>
                      <a:endParaRPr lang="de-DE" sz="2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Unbefugten wird </a:t>
                      </a:r>
                      <a:r>
                        <a:rPr lang="de-DE" sz="2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die Nutzung</a:t>
                      </a:r>
                      <a:r>
                        <a:rPr lang="de-DE" sz="24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der Daten </a:t>
                      </a:r>
                      <a:r>
                        <a:rPr lang="de-DE" sz="2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verwehrt</a:t>
                      </a:r>
                      <a:endParaRPr lang="de-DE" sz="2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017897"/>
                  </a:ext>
                </a:extLst>
              </a:tr>
              <a:tr h="21954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Zugriffskontrolle</a:t>
                      </a:r>
                      <a:endParaRPr lang="de-DE" sz="2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Gewährleistung, dass die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Berechtigten</a:t>
                      </a: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ausschließlich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nur zu</a:t>
                      </a: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den zu ihrer Zugangsberechtigung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bestimmten </a:t>
                      </a:r>
                      <a:r>
                        <a:rPr lang="de-DE" sz="2400" b="1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pbD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Zugriff haben</a:t>
                      </a:r>
                      <a:endParaRPr lang="de-DE" sz="2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60140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5891F1-090C-9DF2-C56F-8FFB38BE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B41CBA-BF80-5EC6-B424-DDC46F4F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6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10F1-5DB9-E4F0-7337-A95CBD78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645"/>
          </a:xfrm>
        </p:spPr>
        <p:txBody>
          <a:bodyPr/>
          <a:lstStyle/>
          <a:p>
            <a:r>
              <a:rPr lang="de-DE" dirty="0"/>
              <a:t>Sicherheitskonzept „</a:t>
            </a:r>
            <a:r>
              <a:rPr lang="de-DE" dirty="0" err="1"/>
              <a:t>Vertrauchlichkeit</a:t>
            </a:r>
            <a:r>
              <a:rPr lang="de-DE" dirty="0"/>
              <a:t>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376CB6-E944-48CE-5723-F39AE0D6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686"/>
            <a:ext cx="10515600" cy="5130664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Gewährleitung der Vertraulichkeit durch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Absicherung von außen nach innen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Erste Hürde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das Betriebsgelände, das Gebäude.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 Eintrittspunkte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zum Gelände, Gebäude müssen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gesichert und kontrolliert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berechtigte Personen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dürfen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haben (Zaun, Videoüberwachung, Pförtnerdienst)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Gebäudezutritt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nur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passenden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Schlüssel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alle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anderen Eingänge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müssen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gesichert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sein.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Inneren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müssen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Datenverarbeitungsanlagen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ebenfalls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 unbefugten Zugang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geschützt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sein. (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Passwortschutz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 BSI-Standard)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Stand der Technik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Papierdaten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 zum Schutz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 unberechtigtem Zugriff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verschlossenen Schränken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verwahrt.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geregelt sein. Schutzmaßnahmen müssen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schlüssig und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aufeinander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abgestimmt sein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 hat Zugriff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welchen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Etagen, Büros, Schlüsseln, Systemen, Daten, Schränken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Akten, etc.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Vorfeld festzulegen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zu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dokumentieren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einzurichten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zu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kontrollieren.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514966-4AB2-BDDC-D000-7322F20B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2E37AF-2FEE-2821-39ED-1EC7630D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2945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A58E9-DA73-9F03-B775-FF522A89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Zutrittskontrolle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B312C8-017A-0250-3A68-2AB222125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Absicherung von Gebäuden, Türen und Fenstern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Alarmanlage, Einbruchmelder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Zutrittskontrollsysteme (Transponder, Ausweis, Schlüssel, …)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Befugte Personen festlegen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Personenkontrolle, Besucherdokumentation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77D072-201D-0097-9978-9A430D0F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5A2BF6-9ECD-F6C7-7F6B-FFF5E529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649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D4D2EF-6B5D-AC99-DE73-DEEABC09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Zugangskontrolle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10B4C8-1210-9056-9004-5837B07F4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Sperren von Laufwerken, Ordnern, etc.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Kennwörter, 2FA, MFA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Firewall und Antivirenprogramme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Bildschirmsperre mit Passwortabfrage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Sicheres Verschließen von Unterlagen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Clean-Desk-Policy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22C109-D7DE-2BA9-7C34-1C632046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2406D3-9544-401C-6683-D62F70D5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094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57691-8205-242B-F819-57ED4278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Zugriffskontrolle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10D0CF-3413-285D-62FA-046126C77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Berechtigungskonzepte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Regelmäßige Kontrollen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Protokolle (Log-Management)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Intrusion-</a:t>
            </a:r>
            <a:r>
              <a:rPr lang="de-DE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Detection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-Systeme (IDS)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Verschlüsselung, Zertifikate</a:t>
            </a:r>
          </a:p>
          <a:p>
            <a:pPr marL="0" indent="0"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Authentifizierung ist der Nachweis einer behaupteten Berechtigung, deren Echtheit geprüft wird. Nach Bestätigung der Echtheit durch einen Abgleich der Daten ist der Nutzer autorisiert.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701F98-6E29-5B1C-C77B-BA514C88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6C347E-A4B3-A266-3B83-02D45DE6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083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4DC23B-6AE8-44CF-9E32-C75632D0D83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C0FFDD-45D4-4FFB-9F7A-3068A55FF8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1BE21B-444B-4FB4-88C2-072AFC9E8DD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Office PowerPoint</Application>
  <PresentationFormat>Widescreen</PresentationFormat>
  <Paragraphs>253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</vt:lpstr>
      <vt:lpstr>DATENSCHUTZ-SCHULUNG Teil 1 Datenschutz und Datensicherheit </vt:lpstr>
      <vt:lpstr>Inhalte der Datenschutz-Themen</vt:lpstr>
      <vt:lpstr>Datenschutz Teil 1.2</vt:lpstr>
      <vt:lpstr>Der Beginn der Informationssicherheit</vt:lpstr>
      <vt:lpstr>Allgemeines zur Informationssicherheit</vt:lpstr>
      <vt:lpstr>Aspekte der Informationssicherheit</vt:lpstr>
      <vt:lpstr>Skills der Informationssicherheit</vt:lpstr>
      <vt:lpstr>Grundsätze der Informationssicherheit</vt:lpstr>
      <vt:lpstr>Unterschiede BSI Grundschutz zum SDM</vt:lpstr>
      <vt:lpstr>Unterschiede BSI Grundschutz zum SDM</vt:lpstr>
      <vt:lpstr>Anforderungen werden durch TOMs erfüllt</vt:lpstr>
      <vt:lpstr>Notwendigkeit der Datensicherheit</vt:lpstr>
      <vt:lpstr>Zusammenfassung</vt:lpstr>
      <vt:lpstr>PowerPoint Presentation</vt:lpstr>
      <vt:lpstr>3 Ansätze, um Schutzziele umzusetzen</vt:lpstr>
      <vt:lpstr>3 Ansätze Schutzziele umzusetzen (Fortsetzung)</vt:lpstr>
      <vt:lpstr>Integrität und Vertraulichkeit</vt:lpstr>
      <vt:lpstr>Integrität</vt:lpstr>
      <vt:lpstr>Integrität (Fortsetzung)</vt:lpstr>
      <vt:lpstr>Integrität (Fortsetzung)</vt:lpstr>
      <vt:lpstr>Need-To-Know Prinzip</vt:lpstr>
      <vt:lpstr>Zwecke von Rollen- und Rechtekonzepten</vt:lpstr>
      <vt:lpstr>Vertraulichkeit</vt:lpstr>
      <vt:lpstr>Vertraulichkeit (Fortsetzung)</vt:lpstr>
      <vt:lpstr>Sicherheitskonzept „Vertrauchlichkeit“</vt:lpstr>
      <vt:lpstr>Beispiele: Zutrittskontrolle</vt:lpstr>
      <vt:lpstr>Beispiele: Zugangskontrolle</vt:lpstr>
      <vt:lpstr>Beispiele: Zugriffskontrolle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73</cp:revision>
  <dcterms:created xsi:type="dcterms:W3CDTF">2025-05-19T19:06:41Z</dcterms:created>
  <dcterms:modified xsi:type="dcterms:W3CDTF">2026-09-29T09:34:50Z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