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59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C4CFE99B-B3F2-883C-C908-2C201DA27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729824-C53C-43A0-50C1-A986461C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2.2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4C32D4-7C65-7249-61F0-B75CCBCD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Rechtmäßigkeit</a:t>
            </a:r>
            <a:r>
              <a:rPr lang="en-US" sz="2000" b="1" dirty="0">
                <a:solidFill>
                  <a:schemeClr val="tx1"/>
                </a:solidFill>
              </a:rPr>
              <a:t> der </a:t>
            </a:r>
            <a:r>
              <a:rPr lang="en-US" sz="2000" b="1" dirty="0" err="1">
                <a:solidFill>
                  <a:schemeClr val="tx1"/>
                </a:solidFill>
              </a:rPr>
              <a:t>Verarbeitung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nach</a:t>
            </a:r>
            <a:r>
              <a:rPr lang="en-US" sz="2000" dirty="0">
                <a:solidFill>
                  <a:schemeClr val="tx1"/>
                </a:solidFill>
              </a:rPr>
              <a:t> Art. 6 (1) DSGVO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6D4F72-D4F9-06A0-A35B-C51C66B1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6413" y="6320340"/>
            <a:ext cx="4114800" cy="365125"/>
          </a:xfrm>
        </p:spPr>
        <p:txBody>
          <a:bodyPr/>
          <a:lstStyle/>
          <a:p>
            <a:r>
              <a:rPr lang="de-DE" dirty="0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B1EEFF-BB94-B594-116B-44CDD559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0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65E22CE-7F76-6C02-9698-6CCCF1F1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Rechtmäßigkeit der Verarbeitung </a:t>
            </a:r>
            <a:br>
              <a:rPr lang="de-DE" dirty="0"/>
            </a:br>
            <a:r>
              <a:rPr lang="de-DE" sz="2400" b="1" dirty="0">
                <a:solidFill>
                  <a:srgbClr val="7030A0"/>
                </a:solidFill>
              </a:rPr>
              <a:t>Art. 6 (1) DSGVO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3E6F0-CAFB-017C-7A78-428450CC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Hier findet man die Erlaubnistatbestände unter denen eine Verarbeitung legitim ist.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 gilt zunächst das Verbot einer Verarbeitung. Gekennzeichnet durch das Wort „nur“ im Artikel 6.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 Verarbeitung ist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zulässig, wenn mindestens eine der nachstehenden Bedingungen erfüllt ist: </a:t>
            </a:r>
            <a:r>
              <a:rPr lang="de-DE" sz="1800" b="1" i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Art. 6 (1) DSGVO </a:t>
            </a:r>
            <a:r>
              <a:rPr lang="de-DE" sz="1800" b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 </a:t>
            </a:r>
            <a:r>
              <a:rPr lang="de-DE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Gesetz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Öffentliche Aufgaben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Wahrung berechtigter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Schutz lebenswichtiger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5376C4-09EB-DCB5-7498-C5908552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6F8AF3-326C-06FD-45AD-1C92650F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7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52EEF-9485-67D0-EDCA-C2409F3A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b DSGVO - Vertragliche Erfüllung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EF7921-76D1-C787-3FA7-C76C1123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285"/>
            <a:ext cx="10515600" cy="357967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zwischen Betroffenen und Verantwortlichen vor oder es handelt sich um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vorvertragliche Maßnahmen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erfassten Daten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für die Erfüllung des Vertrages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zur Durchführung vorvertraglicher Maßnahmen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erforderlich sein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5E1364-85BE-D961-6297-CED700F4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E28FFD-BFA5-98F5-F042-890893E5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28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17BACF-442D-6EF1-BEBA-B6E4A610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lang="de-DE" sz="2400" b="1" dirty="0">
                <a:solidFill>
                  <a:srgbClr val="7030A0"/>
                </a:solidFill>
                <a:latin typeface="Aptos Display" panose="02110004020202020204"/>
              </a:rPr>
              <a:t>c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DSGVO - Gesetzliche Verpflichtung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6CC8A4-2013-4B22-9604-FEDA8525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sieht eine konkrete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Datenerhebung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Betroffenen vor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Beispiele:</a:t>
            </a:r>
          </a:p>
          <a:p>
            <a:pPr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</a:pPr>
            <a:r>
              <a:rPr lang="de-DE" sz="2400" b="1" i="0" dirty="0">
                <a:effectLst/>
              </a:rPr>
              <a:t>Buchhaltung: </a:t>
            </a:r>
            <a:r>
              <a:rPr lang="de-DE" sz="2400" b="0" i="0" dirty="0">
                <a:effectLst/>
              </a:rPr>
              <a:t>Die Aufbewahrungspflichten für Geschäftsbücher und Buchungsunterlagen nach Handelsgesetzbuch (HGB) oder Abgabenordnung (AO) erfordern die Verarbeitung personenbezogener Daten. 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400" b="1" i="0" dirty="0">
                <a:effectLst/>
              </a:rPr>
              <a:t>Arbeitsrecht: </a:t>
            </a:r>
            <a:r>
              <a:rPr lang="de-DE" sz="2400" b="0" i="0" dirty="0">
                <a:effectLst/>
              </a:rPr>
              <a:t>Unternehmen müssen Arbeitszeiten erfassen und Lohnabrechnungen erstellen, was die Verarbeitung personenbezogener Daten der Mitarbeiter erfordert. 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400" b="1" i="0" dirty="0">
                <a:effectLst/>
              </a:rPr>
              <a:t>Krankenkassen: </a:t>
            </a:r>
            <a:r>
              <a:rPr lang="de-DE" sz="2400" b="0" i="0" dirty="0">
                <a:effectLst/>
              </a:rPr>
              <a:t>Arbeitgeber sind verpflichtet, die Krankenversicherungsdaten ihrer Mitarbeiter an die Krankenkasse weiterzuleiten. 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9F6561-E0D7-B45C-1168-FC0F0B4C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A934D1-DC92-AEAB-FE22-F301A6ED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8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D980C-5834-2C36-F8EB-9F6C7FD2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f DSGVO - Berechtigtes Interesse</a:t>
            </a:r>
            <a:endParaRPr lang="de-DE" dirty="0">
              <a:solidFill>
                <a:srgbClr val="7030A0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90369-538D-D741-C7F3-E78F53AAA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muss immer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zwischen Verantwortlichen- und Betroffenen-Interessen stattfinden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Oftmals „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Joker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“-Rechtsgrundlage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Interessenabwägung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dokumentiert sein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DSBs müssen die Dokumentation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 prüfen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ggf. auf das Fehlen hinweisen.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Ausschluss: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Kindern ist ein berechtigtes Interesse prinzipiell ausgeschlossen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Werbung: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Zusammen mit Werbung stark eingeschränkt. Nur möglich bei enger Beziehung zwischen Betroffenem und Verantwortlichem (siehe EG 47); enge Beziehung = Bestandskunden, keine Neukunden, keine </a:t>
            </a:r>
            <a:r>
              <a:rPr lang="de-DE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Kaltaquise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(hier ist eine Einwilligung zu empfehlen)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1800" b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1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</a:t>
            </a:r>
            <a:r>
              <a:rPr lang="de-DE" sz="1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1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gilt nicht für Behörden in Erfüllung ihrer Aufgaben (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Satz 2 DSGVO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3761ED-8812-83AE-C55D-2F75F284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B1E0C7-5051-BD0D-23E0-37BB47D1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04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C22BB-44FF-9DC5-FCFA-CE209388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Rechtmäßigkeit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a DSGVO - Einwilligung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7530F4-0177-A1C5-C9C6-5BC17D931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schwächste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aller Rechtsgrundlagen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Einwilligung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vom Verantwortlichen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Art.7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Einwilligung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gültig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ohne Zwang und wenn auf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Möglichkeit zum Widerruf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hingewiesen wurde.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Kindern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erst ab dem 16. Lebensjahr, wenn es sich um Angebot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Dienstleistungen der Informationsgesellschaft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handelt und dieses Angebot direkt erhalten wird. Kinder unter dieser Altersgrenze benötigen die Einwilligung der Erziehungsberechtigten.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A86DC3-5691-D458-F7A4-F29BDD73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78D323-258C-277E-0CC7-F5AE4525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40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DAF673-8C16-C432-AA87-CDD9E205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Sonstige Rechtmäßigkeiten der Verarbeitung </a:t>
            </a:r>
            <a:b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Art. 6 (1)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lit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lang="de-DE" sz="2400" b="1" dirty="0">
                <a:solidFill>
                  <a:srgbClr val="7030A0"/>
                </a:solidFill>
                <a:latin typeface="Aptos Display" panose="02110004020202020204"/>
              </a:rPr>
              <a:t>d + 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DSGVO – Schutz des Lebens und öffentliche Aufgaben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05CD6-1129-4B54-59FB-40A2EE42E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lebenswichtiger Interessen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Wahrung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öffentlicher Aufgaben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Hier geht es um den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der Bevölkerung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 öffentlicher Aufgaben.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die Verarbeitung von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besonderen personenbezogenen Daten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gibt es eine eigene Aufzählung von Erlaubnistatbeständen im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 oder § 26 BDSG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DD0D2-998D-6E03-5F48-DAB7E4AA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758C9-8D56-FC43-810B-D3EE4BB5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50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89631-C147-23A0-F55C-3E594FBC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Besondere personenbezogene Daten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6F634C-6657-11C4-1E50-22A12565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Artikel 6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gibt es nur Erlaubnistatbestände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allgemeinen personenbezogenen Daten.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besondere personenbezogene Daten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benötigt ein Unternehmen eine gesonderte Erlaubnis.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Artikel 9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erklärt die besonderen personenbezogenen Daten und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dazugehörigen Erlaubnistatbestände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Die Verarbeitung besonderer personenbezogener Daten bedarf einer gesonderten Erlaubnis.</a:t>
            </a:r>
            <a:endParaRPr lang="de-DE" sz="24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7300A2-C16D-0BBC-4C9E-295E5C9E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E67D9-303C-F066-5193-7C05C37A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29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29230-962E-23C5-671D-5557E9C1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Besondere Kategorie </a:t>
            </a:r>
            <a:r>
              <a:rPr lang="de-DE" dirty="0" err="1"/>
              <a:t>pb</a:t>
            </a:r>
            <a:r>
              <a:rPr lang="de-DE" dirty="0"/>
              <a:t>-Daten: Definition</a:t>
            </a:r>
            <a:br>
              <a:rPr lang="de-DE" dirty="0"/>
            </a:br>
            <a:r>
              <a:rPr kumimoji="0" lang="de-DE" sz="2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Art. 9 (1) DSGVO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0E167A-2858-4D06-D232-AB5D5AD4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Rassische</a:t>
            </a:r>
            <a:r>
              <a:rPr lang="de-DE" dirty="0"/>
              <a:t> und </a:t>
            </a:r>
            <a:r>
              <a:rPr lang="de-DE" b="1" dirty="0"/>
              <a:t>ethnische</a:t>
            </a:r>
            <a:r>
              <a:rPr lang="de-DE" dirty="0"/>
              <a:t> Herkunft</a:t>
            </a:r>
          </a:p>
          <a:p>
            <a:r>
              <a:rPr lang="de-DE" b="1" dirty="0"/>
              <a:t>Politische</a:t>
            </a:r>
            <a:r>
              <a:rPr lang="de-DE" dirty="0"/>
              <a:t> Meinung</a:t>
            </a:r>
          </a:p>
          <a:p>
            <a:r>
              <a:rPr lang="de-DE" b="1" dirty="0"/>
              <a:t>Religiöse</a:t>
            </a:r>
            <a:r>
              <a:rPr lang="de-DE" dirty="0"/>
              <a:t> oder weltanschauliche Überzeugung</a:t>
            </a:r>
          </a:p>
          <a:p>
            <a:r>
              <a:rPr lang="de-DE" b="1" dirty="0"/>
              <a:t>Gewerkschaftszugehörigkeit</a:t>
            </a:r>
          </a:p>
          <a:p>
            <a:r>
              <a:rPr lang="de-DE" b="1" dirty="0"/>
              <a:t>Genetische</a:t>
            </a:r>
            <a:r>
              <a:rPr lang="de-DE" dirty="0"/>
              <a:t> Daten</a:t>
            </a:r>
          </a:p>
          <a:p>
            <a:r>
              <a:rPr lang="de-DE" b="1" dirty="0"/>
              <a:t>Biometrische</a:t>
            </a:r>
            <a:r>
              <a:rPr lang="de-DE" dirty="0"/>
              <a:t> Daten</a:t>
            </a:r>
          </a:p>
          <a:p>
            <a:r>
              <a:rPr lang="de-DE" b="1" dirty="0"/>
              <a:t>Gesundheitsdaten</a:t>
            </a:r>
          </a:p>
          <a:p>
            <a:r>
              <a:rPr lang="de-DE" dirty="0"/>
              <a:t>Sexuelle Orientierung, </a:t>
            </a:r>
            <a:r>
              <a:rPr lang="de-DE" b="1" dirty="0"/>
              <a:t>Sexualleben</a:t>
            </a:r>
            <a:endParaRPr lang="de-DE" b="1" i="1" dirty="0">
              <a:solidFill>
                <a:srgbClr val="7030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603284-7B00-338E-5237-E93B7E7B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B4281D-8A99-E360-7441-BD9E20DF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76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974AD-6CE0-177B-9E25-4E02598C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Verarbeitung besonderer Kategorien </a:t>
            </a:r>
            <a:r>
              <a:rPr lang="de-DE" dirty="0" err="1"/>
              <a:t>pbD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3C3B51-3D2C-A02D-D391-EE7631B0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diesen Fällen darf die Verarbeitung erfolgen: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Ausdrückliche Einwilligung der betroffenen Person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Durchsetzung von Arbeits- und Sozialrechten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b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bereits veröffentlichter Daten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Zwecke der Gesundheitsvorsorge oder Arbeitsmedizin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h DSGVO auch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C52051-F64D-2FD6-9020-BFDB7157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0BC81B-2232-77F6-4AB1-EB41CA19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42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BBF18-75E1-D2FE-84C7-F9D8D4AC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/>
          <a:lstStyle/>
          <a:p>
            <a:r>
              <a:rPr lang="de-DE" dirty="0"/>
              <a:t>Besondere </a:t>
            </a:r>
            <a:r>
              <a:rPr lang="de-DE" dirty="0" err="1"/>
              <a:t>pbD</a:t>
            </a:r>
            <a:r>
              <a:rPr lang="de-DE" dirty="0"/>
              <a:t> von Beschäftigten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06C43-3BA5-9505-099A-4559CEDA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98475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 finden sich Regelungen zum Beschäftigtenkontext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sowie im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endParaRPr lang="de-DE" sz="2000" kern="100" dirty="0">
              <a:solidFill>
                <a:srgbClr val="7030A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der DSGVO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eine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Öffnungsklausel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finden. Die DSGVO selbst sieht keine besondere Regelung vor. Dazu wurde in Deutschland ein Gesetz im BDSG geschaffen.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 erlaubt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Daten von Mitarbeitern zu verarbeiten. Das schließt die Begründung des Beschäftigungsverhältnisses (Arbeitsvertrag) oder die Durchführung oder Beendigung eines Arbeitsvertrages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DV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 Vertragsschluss stattfinden (Vorvertragliche Maßnahmen), z.B. Auswertung von Bewerbungsdaten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Aufdeckung von Straftaten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hier dürfen Mitarbeiterdaten nur, wenn dokumentierte tatsächliche Anhaltspunkte den Verdacht begründen, die Verhältnismäßigkeit muss dafür gegeben sein (Interessenabwägung)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Alles darüber hinaus bedarf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(2) BDSG</a:t>
            </a:r>
            <a:endParaRPr lang="de-DE" sz="2000" kern="100" dirty="0">
              <a:solidFill>
                <a:srgbClr val="7030A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E2BCB0-D474-9864-ABC4-36E10D53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4459BE-B0A8-F93B-8E5A-F67E348A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97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D312F-FB2F-911C-DBDB-84012841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Beschäftigtendatenschutz: </a:t>
            </a:r>
            <a:br>
              <a:rPr lang="de-DE" dirty="0"/>
            </a:br>
            <a:r>
              <a:rPr lang="de-DE" dirty="0"/>
              <a:t>Warum BDSG und nicht DSGVO?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56D170-A6C6-584B-A8E8-95ABAAD3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Erlaubt ist die Verarbeitung aller Beschäftigtendaten (allgemeine oder besondere personenbezogene Daten), die zur Erfüllung des Arbeitsvertrages dienen. Wenn die Daten zu einem anderen Zweck dienen, dann bedarf es der Einwilligung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Verarbeitung von Mitarbeiterdaten gilt für die Rechtsgrundlage nicht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 ansonsten viele Einwilligungen nötig wären. Auch wenn diese nicht elektronisch, sondern in Hängeregistern oder Akten vorliegen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=&gt;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(7)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28A449-EAB1-C34F-D338-AA8C4301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3AE40D-3881-86C0-1F40-33841CD3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591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3FF11-1D11-2FAA-E5F8-0332BC6C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377"/>
          </a:xfrm>
        </p:spPr>
        <p:txBody>
          <a:bodyPr/>
          <a:lstStyle/>
          <a:p>
            <a:r>
              <a:rPr lang="de-DE" dirty="0"/>
              <a:t>Zusammenfassung </a:t>
            </a:r>
            <a:r>
              <a:rPr lang="de-DE" sz="2400"/>
              <a:t>(Rechtsgrundlagen </a:t>
            </a:r>
            <a:r>
              <a:rPr lang="de-DE" sz="2400" dirty="0"/>
              <a:t>der DV)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988B3A-95DD-2FCC-1A16-2D8EA8A3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694"/>
            <a:ext cx="10515600" cy="473726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Regelungen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der DSGVO bauen auf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Datenschutzes auf.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gibt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neun Grundsätze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bei jeder Verarbeitung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gleichermaßen erfüllt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 müssen.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jeder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 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geprüft werden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einige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erläutert; es gilt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 (Rechtmäßigkeit) einer 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und 9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DSGVO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 m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geregelt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besonderer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personenbezogener 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Beschäftigtendaten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bedürfen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Sondererlaubnis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Verarbeitung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eines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setzt immer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dokumentierte Interessenabwägung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voraus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11CBC6-4048-4B05-AA29-043964DD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C9EB22-BD1E-F3B2-72F7-BCAB5C95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445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C14AD4-1843-AF9A-1387-AC3C1651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Beweislastumkehr (Paradigmenwechsel)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25A9B17-7B11-CCCA-F9BD-B9DF400FE1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 müssen jederzeit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beweisen können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sie die Forderungen der DSGVO richtig umsetzen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Verzeichnis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Verarbeitungstätigkeiten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Benennungsurkunde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DSB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Schulungsnachweise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Mitarbeiter und des DSBs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Verpflichtungserklärungen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Mitarbeiter</a:t>
            </a:r>
          </a:p>
          <a:p>
            <a:r>
              <a:rPr lang="de-DE" sz="2000" b="1" dirty="0">
                <a:effectLst/>
                <a:ea typeface="Aptos" panose="020B0004020202020204" pitchFamily="34" charset="0"/>
              </a:rPr>
              <a:t>Datenschutzkonzepte</a:t>
            </a:r>
            <a:endParaRPr lang="de-DE" sz="2000" b="1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175D1A2-120B-C7E7-6145-050F182AFE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Übersicht aller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Auftragsverarbeitungsverträge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AVV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Kunden, Mitarbeiter, Lieferanten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Verfahrensanweisungen zu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Betroffenenrechten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Berichte zu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DSFA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Tätigkeitsberichte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DSB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usw.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220883-950A-9B98-4FD1-5421EC2C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2D126-3FF4-7C8E-1824-7A64978D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185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6B3B62-9B94-42E3-B4D5-54D97328F1E9}"/>
</file>

<file path=customXml/itemProps2.xml><?xml version="1.0" encoding="utf-8"?>
<ds:datastoreItem xmlns:ds="http://schemas.openxmlformats.org/officeDocument/2006/customXml" ds:itemID="{68B53C94-BE83-4AD2-A9E4-BAE84984B062}"/>
</file>

<file path=customXml/itemProps3.xml><?xml version="1.0" encoding="utf-8"?>
<ds:datastoreItem xmlns:ds="http://schemas.openxmlformats.org/officeDocument/2006/customXml" ds:itemID="{69D8685A-B242-42C9-AB9B-8AEB277B73A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Breitbild</PresentationFormat>
  <Paragraphs>135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2: Grundsätze der Verarbeitung</vt:lpstr>
      <vt:lpstr>Inhalte der Datenschutz-Themen</vt:lpstr>
      <vt:lpstr>Datenschutz Teil 2.2 </vt:lpstr>
      <vt:lpstr>Rechtmäßigkeit der Verarbeitung  Art. 6 (1) DSGVO</vt:lpstr>
      <vt:lpstr>Rechtmäßigkeit der Verarbeitung  Art. 6 (1) lit. b DSGVO - Vertragliche Erfüllung</vt:lpstr>
      <vt:lpstr>Rechtmäßigkeit der Verarbeitung  Art. 6 (1) lit. c DSGVO - Gesetzliche Verpflichtung</vt:lpstr>
      <vt:lpstr>Rechtmäßigkeit der Verarbeitung  Art. 6 (1) lit. f DSGVO - Berechtigtes Interesse</vt:lpstr>
      <vt:lpstr>Rechtmäßigkeit der Verarbeitung  Art. 6 (1) lit. a DSGVO - Einwilligung</vt:lpstr>
      <vt:lpstr>Sonstige Rechtmäßigkeiten der Verarbeitung  Art. 6 (1) lit. d + e DSGVO – Schutz des Lebens und öffentliche Aufgaben</vt:lpstr>
      <vt:lpstr>Besondere personenbezogene Daten</vt:lpstr>
      <vt:lpstr>Besondere Kategorie pb-Daten: Definition Art. 9 (1) DSGVO</vt:lpstr>
      <vt:lpstr>Verarbeitung besonderer Kategorien pbD</vt:lpstr>
      <vt:lpstr>Besondere pbD von Beschäftigten</vt:lpstr>
      <vt:lpstr>Beschäftigtendatenschutz:  Warum BDSG und nicht DSGVO?</vt:lpstr>
      <vt:lpstr>Zusammenfassung (Rechtsgrundlagen der DV)</vt:lpstr>
      <vt:lpstr>Beweislastumkehr (Paradigmenwechsel)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2025-09-16T11:58:19Z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