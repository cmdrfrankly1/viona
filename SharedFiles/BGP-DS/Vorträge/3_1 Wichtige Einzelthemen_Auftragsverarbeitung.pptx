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8" r:id="rId3"/>
    <p:sldId id="286" r:id="rId4"/>
    <p:sldId id="411" r:id="rId5"/>
    <p:sldId id="412" r:id="rId6"/>
    <p:sldId id="413" r:id="rId7"/>
    <p:sldId id="414" r:id="rId8"/>
    <p:sldId id="415" r:id="rId9"/>
    <p:sldId id="416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01.10.2025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11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01.10.2025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01.10.2025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01.10.2025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01.10.2025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01.10.2025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01.10.2025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01.10.2025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01.10.2025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01.10.2025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01.10.2025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01.10.2025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01.10.2025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3: </a:t>
            </a:r>
            <a:r>
              <a:rPr lang="de-DE" sz="4000" b="1" dirty="0">
                <a:solidFill>
                  <a:srgbClr val="0070C0"/>
                </a:solidFill>
              </a:rPr>
              <a:t>Wichtige Einzelthemen </a:t>
            </a:r>
            <a:r>
              <a:rPr lang="de-DE" sz="4000" dirty="0">
                <a:solidFill>
                  <a:schemeClr val="tx2"/>
                </a:solidFill>
              </a:rPr>
              <a:t>für Fachinformatiker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b="1" dirty="0"/>
              <a:t>Teil 3: Wichtige Einzelthemen</a:t>
            </a:r>
          </a:p>
          <a:p>
            <a:r>
              <a:rPr lang="de-DE" b="1" dirty="0"/>
              <a:t>Teil 3.1: Auftragsverarbeitung</a:t>
            </a:r>
          </a:p>
          <a:p>
            <a:r>
              <a:rPr lang="de-DE" b="1" dirty="0"/>
              <a:t>Teil 3.2: Löschkonzept</a:t>
            </a:r>
          </a:p>
          <a:p>
            <a:r>
              <a:rPr lang="de-DE" b="1" dirty="0"/>
              <a:t>Teil 3.3: TDDDG und DDG</a:t>
            </a:r>
          </a:p>
          <a:p>
            <a:r>
              <a:rPr lang="de-DE" b="1" dirty="0"/>
              <a:t>Teil 3.4: Direktmarketing</a:t>
            </a:r>
          </a:p>
          <a:p>
            <a:r>
              <a:rPr lang="de-DE" b="1" dirty="0"/>
              <a:t>Teil 3.5: Risikoanalyse nach SDM 3.0</a:t>
            </a:r>
          </a:p>
          <a:p>
            <a:r>
              <a:rPr lang="de-DE" b="1" dirty="0"/>
              <a:t>Teil 3.6</a:t>
            </a:r>
            <a:r>
              <a:rPr lang="de-DE" b="1"/>
              <a:t>: KRITIS </a:t>
            </a:r>
            <a:r>
              <a:rPr lang="de-DE" b="1" dirty="0"/>
              <a:t>und NIS2</a:t>
            </a:r>
            <a:br>
              <a:rPr lang="de-DE" b="1" dirty="0"/>
            </a:br>
            <a:r>
              <a:rPr lang="de-DE" sz="2400" dirty="0"/>
              <a:t>Sektoren, Unternehmen, Planungs- und Sicherheitsmaßnahmen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226CA-1BB5-D9E4-C2F3-0EB9B3132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5" name="Rectangle 64">
            <a:extLst>
              <a:ext uri="{FF2B5EF4-FFF2-40B4-BE49-F238E27FC236}">
                <a16:creationId xmlns:a16="http://schemas.microsoft.com/office/drawing/2014/main" id="{6CCA5F87-1D1E-45CB-8D83-FC7EEFAD99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Kleidung, Rüstung, Schutzausrüstung, Brustplatte enthält.&#10;&#10;KI-generierte Inhalte können fehlerhaft sein.">
            <a:extLst>
              <a:ext uri="{FF2B5EF4-FFF2-40B4-BE49-F238E27FC236}">
                <a16:creationId xmlns:a16="http://schemas.microsoft.com/office/drawing/2014/main" id="{6B23D384-EA93-E5DD-AC1C-7E267FA88C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1" t="19224" b="32768"/>
          <a:stretch>
            <a:fillRect/>
          </a:stretch>
        </p:blipFill>
        <p:spPr>
          <a:xfrm>
            <a:off x="20" y="10"/>
            <a:ext cx="8668492" cy="6857990"/>
          </a:xfrm>
          <a:prstGeom prst="rect">
            <a:avLst/>
          </a:prstGeom>
        </p:spPr>
      </p:pic>
      <p:sp>
        <p:nvSpPr>
          <p:cNvPr id="67" name="Rectangle 66">
            <a:extLst>
              <a:ext uri="{FF2B5EF4-FFF2-40B4-BE49-F238E27FC236}">
                <a16:creationId xmlns:a16="http://schemas.microsoft.com/office/drawing/2014/main" id="{7CCFC2C6-6238-4A2F-93DE-2ADF74AF63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17D8F35-8BFB-3EDF-CB96-2547293B9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/>
              <a:t>Datenschutz</a:t>
            </a:r>
            <a:r>
              <a:rPr lang="en-US" sz="4800" dirty="0"/>
              <a:t> Teil 3.1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20E625-5C1D-BEF7-A788-BA5DF4D368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>
                <a:solidFill>
                  <a:schemeClr val="tx1"/>
                </a:solidFill>
              </a:rPr>
              <a:t>Auftragsverarbeitung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Art. 28 + 29 DSGVO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9F10496-2CA2-8CFB-B7E3-BA229B3B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8600" y="6356350"/>
            <a:ext cx="3096491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  <a:ea typeface="+mn-ea"/>
                <a:cs typeface="+mn-cs"/>
              </a:rPr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6FC658C-B999-DEFF-0A1A-E2F90913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0138" y="6356350"/>
            <a:ext cx="72182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147331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E9285E5-0837-322E-6595-844BD6E6E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Auftragsverarbeitung (AV)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F89ED69C-A6B6-0254-65BC-9A716393DD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Findet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in einer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Stelle, sondern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 mehreren Stellen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statt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Oder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Verarbeitung, bei 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 andere Stellen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übermittelt werden</a:t>
            </a:r>
            <a:endParaRPr lang="de-DE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 unterstützt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Verantwortlichen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bei der Beurteilung,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ob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eine Verarbeitungstätigkeit eine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Auftragsverarbeitung 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darstellt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 erstellt und prüft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notwendigen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Verträge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führt Kontrollen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bei den Auftragsverarbeitern </a:t>
            </a:r>
            <a:r>
              <a:rPr lang="de-DE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</a:t>
            </a:r>
            <a:r>
              <a:rPr lang="de-DE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02850F1-D867-A638-D852-EF0B5D6A3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A020F6D-C838-4A84-BC79-511C07E11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685235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845A95C-88AF-5FB5-C5DA-9E27FE13D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50832"/>
          </a:xfrm>
        </p:spPr>
        <p:txBody>
          <a:bodyPr/>
          <a:lstStyle/>
          <a:p>
            <a:r>
              <a:rPr lang="de-DE" dirty="0"/>
              <a:t>Kriterien der AV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E1BB05D-77C1-EF6B-751F-21D6F1584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0588"/>
            <a:ext cx="10515600" cy="5305762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liegt vor, wenn eine Organisation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Datenverarbeitung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an einen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fremden Dienstleister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übergibt.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Verarbeitet eine verantwortliche Stelle die </a:t>
            </a:r>
            <a:r>
              <a:rPr lang="de-DE" sz="24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nicht selbst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sondern eine andere Stelle wird damit beauftragt, entsteht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neue Rechtsbeziehung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die eine besondere Bedeutung im Datenschutz hat.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 einer AV entsteht eine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Dreiecksbeziehung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zwischen Betroffenen, Verantwortlichen und Auftragsverarbeitern.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ist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unerheblich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ob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ein Dienstleister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beauftragt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wurde (Druckauftrag) oder ob Daten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offen gelegt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werden wie bei einem IT-Dienstleister (Fernwartung). In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beiden Fällen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spricht man von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 </a:t>
            </a:r>
            <a:endParaRPr lang="de-DE" sz="24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 Dienstleister kann die Daten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übermittelt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bekommen oder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beauftragt werden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diese selbst beim Betroffenen 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 erheben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0A681C-7B25-013E-7706-5AA21992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A2E3671-405A-501E-90B0-6BF82250B5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700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F30A4C-1F8B-34AC-F874-9E0F70ED2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24901"/>
          </a:xfrm>
        </p:spPr>
        <p:txBody>
          <a:bodyPr>
            <a:normAutofit/>
          </a:bodyPr>
          <a:lstStyle/>
          <a:p>
            <a:r>
              <a:rPr lang="de-DE" dirty="0"/>
              <a:t>Entscheidungshilfe </a:t>
            </a:r>
            <a:r>
              <a:rPr lang="de-DE" sz="2800" dirty="0"/>
              <a:t>zu </a:t>
            </a:r>
            <a:r>
              <a:rPr lang="de-DE" sz="2800" b="1" dirty="0">
                <a:solidFill>
                  <a:srgbClr val="7030A0"/>
                </a:solidFill>
              </a:rPr>
              <a:t>Art. 28 DSGVO</a:t>
            </a:r>
            <a:br>
              <a:rPr lang="de-DE" sz="2800" b="1" dirty="0">
                <a:solidFill>
                  <a:srgbClr val="7030A0"/>
                </a:solidFill>
              </a:rPr>
            </a:br>
            <a:endParaRPr lang="de-DE" sz="1600" b="1" dirty="0">
              <a:solidFill>
                <a:srgbClr val="7030A0"/>
              </a:solidFill>
              <a:latin typeface="+mn-lt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12A509F-7802-E2A7-A4CE-4374979DD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D94B80-CF01-0788-C1A6-DA1DF0690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  <p:sp>
        <p:nvSpPr>
          <p:cNvPr id="21" name="Textfeld 15">
            <a:extLst>
              <a:ext uri="{FF2B5EF4-FFF2-40B4-BE49-F238E27FC236}">
                <a16:creationId xmlns:a16="http://schemas.microsoft.com/office/drawing/2014/main" id="{6669810B-CAA7-8957-E709-58B791963C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900" y="3038065"/>
            <a:ext cx="495300" cy="2968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2" name="Text Box 2">
            <a:extLst>
              <a:ext uri="{FF2B5EF4-FFF2-40B4-BE49-F238E27FC236}">
                <a16:creationId xmlns:a16="http://schemas.microsoft.com/office/drawing/2014/main" id="{C145E375-A8DD-952C-93A9-1DE3E13C8A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19763" y="2159230"/>
            <a:ext cx="495300" cy="2968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Nein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3" name="Text Box 3">
            <a:extLst>
              <a:ext uri="{FF2B5EF4-FFF2-40B4-BE49-F238E27FC236}">
                <a16:creationId xmlns:a16="http://schemas.microsoft.com/office/drawing/2014/main" id="{0B71F824-9776-04C7-6067-9FA59542DE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900" y="4035228"/>
            <a:ext cx="495300" cy="2968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Nein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4" name="Text Box 4">
            <a:extLst>
              <a:ext uri="{FF2B5EF4-FFF2-40B4-BE49-F238E27FC236}">
                <a16:creationId xmlns:a16="http://schemas.microsoft.com/office/drawing/2014/main" id="{B95119C0-6B56-BF50-7B2D-190DE4AD4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27883" y="5267922"/>
            <a:ext cx="495300" cy="2968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Nein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Text Box 10">
            <a:extLst>
              <a:ext uri="{FF2B5EF4-FFF2-40B4-BE49-F238E27FC236}">
                <a16:creationId xmlns:a16="http://schemas.microsoft.com/office/drawing/2014/main" id="{9BF85ADC-3EB8-7A4C-FD66-DFE2258CE067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6653762" y="5607366"/>
            <a:ext cx="517525" cy="2968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Nein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Text Box 5">
            <a:extLst>
              <a:ext uri="{FF2B5EF4-FFF2-40B4-BE49-F238E27FC236}">
                <a16:creationId xmlns:a16="http://schemas.microsoft.com/office/drawing/2014/main" id="{C149C392-336F-225E-5226-A488AD4D60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467" y="2298301"/>
            <a:ext cx="495300" cy="296863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Nein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Text Box 6">
            <a:extLst>
              <a:ext uri="{FF2B5EF4-FFF2-40B4-BE49-F238E27FC236}">
                <a16:creationId xmlns:a16="http://schemas.microsoft.com/office/drawing/2014/main" id="{3D078938-0A7F-B6DF-ABAB-A2C0BE13AB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579" y="1495299"/>
            <a:ext cx="495300" cy="2968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8" name="Text Box 7">
            <a:extLst>
              <a:ext uri="{FF2B5EF4-FFF2-40B4-BE49-F238E27FC236}">
                <a16:creationId xmlns:a16="http://schemas.microsoft.com/office/drawing/2014/main" id="{855C9324-7171-6451-C9AB-E3F42E2960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02563" y="3243798"/>
            <a:ext cx="495300" cy="2968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9" name="Text Box 8">
            <a:extLst>
              <a:ext uri="{FF2B5EF4-FFF2-40B4-BE49-F238E27FC236}">
                <a16:creationId xmlns:a16="http://schemas.microsoft.com/office/drawing/2014/main" id="{EC36F534-9A21-5143-82C5-3855B65BE7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579" y="4469279"/>
            <a:ext cx="495300" cy="2968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Text Box 9">
            <a:extLst>
              <a:ext uri="{FF2B5EF4-FFF2-40B4-BE49-F238E27FC236}">
                <a16:creationId xmlns:a16="http://schemas.microsoft.com/office/drawing/2014/main" id="{1A6EED73-4C43-2328-370C-8BE326D918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5579" y="5508003"/>
            <a:ext cx="495300" cy="29686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63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Ja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1" name="Flussdiagramm: Alternativer Prozess 3">
            <a:extLst>
              <a:ext uri="{FF2B5EF4-FFF2-40B4-BE49-F238E27FC236}">
                <a16:creationId xmlns:a16="http://schemas.microsoft.com/office/drawing/2014/main" id="{B389FBA4-C339-365C-F919-76D3D3EBD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02756" y="1603407"/>
            <a:ext cx="1935162" cy="503238"/>
          </a:xfrm>
          <a:prstGeom prst="flowChartAlternateProcess">
            <a:avLst/>
          </a:prstGeom>
          <a:solidFill>
            <a:srgbClr val="F2F2F2"/>
          </a:solidFill>
          <a:ln w="12700">
            <a:solidFill>
              <a:srgbClr val="030E1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Dienstleister hat eigene Entscheidungsbefugnisse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AutoShape 26">
            <a:extLst>
              <a:ext uri="{FF2B5EF4-FFF2-40B4-BE49-F238E27FC236}">
                <a16:creationId xmlns:a16="http://schemas.microsoft.com/office/drawing/2014/main" id="{B871DE1F-882F-9795-0A43-988D2C841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2475" y="2446733"/>
            <a:ext cx="1935162" cy="503238"/>
          </a:xfrm>
          <a:prstGeom prst="flowChartAlternateProcess">
            <a:avLst/>
          </a:prstGeom>
          <a:solidFill>
            <a:srgbClr val="F2F2F2"/>
          </a:solidFill>
          <a:ln w="12700">
            <a:solidFill>
              <a:srgbClr val="04243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Der Dienstleister ist weisungsgebunden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AutoShape 25">
            <a:extLst>
              <a:ext uri="{FF2B5EF4-FFF2-40B4-BE49-F238E27FC236}">
                <a16:creationId xmlns:a16="http://schemas.microsoft.com/office/drawing/2014/main" id="{500BACB7-3090-4F62-3F8D-E201E99EC6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13" y="3313906"/>
            <a:ext cx="1935163" cy="663575"/>
          </a:xfrm>
          <a:prstGeom prst="flowChartAlternateProcess">
            <a:avLst/>
          </a:prstGeom>
          <a:solidFill>
            <a:srgbClr val="F2F2F2"/>
          </a:solidFill>
          <a:ln w="12700">
            <a:solidFill>
              <a:srgbClr val="04243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Der Dienstleister darf die Daten f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ü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r eigene Zwecke benutzen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4" name="AutoShape 24">
            <a:extLst>
              <a:ext uri="{FF2B5EF4-FFF2-40B4-BE49-F238E27FC236}">
                <a16:creationId xmlns:a16="http://schemas.microsoft.com/office/drawing/2014/main" id="{2580399D-732D-6B7A-87CF-2E390E20D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21113" y="4355233"/>
            <a:ext cx="1935163" cy="892175"/>
          </a:xfrm>
          <a:prstGeom prst="flowChartAlternateProcess">
            <a:avLst/>
          </a:prstGeom>
          <a:solidFill>
            <a:srgbClr val="F2F2F2"/>
          </a:solidFill>
          <a:ln w="12700">
            <a:solidFill>
              <a:srgbClr val="04243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Der Dienstleister hat eine vertragliche Beziehung zu den Personen, deren Daten er verarbeitet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5" name="AutoShape 23">
            <a:extLst>
              <a:ext uri="{FF2B5EF4-FFF2-40B4-BE49-F238E27FC236}">
                <a16:creationId xmlns:a16="http://schemas.microsoft.com/office/drawing/2014/main" id="{0555FFED-4620-332C-D35D-681AE38C9E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14624" y="5550217"/>
            <a:ext cx="1935163" cy="708025"/>
          </a:xfrm>
          <a:prstGeom prst="flowChartAlternateProcess">
            <a:avLst/>
          </a:prstGeom>
          <a:solidFill>
            <a:srgbClr val="F2F2F2"/>
          </a:solidFill>
          <a:ln w="12700">
            <a:solidFill>
              <a:srgbClr val="04243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Der Dienstleister tritt gegen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ü</a:t>
            </a:r>
            <a:r>
              <a:rPr kumimoji="0" lang="de-DE" altLang="de-DE" sz="11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ber den Betroffenen im eigenen Namen auf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AutoShape 22">
            <a:extLst>
              <a:ext uri="{FF2B5EF4-FFF2-40B4-BE49-F238E27FC236}">
                <a16:creationId xmlns:a16="http://schemas.microsoft.com/office/drawing/2014/main" id="{ADAB17EB-6790-9AC8-B77F-AA796818E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9425" y="1522718"/>
            <a:ext cx="3233947" cy="4735519"/>
          </a:xfrm>
          <a:prstGeom prst="flowChartAlternateProcess">
            <a:avLst/>
          </a:prstGeom>
          <a:solidFill>
            <a:srgbClr val="D9F2D0"/>
          </a:solidFill>
          <a:ln w="12700">
            <a:solidFill>
              <a:srgbClr val="04243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Funktions</a:t>
            </a:r>
            <a:r>
              <a:rPr kumimoji="0" lang="de-DE" altLang="de-D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ü</a:t>
            </a:r>
            <a:r>
              <a:rPr kumimoji="0" lang="de-DE" altLang="de-DE" sz="2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bertragung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de-DE" sz="14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Bei </a:t>
            </a:r>
            <a:r>
              <a:rPr lang="de-DE" sz="14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Funktionsübertragung</a:t>
            </a:r>
            <a:r>
              <a:rPr lang="de-DE" sz="14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ist </a:t>
            </a:r>
            <a:r>
              <a:rPr lang="de-DE" sz="14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kein</a:t>
            </a:r>
            <a:r>
              <a:rPr lang="de-DE" sz="14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 gesonderter </a:t>
            </a:r>
            <a:r>
              <a:rPr lang="de-DE" sz="1400" b="1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Vertrag notwendig</a:t>
            </a:r>
            <a:r>
              <a:rPr lang="de-DE" sz="14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  <a:t>, der die Verantwortung über den Datenschutz regelt!</a:t>
            </a:r>
            <a:br>
              <a:rPr lang="de-DE" sz="1400" kern="100" dirty="0">
                <a:effectLst/>
                <a:latin typeface="+mn-lt"/>
                <a:ea typeface="Aptos" panose="020B0004020202020204" pitchFamily="34" charset="0"/>
                <a:cs typeface="Times New Roman" panose="02020603050405020304" pitchFamily="18" charset="0"/>
              </a:rPr>
            </a:br>
            <a:endParaRPr lang="de-DE" altLang="de-DE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AutoShape 21">
            <a:extLst>
              <a:ext uri="{FF2B5EF4-FFF2-40B4-BE49-F238E27FC236}">
                <a16:creationId xmlns:a16="http://schemas.microsoft.com/office/drawing/2014/main" id="{67ABB107-B2EF-93FD-587A-85FCC1F70B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53399" y="1614792"/>
            <a:ext cx="3200401" cy="4519139"/>
          </a:xfrm>
          <a:prstGeom prst="flowChartAlternateProcess">
            <a:avLst/>
          </a:prstGeom>
          <a:solidFill>
            <a:srgbClr val="CAEDFB"/>
          </a:solidFill>
          <a:ln w="12700">
            <a:solidFill>
              <a:srgbClr val="042433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22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Auftragsverarbeitung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22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22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Hier ist ein </a:t>
            </a:r>
            <a:r>
              <a:rPr kumimoji="0" lang="de-DE" altLang="de-DE" sz="1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AVV </a:t>
            </a:r>
            <a:r>
              <a:rPr kumimoji="0" lang="de-DE" altLang="de-DE" sz="140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abzuschließen!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de-DE" altLang="de-DE" sz="1400" b="1" dirty="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Pfeil: nach links 37">
            <a:extLst>
              <a:ext uri="{FF2B5EF4-FFF2-40B4-BE49-F238E27FC236}">
                <a16:creationId xmlns:a16="http://schemas.microsoft.com/office/drawing/2014/main" id="{F7466CB9-73A3-9D14-5151-A212BA9D334A}"/>
              </a:ext>
            </a:extLst>
          </p:cNvPr>
          <p:cNvSpPr/>
          <p:nvPr/>
        </p:nvSpPr>
        <p:spPr>
          <a:xfrm>
            <a:off x="3813963" y="2624057"/>
            <a:ext cx="788670" cy="14859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39" name="Pfeil: nach links 38">
            <a:extLst>
              <a:ext uri="{FF2B5EF4-FFF2-40B4-BE49-F238E27FC236}">
                <a16:creationId xmlns:a16="http://schemas.microsoft.com/office/drawing/2014/main" id="{D47F161F-D47A-1869-547B-4F89F775656A}"/>
              </a:ext>
            </a:extLst>
          </p:cNvPr>
          <p:cNvSpPr/>
          <p:nvPr/>
        </p:nvSpPr>
        <p:spPr>
          <a:xfrm>
            <a:off x="3795036" y="1792161"/>
            <a:ext cx="807720" cy="12573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40" name="Pfeil: nach links 39">
            <a:extLst>
              <a:ext uri="{FF2B5EF4-FFF2-40B4-BE49-F238E27FC236}">
                <a16:creationId xmlns:a16="http://schemas.microsoft.com/office/drawing/2014/main" id="{18A13C5A-4E4B-AA3E-B279-D558F8B0079F}"/>
              </a:ext>
            </a:extLst>
          </p:cNvPr>
          <p:cNvSpPr/>
          <p:nvPr/>
        </p:nvSpPr>
        <p:spPr>
          <a:xfrm>
            <a:off x="3823805" y="3521774"/>
            <a:ext cx="788670" cy="15621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41" name="Pfeil: nach links 40">
            <a:extLst>
              <a:ext uri="{FF2B5EF4-FFF2-40B4-BE49-F238E27FC236}">
                <a16:creationId xmlns:a16="http://schemas.microsoft.com/office/drawing/2014/main" id="{F19EF800-0F4F-AEAD-B1C8-B620ABE033C0}"/>
              </a:ext>
            </a:extLst>
          </p:cNvPr>
          <p:cNvSpPr/>
          <p:nvPr/>
        </p:nvSpPr>
        <p:spPr>
          <a:xfrm>
            <a:off x="3797518" y="4728369"/>
            <a:ext cx="803910" cy="13335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42" name="Pfeil: nach links 41">
            <a:extLst>
              <a:ext uri="{FF2B5EF4-FFF2-40B4-BE49-F238E27FC236}">
                <a16:creationId xmlns:a16="http://schemas.microsoft.com/office/drawing/2014/main" id="{94B55958-4D80-D85B-968E-CB89655FBDB0}"/>
              </a:ext>
            </a:extLst>
          </p:cNvPr>
          <p:cNvSpPr/>
          <p:nvPr/>
        </p:nvSpPr>
        <p:spPr>
          <a:xfrm>
            <a:off x="3791168" y="5853049"/>
            <a:ext cx="810260" cy="118110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43" name="Pfeil: nach unten 42">
            <a:extLst>
              <a:ext uri="{FF2B5EF4-FFF2-40B4-BE49-F238E27FC236}">
                <a16:creationId xmlns:a16="http://schemas.microsoft.com/office/drawing/2014/main" id="{30D0068B-9719-FD6D-7B70-FDE2DACA2D8F}"/>
              </a:ext>
            </a:extLst>
          </p:cNvPr>
          <p:cNvSpPr/>
          <p:nvPr/>
        </p:nvSpPr>
        <p:spPr>
          <a:xfrm>
            <a:off x="5538708" y="2139153"/>
            <a:ext cx="86995" cy="289560"/>
          </a:xfrm>
          <a:prstGeom prst="downArrow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44" name="Pfeil: nach unten 43">
            <a:extLst>
              <a:ext uri="{FF2B5EF4-FFF2-40B4-BE49-F238E27FC236}">
                <a16:creationId xmlns:a16="http://schemas.microsoft.com/office/drawing/2014/main" id="{2AAF2BAF-BDC3-1DFE-E90B-726BABEAF690}"/>
              </a:ext>
            </a:extLst>
          </p:cNvPr>
          <p:cNvSpPr/>
          <p:nvPr/>
        </p:nvSpPr>
        <p:spPr>
          <a:xfrm flipH="1">
            <a:off x="5544739" y="2982637"/>
            <a:ext cx="126910" cy="332024"/>
          </a:xfrm>
          <a:prstGeom prst="downArrow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45" name="Pfeil: nach unten 44">
            <a:extLst>
              <a:ext uri="{FF2B5EF4-FFF2-40B4-BE49-F238E27FC236}">
                <a16:creationId xmlns:a16="http://schemas.microsoft.com/office/drawing/2014/main" id="{0B6DADB0-98BF-C955-0697-039015FAA5DC}"/>
              </a:ext>
            </a:extLst>
          </p:cNvPr>
          <p:cNvSpPr/>
          <p:nvPr/>
        </p:nvSpPr>
        <p:spPr>
          <a:xfrm>
            <a:off x="5582204" y="4030980"/>
            <a:ext cx="60960" cy="320040"/>
          </a:xfrm>
          <a:prstGeom prst="downArrow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46" name="Pfeil: nach unten 45">
            <a:extLst>
              <a:ext uri="{FF2B5EF4-FFF2-40B4-BE49-F238E27FC236}">
                <a16:creationId xmlns:a16="http://schemas.microsoft.com/office/drawing/2014/main" id="{5FFF1406-A0B2-0DF4-C5C2-24F35F5DB4D1}"/>
              </a:ext>
            </a:extLst>
          </p:cNvPr>
          <p:cNvSpPr/>
          <p:nvPr/>
        </p:nvSpPr>
        <p:spPr>
          <a:xfrm>
            <a:off x="5563790" y="5253037"/>
            <a:ext cx="71755" cy="297180"/>
          </a:xfrm>
          <a:prstGeom prst="downArrow">
            <a:avLst/>
          </a:prstGeom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de-DE"/>
          </a:p>
        </p:txBody>
      </p:sp>
      <p:sp>
        <p:nvSpPr>
          <p:cNvPr id="48" name="Rectangle 28">
            <a:extLst>
              <a:ext uri="{FF2B5EF4-FFF2-40B4-BE49-F238E27FC236}">
                <a16:creationId xmlns:a16="http://schemas.microsoft.com/office/drawing/2014/main" id="{D4D8AD77-F2A5-F52B-FDBF-9925EBEB9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49" name="Rectangle 46">
            <a:extLst>
              <a:ext uri="{FF2B5EF4-FFF2-40B4-BE49-F238E27FC236}">
                <a16:creationId xmlns:a16="http://schemas.microsoft.com/office/drawing/2014/main" id="{0671B91A-36D8-64FA-C7E0-47218CC06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cxnSp>
        <p:nvCxnSpPr>
          <p:cNvPr id="63" name="Verbinder: gewinkelt 62">
            <a:extLst>
              <a:ext uri="{FF2B5EF4-FFF2-40B4-BE49-F238E27FC236}">
                <a16:creationId xmlns:a16="http://schemas.microsoft.com/office/drawing/2014/main" id="{7C5F3E71-1CC3-86D8-8A6E-708FBBAF5AA3}"/>
              </a:ext>
            </a:extLst>
          </p:cNvPr>
          <p:cNvCxnSpPr>
            <a:stCxn id="35" idx="3"/>
          </p:cNvCxnSpPr>
          <p:nvPr/>
        </p:nvCxnSpPr>
        <p:spPr>
          <a:xfrm flipV="1">
            <a:off x="6549787" y="5508003"/>
            <a:ext cx="1603612" cy="396227"/>
          </a:xfrm>
          <a:prstGeom prst="bentConnector3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1476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26D55B-A1AB-DF05-6CAE-9A00E31E53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0288"/>
          </a:xfrm>
        </p:spPr>
        <p:txBody>
          <a:bodyPr/>
          <a:lstStyle/>
          <a:p>
            <a:r>
              <a:rPr lang="de-DE" dirty="0"/>
              <a:t>Beispiele zur AV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EF176A4-AF4C-45CF-577F-D5BDEAEE89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5414"/>
            <a:ext cx="10515600" cy="4941549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Hosting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Website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Abrechnungs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und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Buchhaltungsdienste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</a:t>
            </a:r>
            <a:r>
              <a:rPr lang="de-DE" sz="1800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außer Steuerberater und Wirtschaftsprüfer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von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Videokonferenzsystemen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Fernwartung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IT-Dienstleister oder Softwareprovider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Auslagerung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Systemadministration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von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Clouddiensten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von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Newsletter Diensten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externer Aktenvernichtungen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von Archivierungs- oder 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Back-Up-Diensten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Nutzung von Internetportalen, sobald dort fremde personenbezogene Daten gespeichert werden (</a:t>
            </a: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Schulungsportale, Managementsysteme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18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Externe Dienstleistungen 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</a:t>
            </a:r>
            <a:r>
              <a:rPr lang="de-DE" sz="1800" kern="100" dirty="0">
                <a:solidFill>
                  <a:srgbClr val="FF0000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außer Datenschutzbeauftragte, Rechtsanwälte</a:t>
            </a:r>
            <a:r>
              <a:rPr lang="de-DE" sz="18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de-DE" sz="18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1A31874-E225-52F6-4787-CB5BF90D1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D281A51-2731-1D84-6F28-459C4B4F7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10769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48F207F-92EF-1688-29C8-3BFFA56A8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1105"/>
          </a:xfrm>
        </p:spPr>
        <p:txBody>
          <a:bodyPr/>
          <a:lstStyle/>
          <a:p>
            <a:r>
              <a:rPr lang="de-DE" dirty="0"/>
              <a:t>Abgrenzung zur AV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5726EA1-8471-9F12-A44A-FA31044D6F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6230"/>
            <a:ext cx="10515600" cy="5150120"/>
          </a:xfrm>
        </p:spPr>
        <p:txBody>
          <a:bodyPr>
            <a:noAutofit/>
          </a:bodyPr>
          <a:lstStyle/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3611880" algn="l"/>
              </a:tabLs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Davon abzugrenzen sind Verarbeitungstätigkeiten, die durch Personen vorgenommen werden, die dem Berufsgeheimnis (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Berufsgeheimnisträger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 unterliegen. So stellt die Inanspruchnahme eines Steuerberaters für die Firmenbuchhaltung keine Auftragsverarbeitung dar. Umgangssprachlich wird auch von einer „</a:t>
            </a:r>
            <a:r>
              <a:rPr lang="de-DE" sz="24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Funktionsübertragung</a:t>
            </a: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“ gesprochen.</a:t>
            </a:r>
          </a:p>
          <a:p>
            <a:pPr marL="0" indent="0">
              <a:lnSpc>
                <a:spcPct val="107000"/>
              </a:lnSpc>
              <a:spcAft>
                <a:spcPts val="800"/>
              </a:spcAft>
              <a:buNone/>
              <a:tabLst>
                <a:tab pos="3611880" algn="l"/>
              </a:tabLst>
            </a:pPr>
            <a:r>
              <a:rPr lang="de-DE" sz="24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  <a:r>
              <a:rPr lang="de-DE" sz="2000" b="1" u="sng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Beispiele für Funktionsübertragung</a:t>
            </a:r>
            <a:endParaRPr lang="de-DE" sz="20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Berufsgeheimnisträger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(Rechtsanwälte, Steuerberater, Wirtschaftsprüfer)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Übertragungen von Forderungen an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Inkassounternehmen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Post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- und Logistikunternehmen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Datenübermittlung an 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Kreditinstitute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Gesetzlich verpflichtende Datenübermittlung (</a:t>
            </a:r>
            <a:r>
              <a:rPr lang="de-DE" sz="20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Kranken- und Pflegekassen</a:t>
            </a:r>
            <a:r>
              <a:rPr lang="de-DE" sz="20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)</a:t>
            </a: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24359B-3925-896C-3E41-B83EEB0F3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572EA49-D525-634E-F2AF-010970550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2594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C2989EE-D8A9-23C2-6F78-5A304D73F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38381"/>
          </a:xfrm>
        </p:spPr>
        <p:txBody>
          <a:bodyPr/>
          <a:lstStyle/>
          <a:p>
            <a:r>
              <a:rPr lang="de-DE" dirty="0"/>
              <a:t>Zusammenfassung AV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E4F8279-6174-710E-8594-EA71A57FC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8682"/>
            <a:ext cx="10515600" cy="5237668"/>
          </a:xfrm>
        </p:spPr>
        <p:txBody>
          <a:bodyPr>
            <a:noAutofit/>
          </a:bodyPr>
          <a:lstStyle/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Eine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 ist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Verarbeitung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</a:t>
            </a:r>
            <a:r>
              <a:rPr lang="de-DE" sz="2200" kern="100" dirty="0" err="1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pbD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durch ein beauftragtes Unternehmen</a:t>
            </a:r>
            <a:endParaRPr lang="de-DE" sz="2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Auch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bloße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zufällige Kenntnisnahme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von Daten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kann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bereits eine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darstellen </a:t>
            </a:r>
            <a:r>
              <a:rPr lang="de-DE" sz="2200" i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(Beispiel: IT-Fernwartung)</a:t>
            </a:r>
            <a:endParaRPr lang="de-DE" sz="2200" kern="100" dirty="0">
              <a:effectLst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Verantwortliche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Datenverarbeitung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ist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Auftraggeber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Das beauftragte Unternehmen ist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der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Auftragnehmer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der auch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genannt wird.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ist eine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schriftliche Vereinbarung notwendig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Mindestinhalte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sind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gesetzlich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vorgeschrieben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Es dürfen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nur Organisationen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mit der Verarbeitung der Daten beauftragt werden,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die ausreichende Garantien bieten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dass die Daten geschützt sind.</a:t>
            </a:r>
          </a:p>
          <a:p>
            <a:pPr marL="342900" lvl="0" indent="-342900">
              <a:lnSpc>
                <a:spcPct val="107000"/>
              </a:lnSpc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 prüft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ob ein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AV geeignet ist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, die Daten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im Sinne der DSGVO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zu verarbeiten.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  <a:tabLst>
                <a:tab pos="3611880" algn="l"/>
              </a:tabLst>
            </a:pP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Der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DSB prüft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die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Verträge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auf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Vollständigkeit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 und inhaltliche </a:t>
            </a:r>
            <a:r>
              <a:rPr lang="de-DE" sz="2200" b="1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Richtigkeit</a:t>
            </a:r>
            <a:r>
              <a:rPr lang="de-DE" sz="2200" kern="100" dirty="0"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de-DE" sz="22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49271DF-023B-7736-4B14-47B142DAA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2B297F3-F569-99BD-5143-46F9A2FFF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498077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28AF300-DFF7-4356-B188-1B3835A5F8E8}"/>
</file>

<file path=customXml/itemProps2.xml><?xml version="1.0" encoding="utf-8"?>
<ds:datastoreItem xmlns:ds="http://schemas.openxmlformats.org/officeDocument/2006/customXml" ds:itemID="{687FFFD1-9E21-430C-BB1C-C45777A4084E}"/>
</file>

<file path=customXml/itemProps3.xml><?xml version="1.0" encoding="utf-8"?>
<ds:datastoreItem xmlns:ds="http://schemas.openxmlformats.org/officeDocument/2006/customXml" ds:itemID="{E9BEAC70-4660-4027-A4EF-1ADE60A5207B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662</Words>
  <Application>Microsoft Office PowerPoint</Application>
  <PresentationFormat>Breitbild</PresentationFormat>
  <Paragraphs>95</Paragraphs>
  <Slides>9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Symbol</vt:lpstr>
      <vt:lpstr>Times New Roman</vt:lpstr>
      <vt:lpstr>Office</vt:lpstr>
      <vt:lpstr>DATENSCHUTZ-SCHULUNG Teil 3: Wichtige Einzelthemen für Fachinformatiker</vt:lpstr>
      <vt:lpstr>Inhalte der Datenschutz-Themen</vt:lpstr>
      <vt:lpstr>Datenschutz Teil 3.1</vt:lpstr>
      <vt:lpstr>Auftragsverarbeitung (AV)</vt:lpstr>
      <vt:lpstr>Kriterien der AV</vt:lpstr>
      <vt:lpstr>Entscheidungshilfe zu Art. 28 DSGVO </vt:lpstr>
      <vt:lpstr>Beispiele zur AV</vt:lpstr>
      <vt:lpstr>Abgrenzung zur AV</vt:lpstr>
      <vt:lpstr>Zusammenfassung AV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105</cp:revision>
  <dcterms:created xsi:type="dcterms:W3CDTF">2025-05-19T19:06:41Z</dcterms:created>
  <dcterms:modified xsi:type="dcterms:W3CDTF">2025-10-01T07:40:00Z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