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32482-44E6-D3BB-C5DA-905344F92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18EE64-2534-C64D-9D5D-4F80A62F4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EBD9F2-E1C0-389A-DE38-4D10A9C7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9200FD-95DB-98C6-3CB3-ADF5390B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E7B78C-0C67-C187-3088-17A8DCBD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01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C6B3A-DCC6-5D4B-B49F-2C545899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00E1DE-1A9E-FD2E-1CD7-CF52890D7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72AB0-3A67-E8A0-545D-3DA45FA5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3B72B0-1B0C-9A89-E7FE-F9571ADF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A0C023-34F9-3946-2377-D00B46E6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88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0861C-782F-8C4C-7CB8-8F62513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BE2D2-0A38-BC97-213E-2923BCCA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DD11CC-B73C-20DF-10BB-78468A50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328102-B76C-581D-9FB7-72DCE19F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CD457E-D0D2-8204-9220-638C9EFD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5180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671F9-BA01-6D2D-8967-7B7B2DC1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8E0C1A-330E-D25E-C6C5-BE99568AD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1D01D7-367D-52BA-8C54-DC2DA18A4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98ADF7-6165-FBDF-FF2E-C58FD1C1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20B0E7-9285-F1CF-E035-779A6E7C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AEE0F8-EC0E-7CD1-CF58-B690A1F3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6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277E9-2053-0C3A-7726-1C5B9BF0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4AE838-6549-B1F0-8764-E3FC6FAA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6700DB-3B2C-69B7-4E1B-0FA1B2260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914B0E-FCFF-D07C-CC93-4E7D287EE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99CA2EE-12EA-6C6F-129E-7FD6D18C0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4ECB986-5251-50EC-D7F8-7F01D149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295230-A964-D494-69D4-D812DA9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EF95D5-1A4A-2109-AF02-1FB8DEC3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75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80092-77CA-91B0-E5FA-566A5ED8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C83C17-9697-BF18-13AF-5986356D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D9A831-7739-71E5-B8D8-ABD00853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0E44B8-4EE0-F7B9-2E20-7A95E7F6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66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74A3FE-BE45-A6BE-4186-774C1C9C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803377-CCED-7A34-FFD5-52F23113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76539D-1F11-EF3A-E807-652A56C0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61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1C827-589C-E344-4ED0-7BC95C74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4B4C2-874B-3D5A-9633-9E24ED9B8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8D802D-90B6-71BE-3B03-BE50EB7F7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BA8AD0-FD83-4E0A-E0E2-199CBBF9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62ADD9-D98A-B48E-A362-BBD097C7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AFF43C-4651-2E27-94C5-683C89CB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098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E5632-AB5B-887D-7354-45F61A8F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B53772-B24F-97F7-7A9E-4A8FF3832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31C164-1F3A-9191-5649-2C1F22C60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FFDA61-B473-C5BA-6ADE-C660C481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A38539-F421-A2D4-98EF-ACE258DB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1D6A2A-E83C-4102-0445-D40A0C13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20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C8F21-38AA-E474-D3FE-E69D1A97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8291F7-3A31-8789-A9BC-0DC8BD03F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C87BC6-BA5F-569D-4FDA-7DA176209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3D6AD2-17B1-FAD9-AB21-0C13D817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0BD39C-B138-827C-9A14-0F238E42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19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D45599-C439-1E62-3B30-2166CD9A4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8A14B7-C042-747F-33F2-973C2B226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EAA6AB-65C1-4E89-A731-FA6F5017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01F986-B958-5D32-C8E4-9858841D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3AB29E-EA06-96AF-365B-AB1C8735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44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B59E0D-4474-B17F-6128-BE4A542D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3759A1-D676-25CD-893A-FA239C106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F8973C-5465-F02A-326C-4A72BBCA6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1D8C7-2B85-4DE9-A795-80011EF911F3}" type="datetimeFigureOut">
              <a:rPr lang="de-DE" smtClean="0"/>
              <a:t>09.10.2024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2BBD79-8EE0-2AC4-7446-E58A82263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78A8DF-0BC1-EEBF-71B0-4A21044FC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B6D3-04C0-4A17-8650-7C92C3C4A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58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648DD-A11D-ABAC-FAAC-7998ED4E7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Virtual Private Network (VPN)</a:t>
            </a:r>
            <a:br>
              <a:rPr lang="de-DE" dirty="0"/>
            </a:br>
            <a:r>
              <a:rPr lang="de-DE" dirty="0"/>
              <a:t>Sicherheit und Privatsphäre im digitalen Zeitalter</a:t>
            </a:r>
          </a:p>
        </p:txBody>
      </p:sp>
    </p:spTree>
    <p:extLst>
      <p:ext uri="{BB962C8B-B14F-4D97-AF65-F5344CB8AC3E}">
        <p14:creationId xmlns:p14="http://schemas.microsoft.com/office/powerpoint/2010/main" val="289252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B2818-7270-6D64-32B4-89AC85AD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0E9384-6A3D-0889-2CB1-5ACC0589E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Was ist ein VPN?</a:t>
            </a:r>
          </a:p>
          <a:p>
            <a:r>
              <a:rPr lang="de-DE" dirty="0"/>
              <a:t>Ein VPN (Virtual Private Network) ist eine Technologie, die eine sichere und verschlüsselte Verbindung über ein weniger sicheres Netzwerk, wie das Internet, ermöglicht.</a:t>
            </a:r>
          </a:p>
          <a:p>
            <a:r>
              <a:rPr lang="de-DE" b="1" dirty="0"/>
              <a:t>Warum ist es wichtig?</a:t>
            </a:r>
          </a:p>
          <a:p>
            <a:r>
              <a:rPr lang="de-DE" dirty="0"/>
              <a:t>Schutz der Privatsphäre und Datenintegrität.</a:t>
            </a:r>
          </a:p>
          <a:p>
            <a:r>
              <a:rPr lang="de-DE" dirty="0"/>
              <a:t>Sicherer Zugriff auf Netzwerkressourcen aus der Ferne.</a:t>
            </a:r>
          </a:p>
          <a:p>
            <a:r>
              <a:rPr lang="de-DE" dirty="0"/>
              <a:t>Umgehung geografischer Beschränkungen.</a:t>
            </a:r>
          </a:p>
        </p:txBody>
      </p:sp>
    </p:spTree>
    <p:extLst>
      <p:ext uri="{BB962C8B-B14F-4D97-AF65-F5344CB8AC3E}">
        <p14:creationId xmlns:p14="http://schemas.microsoft.com/office/powerpoint/2010/main" val="230638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C992C-0E0B-E214-16F1-196313C1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Grundlegende Konzepte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FA3575-39A9-D3F2-AE16-A9FD8211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b="1" dirty="0"/>
              <a:t>Definition und Zweck eines VPNs</a:t>
            </a:r>
          </a:p>
          <a:p>
            <a:r>
              <a:rPr lang="de-DE" dirty="0"/>
              <a:t>Erstellen eines sicheren "Tunnels" durch das Internet.</a:t>
            </a:r>
          </a:p>
          <a:p>
            <a:r>
              <a:rPr lang="de-DE" dirty="0"/>
              <a:t>Verschlüsselung der Daten, um Abhörversuche zu verhindern.</a:t>
            </a:r>
          </a:p>
          <a:p>
            <a:r>
              <a:rPr lang="de-DE" dirty="0"/>
              <a:t>Sicherstellen der Datenintegrität und Authentizität.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Überblick über die Funktionsweise</a:t>
            </a:r>
          </a:p>
          <a:p>
            <a:r>
              <a:rPr lang="de-DE" dirty="0"/>
              <a:t>VPN-Client stellt Verbindung zum VPN-Server her.</a:t>
            </a:r>
          </a:p>
          <a:p>
            <a:r>
              <a:rPr lang="de-DE" dirty="0"/>
              <a:t>Daten werden verschlüsselt und durch den VPN-Tunnel gesendet.</a:t>
            </a:r>
          </a:p>
          <a:p>
            <a:r>
              <a:rPr lang="de-DE" dirty="0"/>
              <a:t>VPN-Server entschlüsselt die Daten und sendet sie an das Zielnetzwerk.</a:t>
            </a:r>
          </a:p>
        </p:txBody>
      </p:sp>
    </p:spTree>
    <p:extLst>
      <p:ext uri="{BB962C8B-B14F-4D97-AF65-F5344CB8AC3E}">
        <p14:creationId xmlns:p14="http://schemas.microsoft.com/office/powerpoint/2010/main" val="209479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BB6DF-AADB-A306-0872-F537BC95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VPN-Typen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61BD4D-D604-052F-D145-523A4629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Remote-Access VPN</a:t>
            </a:r>
          </a:p>
          <a:p>
            <a:r>
              <a:rPr lang="de-DE" dirty="0"/>
              <a:t>Verbindung einzelner Nutzer zu einem entfernten Netzwerk.</a:t>
            </a:r>
          </a:p>
          <a:p>
            <a:r>
              <a:rPr lang="de-DE" dirty="0"/>
              <a:t>Beispiel: Mitarbeiter im Homeoffice.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Site-</a:t>
            </a:r>
            <a:r>
              <a:rPr lang="de-DE" b="1" dirty="0" err="1"/>
              <a:t>to</a:t>
            </a:r>
            <a:r>
              <a:rPr lang="de-DE" b="1" dirty="0"/>
              <a:t>-Site VPN</a:t>
            </a:r>
          </a:p>
          <a:p>
            <a:r>
              <a:rPr lang="de-DE" dirty="0"/>
              <a:t>Verbindung von zwei oder mehr Netzwerken.</a:t>
            </a:r>
          </a:p>
          <a:p>
            <a:r>
              <a:rPr lang="de-DE" dirty="0"/>
              <a:t>Beispiel: Verknüpfung von Firmennetzwerken an verschiedenen Standorten.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Mobile VPN</a:t>
            </a:r>
          </a:p>
          <a:p>
            <a:r>
              <a:rPr lang="de-DE" dirty="0"/>
              <a:t>VPN für mobile Geräte, um nahtlose Konnektivität zu gewährleisten.</a:t>
            </a:r>
          </a:p>
          <a:p>
            <a:r>
              <a:rPr lang="de-DE" dirty="0"/>
              <a:t>Beispiel: VPN auf Smartphones und Tablets.</a:t>
            </a:r>
          </a:p>
        </p:txBody>
      </p:sp>
    </p:spTree>
    <p:extLst>
      <p:ext uri="{BB962C8B-B14F-4D97-AF65-F5344CB8AC3E}">
        <p14:creationId xmlns:p14="http://schemas.microsoft.com/office/powerpoint/2010/main" val="102553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3A2E0-8BB6-513F-2D76-03969CAA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VPN-Protokolle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097FB-DFB8-1E6A-5702-85386939B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PPTP (Point-</a:t>
            </a:r>
            <a:r>
              <a:rPr lang="de-DE" b="1" dirty="0" err="1"/>
              <a:t>to</a:t>
            </a:r>
            <a:r>
              <a:rPr lang="de-DE" b="1" dirty="0"/>
              <a:t>-Point Tunneling Protocol)</a:t>
            </a:r>
          </a:p>
          <a:p>
            <a:r>
              <a:rPr lang="de-DE" dirty="0"/>
              <a:t>Älteres Protokoll, weniger sicher.</a:t>
            </a:r>
          </a:p>
          <a:p>
            <a:r>
              <a:rPr lang="de-DE" dirty="0"/>
              <a:t>Einfach einzurichten, aber anfällig für Sicherheitslücken.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L2TP/</a:t>
            </a:r>
            <a:r>
              <a:rPr lang="de-DE" b="1" dirty="0" err="1"/>
              <a:t>IPsec</a:t>
            </a:r>
            <a:r>
              <a:rPr lang="de-DE" b="1" dirty="0"/>
              <a:t> (Layer 2 Tunneling Protocol)</a:t>
            </a:r>
          </a:p>
          <a:p>
            <a:r>
              <a:rPr lang="de-DE" dirty="0"/>
              <a:t>Kombination aus L2TP und </a:t>
            </a:r>
            <a:r>
              <a:rPr lang="de-DE" dirty="0" err="1"/>
              <a:t>IPsec</a:t>
            </a:r>
            <a:r>
              <a:rPr lang="de-DE" dirty="0"/>
              <a:t> für erhöhte Sicherheit.</a:t>
            </a:r>
          </a:p>
          <a:p>
            <a:r>
              <a:rPr lang="de-DE" dirty="0"/>
              <a:t>Häufig verwendet, aber langsamer als neuere Protokolle.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OpenVPN</a:t>
            </a:r>
          </a:p>
          <a:p>
            <a:r>
              <a:rPr lang="de-DE" dirty="0"/>
              <a:t>Open-Source-Protokoll, sehr sicher und flexibel.</a:t>
            </a:r>
          </a:p>
          <a:p>
            <a:r>
              <a:rPr lang="de-DE" dirty="0"/>
              <a:t>Unterstützt verschiedene Verschlüsselungsalgorithmen.</a:t>
            </a:r>
          </a:p>
        </p:txBody>
      </p:sp>
    </p:spTree>
    <p:extLst>
      <p:ext uri="{BB962C8B-B14F-4D97-AF65-F5344CB8AC3E}">
        <p14:creationId xmlns:p14="http://schemas.microsoft.com/office/powerpoint/2010/main" val="410763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65439-B8AD-B4D6-2EFC-8A0E3BB6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VPN-Protokolle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2CAD5E-7D13-A191-8BD2-195487F8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IKEv2/</a:t>
            </a:r>
            <a:r>
              <a:rPr lang="de-DE" b="1" dirty="0" err="1"/>
              <a:t>IPsec</a:t>
            </a:r>
            <a:endParaRPr lang="de-DE" b="1" dirty="0"/>
          </a:p>
          <a:p>
            <a:r>
              <a:rPr lang="de-DE" dirty="0"/>
              <a:t>Sicher und schnell, besonders gut für mobile Geräte.</a:t>
            </a:r>
          </a:p>
          <a:p>
            <a:r>
              <a:rPr lang="de-DE" dirty="0"/>
              <a:t>Unterstützt automatische Wiederverbindung.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WireGuard</a:t>
            </a:r>
            <a:endParaRPr lang="de-DE" b="1" dirty="0"/>
          </a:p>
          <a:p>
            <a:r>
              <a:rPr lang="de-DE" dirty="0"/>
              <a:t>Neue, moderne Lösung, die hohe Sicherheit und Leistung bietet.</a:t>
            </a:r>
          </a:p>
          <a:p>
            <a:r>
              <a:rPr lang="de-DE" dirty="0"/>
              <a:t>Einfach zu konfigurieren und effizient.</a:t>
            </a:r>
          </a:p>
        </p:txBody>
      </p:sp>
    </p:spTree>
    <p:extLst>
      <p:ext uri="{BB962C8B-B14F-4D97-AF65-F5344CB8AC3E}">
        <p14:creationId xmlns:p14="http://schemas.microsoft.com/office/powerpoint/2010/main" val="163726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DCE3F-AF80-821D-43FA-7ED5A651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Authentifizierungsmethoden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738EEC-E62F-6F80-CF1E-E0DB123AD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/>
              <a:t>Passwort-basierte Authentifizierung</a:t>
            </a:r>
          </a:p>
          <a:p>
            <a:r>
              <a:rPr lang="de-DE" dirty="0"/>
              <a:t>Einfach, aber anfällig für Angriffe (z.B. Brute-Force).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Zwei-Faktor-Authentifizierung (2FA)</a:t>
            </a:r>
          </a:p>
          <a:p>
            <a:r>
              <a:rPr lang="de-DE" dirty="0"/>
              <a:t>Zusätzliche Sicherheit durch eine zweite Authentifizierungsmethode (z.B. SMS, App).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Zertifikat-basierte Authentifizierung</a:t>
            </a:r>
          </a:p>
          <a:p>
            <a:r>
              <a:rPr lang="de-DE" dirty="0"/>
              <a:t>Verwendung digitaler Zertifikate zur Verifizierung der Identität.</a:t>
            </a:r>
          </a:p>
          <a:p>
            <a:r>
              <a:rPr lang="de-DE" dirty="0"/>
              <a:t>Sehr sicher, aber komplexer in der Verwaltung.</a:t>
            </a:r>
          </a:p>
        </p:txBody>
      </p:sp>
    </p:spTree>
    <p:extLst>
      <p:ext uri="{BB962C8B-B14F-4D97-AF65-F5344CB8AC3E}">
        <p14:creationId xmlns:p14="http://schemas.microsoft.com/office/powerpoint/2010/main" val="380529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4A5A4E-04B8-9881-BD91-381FA16B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VPN-Architektur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8717F5-C030-B5CC-2FC7-C9F2B85D0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VPN-Client und VPN-Server</a:t>
            </a:r>
          </a:p>
          <a:p>
            <a:r>
              <a:rPr lang="de-DE" dirty="0"/>
              <a:t>Client: Software auf dem Endgerät des Nutzers.</a:t>
            </a:r>
          </a:p>
          <a:p>
            <a:r>
              <a:rPr lang="de-DE" dirty="0"/>
              <a:t>Server: Gerät oder Software, das die VPN-Verbindung ermöglicht und verwaltet.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VPN-Gateway</a:t>
            </a:r>
          </a:p>
          <a:p>
            <a:r>
              <a:rPr lang="de-DE" dirty="0"/>
              <a:t>Gerät oder Software, das als Zugangspunkt zum VPN fungiert.</a:t>
            </a:r>
          </a:p>
          <a:p>
            <a:r>
              <a:rPr lang="de-DE" dirty="0"/>
              <a:t>Verbindet verschiedene Netzwerke miteinander.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VPN-Tunnel</a:t>
            </a:r>
          </a:p>
          <a:p>
            <a:r>
              <a:rPr lang="de-DE" dirty="0"/>
              <a:t>Verschlüsselter Kommunikationskanal zwischen Client und Server.</a:t>
            </a:r>
          </a:p>
          <a:p>
            <a:r>
              <a:rPr lang="de-DE" dirty="0"/>
              <a:t>Schützt die übertragenen Daten vor Abhörversuchen.</a:t>
            </a:r>
          </a:p>
        </p:txBody>
      </p:sp>
    </p:spTree>
    <p:extLst>
      <p:ext uri="{BB962C8B-B14F-4D97-AF65-F5344CB8AC3E}">
        <p14:creationId xmlns:p14="http://schemas.microsoft.com/office/powerpoint/2010/main" val="292293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A88EF-D66D-D926-8299-1315E1C8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eines VPN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FEA6B9-6277-0A71-5149-1938566A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/>
              <a:t>Schritte zur Einrichtung eines VPN</a:t>
            </a:r>
          </a:p>
          <a:p>
            <a:r>
              <a:rPr lang="de-DE" dirty="0"/>
              <a:t>Auswahl des VPN-Protokolls und der Verschlüsselungsmethoden.</a:t>
            </a:r>
          </a:p>
          <a:p>
            <a:r>
              <a:rPr lang="de-DE" dirty="0"/>
              <a:t>Konfiguration des VPN-Servers.</a:t>
            </a:r>
          </a:p>
          <a:p>
            <a:r>
              <a:rPr lang="de-DE" dirty="0"/>
              <a:t>Installation und Konfiguration der VPN-Client-Software.</a:t>
            </a:r>
          </a:p>
          <a:p>
            <a:r>
              <a:rPr lang="de-DE" dirty="0"/>
              <a:t>Authentifizierung und Verbindung zum VPN-Server.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Konfiguration von VPN-Clients und -Servern</a:t>
            </a:r>
          </a:p>
          <a:p>
            <a:r>
              <a:rPr lang="de-DE" dirty="0"/>
              <a:t>Einrichten von IP-Adressen und Routen.</a:t>
            </a:r>
          </a:p>
          <a:p>
            <a:r>
              <a:rPr lang="de-DE" dirty="0"/>
              <a:t>Konfiguration von Firewall-Regeln und Zugriffskontrollen.</a:t>
            </a:r>
          </a:p>
          <a:p>
            <a:r>
              <a:rPr lang="de-DE" dirty="0"/>
              <a:t>Verwaltung von Benutzerkonten und Zertifikaten.</a:t>
            </a:r>
          </a:p>
        </p:txBody>
      </p:sp>
    </p:spTree>
    <p:extLst>
      <p:ext uri="{BB962C8B-B14F-4D97-AF65-F5344CB8AC3E}">
        <p14:creationId xmlns:p14="http://schemas.microsoft.com/office/powerpoint/2010/main" val="332911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B85CE-EB67-D164-AB49-CC8C9988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von VPNs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0CFD26-AAC1-B8AC-9EDC-972CB9BDB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Sicherheit</a:t>
            </a:r>
          </a:p>
          <a:p>
            <a:r>
              <a:rPr lang="de-DE" dirty="0"/>
              <a:t>Schutz vor Abhörversuchen und Datenmanipulation.</a:t>
            </a:r>
          </a:p>
          <a:p>
            <a:r>
              <a:rPr lang="de-DE" dirty="0"/>
              <a:t>Verschlüsselung der Datenübertragung.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Datenschutz</a:t>
            </a:r>
          </a:p>
          <a:p>
            <a:r>
              <a:rPr lang="de-DE" dirty="0"/>
              <a:t>Verbergen der IP-Adresse und des Standorts.</a:t>
            </a:r>
          </a:p>
          <a:p>
            <a:r>
              <a:rPr lang="de-DE" dirty="0"/>
              <a:t>Schutz der Online-Aktivitäten vor Überwachung.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963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A7F59-CF19-4504-920C-ACA067F5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von VPNs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5F94BA-FDAC-FB2B-66D2-14FADCA2A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Zugriff auf geografisch eingeschränkte Inhalte</a:t>
            </a:r>
          </a:p>
          <a:p>
            <a:r>
              <a:rPr lang="de-DE" dirty="0"/>
              <a:t>Umgehung von Geoblocking und Zensur.</a:t>
            </a:r>
          </a:p>
          <a:p>
            <a:r>
              <a:rPr lang="de-DE" dirty="0"/>
              <a:t>Zugriff auf Inhalte aus verschiedenen Regionen.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Schutz in öffentlichen Netzwerken</a:t>
            </a:r>
          </a:p>
          <a:p>
            <a:r>
              <a:rPr lang="de-DE" dirty="0"/>
              <a:t>Sicherer Zugang zu Netzwerken in öffentlichen Bereichen (z.B. WLAN-Hotspots).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791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DC2B2-532A-0AAD-7A54-A534AA69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Nachteile und Herausforderungen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932B03-0BF1-8A15-D593-48E9FFF60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/>
              <a:t>Geschwindigkeitsverluste</a:t>
            </a:r>
          </a:p>
          <a:p>
            <a:r>
              <a:rPr lang="de-DE" dirty="0"/>
              <a:t>Verschlüsselung und Tunneling können die Netzwerkgeschwindigkeit verringern.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Komplexität der Einrichtung</a:t>
            </a:r>
          </a:p>
          <a:p>
            <a:r>
              <a:rPr lang="de-DE" dirty="0"/>
              <a:t>Erfordert technisches Wissen und sorgfältige Konfiguration.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Vertrauenswürdigkeit des VPN-Anbieters</a:t>
            </a:r>
          </a:p>
          <a:p>
            <a:r>
              <a:rPr lang="de-DE" dirty="0"/>
              <a:t>Notwendigkeit, dem Anbieter hinsichtlich Datenschutz und Sicherheit zu vertrauen.</a:t>
            </a:r>
          </a:p>
        </p:txBody>
      </p:sp>
    </p:spTree>
    <p:extLst>
      <p:ext uri="{BB962C8B-B14F-4D97-AF65-F5344CB8AC3E}">
        <p14:creationId xmlns:p14="http://schemas.microsoft.com/office/powerpoint/2010/main" val="418523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F69F0-4000-1A2A-12CD-9D7C4829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Einsatzgebiete von VPNs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AA8C5-79B5-C334-6987-E8CDCE64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Unternehmen</a:t>
            </a:r>
          </a:p>
          <a:p>
            <a:r>
              <a:rPr lang="de-DE" dirty="0"/>
              <a:t>Sicherer Zugriff auf Firmennetzwerke für Remote-Mitarbeiter.</a:t>
            </a:r>
          </a:p>
          <a:p>
            <a:r>
              <a:rPr lang="de-DE" dirty="0"/>
              <a:t>Verbindung von Niederlassungen und Partnernetzwerken.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Privatnutzer</a:t>
            </a:r>
          </a:p>
          <a:p>
            <a:r>
              <a:rPr lang="de-DE" dirty="0"/>
              <a:t>Schutz der Privatsphäre und Umgehung von Geoblocking.</a:t>
            </a:r>
          </a:p>
          <a:p>
            <a:r>
              <a:rPr lang="de-DE" dirty="0"/>
              <a:t>Sicheres Surfen in öffentlichen Netzwerken.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Sicherheitsbehörden</a:t>
            </a:r>
          </a:p>
          <a:p>
            <a:r>
              <a:rPr lang="de-DE" dirty="0"/>
              <a:t>Schutz sensibler Informationen und Kommunikationswege.</a:t>
            </a:r>
          </a:p>
          <a:p>
            <a:r>
              <a:rPr lang="de-DE" dirty="0"/>
              <a:t>Sichere Verbindungen für Ermittlungen und Operationen.</a:t>
            </a:r>
          </a:p>
        </p:txBody>
      </p:sp>
    </p:spTree>
    <p:extLst>
      <p:ext uri="{BB962C8B-B14F-4D97-AF65-F5344CB8AC3E}">
        <p14:creationId xmlns:p14="http://schemas.microsoft.com/office/powerpoint/2010/main" val="3335177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8B2862-8F36-7B74-0F06-012831BA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VPN-Anbieter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76B68C-4101-5FAD-6D33-768DC7CC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Kommerzielle VPN-Dienste</a:t>
            </a:r>
          </a:p>
          <a:p>
            <a:r>
              <a:rPr lang="de-DE" dirty="0"/>
              <a:t>Beispiele: </a:t>
            </a:r>
            <a:r>
              <a:rPr lang="de-DE" dirty="0" err="1"/>
              <a:t>NordVPN</a:t>
            </a:r>
            <a:r>
              <a:rPr lang="de-DE" dirty="0"/>
              <a:t>, </a:t>
            </a:r>
            <a:r>
              <a:rPr lang="de-DE" dirty="0" err="1"/>
              <a:t>ExpressVPN</a:t>
            </a:r>
            <a:r>
              <a:rPr lang="de-DE" dirty="0"/>
              <a:t>, </a:t>
            </a:r>
            <a:r>
              <a:rPr lang="de-DE" dirty="0" err="1"/>
              <a:t>CyberGhost</a:t>
            </a:r>
            <a:r>
              <a:rPr lang="de-DE" dirty="0"/>
              <a:t>.</a:t>
            </a:r>
          </a:p>
          <a:p>
            <a:r>
              <a:rPr lang="de-DE" dirty="0"/>
              <a:t>Angebote für Privatnutzer und kleine Unternehmen.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Unternehmenslösungen</a:t>
            </a:r>
          </a:p>
          <a:p>
            <a:r>
              <a:rPr lang="de-DE" dirty="0"/>
              <a:t>Beispiele: Cisco </a:t>
            </a:r>
            <a:r>
              <a:rPr lang="de-DE" dirty="0" err="1"/>
              <a:t>AnyConnect</a:t>
            </a:r>
            <a:r>
              <a:rPr lang="de-DE" dirty="0"/>
              <a:t>, Fortinet, Palo Alto Networks.</a:t>
            </a:r>
          </a:p>
          <a:p>
            <a:r>
              <a:rPr lang="de-DE" dirty="0"/>
              <a:t>Umfassende Sicherheits- und Verwaltungsfunktionen.</a:t>
            </a:r>
          </a:p>
        </p:txBody>
      </p:sp>
    </p:spTree>
    <p:extLst>
      <p:ext uri="{BB962C8B-B14F-4D97-AF65-F5344CB8AC3E}">
        <p14:creationId xmlns:p14="http://schemas.microsoft.com/office/powerpoint/2010/main" val="105472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4F9C2-40B1-00FB-514F-013C6BBD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VPN in Unternehmen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FDA009-54A3-DE34-F7D0-7093CCCA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Implementierung und Verwaltung</a:t>
            </a:r>
          </a:p>
          <a:p>
            <a:r>
              <a:rPr lang="de-DE" dirty="0"/>
              <a:t>Planung und Design der VPN-Architektur.</a:t>
            </a:r>
          </a:p>
          <a:p>
            <a:r>
              <a:rPr lang="de-DE" dirty="0"/>
              <a:t>Einrichtung und Konfiguration der VPN-Server und -Clients.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Überwachung und Wartung der VPN-Infrastruktur.</a:t>
            </a:r>
          </a:p>
          <a:p>
            <a:r>
              <a:rPr lang="de-DE" dirty="0"/>
              <a:t>Sicherheitsrichtlinien und Compliance</a:t>
            </a:r>
          </a:p>
          <a:p>
            <a:r>
              <a:rPr lang="de-DE" dirty="0"/>
              <a:t>Einhaltung von Datenschutzbestimmungen und Sicherheitsstandards.</a:t>
            </a:r>
          </a:p>
          <a:p>
            <a:r>
              <a:rPr lang="de-DE" dirty="0"/>
              <a:t>Schulung der Mitarbeiter im sicheren Umgang mit VPNs.</a:t>
            </a:r>
          </a:p>
        </p:txBody>
      </p:sp>
    </p:spTree>
    <p:extLst>
      <p:ext uri="{BB962C8B-B14F-4D97-AF65-F5344CB8AC3E}">
        <p14:creationId xmlns:p14="http://schemas.microsoft.com/office/powerpoint/2010/main" val="1323225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4C89C-1088-1935-04A6-773B91B1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Sicherheit und 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5A2D16-3868-8BD7-5BE1-3554A7FA5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DNS-Leaks</a:t>
            </a:r>
          </a:p>
          <a:p>
            <a:r>
              <a:rPr lang="de-DE" dirty="0"/>
              <a:t>Risiko, dass DNS-Anfragen außerhalb des VPNs gesendet werden.</a:t>
            </a:r>
          </a:p>
          <a:p>
            <a:r>
              <a:rPr lang="de-DE" dirty="0"/>
              <a:t>Schutzmaßnahmen: DNS-Leak-</a:t>
            </a:r>
            <a:r>
              <a:rPr lang="de-DE" dirty="0" err="1"/>
              <a:t>Protection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IP-Leaks</a:t>
            </a:r>
          </a:p>
          <a:p>
            <a:r>
              <a:rPr lang="de-DE" dirty="0"/>
              <a:t>Risiko, dass die echte IP-Adresse trotz VPN sichtbar wird.</a:t>
            </a:r>
          </a:p>
          <a:p>
            <a:r>
              <a:rPr lang="de-DE" dirty="0"/>
              <a:t>Schutzmaßnahmen: Kill-Switch, regelmäßige IP-Checks.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Man-in-</a:t>
            </a:r>
            <a:r>
              <a:rPr lang="de-DE" b="1" dirty="0" err="1"/>
              <a:t>the</a:t>
            </a:r>
            <a:r>
              <a:rPr lang="de-DE" b="1" dirty="0"/>
              <a:t>-Middle-Angriffe</a:t>
            </a:r>
          </a:p>
          <a:p>
            <a:r>
              <a:rPr lang="de-DE" dirty="0"/>
              <a:t>Angriffe, bei denen der Angreifer den Datenverkehr abfängt.</a:t>
            </a:r>
          </a:p>
          <a:p>
            <a:r>
              <a:rPr lang="de-DE" dirty="0"/>
              <a:t>Schutzmaßnahmen: Starke Verschlüsselung, Zertifikatsprüfung.</a:t>
            </a:r>
          </a:p>
        </p:txBody>
      </p:sp>
    </p:spTree>
    <p:extLst>
      <p:ext uri="{BB962C8B-B14F-4D97-AF65-F5344CB8AC3E}">
        <p14:creationId xmlns:p14="http://schemas.microsoft.com/office/powerpoint/2010/main" val="4138734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EAF46-8EEE-8415-0E17-D8F0041A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3EF42E-5E50-F1BE-E899-18301B3B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/>
              <a:t>Regelmäßige Software-Updates</a:t>
            </a:r>
          </a:p>
          <a:p>
            <a:r>
              <a:rPr lang="de-DE" dirty="0"/>
              <a:t>Sicherstellen, dass VPN-Software und -Firmware aktuell sind.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Verwendung starker Passwörter und 2FA</a:t>
            </a:r>
          </a:p>
          <a:p>
            <a:r>
              <a:rPr lang="de-DE" dirty="0"/>
              <a:t>Starke Passwörter und zusätzliche Authentifizierungsmethoden verwenden.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Überwachung und </a:t>
            </a:r>
            <a:r>
              <a:rPr lang="de-DE" b="1" dirty="0" err="1"/>
              <a:t>Logging</a:t>
            </a:r>
            <a:endParaRPr lang="de-DE" b="1" dirty="0"/>
          </a:p>
          <a:p>
            <a:r>
              <a:rPr lang="de-DE" dirty="0"/>
              <a:t>Überwachung der VPN-Nutzung und Protokollierung von Aktivitäten.</a:t>
            </a:r>
          </a:p>
          <a:p>
            <a:r>
              <a:rPr lang="de-DE" dirty="0"/>
              <a:t>Erkennung und Reaktion auf verdächtige Aktivitäten.</a:t>
            </a:r>
          </a:p>
        </p:txBody>
      </p:sp>
    </p:spTree>
    <p:extLst>
      <p:ext uri="{BB962C8B-B14F-4D97-AF65-F5344CB8AC3E}">
        <p14:creationId xmlns:p14="http://schemas.microsoft.com/office/powerpoint/2010/main" val="3389000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CD65A-05FB-6439-8FC8-EC5AD004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Zukunft von VPNs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5C8171-BC4C-FAB6-0ED4-3426D71F1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Trends und Entwicklungen</a:t>
            </a:r>
          </a:p>
          <a:p>
            <a:r>
              <a:rPr lang="de-DE" dirty="0"/>
              <a:t>Steigende Nachfrage nach sicherem Remote-Zugriff.</a:t>
            </a:r>
          </a:p>
          <a:p>
            <a:r>
              <a:rPr lang="de-DE" dirty="0"/>
              <a:t>Integration von VPNs mit Cloud-Diensten und IoT.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Integration mit anderen Sicherheitstechnologien</a:t>
            </a:r>
          </a:p>
          <a:p>
            <a:r>
              <a:rPr lang="de-DE" dirty="0"/>
              <a:t>Kombination von VPNs mit Zero Trust-Architekturen.</a:t>
            </a:r>
          </a:p>
          <a:p>
            <a:r>
              <a:rPr lang="de-DE" dirty="0"/>
              <a:t>Einsatz von künstlicher Intelligenz zur Bedrohungserkennung.</a:t>
            </a:r>
          </a:p>
        </p:txBody>
      </p:sp>
    </p:spTree>
    <p:extLst>
      <p:ext uri="{BB962C8B-B14F-4D97-AF65-F5344CB8AC3E}">
        <p14:creationId xmlns:p14="http://schemas.microsoft.com/office/powerpoint/2010/main" val="4260587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2E1B2-E9DB-3A0E-2A7B-8D4A6835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und Abschluss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E6EB3F-4E2B-B41C-4B39-D57906E60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Wichtige Punkte zusammengefasst</a:t>
            </a:r>
          </a:p>
          <a:p>
            <a:r>
              <a:rPr lang="de-DE" dirty="0"/>
              <a:t>VPNs bieten Sicherheit, Datenschutz und Flexibilität.</a:t>
            </a:r>
          </a:p>
          <a:p>
            <a:r>
              <a:rPr lang="de-DE" dirty="0"/>
              <a:t>Verschiedene VPN-Typen und -Protokolle für unterschiedliche Anforderungen.</a:t>
            </a:r>
          </a:p>
          <a:p>
            <a:r>
              <a:rPr lang="de-DE" dirty="0"/>
              <a:t>Best Practices für die sichere Nutzung und Verwaltung von VPNs.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223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AFA1DC-C3A3-46A0-BD30-910AA6D0A8BD}"/>
</file>

<file path=customXml/itemProps2.xml><?xml version="1.0" encoding="utf-8"?>
<ds:datastoreItem xmlns:ds="http://schemas.openxmlformats.org/officeDocument/2006/customXml" ds:itemID="{1C956038-70E7-4341-96B2-5D81169A087B}"/>
</file>

<file path=customXml/itemProps3.xml><?xml version="1.0" encoding="utf-8"?>
<ds:datastoreItem xmlns:ds="http://schemas.openxmlformats.org/officeDocument/2006/customXml" ds:itemID="{79448A6D-A1F4-4042-ABAC-8A682AA5DC8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Breitbild</PresentationFormat>
  <Paragraphs>171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</vt:lpstr>
      <vt:lpstr>Virtual Private Network (VPN) Sicherheit und Privatsphäre im digitalen Zeitalter</vt:lpstr>
      <vt:lpstr>Einführung</vt:lpstr>
      <vt:lpstr>Grundlegende Konzepte</vt:lpstr>
      <vt:lpstr> VPN-Typen</vt:lpstr>
      <vt:lpstr>VPN-Protokolle</vt:lpstr>
      <vt:lpstr>VPN-Protokolle</vt:lpstr>
      <vt:lpstr>Authentifizierungsmethoden</vt:lpstr>
      <vt:lpstr>VPN-Architektur</vt:lpstr>
      <vt:lpstr>Aufbau eines VPN</vt:lpstr>
      <vt:lpstr>Vorteile von VPNs</vt:lpstr>
      <vt:lpstr>Vorteile von VPNs</vt:lpstr>
      <vt:lpstr>Nachteile und Herausforderungen</vt:lpstr>
      <vt:lpstr>Einsatzgebiete von VPNs</vt:lpstr>
      <vt:lpstr>VPN-Anbieter</vt:lpstr>
      <vt:lpstr>VPN in Unternehmen</vt:lpstr>
      <vt:lpstr>Sicherheit und Risiken</vt:lpstr>
      <vt:lpstr>Best Practices</vt:lpstr>
      <vt:lpstr>Zukunft von VPNs</vt:lpstr>
      <vt:lpstr>Zusammenfassung und Abschluss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Specht, Sven</dc:creator>
  <cp:lastModifiedBy>Specht, Sven</cp:lastModifiedBy>
  <cp:revision>3</cp:revision>
  <dcterms:created xsi:type="dcterms:W3CDTF">2024-10-09T13:57:16Z</dcterms:created>
  <dcterms:modified xsi:type="dcterms:W3CDTF">2024-10-09T14:27:11Z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