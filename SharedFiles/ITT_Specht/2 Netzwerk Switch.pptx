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72" r:id="rId5"/>
    <p:sldId id="259" r:id="rId6"/>
    <p:sldId id="260" r:id="rId7"/>
    <p:sldId id="261" r:id="rId8"/>
    <p:sldId id="262" r:id="rId9"/>
    <p:sldId id="263" r:id="rId10"/>
    <p:sldId id="264" r:id="rId11"/>
    <p:sldId id="270" r:id="rId12"/>
    <p:sldId id="266" r:id="rId13"/>
    <p:sldId id="267" r:id="rId14"/>
    <p:sldId id="268" r:id="rId15"/>
    <p:sldId id="269" r:id="rId16"/>
    <p:sldId id="26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de-DE"/>
              <a:t>Mastertitelformat bearbeiten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nchor="ct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de-DE"/>
              <a:t>Mastertitelformat bearbeiten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a:t>Mastertitelformat bearbeiten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de-DE"/>
              <a:t>Mastertitelformat bearbeiten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de-DE"/>
              <a:t>Mastertitelformat bearbeiten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abild mit Beschrift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 name="Date Placeholder 2"/>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und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de-DE"/>
              <a:t>Mastertitelformat bearbeiten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Zitat mit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de-DE"/>
              <a:t>Mastertitelformat bearbeiten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nskart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de-DE"/>
              <a:t>Mastertitelformat bearbeiten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nskarte für Zitat">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de-DE"/>
              <a:t>Mastertitelformat bearbeiten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de-DE"/>
              <a:t>Mastertextformat bearbeiten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Wahr oder Falsch">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de-DE"/>
              <a:t>Mastertitelformat bearbeiten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de-DE"/>
              <a:t>Mastertextformat bearbeiten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ncho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9/22/2024</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‹Nr.›</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D377FD-0A15-55D7-6680-A76CDC9CAB7B}"/>
              </a:ext>
            </a:extLst>
          </p:cNvPr>
          <p:cNvSpPr>
            <a:spLocks noGrp="1"/>
          </p:cNvSpPr>
          <p:nvPr>
            <p:ph type="ctrTitle"/>
          </p:nvPr>
        </p:nvSpPr>
        <p:spPr/>
        <p:txBody>
          <a:bodyPr/>
          <a:lstStyle/>
          <a:p>
            <a:r>
              <a:rPr lang="de-DE" dirty="0"/>
              <a:t>Netzwerk Switch</a:t>
            </a:r>
          </a:p>
        </p:txBody>
      </p:sp>
    </p:spTree>
    <p:extLst>
      <p:ext uri="{BB962C8B-B14F-4D97-AF65-F5344CB8AC3E}">
        <p14:creationId xmlns:p14="http://schemas.microsoft.com/office/powerpoint/2010/main" val="2767356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0C2B66E8-1447-9AA3-19D8-2404D235B550}"/>
              </a:ext>
            </a:extLst>
          </p:cNvPr>
          <p:cNvSpPr>
            <a:spLocks noGrp="1"/>
          </p:cNvSpPr>
          <p:nvPr>
            <p:ph idx="4294967295"/>
          </p:nvPr>
        </p:nvSpPr>
        <p:spPr>
          <a:xfrm>
            <a:off x="1170432" y="1773619"/>
            <a:ext cx="8534400" cy="3616325"/>
          </a:xfrm>
        </p:spPr>
        <p:txBody>
          <a:bodyPr>
            <a:noAutofit/>
          </a:bodyPr>
          <a:lstStyle/>
          <a:p>
            <a:r>
              <a:rPr lang="de-DE" sz="2400" b="1" dirty="0"/>
              <a:t>1. Einleitung: Grundlagen von Netzwerk-Switches</a:t>
            </a:r>
            <a:endParaRPr lang="de-DE" sz="2400" dirty="0"/>
          </a:p>
          <a:p>
            <a:endParaRPr lang="de-DE" sz="2400" dirty="0"/>
          </a:p>
          <a:p>
            <a:r>
              <a:rPr lang="de-DE" sz="2400" dirty="0"/>
              <a:t>Ein Switch ist ein zentrales Gerät in einem Computernetzwerk, das Datenpakete zwischen Geräten wie Computern, Servern und Druckern weiterleitet. Switches arbeiten auf der Schicht 2 des OSI-Modells (Data Link Layer), basierend auf MAC-Adressen. Im Vergleich zu Hubs, die Daten an alle Geräte weiterleiten, sendet ein Switch Daten nur an das Zielgerät, was die Netzwerkleistung verbessert.</a:t>
            </a:r>
          </a:p>
          <a:p>
            <a:endParaRPr lang="de-DE" sz="2400" dirty="0"/>
          </a:p>
        </p:txBody>
      </p:sp>
    </p:spTree>
    <p:extLst>
      <p:ext uri="{BB962C8B-B14F-4D97-AF65-F5344CB8AC3E}">
        <p14:creationId xmlns:p14="http://schemas.microsoft.com/office/powerpoint/2010/main" val="2878227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C199876C-BE0A-6F87-788B-83A2BF116085}"/>
              </a:ext>
            </a:extLst>
          </p:cNvPr>
          <p:cNvSpPr>
            <a:spLocks noGrp="1"/>
          </p:cNvSpPr>
          <p:nvPr>
            <p:ph idx="1"/>
          </p:nvPr>
        </p:nvSpPr>
        <p:spPr>
          <a:xfrm>
            <a:off x="1150556" y="1499616"/>
            <a:ext cx="8534400" cy="3615267"/>
          </a:xfrm>
        </p:spPr>
        <p:txBody>
          <a:bodyPr>
            <a:normAutofit fontScale="85000" lnSpcReduction="10000"/>
          </a:bodyPr>
          <a:lstStyle/>
          <a:p>
            <a:r>
              <a:rPr lang="de-DE" sz="2600" b="1" dirty="0"/>
              <a:t>2. Funktionsweise von Switches</a:t>
            </a:r>
            <a:endParaRPr lang="de-DE" sz="2600" dirty="0"/>
          </a:p>
          <a:p>
            <a:endParaRPr lang="de-DE" sz="2600" dirty="0"/>
          </a:p>
          <a:p>
            <a:r>
              <a:rPr lang="de-DE" sz="2600" dirty="0"/>
              <a:t>Switches arbeiten, indem sie eingehende Datenpakete empfangen und deren Ziel anhand der MAC-Adresse bestimmen. Sie erstellen eine MAC-Adresstabelle, um die physikalischen Adressen der Geräte im Netzwerk zu verfolgen und so eine effiziente Datenweiterleitung sicherzustellen. Switches minimieren Kollisionen und verbessern die Bandbreitennutzung, indem sie jedem Datenstrom einen eigenen Pfad zuweisen.</a:t>
            </a:r>
          </a:p>
          <a:p>
            <a:endParaRPr lang="de-DE" dirty="0"/>
          </a:p>
        </p:txBody>
      </p:sp>
    </p:spTree>
    <p:extLst>
      <p:ext uri="{BB962C8B-B14F-4D97-AF65-F5344CB8AC3E}">
        <p14:creationId xmlns:p14="http://schemas.microsoft.com/office/powerpoint/2010/main" val="3683732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6AFCEAE-2166-D234-2FFD-2E5D99E6BAA6}"/>
              </a:ext>
            </a:extLst>
          </p:cNvPr>
          <p:cNvSpPr>
            <a:spLocks noGrp="1"/>
          </p:cNvSpPr>
          <p:nvPr>
            <p:ph idx="1"/>
          </p:nvPr>
        </p:nvSpPr>
        <p:spPr>
          <a:xfrm>
            <a:off x="1223708" y="1536192"/>
            <a:ext cx="8534400" cy="3615267"/>
          </a:xfrm>
        </p:spPr>
        <p:txBody>
          <a:bodyPr>
            <a:normAutofit lnSpcReduction="10000"/>
          </a:bodyPr>
          <a:lstStyle/>
          <a:p>
            <a:r>
              <a:rPr lang="de-DE" sz="2400" b="1" dirty="0"/>
              <a:t>3. Typen von Switches: </a:t>
            </a:r>
            <a:r>
              <a:rPr lang="de-DE" sz="2400" b="1" dirty="0" err="1"/>
              <a:t>Unmanaged</a:t>
            </a:r>
            <a:r>
              <a:rPr lang="de-DE" sz="2400" b="1" dirty="0"/>
              <a:t> vs. </a:t>
            </a:r>
            <a:r>
              <a:rPr lang="de-DE" sz="2400" b="1" dirty="0" err="1"/>
              <a:t>Managed</a:t>
            </a:r>
            <a:endParaRPr lang="de-DE" sz="2400" b="1" dirty="0"/>
          </a:p>
          <a:p>
            <a:endParaRPr lang="de-DE" sz="2400" dirty="0"/>
          </a:p>
          <a:p>
            <a:r>
              <a:rPr lang="de-DE" sz="2400" dirty="0"/>
              <a:t>Es gibt zwei Haupttypen von Switches: </a:t>
            </a:r>
            <a:r>
              <a:rPr lang="de-DE" sz="2400" dirty="0" err="1"/>
              <a:t>Unmanaged</a:t>
            </a:r>
            <a:r>
              <a:rPr lang="de-DE" sz="2400" dirty="0"/>
              <a:t> und </a:t>
            </a:r>
            <a:r>
              <a:rPr lang="de-DE" sz="2400" dirty="0" err="1"/>
              <a:t>Managed</a:t>
            </a:r>
            <a:r>
              <a:rPr lang="de-DE" sz="2400" dirty="0"/>
              <a:t> Switches. </a:t>
            </a:r>
            <a:r>
              <a:rPr lang="de-DE" sz="2400" dirty="0" err="1"/>
              <a:t>Unmanaged</a:t>
            </a:r>
            <a:r>
              <a:rPr lang="de-DE" sz="2400" dirty="0"/>
              <a:t> Switches erfordern keine Konfiguration und sind einfach zu installieren. </a:t>
            </a:r>
            <a:r>
              <a:rPr lang="de-DE" sz="2400" dirty="0" err="1"/>
              <a:t>Managed</a:t>
            </a:r>
            <a:r>
              <a:rPr lang="de-DE" sz="2400" dirty="0"/>
              <a:t> Switches bieten hingegen erweiterte Funktionen wie VLANs, QoS (Quality </a:t>
            </a:r>
            <a:r>
              <a:rPr lang="de-DE" sz="2400" dirty="0" err="1"/>
              <a:t>of</a:t>
            </a:r>
            <a:r>
              <a:rPr lang="de-DE" sz="2400" dirty="0"/>
              <a:t> Service) und Netzwerksicherheit. Sie erfordern jedoch eine manuelle Konfiguration und Verwaltung.</a:t>
            </a:r>
          </a:p>
          <a:p>
            <a:endParaRPr lang="de-DE" dirty="0"/>
          </a:p>
        </p:txBody>
      </p:sp>
    </p:spTree>
    <p:extLst>
      <p:ext uri="{BB962C8B-B14F-4D97-AF65-F5344CB8AC3E}">
        <p14:creationId xmlns:p14="http://schemas.microsoft.com/office/powerpoint/2010/main" val="453360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72FBA59A-C1E7-F73F-4CB3-41F21D3BA516}"/>
              </a:ext>
            </a:extLst>
          </p:cNvPr>
          <p:cNvSpPr>
            <a:spLocks noGrp="1"/>
          </p:cNvSpPr>
          <p:nvPr>
            <p:ph idx="1"/>
          </p:nvPr>
        </p:nvSpPr>
        <p:spPr>
          <a:xfrm>
            <a:off x="1040828" y="1481328"/>
            <a:ext cx="8534400" cy="3615267"/>
          </a:xfrm>
        </p:spPr>
        <p:txBody>
          <a:bodyPr>
            <a:normAutofit lnSpcReduction="10000"/>
          </a:bodyPr>
          <a:lstStyle/>
          <a:p>
            <a:r>
              <a:rPr lang="de-DE" sz="2400" b="1" dirty="0"/>
              <a:t>4. Layer-2- und Layer-3-Switches</a:t>
            </a:r>
          </a:p>
          <a:p>
            <a:pPr marL="0" indent="0">
              <a:buNone/>
            </a:pPr>
            <a:endParaRPr lang="de-DE" sz="2400" dirty="0"/>
          </a:p>
          <a:p>
            <a:r>
              <a:rPr lang="de-DE" sz="2400" dirty="0"/>
              <a:t>Layer-2-Switches arbeiten nur auf der Data Link Layer und leiten Daten basierend auf MAC-Adressen weiter. Layer-3-Switches hingegen arbeiten auch auf der Netzwerk-Schicht und können Daten basierend auf IP-Adressen weiterleiten. Layer-3-Switches bieten Routing-Funktionen, wodurch sie häufig als Switch-Router-Kombinationen verwendet werden.</a:t>
            </a:r>
          </a:p>
          <a:p>
            <a:endParaRPr lang="de-DE" dirty="0"/>
          </a:p>
        </p:txBody>
      </p:sp>
    </p:spTree>
    <p:extLst>
      <p:ext uri="{BB962C8B-B14F-4D97-AF65-F5344CB8AC3E}">
        <p14:creationId xmlns:p14="http://schemas.microsoft.com/office/powerpoint/2010/main" val="985067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4E847CC-B75B-C3A5-D880-83663C4CAB52}"/>
              </a:ext>
            </a:extLst>
          </p:cNvPr>
          <p:cNvSpPr>
            <a:spLocks noGrp="1"/>
          </p:cNvSpPr>
          <p:nvPr>
            <p:ph idx="1"/>
          </p:nvPr>
        </p:nvSpPr>
        <p:spPr>
          <a:xfrm>
            <a:off x="1232852" y="1621366"/>
            <a:ext cx="8534400" cy="3615267"/>
          </a:xfrm>
        </p:spPr>
        <p:txBody>
          <a:bodyPr>
            <a:normAutofit fontScale="77500" lnSpcReduction="20000"/>
          </a:bodyPr>
          <a:lstStyle/>
          <a:p>
            <a:r>
              <a:rPr lang="de-DE" sz="3100" b="1" dirty="0"/>
              <a:t>5. </a:t>
            </a:r>
            <a:r>
              <a:rPr lang="de-DE" sz="3100" b="1" dirty="0" err="1"/>
              <a:t>Switching</a:t>
            </a:r>
            <a:r>
              <a:rPr lang="de-DE" sz="3100" b="1" dirty="0"/>
              <a:t>-Methoden: Store-and-Forward vs. Cut-Through</a:t>
            </a:r>
          </a:p>
          <a:p>
            <a:endParaRPr lang="de-DE" sz="3100" dirty="0"/>
          </a:p>
          <a:p>
            <a:r>
              <a:rPr lang="de-DE" sz="3100" dirty="0"/>
              <a:t>Es gibt zwei Hauptmethoden der Datenweiterleitung bei Switches: Store-and-Forward und Cut-Through. Store-and-Forward speichert das gesamte Datenpaket, prüft es auf Fehler und leitet es dann weiter. Cut-Through leitet das Paket sofort nach Erkennen der Zieladresse weiter, was schneller, aber weniger fehlerfrei ist.</a:t>
            </a:r>
          </a:p>
          <a:p>
            <a:endParaRPr lang="de-DE" dirty="0"/>
          </a:p>
        </p:txBody>
      </p:sp>
    </p:spTree>
    <p:extLst>
      <p:ext uri="{BB962C8B-B14F-4D97-AF65-F5344CB8AC3E}">
        <p14:creationId xmlns:p14="http://schemas.microsoft.com/office/powerpoint/2010/main" val="1453539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DD629664-A85A-80AB-6335-1FA6EC51818E}"/>
              </a:ext>
            </a:extLst>
          </p:cNvPr>
          <p:cNvSpPr>
            <a:spLocks noGrp="1"/>
          </p:cNvSpPr>
          <p:nvPr>
            <p:ph idx="1"/>
          </p:nvPr>
        </p:nvSpPr>
        <p:spPr>
          <a:xfrm>
            <a:off x="1296860" y="1621366"/>
            <a:ext cx="8534400" cy="3615267"/>
          </a:xfrm>
        </p:spPr>
        <p:txBody>
          <a:bodyPr>
            <a:normAutofit lnSpcReduction="10000"/>
          </a:bodyPr>
          <a:lstStyle/>
          <a:p>
            <a:r>
              <a:rPr lang="de-DE" sz="2400" b="1" dirty="0"/>
              <a:t>6. VLAN (Virtual </a:t>
            </a:r>
            <a:r>
              <a:rPr lang="de-DE" sz="2400" b="1" dirty="0" err="1"/>
              <a:t>Local</a:t>
            </a:r>
            <a:r>
              <a:rPr lang="de-DE" sz="2400" b="1" dirty="0"/>
              <a:t> Area Network)</a:t>
            </a:r>
          </a:p>
          <a:p>
            <a:endParaRPr lang="de-DE" sz="2400" dirty="0"/>
          </a:p>
          <a:p>
            <a:r>
              <a:rPr lang="de-DE" sz="2400" dirty="0"/>
              <a:t>Ein VLAN ermöglicht es, ein physisches Netzwerk in mehrere logische Netzwerke zu unterteilen. Dies verbessert die Netzwerksicherheit und -segmentierung. </a:t>
            </a:r>
            <a:r>
              <a:rPr lang="de-DE" sz="2400" dirty="0" err="1"/>
              <a:t>Managed</a:t>
            </a:r>
            <a:r>
              <a:rPr lang="de-DE" sz="2400" dirty="0"/>
              <a:t> Switches unterstützen VLANs und ermöglichen es, verschiedene Netzwerksegmente effizient zu trennen, ohne zusätzliche Hardware zu benötigen.</a:t>
            </a:r>
          </a:p>
          <a:p>
            <a:endParaRPr lang="de-DE" dirty="0"/>
          </a:p>
        </p:txBody>
      </p:sp>
    </p:spTree>
    <p:extLst>
      <p:ext uri="{BB962C8B-B14F-4D97-AF65-F5344CB8AC3E}">
        <p14:creationId xmlns:p14="http://schemas.microsoft.com/office/powerpoint/2010/main" val="1776670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0B4232A5-6278-56F2-DFED-C6F94BCED8DF}"/>
              </a:ext>
            </a:extLst>
          </p:cNvPr>
          <p:cNvSpPr>
            <a:spLocks noGrp="1"/>
          </p:cNvSpPr>
          <p:nvPr>
            <p:ph idx="1"/>
          </p:nvPr>
        </p:nvSpPr>
        <p:spPr>
          <a:xfrm>
            <a:off x="1113980" y="1517904"/>
            <a:ext cx="8534400" cy="3615267"/>
          </a:xfrm>
        </p:spPr>
        <p:txBody>
          <a:bodyPr/>
          <a:lstStyle/>
          <a:p>
            <a:r>
              <a:rPr lang="de-DE" sz="2400" b="1" dirty="0"/>
              <a:t>7. </a:t>
            </a:r>
            <a:r>
              <a:rPr lang="de-DE" sz="2400" b="1" dirty="0" err="1"/>
              <a:t>PoE</a:t>
            </a:r>
            <a:r>
              <a:rPr lang="de-DE" sz="2400" b="1" dirty="0"/>
              <a:t> (Power </a:t>
            </a:r>
            <a:r>
              <a:rPr lang="de-DE" sz="2400" b="1" dirty="0" err="1"/>
              <a:t>over</a:t>
            </a:r>
            <a:r>
              <a:rPr lang="de-DE" sz="2400" b="1" dirty="0"/>
              <a:t> Ethernet)</a:t>
            </a:r>
          </a:p>
          <a:p>
            <a:endParaRPr lang="de-DE" sz="2400" dirty="0"/>
          </a:p>
          <a:p>
            <a:r>
              <a:rPr lang="de-DE" sz="2400" dirty="0" err="1"/>
              <a:t>PoE</a:t>
            </a:r>
            <a:r>
              <a:rPr lang="de-DE" sz="2400" dirty="0"/>
              <a:t> ermöglicht es einem Switch, sowohl Daten als auch elektrische Energie über dasselbe Ethernet-Kabel zu übertragen. Dies ist besonders nützlich für Geräte wie IP-Kameras, VoIP-Telefone und Access Points, die über das Netzwerk mit Strom versorgt werden können, ohne dass eine zusätzliche Stromquelle erforderlich ist.</a:t>
            </a:r>
          </a:p>
          <a:p>
            <a:endParaRPr lang="de-DE" dirty="0"/>
          </a:p>
        </p:txBody>
      </p:sp>
    </p:spTree>
    <p:extLst>
      <p:ext uri="{BB962C8B-B14F-4D97-AF65-F5344CB8AC3E}">
        <p14:creationId xmlns:p14="http://schemas.microsoft.com/office/powerpoint/2010/main" val="646283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78C0C15D-6060-44CF-D7F5-E197C5D10AF0}"/>
              </a:ext>
            </a:extLst>
          </p:cNvPr>
          <p:cNvSpPr>
            <a:spLocks noGrp="1"/>
          </p:cNvSpPr>
          <p:nvPr>
            <p:ph idx="1"/>
          </p:nvPr>
        </p:nvSpPr>
        <p:spPr>
          <a:xfrm>
            <a:off x="1397444" y="1621366"/>
            <a:ext cx="8534400" cy="3615267"/>
          </a:xfrm>
        </p:spPr>
        <p:txBody>
          <a:bodyPr>
            <a:normAutofit lnSpcReduction="10000"/>
          </a:bodyPr>
          <a:lstStyle/>
          <a:p>
            <a:r>
              <a:rPr lang="de-DE" sz="2400" b="1" dirty="0"/>
              <a:t>8. QoS (Quality </a:t>
            </a:r>
            <a:r>
              <a:rPr lang="de-DE" sz="2400" b="1" dirty="0" err="1"/>
              <a:t>of</a:t>
            </a:r>
            <a:r>
              <a:rPr lang="de-DE" sz="2400" b="1" dirty="0"/>
              <a:t> Service)</a:t>
            </a:r>
          </a:p>
          <a:p>
            <a:endParaRPr lang="de-DE" sz="2400" dirty="0"/>
          </a:p>
          <a:p>
            <a:r>
              <a:rPr lang="de-DE" sz="2400" dirty="0"/>
              <a:t>QoS ist eine Funktion, die von </a:t>
            </a:r>
            <a:r>
              <a:rPr lang="de-DE" sz="2400" dirty="0" err="1"/>
              <a:t>Managed</a:t>
            </a:r>
            <a:r>
              <a:rPr lang="de-DE" sz="2400" dirty="0"/>
              <a:t> Switches angeboten wird, um den Netzwerkverkehr zu priorisieren. Dies ist besonders wichtig in Netzwerken, die zeitkritische Anwendungen wie VoIP oder Video-Streaming unterstützen. QoS sorgt dafür, dass wichtige Datenpakete bevorzugt behandelt werden, um die Dienstqualität zu verbessern.</a:t>
            </a:r>
          </a:p>
          <a:p>
            <a:endParaRPr lang="de-DE" dirty="0"/>
          </a:p>
        </p:txBody>
      </p:sp>
    </p:spTree>
    <p:extLst>
      <p:ext uri="{BB962C8B-B14F-4D97-AF65-F5344CB8AC3E}">
        <p14:creationId xmlns:p14="http://schemas.microsoft.com/office/powerpoint/2010/main" val="3178973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3C6B00A-C5DC-FD92-B9DF-3C2E3213110A}"/>
              </a:ext>
            </a:extLst>
          </p:cNvPr>
          <p:cNvSpPr>
            <a:spLocks noGrp="1"/>
          </p:cNvSpPr>
          <p:nvPr>
            <p:ph idx="1"/>
          </p:nvPr>
        </p:nvSpPr>
        <p:spPr>
          <a:xfrm>
            <a:off x="1333436" y="1621366"/>
            <a:ext cx="8534400" cy="3615267"/>
          </a:xfrm>
        </p:spPr>
        <p:txBody>
          <a:bodyPr/>
          <a:lstStyle/>
          <a:p>
            <a:r>
              <a:rPr lang="de-DE" sz="2400" b="1" dirty="0"/>
              <a:t>9. Link Aggregation</a:t>
            </a:r>
          </a:p>
          <a:p>
            <a:endParaRPr lang="de-DE" sz="2400" dirty="0"/>
          </a:p>
          <a:p>
            <a:r>
              <a:rPr lang="de-DE" sz="2400" dirty="0"/>
              <a:t>Link Aggregation, auch als Port </a:t>
            </a:r>
            <a:r>
              <a:rPr lang="de-DE" sz="2400" dirty="0" err="1"/>
              <a:t>Trunking</a:t>
            </a:r>
            <a:r>
              <a:rPr lang="de-DE" sz="2400" dirty="0"/>
              <a:t> bekannt, ermöglicht es, mehrere physische Netzwerkverbindungen zu bündeln, um die Bandbreite zu erhöhen und die Redundanz zu verbessern. Dies ist besonders nützlich in Netzwerken mit hohen Anforderungen an die Datenübertragung.</a:t>
            </a:r>
          </a:p>
          <a:p>
            <a:endParaRPr lang="de-DE" dirty="0"/>
          </a:p>
        </p:txBody>
      </p:sp>
    </p:spTree>
    <p:extLst>
      <p:ext uri="{BB962C8B-B14F-4D97-AF65-F5344CB8AC3E}">
        <p14:creationId xmlns:p14="http://schemas.microsoft.com/office/powerpoint/2010/main" val="651495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2D5B184A-DA0F-C074-71EB-1750F3C0529C}"/>
              </a:ext>
            </a:extLst>
          </p:cNvPr>
          <p:cNvSpPr>
            <a:spLocks noGrp="1"/>
          </p:cNvSpPr>
          <p:nvPr>
            <p:ph idx="1"/>
          </p:nvPr>
        </p:nvSpPr>
        <p:spPr>
          <a:xfrm>
            <a:off x="1370012" y="1621366"/>
            <a:ext cx="8534400" cy="3615267"/>
          </a:xfrm>
        </p:spPr>
        <p:txBody>
          <a:bodyPr/>
          <a:lstStyle/>
          <a:p>
            <a:r>
              <a:rPr lang="de-DE" sz="2400" b="1" dirty="0"/>
              <a:t>10. </a:t>
            </a:r>
            <a:r>
              <a:rPr lang="de-DE" sz="2400" b="1" dirty="0" err="1"/>
              <a:t>Spanning</a:t>
            </a:r>
            <a:r>
              <a:rPr lang="de-DE" sz="2400" b="1" dirty="0"/>
              <a:t> </a:t>
            </a:r>
            <a:r>
              <a:rPr lang="de-DE" sz="2400" b="1" dirty="0" err="1"/>
              <a:t>Tree</a:t>
            </a:r>
            <a:r>
              <a:rPr lang="de-DE" sz="2400" b="1" dirty="0"/>
              <a:t> Protocol (STP)</a:t>
            </a:r>
          </a:p>
          <a:p>
            <a:endParaRPr lang="de-DE" sz="2400" dirty="0"/>
          </a:p>
          <a:p>
            <a:r>
              <a:rPr lang="de-DE" sz="2400" dirty="0"/>
              <a:t>Das </a:t>
            </a:r>
            <a:r>
              <a:rPr lang="de-DE" sz="2400" dirty="0" err="1"/>
              <a:t>Spanning</a:t>
            </a:r>
            <a:r>
              <a:rPr lang="de-DE" sz="2400" dirty="0"/>
              <a:t> </a:t>
            </a:r>
            <a:r>
              <a:rPr lang="de-DE" sz="2400" dirty="0" err="1"/>
              <a:t>Tree</a:t>
            </a:r>
            <a:r>
              <a:rPr lang="de-DE" sz="2400" dirty="0"/>
              <a:t> Protocol verhindert Schleifen im Netzwerk, die entstehen können, wenn mehrere Switches über redundante Verbindungen miteinander verbunden sind. STP sorgt dafür, dass nur eine aktive Pfadverbindung verwendet wird, während die anderen als Backup dienen.</a:t>
            </a:r>
          </a:p>
          <a:p>
            <a:endParaRPr lang="de-DE" dirty="0"/>
          </a:p>
        </p:txBody>
      </p:sp>
    </p:spTree>
    <p:extLst>
      <p:ext uri="{BB962C8B-B14F-4D97-AF65-F5344CB8AC3E}">
        <p14:creationId xmlns:p14="http://schemas.microsoft.com/office/powerpoint/2010/main" val="3443781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87DD3710-A397-53E8-EE8E-59E556FBA7B4}"/>
              </a:ext>
            </a:extLst>
          </p:cNvPr>
          <p:cNvSpPr>
            <a:spLocks noGrp="1"/>
          </p:cNvSpPr>
          <p:nvPr>
            <p:ph idx="1"/>
          </p:nvPr>
        </p:nvSpPr>
        <p:spPr>
          <a:xfrm>
            <a:off x="1315148" y="1728216"/>
            <a:ext cx="8534400" cy="3615267"/>
          </a:xfrm>
        </p:spPr>
        <p:txBody>
          <a:bodyPr>
            <a:normAutofit lnSpcReduction="10000"/>
          </a:bodyPr>
          <a:lstStyle/>
          <a:p>
            <a:r>
              <a:rPr lang="de-DE" sz="2400" b="1" dirty="0"/>
              <a:t>11. Switch-Sicherheit: MAC-</a:t>
            </a:r>
            <a:r>
              <a:rPr lang="de-DE" sz="2400" b="1" dirty="0" err="1"/>
              <a:t>Address</a:t>
            </a:r>
            <a:r>
              <a:rPr lang="de-DE" sz="2400" b="1" dirty="0"/>
              <a:t> </a:t>
            </a:r>
            <a:r>
              <a:rPr lang="de-DE" sz="2400" b="1" dirty="0" err="1"/>
              <a:t>Filtering</a:t>
            </a:r>
            <a:r>
              <a:rPr lang="de-DE" sz="2400" b="1" dirty="0"/>
              <a:t> und Port Security</a:t>
            </a:r>
          </a:p>
          <a:p>
            <a:endParaRPr lang="de-DE" sz="2400" dirty="0"/>
          </a:p>
          <a:p>
            <a:r>
              <a:rPr lang="de-DE" sz="2400" dirty="0"/>
              <a:t>Switches können zur Verbesserung der Netzwerksicherheit eingesetzt werden, indem Funktionen wie MAC-</a:t>
            </a:r>
            <a:r>
              <a:rPr lang="de-DE" sz="2400" dirty="0" err="1"/>
              <a:t>Address</a:t>
            </a:r>
            <a:r>
              <a:rPr lang="de-DE" sz="2400" dirty="0"/>
              <a:t> </a:t>
            </a:r>
            <a:r>
              <a:rPr lang="de-DE" sz="2400" dirty="0" err="1"/>
              <a:t>Filtering</a:t>
            </a:r>
            <a:r>
              <a:rPr lang="de-DE" sz="2400" dirty="0"/>
              <a:t> und Port Security verwendet werden. Diese Funktionen beschränken den Zugriff auf das Netzwerk basierend auf der physikalischen Adresse eines Geräts.</a:t>
            </a:r>
          </a:p>
          <a:p>
            <a:endParaRPr lang="de-DE" dirty="0"/>
          </a:p>
        </p:txBody>
      </p:sp>
    </p:spTree>
    <p:extLst>
      <p:ext uri="{BB962C8B-B14F-4D97-AF65-F5344CB8AC3E}">
        <p14:creationId xmlns:p14="http://schemas.microsoft.com/office/powerpoint/2010/main" val="579167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A718A53F-74A1-83A1-D167-3F4AAC5212CD}"/>
              </a:ext>
            </a:extLst>
          </p:cNvPr>
          <p:cNvSpPr>
            <a:spLocks noGrp="1"/>
          </p:cNvSpPr>
          <p:nvPr>
            <p:ph idx="1"/>
          </p:nvPr>
        </p:nvSpPr>
        <p:spPr>
          <a:xfrm>
            <a:off x="1260284" y="1517904"/>
            <a:ext cx="8534400" cy="3615267"/>
          </a:xfrm>
        </p:spPr>
        <p:txBody>
          <a:bodyPr/>
          <a:lstStyle/>
          <a:p>
            <a:r>
              <a:rPr lang="de-DE" sz="2400" b="1" dirty="0"/>
              <a:t>12. Redundanz und Hochverfügbarkeit</a:t>
            </a:r>
          </a:p>
          <a:p>
            <a:endParaRPr lang="de-DE" sz="2400" dirty="0"/>
          </a:p>
          <a:p>
            <a:r>
              <a:rPr lang="de-DE" sz="2400" dirty="0"/>
              <a:t>Netzwerkredundanz ist entscheidend für Hochverfügbarkeitsnetzwerke. Durch den Einsatz redundanter Switches und Verbindungen kann ein Netzwerk Ausfälle minimieren und die Betriebszeit maximieren. Mechanismen wie STP und Link Aggregation spielen hierbei eine Schlüsselrolle.</a:t>
            </a:r>
          </a:p>
          <a:p>
            <a:endParaRPr lang="de-DE" dirty="0"/>
          </a:p>
        </p:txBody>
      </p:sp>
    </p:spTree>
    <p:extLst>
      <p:ext uri="{BB962C8B-B14F-4D97-AF65-F5344CB8AC3E}">
        <p14:creationId xmlns:p14="http://schemas.microsoft.com/office/powerpoint/2010/main" val="2711782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EFC9789B-C956-7DD3-4C71-BB317A7AF8B3}"/>
              </a:ext>
            </a:extLst>
          </p:cNvPr>
          <p:cNvSpPr>
            <a:spLocks noGrp="1"/>
          </p:cNvSpPr>
          <p:nvPr>
            <p:ph idx="1"/>
          </p:nvPr>
        </p:nvSpPr>
        <p:spPr>
          <a:xfrm>
            <a:off x="1077404" y="1621366"/>
            <a:ext cx="8534400" cy="3615267"/>
          </a:xfrm>
        </p:spPr>
        <p:txBody>
          <a:bodyPr>
            <a:normAutofit lnSpcReduction="10000"/>
          </a:bodyPr>
          <a:lstStyle/>
          <a:p>
            <a:r>
              <a:rPr lang="de-DE" sz="2400" b="1" dirty="0"/>
              <a:t>13. Switches in Rechenzentren</a:t>
            </a:r>
          </a:p>
          <a:p>
            <a:endParaRPr lang="de-DE" sz="2400" dirty="0"/>
          </a:p>
          <a:p>
            <a:r>
              <a:rPr lang="de-DE" sz="2400" dirty="0"/>
              <a:t>In Rechenzentren werden hochleistungsfähige Switches eingesetzt, die für die schnelle Datenweiterleitung und den reibungslosen Betrieb kritischer Anwendungen entscheidend sind. Hierbei spielen Funktionen wie hohe Bandbreitenunterstützung, Virtualisierung und Layer-3-Funktionalität eine zentrale Rolle.</a:t>
            </a:r>
          </a:p>
          <a:p>
            <a:endParaRPr lang="de-DE" dirty="0"/>
          </a:p>
        </p:txBody>
      </p:sp>
    </p:spTree>
    <p:extLst>
      <p:ext uri="{BB962C8B-B14F-4D97-AF65-F5344CB8AC3E}">
        <p14:creationId xmlns:p14="http://schemas.microsoft.com/office/powerpoint/2010/main" val="2757105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28255FA2-5342-3B4B-8FC2-19BCB6D614DE}"/>
              </a:ext>
            </a:extLst>
          </p:cNvPr>
          <p:cNvSpPr>
            <a:spLocks noGrp="1"/>
          </p:cNvSpPr>
          <p:nvPr>
            <p:ph idx="1"/>
          </p:nvPr>
        </p:nvSpPr>
        <p:spPr>
          <a:xfrm>
            <a:off x="1296860" y="1621366"/>
            <a:ext cx="8534400" cy="3615267"/>
          </a:xfrm>
        </p:spPr>
        <p:txBody>
          <a:bodyPr/>
          <a:lstStyle/>
          <a:p>
            <a:r>
              <a:rPr lang="de-DE" sz="2400" b="1" dirty="0"/>
              <a:t>14. Switch </a:t>
            </a:r>
            <a:r>
              <a:rPr lang="de-DE" sz="2400" b="1" dirty="0" err="1"/>
              <a:t>Virtualization</a:t>
            </a:r>
            <a:r>
              <a:rPr lang="de-DE" sz="2400" b="1" dirty="0"/>
              <a:t> (Virtual Chassis, Stacking)</a:t>
            </a:r>
          </a:p>
          <a:p>
            <a:endParaRPr lang="de-DE" sz="2400" dirty="0"/>
          </a:p>
          <a:p>
            <a:r>
              <a:rPr lang="de-DE" sz="2400" dirty="0"/>
              <a:t>Switches können virtualisiert werden, um als ein einziges logisches Gerät zu agieren. Dies geschieht durch Technologien wie Virtual Chassis oder Switch Stacking, bei denen mehrere physische Switches zu einer Einheit verbunden werden. Dies erleichtert die Verwaltung und verbessert die Skalierbarkeit.</a:t>
            </a:r>
          </a:p>
          <a:p>
            <a:endParaRPr lang="de-DE" dirty="0"/>
          </a:p>
        </p:txBody>
      </p:sp>
    </p:spTree>
    <p:extLst>
      <p:ext uri="{BB962C8B-B14F-4D97-AF65-F5344CB8AC3E}">
        <p14:creationId xmlns:p14="http://schemas.microsoft.com/office/powerpoint/2010/main" val="56596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2D74A9AD-D586-F28B-2770-45826505F51A}"/>
              </a:ext>
            </a:extLst>
          </p:cNvPr>
          <p:cNvSpPr>
            <a:spLocks noGrp="1"/>
          </p:cNvSpPr>
          <p:nvPr>
            <p:ph idx="1"/>
          </p:nvPr>
        </p:nvSpPr>
        <p:spPr>
          <a:xfrm>
            <a:off x="1123124" y="1621366"/>
            <a:ext cx="8534400" cy="3615267"/>
          </a:xfrm>
        </p:spPr>
        <p:txBody>
          <a:bodyPr>
            <a:normAutofit lnSpcReduction="10000"/>
          </a:bodyPr>
          <a:lstStyle/>
          <a:p>
            <a:r>
              <a:rPr lang="de-DE" sz="2400" b="1" dirty="0"/>
              <a:t>15. Fazit und Ausblick</a:t>
            </a:r>
          </a:p>
          <a:p>
            <a:endParaRPr lang="de-DE" sz="2400" dirty="0"/>
          </a:p>
          <a:p>
            <a:r>
              <a:rPr lang="de-DE" sz="2400" dirty="0"/>
              <a:t>Switches sind unverzichtbare Komponenten moderner Netzwerke. Die Entwicklung geht in Richtung höherer Bandbreiten, besserer Sicherheitsmechanismen und erweiterter </a:t>
            </a:r>
            <a:r>
              <a:rPr lang="de-DE" sz="2400" dirty="0" err="1"/>
              <a:t>Virtualisierungs</a:t>
            </a:r>
            <a:r>
              <a:rPr lang="de-DE" sz="2400" dirty="0"/>
              <a:t>- und Management-Funktionen. Mit der zunehmenden Verbreitung von Cloud-Technologien und IoT-Geräten wird die Rolle von Switches weiter an Bedeutung gewinnen.</a:t>
            </a:r>
          </a:p>
          <a:p>
            <a:endParaRPr lang="de-DE" dirty="0"/>
          </a:p>
        </p:txBody>
      </p:sp>
    </p:spTree>
    <p:extLst>
      <p:ext uri="{BB962C8B-B14F-4D97-AF65-F5344CB8AC3E}">
        <p14:creationId xmlns:p14="http://schemas.microsoft.com/office/powerpoint/2010/main" val="1268703963"/>
      </p:ext>
    </p:extLst>
  </p:cSld>
  <p:clrMapOvr>
    <a:masterClrMapping/>
  </p:clrMapOvr>
</p:sld>
</file>

<file path=ppt/theme/theme1.xml><?xml version="1.0" encoding="utf-8"?>
<a:theme xmlns:a="http://schemas.openxmlformats.org/drawingml/2006/main" name="Segment">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955DCE652C8AD4696A873B53CCA776C" ma:contentTypeVersion="9" ma:contentTypeDescription="Ein neues Dokument erstellen." ma:contentTypeScope="" ma:versionID="a75b0d271db8e156752fd3af9960f3e7">
  <xsd:schema xmlns:xsd="http://www.w3.org/2001/XMLSchema" xmlns:xs="http://www.w3.org/2001/XMLSchema" xmlns:p="http://schemas.microsoft.com/office/2006/metadata/properties" xmlns:ns2="b2bcf77a-db99-4c6d-8596-ee1fc4b01288" xmlns:ns3="ce9d32c5-4bd0-492d-a196-e5e973bfded0" targetNamespace="http://schemas.microsoft.com/office/2006/metadata/properties" ma:root="true" ma:fieldsID="0cebbb3c6120016de2a0a64c84ca3718" ns2:_="" ns3:_="">
    <xsd:import namespace="b2bcf77a-db99-4c6d-8596-ee1fc4b01288"/>
    <xsd:import namespace="ce9d32c5-4bd0-492d-a196-e5e973bfde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bcf77a-db99-4c6d-8596-ee1fc4b012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8af48a06-ed4b-42ab-a976-5013053131a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9d32c5-4bd0-492d-a196-e5e973bfded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6403cb9-dd32-4e21-bcc3-676a3ed5dd23}" ma:internalName="TaxCatchAll" ma:showField="CatchAllData" ma:web="ce9d32c5-4bd0-492d-a196-e5e973bfde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e9d32c5-4bd0-492d-a196-e5e973bfded0" xsi:nil="true"/>
    <lcf76f155ced4ddcb4097134ff3c332f xmlns="b2bcf77a-db99-4c6d-8596-ee1fc4b012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48B633A-59A2-454A-B82A-D16161621AF1}"/>
</file>

<file path=customXml/itemProps2.xml><?xml version="1.0" encoding="utf-8"?>
<ds:datastoreItem xmlns:ds="http://schemas.openxmlformats.org/officeDocument/2006/customXml" ds:itemID="{6DF638D9-D3F9-4152-B0E4-17BD5E0B136B}"/>
</file>

<file path=customXml/itemProps3.xml><?xml version="1.0" encoding="utf-8"?>
<ds:datastoreItem xmlns:ds="http://schemas.openxmlformats.org/officeDocument/2006/customXml" ds:itemID="{E8C50DE3-0DEA-4868-9F83-40C184E0863E}"/>
</file>

<file path=docProps/app.xml><?xml version="1.0" encoding="utf-8"?>
<Properties xmlns="http://schemas.openxmlformats.org/officeDocument/2006/extended-properties" xmlns:vt="http://schemas.openxmlformats.org/officeDocument/2006/docPropsVTypes">
  <Template>Slice</Template>
  <TotalTime>0</TotalTime>
  <Words>788</Words>
  <Application>Microsoft Office PowerPoint</Application>
  <PresentationFormat>Breitbild</PresentationFormat>
  <Paragraphs>46</Paragraphs>
  <Slides>16</Slides>
  <Notes>0</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16</vt:i4>
      </vt:variant>
    </vt:vector>
  </HeadingPairs>
  <TitlesOfParts>
    <vt:vector size="19" baseType="lpstr">
      <vt:lpstr>Century Gothic</vt:lpstr>
      <vt:lpstr>Wingdings 3</vt:lpstr>
      <vt:lpstr>Segment</vt:lpstr>
      <vt:lpstr>Netzwerk Switch</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Sven</dc:creator>
  <cp:lastModifiedBy>Sven</cp:lastModifiedBy>
  <cp:revision>4</cp:revision>
  <dcterms:created xsi:type="dcterms:W3CDTF">2024-09-22T11:21:06Z</dcterms:created>
  <dcterms:modified xsi:type="dcterms:W3CDTF">2024-09-22T11:51:38Z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0x010100A955DCE652C8AD4696A873B53CCA776C</vt:lpwstr>
  </property>
</Properties>
</file>