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48" r:id="rId48"/>
    <p:sldId id="303" r:id="rId49"/>
    <p:sldId id="349" r:id="rId50"/>
    <p:sldId id="305" r:id="rId51"/>
    <p:sldId id="353" r:id="rId52"/>
    <p:sldId id="306" r:id="rId53"/>
    <p:sldId id="307" r:id="rId54"/>
    <p:sldId id="308" r:id="rId55"/>
    <p:sldId id="309" r:id="rId56"/>
    <p:sldId id="310" r:id="rId57"/>
    <p:sldId id="350" r:id="rId58"/>
    <p:sldId id="351" r:id="rId59"/>
    <p:sldId id="311" r:id="rId60"/>
    <p:sldId id="312" r:id="rId61"/>
    <p:sldId id="352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</p:sldIdLst>
  <p:sldSz cx="9144000" cy="6858000" type="screen4x3"/>
  <p:notesSz cx="9144000" cy="6858000"/>
  <p:embeddedFontLst>
    <p:embeddedFont>
      <p:font typeface="ATFDDV+Arial" panose="020B0604020202020204" charset="0"/>
      <p:regular r:id="rId96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90" y="293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customXml" Target="../customXml/item2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heme" Target="theme/theme1.xml"/><Relationship Id="rId10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‹Nr.›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emf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emf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7" Type="http://schemas.openxmlformats.org/officeDocument/2006/relationships/image" Target="../media/image26.jpeg"/><Relationship Id="rId2" Type="http://schemas.openxmlformats.org/officeDocument/2006/relationships/hyperlink" Target="https://www.serverschrank24.de/os2-simplex-glasfaserkabel-lc-lc-0-50m.html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erverschrank24.de/os2-simplex-glasfaserkabel-sc-sc-1m.html" TargetMode="External"/><Relationship Id="rId5" Type="http://schemas.openxmlformats.org/officeDocument/2006/relationships/image" Target="../media/image25.jpeg"/><Relationship Id="rId4" Type="http://schemas.openxmlformats.org/officeDocument/2006/relationships/hyperlink" Target="https://www.serverschrank24.de/os2-simplex-glasfaserkabel-sc-sc-0-50m.html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hyperlink" Target="https://www.serverschrank24.de/glasfaserkabel/singlemode/massanfertigung/prefab/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hyperlink" Target="https://www.serverschrank24.de/glasfaserkabel-st-st-om2-duplex-patchkabel-0-5-meter.html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42693" y="2527025"/>
            <a:ext cx="4816683" cy="7484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5593"/>
              </a:lnSpc>
              <a:spcBef>
                <a:spcPts val="0"/>
              </a:spcBef>
              <a:spcAft>
                <a:spcPts val="0"/>
              </a:spcAft>
            </a:pPr>
            <a:r>
              <a:rPr sz="5000" dirty="0">
                <a:solidFill>
                  <a:srgbClr val="C00000"/>
                </a:solidFill>
                <a:latin typeface="ATFDDV+Arial"/>
                <a:cs typeface="ATFDDV+Arial"/>
              </a:rPr>
              <a:t>Netzwerktechnik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642106" y="3957301"/>
            <a:ext cx="2010650" cy="434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898989"/>
                </a:solidFill>
                <a:latin typeface="ATFDDV+Arial"/>
                <a:cs typeface="ATFDDV+Arial"/>
              </a:rPr>
              <a:t>Grundlagen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17721" y="603251"/>
            <a:ext cx="2060365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Definition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2155245"/>
            <a:ext cx="7734238" cy="178041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7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Ein Netzwerk</a:t>
            </a:r>
            <a:r>
              <a:rPr sz="39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stellt eine</a:t>
            </a:r>
            <a:r>
              <a:rPr sz="39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Gruppe</a:t>
            </a:r>
          </a:p>
          <a:p>
            <a:pPr marL="0" marR="0">
              <a:lnSpc>
                <a:spcPts val="4359"/>
              </a:lnSpc>
              <a:spcBef>
                <a:spcPts val="272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miteinander</a:t>
            </a:r>
            <a:r>
              <a:rPr sz="3900" spc="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verbundener</a:t>
            </a:r>
            <a:r>
              <a:rPr sz="3900" spc="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Systeme</a:t>
            </a:r>
          </a:p>
          <a:p>
            <a:pPr marL="0" marR="0">
              <a:lnSpc>
                <a:spcPts val="4357"/>
              </a:lnSpc>
              <a:spcBef>
                <a:spcPts val="322"/>
              </a:spcBef>
              <a:spcAft>
                <a:spcPts val="0"/>
              </a:spcAft>
            </a:pPr>
            <a:r>
              <a:rPr sz="3900" spc="-52" dirty="0">
                <a:solidFill>
                  <a:srgbClr val="000000"/>
                </a:solidFill>
                <a:latin typeface="ATFDDV+Arial"/>
                <a:cs typeface="ATFDDV+Arial"/>
              </a:rPr>
              <a:t>dar,</a:t>
            </a:r>
            <a:r>
              <a:rPr sz="3900" spc="5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die</a:t>
            </a:r>
            <a:r>
              <a:rPr sz="39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untereinander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39" y="3938684"/>
            <a:ext cx="5278020" cy="591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9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kommunizieren können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76446" y="603251"/>
            <a:ext cx="1144593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Ziele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68461"/>
            <a:ext cx="3547288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1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Ziele</a:t>
            </a:r>
            <a:r>
              <a:rPr sz="26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der </a:t>
            </a:r>
            <a:r>
              <a:rPr sz="2600" spc="-12" dirty="0">
                <a:solidFill>
                  <a:srgbClr val="000000"/>
                </a:solidFill>
                <a:latin typeface="ATFDDV+Arial"/>
                <a:cs typeface="ATFDDV+Arial"/>
              </a:rPr>
              <a:t>Vernetzung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5" y="2152631"/>
            <a:ext cx="4885733" cy="434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14" dirty="0">
                <a:solidFill>
                  <a:srgbClr val="000000"/>
                </a:solidFill>
                <a:latin typeface="ATFDDV+Arial"/>
                <a:cs typeface="ATFDDV+Arial"/>
              </a:rPr>
              <a:t>Verbesserte</a:t>
            </a:r>
            <a:r>
              <a:rPr sz="28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Kommunikation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5" y="2664695"/>
            <a:ext cx="7312432" cy="1971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Steigerung der Effektivität</a:t>
            </a:r>
            <a:r>
              <a:rPr sz="2800" spc="-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im</a:t>
            </a:r>
            <a:r>
              <a:rPr sz="2800" spc="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Datenverbund</a:t>
            </a:r>
          </a:p>
          <a:p>
            <a:pPr marL="0" marR="0">
              <a:lnSpc>
                <a:spcPts val="3123"/>
              </a:lnSpc>
              <a:spcBef>
                <a:spcPts val="96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Kostensenkung im Funktionsverbund</a:t>
            </a:r>
          </a:p>
          <a:p>
            <a:pPr marL="0" marR="0">
              <a:lnSpc>
                <a:spcPts val="3123"/>
              </a:lnSpc>
              <a:spcBef>
                <a:spcPts val="908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Einfache und effiziente</a:t>
            </a:r>
            <a:r>
              <a:rPr sz="2800" spc="78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Datensicherung</a:t>
            </a:r>
          </a:p>
          <a:p>
            <a:pPr marL="0" marR="0">
              <a:lnSpc>
                <a:spcPts val="3126"/>
              </a:lnSpc>
              <a:spcBef>
                <a:spcPts val="909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Absicherung der </a:t>
            </a:r>
            <a:r>
              <a:rPr sz="2800" spc="-12" dirty="0">
                <a:solidFill>
                  <a:srgbClr val="000000"/>
                </a:solidFill>
                <a:latin typeface="ATFDDV+Arial"/>
                <a:cs typeface="ATFDDV+Arial"/>
              </a:rPr>
              <a:t>Verfügbarkeit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5" y="4713587"/>
            <a:ext cx="6254258" cy="946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Optimierung</a:t>
            </a:r>
            <a:r>
              <a:rPr sz="2800" spc="78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der Rechnerauslastung</a:t>
            </a:r>
          </a:p>
          <a:p>
            <a:pPr marL="0" marR="0">
              <a:lnSpc>
                <a:spcPts val="3123"/>
              </a:lnSpc>
              <a:spcBef>
                <a:spcPts val="958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Optimierung</a:t>
            </a:r>
            <a:r>
              <a:rPr sz="28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der </a:t>
            </a:r>
            <a:r>
              <a:rPr sz="2800" spc="-16" dirty="0">
                <a:solidFill>
                  <a:srgbClr val="000000"/>
                </a:solidFill>
                <a:latin typeface="ATFDDV+Arial"/>
                <a:cs typeface="ATFDDV+Arial"/>
              </a:rPr>
              <a:t>Wartung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47846" y="603251"/>
            <a:ext cx="1602250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Fragen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68461"/>
            <a:ext cx="3880618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1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Aufbau der </a:t>
            </a:r>
            <a:r>
              <a:rPr sz="2600" spc="-12" dirty="0">
                <a:solidFill>
                  <a:srgbClr val="000000"/>
                </a:solidFill>
                <a:latin typeface="ATFDDV+Arial"/>
                <a:cs typeface="ATFDDV+Arial"/>
              </a:rPr>
              <a:t>Vernetzung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5" y="2128649"/>
            <a:ext cx="3776125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Wie</a:t>
            </a:r>
            <a:r>
              <a:rPr sz="22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werden</a:t>
            </a:r>
            <a:r>
              <a:rPr sz="22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Kabel verlegt?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5" y="2530985"/>
            <a:ext cx="3413287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Welche</a:t>
            </a:r>
            <a:r>
              <a:rPr sz="2200" spc="-13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Art von</a:t>
            </a:r>
            <a:r>
              <a:rPr sz="2200" spc="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Kabeln?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5" y="2933299"/>
            <a:ext cx="6708547" cy="752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Welche</a:t>
            </a:r>
            <a:r>
              <a:rPr sz="22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Komponenten</a:t>
            </a:r>
            <a:r>
              <a:rPr sz="22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werden</a:t>
            </a:r>
            <a:r>
              <a:rPr sz="22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zusätzlich</a:t>
            </a:r>
            <a:r>
              <a:rPr sz="22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benötigt?</a:t>
            </a:r>
          </a:p>
          <a:p>
            <a:pPr marL="0" marR="0">
              <a:lnSpc>
                <a:spcPts val="2453"/>
              </a:lnSpc>
              <a:spcBef>
                <a:spcPts val="664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Welche</a:t>
            </a:r>
            <a:r>
              <a:rPr sz="2200" spc="-5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spc="-27" dirty="0">
                <a:solidFill>
                  <a:srgbClr val="000000"/>
                </a:solidFill>
                <a:latin typeface="ATFDDV+Arial"/>
                <a:cs typeface="ATFDDV+Arial"/>
              </a:rPr>
              <a:t>Topologie</a:t>
            </a:r>
            <a:r>
              <a:rPr sz="2200" spc="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ist</a:t>
            </a:r>
            <a:r>
              <a:rPr sz="22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am</a:t>
            </a:r>
            <a:r>
              <a:rPr sz="2200" spc="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sinnvollsten?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5" y="3738247"/>
            <a:ext cx="7220909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Welche</a:t>
            </a:r>
            <a:r>
              <a:rPr sz="2200" spc="-13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Anforderungen</a:t>
            </a:r>
            <a:r>
              <a:rPr sz="22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werden</a:t>
            </a:r>
            <a:r>
              <a:rPr sz="22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an die Geschwindigkeit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2606" y="4073527"/>
            <a:ext cx="1068881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gelegt?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6145" y="4476244"/>
            <a:ext cx="6346953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Welches</a:t>
            </a:r>
            <a:r>
              <a:rPr sz="22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Betriebssystem und Protokolle werden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92606" y="4811524"/>
            <a:ext cx="1581484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eingesetzt?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06145" y="5213860"/>
            <a:ext cx="5058755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Welche</a:t>
            </a:r>
            <a:r>
              <a:rPr sz="22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Dienste sind notwendig u.s.w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8122" y="603251"/>
            <a:ext cx="328108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Grundkonzepte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2749583"/>
            <a:ext cx="3385874" cy="11860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9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9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Peer-to-Peer</a:t>
            </a:r>
          </a:p>
          <a:p>
            <a:pPr marL="0" marR="0">
              <a:lnSpc>
                <a:spcPts val="4357"/>
              </a:lnSpc>
              <a:spcBef>
                <a:spcPts val="272"/>
              </a:spcBef>
              <a:spcAft>
                <a:spcPts val="0"/>
              </a:spcAft>
            </a:pPr>
            <a:r>
              <a:rPr sz="3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9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Client-Server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8122" y="603251"/>
            <a:ext cx="328108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Grundkonzepte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560609"/>
            <a:ext cx="3331399" cy="591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9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9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Peer-to-Peer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52005"/>
            <a:ext cx="6445202" cy="1388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alle</a:t>
            </a:r>
            <a:r>
              <a:rPr sz="35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Computersysteme</a:t>
            </a:r>
            <a:r>
              <a:rPr sz="35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sind</a:t>
            </a:r>
          </a:p>
          <a:p>
            <a:pPr marL="286461" marR="0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gleichberechtigt</a:t>
            </a:r>
            <a:r>
              <a:rPr sz="3500" spc="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und bilden</a:t>
            </a:r>
          </a:p>
          <a:p>
            <a:pPr marL="286461" marR="0">
              <a:lnSpc>
                <a:spcPts val="3361"/>
              </a:lnSpc>
              <a:spcBef>
                <a:spcPts val="0"/>
              </a:spcBef>
              <a:spcAft>
                <a:spcPts val="0"/>
              </a:spcAft>
            </a:pP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zusammen eine</a:t>
            </a:r>
            <a:r>
              <a:rPr sz="3500" spc="-17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Arbeitsgruppe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3539098"/>
            <a:ext cx="7510551" cy="535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lokale Steuerung</a:t>
            </a:r>
            <a:r>
              <a:rPr sz="35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der Sicherheit und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2606" y="3965924"/>
            <a:ext cx="5169807" cy="53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7"/>
              </a:lnSpc>
              <a:spcBef>
                <a:spcPts val="0"/>
              </a:spcBef>
              <a:spcAft>
                <a:spcPts val="0"/>
              </a:spcAft>
            </a:pP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Freigabe der Ressourcen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8122" y="603251"/>
            <a:ext cx="328108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Grundkonzepte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067944" y="4149080"/>
            <a:ext cx="3331399" cy="591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9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9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Peer-to-Peer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8122" y="603251"/>
            <a:ext cx="328108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Grundkonzepte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589213"/>
            <a:ext cx="2389308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1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Peer-to-Peer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1984799"/>
            <a:ext cx="1538528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ATFDDV+Arial"/>
                <a:cs typeface="ATFDDV+Arial"/>
              </a:rPr>
              <a:t>Vorteile: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2351489"/>
            <a:ext cx="4882930" cy="803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keine</a:t>
            </a:r>
            <a:r>
              <a:rPr sz="26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Extrakosten</a:t>
            </a:r>
            <a:r>
              <a:rPr sz="26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für Server</a:t>
            </a:r>
          </a:p>
          <a:p>
            <a:pPr marL="0" marR="0">
              <a:lnSpc>
                <a:spcPts val="2909"/>
              </a:lnSpc>
              <a:spcBef>
                <a:spcPts val="21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kein</a:t>
            </a:r>
            <a:r>
              <a:rPr sz="26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spezielles</a:t>
            </a:r>
            <a:r>
              <a:rPr sz="26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Betriebssystem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4" y="3144223"/>
            <a:ext cx="7141993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kostengünstige</a:t>
            </a:r>
            <a:r>
              <a:rPr sz="2600" spc="-18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Alternative für kleine</a:t>
            </a:r>
            <a:r>
              <a:rPr sz="26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Netze</a:t>
            </a:r>
            <a:r>
              <a:rPr sz="26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bis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3461215"/>
            <a:ext cx="3043360" cy="77392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85749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zehn</a:t>
            </a:r>
            <a:r>
              <a:rPr sz="26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Stationen</a:t>
            </a:r>
          </a:p>
          <a:p>
            <a:pPr marL="0" marR="0">
              <a:lnSpc>
                <a:spcPts val="2681"/>
              </a:lnSpc>
              <a:spcBef>
                <a:spcPts val="203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Nachteile: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4" y="4223320"/>
            <a:ext cx="5583529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keine</a:t>
            </a:r>
            <a:r>
              <a:rPr sz="26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zentrale</a:t>
            </a:r>
            <a:r>
              <a:rPr sz="26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spc="-11" dirty="0">
                <a:solidFill>
                  <a:srgbClr val="000000"/>
                </a:solidFill>
                <a:latin typeface="ATFDDV+Arial"/>
                <a:cs typeface="ATFDDV+Arial"/>
              </a:rPr>
              <a:t>Verwaltung,</a:t>
            </a:r>
            <a:r>
              <a:rPr sz="26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erhöhter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91894" y="4540588"/>
            <a:ext cx="6638295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Koordinationsaufwand</a:t>
            </a:r>
            <a:r>
              <a:rPr sz="2600" spc="-4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ab bestimmter</a:t>
            </a:r>
            <a:r>
              <a:rPr sz="2600" spc="-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Größe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63294" y="4936828"/>
            <a:ext cx="6999546" cy="804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bei</a:t>
            </a:r>
            <a:r>
              <a:rPr sz="2600" spc="-16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Ausfall des</a:t>
            </a:r>
            <a:r>
              <a:rPr sz="26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Rechners</a:t>
            </a:r>
            <a:r>
              <a:rPr sz="2600" spc="-3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keine Ressourcen</a:t>
            </a:r>
          </a:p>
          <a:p>
            <a:pPr marL="0" marR="0">
              <a:lnSpc>
                <a:spcPts val="2911"/>
              </a:lnSpc>
              <a:spcBef>
                <a:spcPts val="21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keine</a:t>
            </a:r>
            <a:r>
              <a:rPr sz="26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Stabilität und unzureichende</a:t>
            </a:r>
            <a:r>
              <a:rPr sz="2600" spc="-3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Sicherheit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8122" y="603251"/>
            <a:ext cx="328108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Grundkonzepte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560609"/>
            <a:ext cx="3386166" cy="591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9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9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Client-Server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55244"/>
            <a:ext cx="5093278" cy="1066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7"/>
              </a:lnSpc>
              <a:spcBef>
                <a:spcPts val="0"/>
              </a:spcBef>
              <a:spcAft>
                <a:spcPts val="0"/>
              </a:spcAft>
            </a:pPr>
            <a:r>
              <a:rPr sz="3900" spc="87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Server stellen zentral</a:t>
            </a:r>
          </a:p>
          <a:p>
            <a:pPr marL="286461" marR="0">
              <a:lnSpc>
                <a:spcPts val="3744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Ressourcen</a:t>
            </a:r>
            <a:r>
              <a:rPr sz="39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2606" y="3106474"/>
            <a:ext cx="7040612" cy="591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7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Dienstleistungen</a:t>
            </a:r>
            <a:r>
              <a:rPr sz="3900" spc="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zur</a:t>
            </a:r>
            <a:r>
              <a:rPr sz="39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spc="-24" dirty="0">
                <a:solidFill>
                  <a:srgbClr val="000000"/>
                </a:solidFill>
                <a:latin typeface="ATFDDV+Arial"/>
                <a:cs typeface="ATFDDV+Arial"/>
              </a:rPr>
              <a:t>Verfügung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700834"/>
            <a:ext cx="5813770" cy="24940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7"/>
              </a:lnSpc>
              <a:spcBef>
                <a:spcPts val="0"/>
              </a:spcBef>
              <a:spcAft>
                <a:spcPts val="0"/>
              </a:spcAft>
            </a:pPr>
            <a:r>
              <a:rPr sz="3900" spc="87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Clients können</a:t>
            </a:r>
            <a:r>
              <a:rPr sz="3900" spc="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nach</a:t>
            </a:r>
          </a:p>
          <a:p>
            <a:pPr marL="286461" marR="0">
              <a:lnSpc>
                <a:spcPts val="3747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erfolgreicher</a:t>
            </a:r>
            <a:r>
              <a:rPr sz="3900" spc="-19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Anmeldung</a:t>
            </a:r>
          </a:p>
          <a:p>
            <a:pPr marL="286461" marR="0">
              <a:lnSpc>
                <a:spcPts val="3744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(Authentifizierung</a:t>
            </a:r>
            <a:r>
              <a:rPr sz="3900" spc="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</a:p>
          <a:p>
            <a:pPr marL="286461" marR="0">
              <a:lnSpc>
                <a:spcPts val="3744"/>
              </a:lnSpc>
              <a:spcBef>
                <a:spcPts val="50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Autorisierung)</a:t>
            </a:r>
            <a:r>
              <a:rPr sz="3900" spc="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auf diese</a:t>
            </a:r>
          </a:p>
          <a:p>
            <a:pPr marL="286461" marR="0">
              <a:lnSpc>
                <a:spcPts val="3745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zugreifen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8122" y="603251"/>
            <a:ext cx="328108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Grundkonzepte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995936" y="4293096"/>
            <a:ext cx="3386166" cy="591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9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9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Client-Server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08122" y="603251"/>
            <a:ext cx="328108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Grundkonzepte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510317"/>
            <a:ext cx="3386166" cy="5917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359"/>
              </a:lnSpc>
              <a:spcBef>
                <a:spcPts val="0"/>
              </a:spcBef>
              <a:spcAft>
                <a:spcPts val="0"/>
              </a:spcAft>
            </a:pPr>
            <a:r>
              <a:rPr sz="3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900" spc="3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900" dirty="0">
                <a:solidFill>
                  <a:srgbClr val="000000"/>
                </a:solidFill>
                <a:latin typeface="ATFDDV+Arial"/>
                <a:cs typeface="ATFDDV+Arial"/>
              </a:rPr>
              <a:t>Client-Server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46849"/>
            <a:ext cx="1921695" cy="535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spc="-24" dirty="0">
                <a:solidFill>
                  <a:srgbClr val="000000"/>
                </a:solidFill>
                <a:latin typeface="ATFDDV+Arial"/>
                <a:cs typeface="ATFDDV+Arial"/>
              </a:rPr>
              <a:t>Vorteile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2529621"/>
            <a:ext cx="7226926" cy="477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5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1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zentrale</a:t>
            </a:r>
            <a:r>
              <a:rPr sz="3100" spc="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Bereitstellung</a:t>
            </a:r>
            <a:r>
              <a:rPr sz="3100" spc="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von</a:t>
            </a:r>
            <a:r>
              <a:rPr sz="3100" spc="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Ressourcen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91894" y="2860307"/>
            <a:ext cx="3822998" cy="477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61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und Dienstleistungen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3285779"/>
            <a:ext cx="6828039" cy="13833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149" marR="0">
              <a:lnSpc>
                <a:spcPts val="345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1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einfachere</a:t>
            </a:r>
            <a:r>
              <a:rPr sz="3100" spc="4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spc="-20" dirty="0">
                <a:solidFill>
                  <a:srgbClr val="000000"/>
                </a:solidFill>
                <a:latin typeface="ATFDDV+Arial"/>
                <a:cs typeface="ATFDDV+Arial"/>
              </a:rPr>
              <a:t>Verwaltung</a:t>
            </a:r>
          </a:p>
          <a:p>
            <a:pPr marL="457149" marR="0">
              <a:lnSpc>
                <a:spcPts val="334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1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Ausfallsicherheit</a:t>
            </a:r>
            <a:r>
              <a:rPr sz="3100" spc="4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(Failover</a:t>
            </a:r>
            <a:r>
              <a:rPr sz="3100" spc="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Cluster)</a:t>
            </a:r>
          </a:p>
          <a:p>
            <a:pPr marL="0" marR="0">
              <a:lnSpc>
                <a:spcPts val="3699"/>
              </a:lnSpc>
              <a:spcBef>
                <a:spcPts val="0"/>
              </a:spcBef>
              <a:spcAft>
                <a:spcPts val="0"/>
              </a:spcAft>
            </a:pPr>
            <a:r>
              <a:rPr sz="35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spc="39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Nachteile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3" y="4616612"/>
            <a:ext cx="1605066" cy="477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5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1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Kosten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63294" y="5041808"/>
            <a:ext cx="6876200" cy="477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5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1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erforderliches</a:t>
            </a:r>
            <a:r>
              <a:rPr sz="3100" spc="5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Wissen zur</a:t>
            </a:r>
            <a:r>
              <a:rPr sz="3100" spc="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spc="-21" dirty="0">
                <a:solidFill>
                  <a:srgbClr val="000000"/>
                </a:solidFill>
                <a:latin typeface="ATFDDV+Arial"/>
                <a:cs typeface="ATFDDV+Arial"/>
              </a:rPr>
              <a:t>Verwaltung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691894" y="5372494"/>
            <a:ext cx="5139638" cy="477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61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der</a:t>
            </a:r>
            <a:r>
              <a:rPr sz="3100" spc="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Ressourcen</a:t>
            </a:r>
            <a:r>
              <a:rPr sz="3100" spc="4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  <a:r>
              <a:rPr sz="3100" spc="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Dienste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898138" y="603251"/>
            <a:ext cx="1499772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Server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76240"/>
            <a:ext cx="5289537" cy="18160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7"/>
              </a:lnSpc>
              <a:spcBef>
                <a:spcPts val="0"/>
              </a:spcBef>
              <a:spcAft>
                <a:spcPts val="0"/>
              </a:spcAft>
            </a:pPr>
            <a:r>
              <a:rPr sz="35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5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Merkmale</a:t>
            </a:r>
            <a:r>
              <a:rPr sz="35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eines</a:t>
            </a:r>
            <a:r>
              <a:rPr sz="3500" spc="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Servers</a:t>
            </a:r>
          </a:p>
          <a:p>
            <a:pPr marL="457504" marR="0">
              <a:lnSpc>
                <a:spcPts val="3914"/>
              </a:lnSpc>
              <a:spcBef>
                <a:spcPts val="1174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Leistungsfähigkeit</a:t>
            </a:r>
          </a:p>
          <a:p>
            <a:pPr marL="457504" marR="0">
              <a:lnSpc>
                <a:spcPts val="3917"/>
              </a:lnSpc>
              <a:spcBef>
                <a:spcPts val="1125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Skalierbarkeit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5" y="3597010"/>
            <a:ext cx="3676664" cy="119360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Ausfallsicherheit</a:t>
            </a:r>
          </a:p>
          <a:p>
            <a:pPr marL="457149" marR="0">
              <a:lnSpc>
                <a:spcPts val="4024"/>
              </a:lnSpc>
              <a:spcBef>
                <a:spcPts val="1159"/>
              </a:spcBef>
              <a:spcAft>
                <a:spcPts val="0"/>
              </a:spcAft>
            </a:pPr>
            <a:r>
              <a:rPr sz="3600" spc="54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600" dirty="0">
                <a:solidFill>
                  <a:srgbClr val="000000"/>
                </a:solidFill>
                <a:latin typeface="ATFDDV+Arial"/>
                <a:cs typeface="ATFDDV+Arial"/>
              </a:rPr>
              <a:t>Redundanz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20494" y="4900043"/>
            <a:ext cx="5945888" cy="1207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dirty="0">
                <a:solidFill>
                  <a:srgbClr val="000000"/>
                </a:solidFill>
                <a:latin typeface="ATFDDV+Arial"/>
                <a:cs typeface="ATFDDV+Arial"/>
              </a:rPr>
              <a:t>Subsysteme</a:t>
            </a:r>
            <a:r>
              <a:rPr sz="36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000000"/>
                </a:solidFill>
                <a:latin typeface="ATFDDV+Arial"/>
                <a:cs typeface="ATFDDV+Arial"/>
              </a:rPr>
              <a:t>(Hot-plugable)</a:t>
            </a:r>
          </a:p>
          <a:p>
            <a:pPr marL="0" marR="0">
              <a:lnSpc>
                <a:spcPts val="4024"/>
              </a:lnSpc>
              <a:spcBef>
                <a:spcPts val="1161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600" dirty="0">
                <a:solidFill>
                  <a:srgbClr val="000000"/>
                </a:solidFill>
                <a:latin typeface="ATFDDV+Arial"/>
                <a:cs typeface="ATFDDV+Arial"/>
              </a:rPr>
              <a:t>Server</a:t>
            </a:r>
            <a:r>
              <a:rPr sz="36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000000"/>
                </a:solidFill>
                <a:latin typeface="ATFDDV+Arial"/>
                <a:cs typeface="ATFDDV+Arial"/>
              </a:rPr>
              <a:t>(Cluster)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60522" y="603251"/>
            <a:ext cx="2975222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Serverdienste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572833"/>
            <a:ext cx="5646040" cy="888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96"/>
              </a:lnSpc>
              <a:spcBef>
                <a:spcPts val="0"/>
              </a:spcBef>
              <a:spcAft>
                <a:spcPts val="0"/>
              </a:spcAft>
            </a:pPr>
            <a:r>
              <a:rPr sz="34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4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  <a:latin typeface="ATFDDV+Arial"/>
                <a:cs typeface="ATFDDV+Arial"/>
              </a:rPr>
              <a:t>Beispiele</a:t>
            </a:r>
            <a:r>
              <a:rPr sz="34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400" dirty="0">
                <a:solidFill>
                  <a:srgbClr val="000000"/>
                </a:solidFill>
                <a:latin typeface="ATFDDV+Arial"/>
                <a:cs typeface="ATFDDV+Arial"/>
              </a:rPr>
              <a:t>für Serverdienste</a:t>
            </a:r>
          </a:p>
          <a:p>
            <a:pPr marL="457504" marR="0">
              <a:lnSpc>
                <a:spcPts val="2681"/>
              </a:lnSpc>
              <a:spcBef>
                <a:spcPts val="215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File-Server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448095"/>
            <a:ext cx="3011507" cy="3305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Print-Server</a:t>
            </a:r>
          </a:p>
          <a:p>
            <a:pPr marL="0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Application-Server</a:t>
            </a:r>
          </a:p>
          <a:p>
            <a:pPr marL="0" marR="0">
              <a:lnSpc>
                <a:spcPts val="2681"/>
              </a:lnSpc>
              <a:spcBef>
                <a:spcPts val="15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Mail-Server</a:t>
            </a:r>
          </a:p>
          <a:p>
            <a:pPr marL="0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Web-Server</a:t>
            </a:r>
          </a:p>
          <a:p>
            <a:pPr marL="0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Datenbank-Server</a:t>
            </a:r>
          </a:p>
          <a:p>
            <a:pPr marL="0" marR="0">
              <a:lnSpc>
                <a:spcPts val="2683"/>
              </a:lnSpc>
              <a:spcBef>
                <a:spcPts val="199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Proxy-Server</a:t>
            </a:r>
          </a:p>
          <a:p>
            <a:pPr marL="0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DHCP-Server</a:t>
            </a:r>
          </a:p>
          <a:p>
            <a:pPr marL="0" marR="0">
              <a:lnSpc>
                <a:spcPts val="2681"/>
              </a:lnSpc>
              <a:spcBef>
                <a:spcPts val="148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DNS-Server</a:t>
            </a:r>
          </a:p>
          <a:p>
            <a:pPr marL="0" marR="0">
              <a:lnSpc>
                <a:spcPts val="2683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Domänencontroller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59938" y="603251"/>
            <a:ext cx="317821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Netzwerktypen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5291" y="1257198"/>
            <a:ext cx="4969294" cy="612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15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Netzwerktypen</a:t>
            </a:r>
            <a:r>
              <a:rPr sz="1900" b="1" spc="1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nach ihrer</a:t>
            </a:r>
            <a:r>
              <a:rPr sz="1900" b="1" spc="-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Ausdehnung</a:t>
            </a:r>
          </a:p>
          <a:p>
            <a:pPr marL="457504" marR="0">
              <a:lnSpc>
                <a:spcPts val="2238"/>
              </a:lnSpc>
              <a:spcBef>
                <a:spcPts val="162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64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LAN</a:t>
            </a:r>
            <a:r>
              <a:rPr sz="20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(Local</a:t>
            </a:r>
            <a:r>
              <a:rPr sz="2000" spc="-1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Area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Network)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62129" y="1816207"/>
            <a:ext cx="7142044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Begrenzte</a:t>
            </a:r>
            <a:r>
              <a:rPr sz="2000" spc="-4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geografische</a:t>
            </a:r>
            <a:r>
              <a:rPr sz="2000" spc="-16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Ausdehnung</a:t>
            </a:r>
            <a:r>
              <a:rPr sz="2000" spc="-4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auf</a:t>
            </a:r>
            <a:r>
              <a:rPr sz="20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ein Firmengelände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2129" y="2109155"/>
            <a:ext cx="7000500" cy="8104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Gesamte</a:t>
            </a:r>
            <a:r>
              <a:rPr sz="2000" spc="-5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Hardware</a:t>
            </a:r>
            <a:r>
              <a:rPr sz="2000" spc="-3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befindet</a:t>
            </a:r>
            <a:r>
              <a:rPr sz="20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sich</a:t>
            </a:r>
            <a:r>
              <a:rPr sz="2000" spc="-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im rechtlichen</a:t>
            </a:r>
          </a:p>
          <a:p>
            <a:pPr marL="228600" marR="0">
              <a:lnSpc>
                <a:spcPts val="1920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Entscheidungsbereichs</a:t>
            </a:r>
            <a:r>
              <a:rPr sz="2000" spc="-5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unter</a:t>
            </a:r>
            <a:r>
              <a:rPr sz="2000" spc="-1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Aufsicht</a:t>
            </a:r>
            <a:r>
              <a:rPr sz="20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eines Benutzers</a:t>
            </a:r>
          </a:p>
          <a:p>
            <a:pPr marL="228600" marR="0"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2000" spc="-30" dirty="0">
                <a:solidFill>
                  <a:srgbClr val="000000"/>
                </a:solidFill>
                <a:latin typeface="ATFDDV+Arial"/>
                <a:cs typeface="ATFDDV+Arial"/>
              </a:rPr>
              <a:t>bzw.</a:t>
            </a:r>
            <a:r>
              <a:rPr sz="20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einer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Firma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32464" y="2839699"/>
            <a:ext cx="4234850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64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MAN</a:t>
            </a:r>
            <a:r>
              <a:rPr sz="20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(Metropolitan</a:t>
            </a:r>
            <a:r>
              <a:rPr sz="2000" spc="-15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Area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Network)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2129" y="3100136"/>
            <a:ext cx="6602195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Regionale</a:t>
            </a:r>
            <a:r>
              <a:rPr sz="2000" spc="-1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Ausdehnung</a:t>
            </a:r>
            <a:r>
              <a:rPr sz="2000" spc="-4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auf</a:t>
            </a:r>
            <a:r>
              <a:rPr sz="20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das Gebiet</a:t>
            </a:r>
            <a:r>
              <a:rPr sz="20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einer Stadt</a:t>
            </a:r>
            <a:r>
              <a:rPr sz="20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oder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69495" y="3333918"/>
            <a:ext cx="3875090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Ballungszentrums</a:t>
            </a:r>
            <a:r>
              <a:rPr sz="2000" spc="-5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bis</a:t>
            </a:r>
            <a:r>
              <a:rPr sz="20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ca.</a:t>
            </a:r>
            <a:r>
              <a:rPr sz="20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100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31320" y="3582019"/>
            <a:ext cx="3437499" cy="322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64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33" dirty="0">
                <a:solidFill>
                  <a:srgbClr val="000000"/>
                </a:solidFill>
                <a:latin typeface="ATFDDV+Arial"/>
                <a:cs typeface="ATFDDV+Arial"/>
              </a:rPr>
              <a:t>WAN</a:t>
            </a:r>
            <a:r>
              <a:rPr sz="20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(Wide</a:t>
            </a:r>
            <a:r>
              <a:rPr sz="2000" spc="-13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Area Network)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62129" y="3816607"/>
            <a:ext cx="2341475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Weitverkehrsnetz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035111" y="4090073"/>
            <a:ext cx="7227872" cy="12370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149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Unbegrenzte</a:t>
            </a:r>
            <a:r>
              <a:rPr sz="2000" spc="-5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geografische</a:t>
            </a:r>
            <a:r>
              <a:rPr sz="2000" spc="-16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Ausdehnung</a:t>
            </a:r>
          </a:p>
          <a:p>
            <a:pPr marL="457149" marR="0">
              <a:lnSpc>
                <a:spcPts val="2238"/>
              </a:lnSpc>
              <a:spcBef>
                <a:spcPts val="16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Kann</a:t>
            </a:r>
            <a:r>
              <a:rPr sz="20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mehrere</a:t>
            </a:r>
            <a:r>
              <a:rPr sz="2000" spc="-4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LANs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miteinander</a:t>
            </a:r>
            <a:r>
              <a:rPr sz="20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verbinden</a:t>
            </a:r>
          </a:p>
          <a:p>
            <a:pPr marL="457149" marR="0">
              <a:lnSpc>
                <a:spcPts val="2241"/>
              </a:lnSpc>
              <a:spcBef>
                <a:spcPts val="16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Daten</a:t>
            </a:r>
            <a:r>
              <a:rPr sz="2000" spc="-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werden</a:t>
            </a:r>
            <a:r>
              <a:rPr sz="2000" spc="-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meist</a:t>
            </a:r>
            <a:r>
              <a:rPr sz="20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auf</a:t>
            </a:r>
            <a:r>
              <a:rPr sz="20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öffentliche</a:t>
            </a:r>
            <a:r>
              <a:rPr sz="2000" spc="-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Leitungen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übertragen</a:t>
            </a:r>
          </a:p>
          <a:p>
            <a:pPr marL="0" marR="0">
              <a:lnSpc>
                <a:spcPts val="2238"/>
              </a:lnSpc>
              <a:spcBef>
                <a:spcPts val="16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64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de-DE" sz="2000" dirty="0">
                <a:solidFill>
                  <a:srgbClr val="000000"/>
                </a:solidFill>
                <a:latin typeface="ATFDDV+Arial"/>
                <a:cs typeface="ATFDDV+Arial"/>
              </a:rPr>
              <a:t>PAN</a:t>
            </a:r>
            <a:r>
              <a:rPr sz="20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</a:t>
            </a:r>
            <a:r>
              <a:rPr lang="de-DE" sz="2000" dirty="0">
                <a:solidFill>
                  <a:srgbClr val="000000"/>
                </a:solidFill>
                <a:latin typeface="ATFDDV+Arial"/>
                <a:cs typeface="ATFDDV+Arial"/>
              </a:rPr>
              <a:t>Personal</a:t>
            </a:r>
            <a:r>
              <a:rPr sz="2000" spc="-13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Area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Network)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81970" y="5246193"/>
            <a:ext cx="6626919" cy="8463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lang="de-DE" sz="2000" b="1" dirty="0"/>
              <a:t>persönliches Netzwerk</a:t>
            </a:r>
            <a:r>
              <a:rPr lang="de-DE" sz="2000" dirty="0"/>
              <a:t> das den Datenaustausch zwischen                 mehreren Endgeräten eines Nutzers ermöglicht. Beispielsweise Laptop, Tablet und Smartphone einer Person </a:t>
            </a:r>
            <a:endParaRPr sz="2000" dirty="0">
              <a:solidFill>
                <a:srgbClr val="000000"/>
              </a:solidFill>
              <a:latin typeface="ATFDDV+Arial"/>
              <a:cs typeface="ATFDDV+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16632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60032" y="4725144"/>
            <a:ext cx="317821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Netzwerktypen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59938" y="603251"/>
            <a:ext cx="317821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Netzwerktypen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3922"/>
            <a:ext cx="4272307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000000"/>
                </a:solidFill>
                <a:latin typeface="Arial"/>
                <a:cs typeface="Arial"/>
              </a:rPr>
              <a:t>Weitere Netzwerkeinteilungen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52449"/>
            <a:ext cx="1244626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WLAN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2446379"/>
            <a:ext cx="3627758" cy="688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Wireless</a:t>
            </a:r>
            <a:r>
              <a:rPr sz="2000" spc="-4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Local</a:t>
            </a:r>
            <a:r>
              <a:rPr sz="2000" spc="-1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Area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Network</a:t>
            </a:r>
          </a:p>
          <a:p>
            <a:pPr marL="0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Kabelloses</a:t>
            </a:r>
            <a:r>
              <a:rPr sz="2000" spc="-3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186559"/>
            <a:ext cx="1167373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VLAN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4" y="3580489"/>
            <a:ext cx="3369432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Virtual Local</a:t>
            </a:r>
            <a:r>
              <a:rPr sz="2000" spc="-13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Area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Network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4" y="3946249"/>
            <a:ext cx="6121975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Unterteilung</a:t>
            </a:r>
            <a:r>
              <a:rPr sz="2000" spc="-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großer</a:t>
            </a:r>
            <a:r>
              <a:rPr sz="2000" spc="-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Netzwerke</a:t>
            </a:r>
            <a:r>
              <a:rPr sz="2000" spc="-4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in mehrere</a:t>
            </a:r>
            <a:r>
              <a:rPr sz="2000" spc="-5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logische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91894" y="4251154"/>
            <a:ext cx="2466611" cy="322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Netzwerke</a:t>
            </a:r>
            <a:r>
              <a:rPr sz="2000" spc="-6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(virtuelle)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6144" y="4625596"/>
            <a:ext cx="1012124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SAN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63294" y="5019526"/>
            <a:ext cx="2864743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Storage</a:t>
            </a:r>
            <a:r>
              <a:rPr sz="2000" spc="-14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Area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Network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63294" y="5385235"/>
            <a:ext cx="5220723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Speicherung</a:t>
            </a:r>
            <a:r>
              <a:rPr sz="2000" spc="-5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von Daten</a:t>
            </a:r>
            <a:r>
              <a:rPr sz="2000" spc="-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über</a:t>
            </a:r>
            <a:r>
              <a:rPr sz="20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das</a:t>
            </a:r>
            <a:r>
              <a:rPr sz="20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Netzwerk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59938" y="603251"/>
            <a:ext cx="317821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Netzwerktypen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1732"/>
            <a:ext cx="5897381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800" spc="16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Weitere Netzwerkeinteilungen</a:t>
            </a:r>
            <a:r>
              <a:rPr sz="1800" b="1" spc="-4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nach Benutzerkreis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1995500"/>
            <a:ext cx="1322810" cy="307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1900" spc="72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Internet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2342972"/>
            <a:ext cx="6279478" cy="5966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spc="-25" dirty="0">
                <a:solidFill>
                  <a:srgbClr val="000000"/>
                </a:solidFill>
                <a:latin typeface="Arial"/>
                <a:cs typeface="Arial"/>
              </a:rPr>
              <a:t>von</a:t>
            </a:r>
            <a:r>
              <a:rPr sz="1900" b="1" spc="6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engl.</a:t>
            </a:r>
            <a:r>
              <a:rPr sz="1900" b="1" spc="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interconnected</a:t>
            </a:r>
            <a:r>
              <a:rPr sz="1900" b="1" spc="4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network</a:t>
            </a:r>
            <a:r>
              <a:rPr sz="1900" b="1" spc="-3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ist ein weltweites</a:t>
            </a:r>
          </a:p>
          <a:p>
            <a:pPr marL="228600" marR="0">
              <a:lnSpc>
                <a:spcPts val="2118"/>
              </a:lnSpc>
              <a:spcBef>
                <a:spcPts val="161"/>
              </a:spcBef>
              <a:spcAft>
                <a:spcPts val="0"/>
              </a:spcAft>
            </a:pP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öffentliches Netzwerk</a:t>
            </a:r>
            <a:r>
              <a:rPr sz="1900" b="1" spc="-2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bestehend</a:t>
            </a:r>
            <a:r>
              <a:rPr sz="1900" b="1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aus </a:t>
            </a:r>
            <a:r>
              <a:rPr sz="1900" b="1" spc="-11" dirty="0">
                <a:solidFill>
                  <a:srgbClr val="000000"/>
                </a:solidFill>
                <a:latin typeface="Arial"/>
                <a:cs typeface="Arial"/>
              </a:rPr>
              <a:t>vielen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91894" y="2922070"/>
            <a:ext cx="7007468" cy="30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Rechnernetzwerken, durch das Daten</a:t>
            </a:r>
            <a:r>
              <a:rPr sz="1900" b="1" spc="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ausgetauscht</a:t>
            </a:r>
            <a:r>
              <a:rPr sz="1900" b="1" spc="4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werden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4" y="3269818"/>
            <a:ext cx="3288324" cy="307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Größtes </a:t>
            </a:r>
            <a:r>
              <a:rPr sz="1900" b="1" spc="-38" dirty="0">
                <a:solidFill>
                  <a:srgbClr val="000000"/>
                </a:solidFill>
                <a:latin typeface="Arial"/>
                <a:cs typeface="Arial"/>
              </a:rPr>
              <a:t>WAN</a:t>
            </a:r>
            <a:r>
              <a:rPr sz="1900" b="1" spc="4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(oder GAN)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3617290"/>
            <a:ext cx="1322810" cy="307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1900" spc="72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Intranet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63294" y="3964762"/>
            <a:ext cx="7052627" cy="8866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spc="-25" dirty="0">
                <a:solidFill>
                  <a:srgbClr val="000000"/>
                </a:solidFill>
                <a:latin typeface="Arial"/>
                <a:cs typeface="Arial"/>
              </a:rPr>
              <a:t>von</a:t>
            </a:r>
            <a:r>
              <a:rPr sz="1900" b="1" spc="6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lateinisch</a:t>
            </a:r>
            <a:r>
              <a:rPr sz="1900" b="1" spc="3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intra</a:t>
            </a:r>
            <a:r>
              <a:rPr sz="1900" b="1" spc="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für innen und englisch</a:t>
            </a:r>
            <a:r>
              <a:rPr sz="1900" b="1" spc="2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net</a:t>
            </a:r>
            <a:r>
              <a:rPr sz="1900" b="1" spc="1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für Netz,</a:t>
            </a:r>
            <a:r>
              <a:rPr sz="1900" b="1" spc="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ist</a:t>
            </a:r>
          </a:p>
          <a:p>
            <a:pPr marL="228600" marR="0">
              <a:lnSpc>
                <a:spcPts val="2120"/>
              </a:lnSpc>
              <a:spcBef>
                <a:spcPts val="162"/>
              </a:spcBef>
              <a:spcAft>
                <a:spcPts val="0"/>
              </a:spcAft>
            </a:pP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ein Rechnernetz,</a:t>
            </a:r>
            <a:r>
              <a:rPr sz="1900" b="1" spc="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das im Gegensatz</a:t>
            </a:r>
            <a:r>
              <a:rPr sz="1900" b="1" spc="2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zum Internet</a:t>
            </a:r>
            <a:r>
              <a:rPr sz="1900" b="1" spc="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nicht</a:t>
            </a:r>
          </a:p>
          <a:p>
            <a:pPr marL="228600" marR="0">
              <a:lnSpc>
                <a:spcPts val="2118"/>
              </a:lnSpc>
              <a:spcBef>
                <a:spcPts val="161"/>
              </a:spcBef>
              <a:spcAft>
                <a:spcPts val="0"/>
              </a:spcAft>
            </a:pP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öffentlich ist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6144" y="4891736"/>
            <a:ext cx="1402272" cy="307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1900" spc="72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Extranet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63294" y="5239207"/>
            <a:ext cx="7264801" cy="307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ist ein </a:t>
            </a:r>
            <a:r>
              <a:rPr sz="1900" b="1" spc="-36" dirty="0">
                <a:solidFill>
                  <a:srgbClr val="000000"/>
                </a:solidFill>
                <a:latin typeface="Arial"/>
                <a:cs typeface="Arial"/>
              </a:rPr>
              <a:t>Teil</a:t>
            </a:r>
            <a:r>
              <a:rPr sz="1900" b="1" spc="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eines</a:t>
            </a:r>
            <a:r>
              <a:rPr sz="1900" b="1" spc="1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Intranets,</a:t>
            </a:r>
            <a:r>
              <a:rPr sz="1900" b="1" spc="1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zu dem ein </a:t>
            </a:r>
            <a:r>
              <a:rPr sz="1900" b="1" spc="-10" dirty="0">
                <a:solidFill>
                  <a:srgbClr val="000000"/>
                </a:solidFill>
                <a:latin typeface="Arial"/>
                <a:cs typeface="Arial"/>
              </a:rPr>
              <a:t>weiterer,</a:t>
            </a:r>
            <a:r>
              <a:rPr sz="1900" b="1" spc="-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privilegierter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691894" y="5528746"/>
            <a:ext cx="7026512" cy="30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Benutzerkreis</a:t>
            </a:r>
            <a:r>
              <a:rPr sz="1900" b="1" spc="3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einen gesicherten</a:t>
            </a:r>
            <a:r>
              <a:rPr sz="1900" b="1" spc="3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Zugang </a:t>
            </a:r>
            <a:r>
              <a:rPr sz="1900" b="1" spc="-23" dirty="0">
                <a:solidFill>
                  <a:srgbClr val="000000"/>
                </a:solidFill>
                <a:latin typeface="Arial"/>
                <a:cs typeface="Arial"/>
              </a:rPr>
              <a:t>von</a:t>
            </a:r>
            <a:r>
              <a:rPr sz="1900" b="1" spc="6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außerhalb</a:t>
            </a:r>
            <a:r>
              <a:rPr sz="1900" b="1" spc="1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hat.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7663241" cy="1288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23" dirty="0">
                <a:solidFill>
                  <a:srgbClr val="000000"/>
                </a:solidFill>
                <a:latin typeface="Arial"/>
                <a:cs typeface="Arial"/>
              </a:rPr>
              <a:t>Topologien</a:t>
            </a:r>
            <a:r>
              <a:rPr sz="2800" b="1" spc="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bezeichnen</a:t>
            </a:r>
            <a:r>
              <a:rPr sz="2800" b="1" spc="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spc="-15" dirty="0">
                <a:solidFill>
                  <a:srgbClr val="000000"/>
                </a:solidFill>
                <a:latin typeface="Arial"/>
                <a:cs typeface="Arial"/>
              </a:rPr>
              <a:t>Verkehrswege</a:t>
            </a:r>
            <a:r>
              <a:rPr sz="2800" b="1" spc="3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und</a:t>
            </a:r>
          </a:p>
          <a:p>
            <a:pPr marL="342900" marR="0">
              <a:lnSpc>
                <a:spcPts val="3123"/>
              </a:lnSpc>
              <a:spcBef>
                <a:spcPts val="285"/>
              </a:spcBef>
              <a:spcAft>
                <a:spcPts val="0"/>
              </a:spcAft>
            </a:pPr>
            <a:r>
              <a:rPr sz="2800" b="1" spc="-13" dirty="0">
                <a:solidFill>
                  <a:srgbClr val="000000"/>
                </a:solidFill>
                <a:latin typeface="Arial"/>
                <a:cs typeface="Arial"/>
              </a:rPr>
              <a:t>Verkehrsregeln</a:t>
            </a:r>
            <a:r>
              <a:rPr sz="2800" b="1" spc="1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bei der</a:t>
            </a:r>
            <a:r>
              <a:rPr sz="2800" b="1" spc="-9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Abwicklung</a:t>
            </a:r>
            <a:r>
              <a:rPr sz="2800" b="1" spc="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von</a:t>
            </a:r>
          </a:p>
          <a:p>
            <a:pPr marL="342900" marR="0">
              <a:lnSpc>
                <a:spcPts val="3123"/>
              </a:lnSpc>
              <a:spcBef>
                <a:spcPts val="236"/>
              </a:spcBef>
              <a:spcAft>
                <a:spcPts val="0"/>
              </a:spcAft>
            </a:pP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Datenverkehr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39" y="3036530"/>
            <a:ext cx="4832506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Physikalische</a:t>
            </a:r>
            <a:r>
              <a:rPr sz="2800" b="1" spc="3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spc="-23" dirty="0">
                <a:solidFill>
                  <a:srgbClr val="000000"/>
                </a:solidFill>
                <a:latin typeface="Arial"/>
                <a:cs typeface="Arial"/>
              </a:rPr>
              <a:t>Topologien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3555896"/>
            <a:ext cx="1159390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0000"/>
                </a:solidFill>
                <a:latin typeface="Arial"/>
                <a:cs typeface="Arial"/>
              </a:rPr>
              <a:t>Bus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4104917"/>
            <a:ext cx="1412635" cy="10123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0000"/>
                </a:solidFill>
                <a:latin typeface="Arial"/>
                <a:cs typeface="Arial"/>
              </a:rPr>
              <a:t>Stern</a:t>
            </a:r>
          </a:p>
          <a:p>
            <a:pPr marL="0" marR="0">
              <a:lnSpc>
                <a:spcPts val="3351"/>
              </a:lnSpc>
              <a:spcBef>
                <a:spcPts val="918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b="1" dirty="0">
                <a:solidFill>
                  <a:srgbClr val="000000"/>
                </a:solidFill>
                <a:latin typeface="Arial"/>
                <a:cs typeface="Arial"/>
              </a:rPr>
              <a:t>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1165277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Bus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67679"/>
            <a:ext cx="6277307" cy="817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Alle</a:t>
            </a:r>
            <a:r>
              <a:rPr sz="2400" b="1" spc="-1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Geräte</a:t>
            </a:r>
            <a:r>
              <a:rPr sz="24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nutzen</a:t>
            </a:r>
            <a:r>
              <a:rPr sz="2400" b="1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dasselbe</a:t>
            </a:r>
            <a:r>
              <a:rPr sz="2400" b="1" spc="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Kabel (Bus)</a:t>
            </a:r>
          </a:p>
          <a:p>
            <a:pPr marL="0" marR="0">
              <a:lnSpc>
                <a:spcPts val="2681"/>
              </a:lnSpc>
              <a:spcBef>
                <a:spcPts val="724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Shared medium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3045481"/>
            <a:ext cx="3090878" cy="378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Passive </a:t>
            </a:r>
            <a:r>
              <a:rPr sz="2400" b="1" spc="-20" dirty="0">
                <a:solidFill>
                  <a:srgbClr val="000000"/>
                </a:solidFill>
                <a:latin typeface="Arial"/>
                <a:cs typeface="Arial"/>
              </a:rPr>
              <a:t>Topologie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484669"/>
            <a:ext cx="2538628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Diffusionsnetz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3923581"/>
            <a:ext cx="2825701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Signaldämpfung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4362598"/>
            <a:ext cx="6712166" cy="378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b="1" spc="-15" dirty="0">
                <a:solidFill>
                  <a:srgbClr val="000000"/>
                </a:solidFill>
                <a:latin typeface="Arial"/>
                <a:cs typeface="Arial"/>
              </a:rPr>
              <a:t>Terminierung</a:t>
            </a:r>
            <a:r>
              <a:rPr sz="2400" b="1" spc="-1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der Bus-Enden</a:t>
            </a:r>
            <a:r>
              <a:rPr sz="2400" b="1" spc="1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über spezielle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92605" y="4728634"/>
            <a:ext cx="3473547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>
                <a:solidFill>
                  <a:srgbClr val="000000"/>
                </a:solidFill>
                <a:latin typeface="Arial"/>
                <a:cs typeface="Arial"/>
              </a:rPr>
              <a:t>Abschlusswiderstände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220072" y="4077072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3922"/>
            <a:ext cx="3604344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spc="-17" dirty="0">
                <a:solidFill>
                  <a:srgbClr val="000000"/>
                </a:solidFill>
                <a:latin typeface="ATFDDV+Arial"/>
                <a:cs typeface="ATFDDV+Arial"/>
              </a:rPr>
              <a:t>Vorteile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 der </a:t>
            </a:r>
            <a:r>
              <a:rPr sz="2100" spc="-18" dirty="0">
                <a:solidFill>
                  <a:srgbClr val="000000"/>
                </a:solidFill>
                <a:latin typeface="ATFDDV+Arial"/>
                <a:cs typeface="ATFDDV+Arial"/>
              </a:rPr>
              <a:t>Bus-Topologie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52449"/>
            <a:ext cx="4114142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Wenig Kabel, niedrige</a:t>
            </a:r>
            <a:r>
              <a:rPr sz="22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Kosten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39" y="2454785"/>
            <a:ext cx="6656924" cy="7344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504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Ausfall</a:t>
            </a:r>
            <a:r>
              <a:rPr sz="22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einer Station führt</a:t>
            </a:r>
            <a:r>
              <a:rPr sz="22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zu keinen Störungen</a:t>
            </a:r>
          </a:p>
          <a:p>
            <a:pPr marL="0" marR="0">
              <a:lnSpc>
                <a:spcPts val="2346"/>
              </a:lnSpc>
              <a:spcBef>
                <a:spcPts val="683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Nachteile</a:t>
            </a:r>
            <a:r>
              <a:rPr sz="2100" spc="-3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der </a:t>
            </a:r>
            <a:r>
              <a:rPr sz="2100" spc="-18" dirty="0">
                <a:solidFill>
                  <a:srgbClr val="000000"/>
                </a:solidFill>
                <a:latin typeface="ATFDDV+Arial"/>
                <a:cs typeface="ATFDDV+Arial"/>
              </a:rPr>
              <a:t>Bus-Topologie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241423"/>
            <a:ext cx="6587636" cy="75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Daten werden</a:t>
            </a:r>
            <a:r>
              <a:rPr sz="22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über ein</a:t>
            </a:r>
            <a:r>
              <a:rPr sz="22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einziges Kabel übertragen</a:t>
            </a:r>
          </a:p>
          <a:p>
            <a:pPr marL="0" marR="0">
              <a:lnSpc>
                <a:spcPts val="2453"/>
              </a:lnSpc>
              <a:spcBef>
                <a:spcPts val="664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Es kann immer</a:t>
            </a:r>
            <a:r>
              <a:rPr sz="2200" spc="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nur</a:t>
            </a:r>
            <a:r>
              <a:rPr sz="22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eine Station Daten</a:t>
            </a:r>
            <a:r>
              <a:rPr sz="2200" spc="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senden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4046095"/>
            <a:ext cx="6962984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Störung des Übertragungsmediums</a:t>
            </a:r>
            <a:r>
              <a:rPr sz="2200" spc="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(defektes Kabel)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2605" y="4381756"/>
            <a:ext cx="4469412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blockiert</a:t>
            </a:r>
            <a:r>
              <a:rPr sz="22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den</a:t>
            </a:r>
            <a:r>
              <a:rPr sz="2200" spc="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gesamten</a:t>
            </a:r>
            <a:r>
              <a:rPr sz="2200" spc="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Netzstrang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6144" y="4784092"/>
            <a:ext cx="6712536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Unverschlüsselter</a:t>
            </a:r>
            <a:r>
              <a:rPr sz="22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Netzverkehr</a:t>
            </a:r>
            <a:r>
              <a:rPr sz="22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kann direkt am</a:t>
            </a:r>
            <a:r>
              <a:rPr sz="22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Bus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292605" y="5119372"/>
            <a:ext cx="2495414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mitgelesen werden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1107648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Bus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90138"/>
            <a:ext cx="2725178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Einsatzgebiet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3" y="2743235"/>
            <a:ext cx="6777901" cy="477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5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1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spc="-39" dirty="0">
                <a:solidFill>
                  <a:srgbClr val="000000"/>
                </a:solidFill>
                <a:latin typeface="ATFDDV+Arial"/>
                <a:cs typeface="ATFDDV+Arial"/>
              </a:rPr>
              <a:t>War</a:t>
            </a:r>
            <a:r>
              <a:rPr sz="3100" spc="3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bei</a:t>
            </a:r>
            <a:r>
              <a:rPr sz="31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kleineren</a:t>
            </a:r>
            <a:r>
              <a:rPr sz="3100" spc="5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lokalen</a:t>
            </a:r>
            <a:r>
              <a:rPr sz="3100" spc="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Netzen</a:t>
            </a:r>
            <a:r>
              <a:rPr sz="3100" spc="3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die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91893" y="3215675"/>
            <a:ext cx="6968444" cy="477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5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am häufigsten</a:t>
            </a:r>
            <a:r>
              <a:rPr sz="3100" spc="4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verwendete </a:t>
            </a:r>
            <a:r>
              <a:rPr sz="3100" spc="-37" dirty="0">
                <a:solidFill>
                  <a:srgbClr val="000000"/>
                </a:solidFill>
                <a:latin typeface="ATFDDV+Arial"/>
                <a:cs typeface="ATFDDV+Arial"/>
              </a:rPr>
              <a:t>Technologie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3" y="3782603"/>
            <a:ext cx="6131368" cy="477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5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1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Wird heute</a:t>
            </a:r>
            <a:r>
              <a:rPr sz="3100" spc="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nicht</a:t>
            </a:r>
            <a:r>
              <a:rPr sz="3100" spc="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mehr</a:t>
            </a:r>
            <a:r>
              <a:rPr sz="31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eingesetzt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3" y="4349636"/>
            <a:ext cx="5823515" cy="4777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61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100" spc="-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Im Bereich</a:t>
            </a:r>
            <a:r>
              <a:rPr sz="31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des</a:t>
            </a:r>
            <a:r>
              <a:rPr sz="31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WLAN ähnliche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91893" y="4822352"/>
            <a:ext cx="4197619" cy="4773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458"/>
              </a:lnSpc>
              <a:spcBef>
                <a:spcPts val="0"/>
              </a:spcBef>
              <a:spcAft>
                <a:spcPts val="0"/>
              </a:spcAft>
            </a:pPr>
            <a:r>
              <a:rPr sz="3100" dirty="0">
                <a:solidFill>
                  <a:srgbClr val="000000"/>
                </a:solidFill>
                <a:latin typeface="ATFDDV+Arial"/>
                <a:cs typeface="ATFDDV+Arial"/>
              </a:rPr>
              <a:t>Übertragungsverfahren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6465"/>
            <a:ext cx="1526882" cy="52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96"/>
              </a:lnSpc>
              <a:spcBef>
                <a:spcPts val="0"/>
              </a:spcBef>
              <a:spcAft>
                <a:spcPts val="0"/>
              </a:spcAft>
            </a:pPr>
            <a:r>
              <a:rPr sz="34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4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  <a:latin typeface="ATFDDV+Arial"/>
                <a:cs typeface="ATFDDV+Arial"/>
              </a:rPr>
              <a:t>Stern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301357"/>
            <a:ext cx="7610239" cy="1815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Jedes Gerät</a:t>
            </a:r>
            <a:r>
              <a:rPr sz="3500" spc="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nutzt ein eigenes</a:t>
            </a:r>
            <a:r>
              <a:rPr sz="3500" spc="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Kabel</a:t>
            </a:r>
          </a:p>
          <a:p>
            <a:pPr marL="0" marR="0">
              <a:lnSpc>
                <a:spcPts val="3917"/>
              </a:lnSpc>
              <a:spcBef>
                <a:spcPts val="1175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Zentraler</a:t>
            </a:r>
            <a:r>
              <a:rPr sz="35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spc="-19" dirty="0">
                <a:solidFill>
                  <a:srgbClr val="000000"/>
                </a:solidFill>
                <a:latin typeface="ATFDDV+Arial"/>
                <a:cs typeface="ATFDDV+Arial"/>
              </a:rPr>
              <a:t>Verteiler</a:t>
            </a:r>
            <a:r>
              <a:rPr sz="35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(Hub, Switches)</a:t>
            </a:r>
          </a:p>
          <a:p>
            <a:pPr marL="0" marR="0">
              <a:lnSpc>
                <a:spcPts val="3914"/>
              </a:lnSpc>
              <a:spcBef>
                <a:spcPts val="1124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Punkt-zu-Punkt </a:t>
            </a:r>
            <a:r>
              <a:rPr sz="3500" spc="-19" dirty="0">
                <a:solidFill>
                  <a:srgbClr val="000000"/>
                </a:solidFill>
                <a:latin typeface="ATFDDV+Arial"/>
                <a:cs typeface="ATFDDV+Arial"/>
              </a:rPr>
              <a:t>Verbindung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364088" y="4221088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1344752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Stern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67679"/>
            <a:ext cx="4198615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ATFDDV+Arial"/>
                <a:cs typeface="ATFDDV+Arial"/>
              </a:rPr>
              <a:t>Vorteile</a:t>
            </a:r>
            <a:r>
              <a:rPr sz="24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der </a:t>
            </a:r>
            <a:r>
              <a:rPr sz="2400" spc="-18" dirty="0">
                <a:solidFill>
                  <a:srgbClr val="000000"/>
                </a:solidFill>
                <a:latin typeface="ATFDDV+Arial"/>
                <a:cs typeface="ATFDDV+Arial"/>
              </a:rPr>
              <a:t>Stern-Topologie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3" y="2589635"/>
            <a:ext cx="6819581" cy="10542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Ausfall</a:t>
            </a:r>
            <a:r>
              <a:rPr sz="20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einer Station</a:t>
            </a:r>
            <a:r>
              <a:rPr sz="20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oder</a:t>
            </a:r>
            <a:r>
              <a:rPr sz="20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Kabels hat</a:t>
            </a:r>
            <a:r>
              <a:rPr sz="20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keine</a:t>
            </a:r>
            <a:r>
              <a:rPr sz="2000" spc="-1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Auswirkungen</a:t>
            </a:r>
          </a:p>
          <a:p>
            <a:pPr marL="0" marR="0">
              <a:lnSpc>
                <a:spcPts val="2241"/>
              </a:lnSpc>
              <a:spcBef>
                <a:spcPts val="69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Aktive</a:t>
            </a:r>
            <a:r>
              <a:rPr sz="2000" spc="-12" dirty="0">
                <a:solidFill>
                  <a:srgbClr val="000000"/>
                </a:solidFill>
                <a:latin typeface="ATFDDV+Arial"/>
                <a:cs typeface="ATFDDV+Arial"/>
              </a:rPr>
              <a:t> Verteiler</a:t>
            </a:r>
            <a:r>
              <a:rPr sz="20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als Signalverstärker</a:t>
            </a:r>
          </a:p>
          <a:p>
            <a:pPr marL="0" marR="0">
              <a:lnSpc>
                <a:spcPts val="2238"/>
              </a:lnSpc>
              <a:spcBef>
                <a:spcPts val="69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Höhere</a:t>
            </a:r>
            <a:r>
              <a:rPr sz="2000" spc="-4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Datendurchsatzraten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3" y="3687169"/>
            <a:ext cx="3220329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Problemlose</a:t>
            </a:r>
            <a:r>
              <a:rPr sz="2000" spc="-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Erweiterung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4069885"/>
            <a:ext cx="4453123" cy="7447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Nachteile</a:t>
            </a:r>
            <a:r>
              <a:rPr sz="2400" spc="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der </a:t>
            </a:r>
            <a:r>
              <a:rPr sz="2400" spc="-19" dirty="0">
                <a:solidFill>
                  <a:srgbClr val="000000"/>
                </a:solidFill>
                <a:latin typeface="ATFDDV+Arial"/>
                <a:cs typeface="ATFDDV+Arial"/>
              </a:rPr>
              <a:t>Stern-Topologie</a:t>
            </a:r>
          </a:p>
          <a:p>
            <a:pPr marL="457149" marR="0">
              <a:lnSpc>
                <a:spcPts val="2238"/>
              </a:lnSpc>
              <a:spcBef>
                <a:spcPts val="694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Große</a:t>
            </a:r>
            <a:r>
              <a:rPr sz="2000" spc="-4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Kabelmengen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3" y="4857982"/>
            <a:ext cx="3614014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Ausfall</a:t>
            </a:r>
            <a:r>
              <a:rPr sz="20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spc="-22" dirty="0">
                <a:solidFill>
                  <a:srgbClr val="000000"/>
                </a:solidFill>
                <a:latin typeface="ATFDDV+Arial"/>
                <a:cs typeface="ATFDDV+Arial"/>
              </a:rPr>
              <a:t>Verteiler,</a:t>
            </a:r>
            <a:r>
              <a:rPr sz="2000" spc="-1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Ausfall Netz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6465"/>
            <a:ext cx="1526882" cy="5202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96"/>
              </a:lnSpc>
              <a:spcBef>
                <a:spcPts val="0"/>
              </a:spcBef>
              <a:spcAft>
                <a:spcPts val="0"/>
              </a:spcAft>
            </a:pPr>
            <a:r>
              <a:rPr sz="34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4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  <a:latin typeface="ATFDDV+Arial"/>
                <a:cs typeface="ATFDDV+Arial"/>
              </a:rPr>
              <a:t>Stern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301357"/>
            <a:ext cx="3108390" cy="535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Einsatzgebiet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3" y="2941414"/>
            <a:ext cx="3235380" cy="5355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7"/>
              </a:lnSpc>
              <a:spcBef>
                <a:spcPts val="0"/>
              </a:spcBef>
              <a:spcAft>
                <a:spcPts val="0"/>
              </a:spcAft>
            </a:pPr>
            <a:r>
              <a:rPr sz="35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500" spc="-3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00" spc="-15" dirty="0">
                <a:solidFill>
                  <a:srgbClr val="000000"/>
                </a:solidFill>
                <a:latin typeface="ATFDDV+Arial"/>
                <a:cs typeface="ATFDDV+Arial"/>
              </a:rPr>
              <a:t>Weit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verbreitet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3" y="3581770"/>
            <a:ext cx="6637737" cy="16024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5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500" spc="-3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Wird</a:t>
            </a:r>
            <a:r>
              <a:rPr sz="35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heute</a:t>
            </a:r>
            <a:r>
              <a:rPr sz="3500" spc="3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überwiegend</a:t>
            </a:r>
            <a:r>
              <a:rPr sz="35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bei</a:t>
            </a:r>
          </a:p>
          <a:p>
            <a:pPr marL="228600" marR="0">
              <a:lnSpc>
                <a:spcPts val="3917"/>
              </a:lnSpc>
              <a:spcBef>
                <a:spcPts val="286"/>
              </a:spcBef>
              <a:spcAft>
                <a:spcPts val="0"/>
              </a:spcAft>
            </a:pP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Neuinstallation auf Stockwerks-</a:t>
            </a:r>
          </a:p>
          <a:p>
            <a:pPr marL="228600" marR="0">
              <a:lnSpc>
                <a:spcPts val="3914"/>
              </a:lnSpc>
              <a:spcBef>
                <a:spcPts val="284"/>
              </a:spcBef>
              <a:spcAft>
                <a:spcPts val="0"/>
              </a:spcAft>
            </a:pP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oder Gebäudeebene</a:t>
            </a:r>
            <a:r>
              <a:rPr sz="3500" spc="4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verwendet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3922"/>
            <a:ext cx="1042967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Ring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52449"/>
            <a:ext cx="6089813" cy="75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Jedes Gerät</a:t>
            </a:r>
            <a:r>
              <a:rPr sz="22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ist</a:t>
            </a:r>
            <a:r>
              <a:rPr sz="22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mit</a:t>
            </a:r>
            <a:r>
              <a:rPr sz="22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zwei Nachbarn</a:t>
            </a:r>
            <a:r>
              <a:rPr sz="22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verbunden</a:t>
            </a:r>
          </a:p>
          <a:p>
            <a:pPr marL="0" marR="0">
              <a:lnSpc>
                <a:spcPts val="2453"/>
              </a:lnSpc>
              <a:spcBef>
                <a:spcPts val="664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Kein Kabelanfang und kein Kabelende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2857375"/>
            <a:ext cx="6031246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Stationen</a:t>
            </a:r>
            <a:r>
              <a:rPr sz="22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verarbeiten</a:t>
            </a:r>
            <a:r>
              <a:rPr sz="2200" spc="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und verstärken</a:t>
            </a:r>
            <a:r>
              <a:rPr sz="2200" spc="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Signale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259711"/>
            <a:ext cx="7550689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Punkt-zu-Punkt</a:t>
            </a:r>
            <a:r>
              <a:rPr sz="22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spc="-14" dirty="0">
                <a:solidFill>
                  <a:srgbClr val="000000"/>
                </a:solidFill>
                <a:latin typeface="ATFDDV+Arial"/>
                <a:cs typeface="ATFDDV+Arial"/>
              </a:rPr>
              <a:t>Verbindung</a:t>
            </a:r>
            <a:r>
              <a:rPr sz="2200" spc="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zwischen den nebeneinander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2605" y="3594991"/>
            <a:ext cx="2651315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liegenden</a:t>
            </a:r>
            <a:r>
              <a:rPr sz="22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Rechnern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3997327"/>
            <a:ext cx="5361906" cy="7523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Datenverkehr</a:t>
            </a:r>
            <a:r>
              <a:rPr sz="2200" spc="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fließt nur in eine Richtung</a:t>
            </a:r>
          </a:p>
          <a:p>
            <a:pPr marL="0" marR="0">
              <a:lnSpc>
                <a:spcPts val="2453"/>
              </a:lnSpc>
              <a:spcBef>
                <a:spcPts val="667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Hoher</a:t>
            </a:r>
            <a:r>
              <a:rPr sz="2200" spc="-1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Aufwand</a:t>
            </a:r>
            <a:r>
              <a:rPr sz="22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bei Kabelaufbau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6144" y="4802380"/>
            <a:ext cx="6707280" cy="75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Als</a:t>
            </a:r>
            <a:r>
              <a:rPr sz="22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physikalische</a:t>
            </a:r>
            <a:r>
              <a:rPr sz="2200" spc="-4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spc="-27" dirty="0">
                <a:solidFill>
                  <a:srgbClr val="000000"/>
                </a:solidFill>
                <a:latin typeface="ATFDDV+Arial"/>
                <a:cs typeface="ATFDDV+Arial"/>
              </a:rPr>
              <a:t>Topologie</a:t>
            </a:r>
            <a:r>
              <a:rPr sz="2200" spc="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eher selten</a:t>
            </a:r>
          </a:p>
          <a:p>
            <a:pPr marL="0" marR="0">
              <a:lnSpc>
                <a:spcPts val="2453"/>
              </a:lnSpc>
              <a:spcBef>
                <a:spcPts val="664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Als</a:t>
            </a:r>
            <a:r>
              <a:rPr sz="22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spc="-14" dirty="0">
                <a:solidFill>
                  <a:srgbClr val="000000"/>
                </a:solidFill>
                <a:latin typeface="ATFDDV+Arial"/>
                <a:cs typeface="ATFDDV+Arial"/>
              </a:rPr>
              <a:t>logischeTopologie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 im Stern öfters</a:t>
            </a:r>
            <a:r>
              <a:rPr sz="22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vorkommend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860032" y="4365104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2531067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Mischformen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67679"/>
            <a:ext cx="7655657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Kombination</a:t>
            </a:r>
            <a:r>
              <a:rPr sz="2400" spc="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aus Bus, Stern und</a:t>
            </a:r>
            <a:r>
              <a:rPr sz="2400" spc="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Ring</a:t>
            </a:r>
            <a:r>
              <a:rPr sz="24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über</a:t>
            </a:r>
            <a:r>
              <a:rPr sz="24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Backbone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2606591"/>
            <a:ext cx="2726841" cy="12566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Stern-Bus-Netz</a:t>
            </a:r>
          </a:p>
          <a:p>
            <a:pPr marL="0" marR="0">
              <a:lnSpc>
                <a:spcPts val="2683"/>
              </a:lnSpc>
              <a:spcBef>
                <a:spcPts val="724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Stern-Stern-Netz</a:t>
            </a:r>
          </a:p>
          <a:p>
            <a:pPr marL="0" marR="0">
              <a:lnSpc>
                <a:spcPts val="2681"/>
              </a:lnSpc>
              <a:spcBef>
                <a:spcPts val="774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Baum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923581"/>
            <a:ext cx="2250592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Maschennetz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65321" y="603251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724128" y="4653136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292080" y="4509120"/>
            <a:ext cx="241473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spc="-38" dirty="0">
                <a:solidFill>
                  <a:srgbClr val="C00000"/>
                </a:solidFill>
                <a:latin typeface="ATFDDV+Arial"/>
                <a:cs typeface="ATFDDV+Arial"/>
              </a:rPr>
              <a:t>Topologien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7755211" cy="12885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21" dirty="0">
                <a:solidFill>
                  <a:srgbClr val="000000"/>
                </a:solidFill>
                <a:latin typeface="ATFDDV+Arial"/>
                <a:cs typeface="ATFDDV+Arial"/>
              </a:rPr>
              <a:t>Kupfer,</a:t>
            </a:r>
            <a:r>
              <a:rPr sz="2800" spc="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Glasfaser und</a:t>
            </a:r>
            <a:r>
              <a:rPr sz="2800" spc="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drahtlose Übertragung</a:t>
            </a:r>
          </a:p>
          <a:p>
            <a:pPr marL="342900" marR="0">
              <a:lnSpc>
                <a:spcPts val="3123"/>
              </a:lnSpc>
              <a:spcBef>
                <a:spcPts val="285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stellen </a:t>
            </a:r>
            <a:r>
              <a:rPr sz="2800" spc="-15" dirty="0">
                <a:solidFill>
                  <a:srgbClr val="000000"/>
                </a:solidFill>
                <a:latin typeface="ATFDDV+Arial"/>
                <a:cs typeface="ATFDDV+Arial"/>
              </a:rPr>
              <a:t>Verkehrswege</a:t>
            </a:r>
            <a:r>
              <a:rPr sz="2800" spc="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für</a:t>
            </a:r>
            <a:r>
              <a:rPr sz="2800" spc="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Datenübertragungen</a:t>
            </a:r>
          </a:p>
          <a:p>
            <a:pPr marL="342900" marR="0">
              <a:lnSpc>
                <a:spcPts val="3123"/>
              </a:lnSpc>
              <a:spcBef>
                <a:spcPts val="236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zur </a:t>
            </a:r>
            <a:r>
              <a:rPr sz="2800" spc="-17" dirty="0">
                <a:solidFill>
                  <a:srgbClr val="000000"/>
                </a:solidFill>
                <a:latin typeface="ATFDDV+Arial"/>
                <a:cs typeface="ATFDDV+Arial"/>
              </a:rPr>
              <a:t>Verfügung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39" y="3036530"/>
            <a:ext cx="3166109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Maßeinheiten</a:t>
            </a:r>
            <a:r>
              <a:rPr sz="2800" spc="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für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91539" y="3463526"/>
            <a:ext cx="5769205" cy="13146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Übertragungsgeschwindigkeiten</a:t>
            </a:r>
          </a:p>
          <a:p>
            <a:pPr marL="114604" marR="0">
              <a:lnSpc>
                <a:spcPts val="2681"/>
              </a:lnSpc>
              <a:spcBef>
                <a:spcPts val="786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Bps (Bit pro Sekunde,</a:t>
            </a:r>
            <a:r>
              <a:rPr sz="2400" spc="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bits per second)</a:t>
            </a:r>
          </a:p>
          <a:p>
            <a:pPr marL="114604" marR="0">
              <a:lnSpc>
                <a:spcPts val="2683"/>
              </a:lnSpc>
              <a:spcBef>
                <a:spcPts val="775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1Mbps = 1.000 Kbps</a:t>
            </a:r>
            <a:r>
              <a:rPr sz="2400" spc="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= 1.000.000</a:t>
            </a:r>
            <a:r>
              <a:rPr sz="24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bps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6465"/>
            <a:ext cx="5789332" cy="180054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796"/>
              </a:lnSpc>
              <a:spcBef>
                <a:spcPts val="0"/>
              </a:spcBef>
              <a:spcAft>
                <a:spcPts val="0"/>
              </a:spcAft>
            </a:pPr>
            <a:r>
              <a:rPr sz="34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34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400" dirty="0">
                <a:solidFill>
                  <a:srgbClr val="000000"/>
                </a:solidFill>
                <a:latin typeface="ATFDDV+Arial"/>
                <a:cs typeface="ATFDDV+Arial"/>
              </a:rPr>
              <a:t>Übertragungseigenschaften</a:t>
            </a:r>
          </a:p>
          <a:p>
            <a:pPr marL="457504" marR="0">
              <a:lnSpc>
                <a:spcPts val="3914"/>
              </a:lnSpc>
              <a:spcBef>
                <a:spcPts val="1123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Nebensprechdämpfung</a:t>
            </a:r>
          </a:p>
          <a:p>
            <a:pPr marL="457504" marR="0">
              <a:lnSpc>
                <a:spcPts val="3917"/>
              </a:lnSpc>
              <a:spcBef>
                <a:spcPts val="1175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Signaldämpfung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3581770"/>
            <a:ext cx="4194653" cy="5352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914"/>
              </a:lnSpc>
              <a:spcBef>
                <a:spcPts val="0"/>
              </a:spcBef>
              <a:spcAft>
                <a:spcPts val="0"/>
              </a:spcAft>
            </a:pPr>
            <a:r>
              <a:rPr sz="3500" spc="309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500" dirty="0">
                <a:solidFill>
                  <a:srgbClr val="000000"/>
                </a:solidFill>
                <a:latin typeface="ATFDDV+Arial"/>
                <a:cs typeface="ATFDDV+Arial"/>
              </a:rPr>
              <a:t>Störempfindlichkeit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2668847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Koaxialkabel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90138"/>
            <a:ext cx="6973395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BNC-Kabel (Bayonet</a:t>
            </a:r>
            <a:r>
              <a:rPr sz="3000" spc="-5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Neill</a:t>
            </a:r>
            <a:r>
              <a:rPr sz="30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Concelman)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2738778"/>
            <a:ext cx="6781807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Relativ</a:t>
            </a:r>
            <a:r>
              <a:rPr sz="3000" spc="-4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günstig</a:t>
            </a:r>
            <a:r>
              <a:rPr sz="3000" spc="-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und wenig</a:t>
            </a:r>
            <a:r>
              <a:rPr sz="30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Störanfällig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287672"/>
            <a:ext cx="7601718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Spielen</a:t>
            </a:r>
            <a:r>
              <a:rPr sz="3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bei</a:t>
            </a:r>
            <a:r>
              <a:rPr sz="30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Neuverkabelungen</a:t>
            </a:r>
            <a:r>
              <a:rPr sz="3000" spc="-3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keine</a:t>
            </a:r>
            <a:r>
              <a:rPr sz="30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Rolle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2606" y="3744872"/>
            <a:ext cx="1020440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mehr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4293617"/>
            <a:ext cx="5264331" cy="4640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4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Einsatz</a:t>
            </a:r>
            <a:r>
              <a:rPr sz="30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in</a:t>
            </a:r>
            <a:r>
              <a:rPr sz="3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der</a:t>
            </a:r>
            <a:r>
              <a:rPr sz="3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spc="-25" dirty="0">
                <a:solidFill>
                  <a:srgbClr val="000000"/>
                </a:solidFill>
                <a:latin typeface="ATFDDV+Arial"/>
                <a:cs typeface="ATFDDV+Arial"/>
              </a:rPr>
              <a:t>Bus-Topologie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006144" y="4842533"/>
            <a:ext cx="5999937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Datenübertragung</a:t>
            </a:r>
            <a:r>
              <a:rPr sz="30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max.</a:t>
            </a:r>
            <a:r>
              <a:rPr sz="30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10 Mbps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3447312"/>
            <a:ext cx="3052875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1. Seele oder Innenleiter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48639" y="3787154"/>
            <a:ext cx="8126999" cy="720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2. Isolation</a:t>
            </a:r>
            <a:r>
              <a:rPr sz="21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oder Dielektrikum</a:t>
            </a:r>
            <a:r>
              <a:rPr sz="21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zwischen</a:t>
            </a:r>
            <a:r>
              <a:rPr sz="21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Innenleiter</a:t>
            </a:r>
            <a:r>
              <a:rPr sz="21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und Kabelschirm</a:t>
            </a:r>
          </a:p>
          <a:p>
            <a:pPr marL="0" marR="0">
              <a:lnSpc>
                <a:spcPts val="2346"/>
              </a:lnSpc>
              <a:spcBef>
                <a:spcPts val="727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3.</a:t>
            </a:r>
            <a:r>
              <a:rPr sz="2100" spc="-1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Außenleiter und</a:t>
            </a:r>
            <a:r>
              <a:rPr sz="2100" spc="-1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Abschirmung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39" y="4534695"/>
            <a:ext cx="2064950" cy="3360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6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000000"/>
                </a:solidFill>
                <a:latin typeface="ATFDDV+Arial"/>
                <a:cs typeface="ATFDDV+Arial"/>
              </a:rPr>
              <a:t>4. Schutzmantel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2992"/>
            <a:ext cx="2423553" cy="30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15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Koaxialvarianten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13563"/>
            <a:ext cx="4165914" cy="688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64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Thicknet</a:t>
            </a:r>
            <a:r>
              <a:rPr sz="2000" spc="-4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(10Base5)</a:t>
            </a:r>
            <a:r>
              <a:rPr sz="2000" spc="-7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spc="-29" dirty="0">
                <a:solidFill>
                  <a:srgbClr val="000000"/>
                </a:solidFill>
                <a:latin typeface="ATFDDV+Arial"/>
                <a:cs typeface="ATFDDV+Arial"/>
              </a:rPr>
              <a:t>Yellow</a:t>
            </a:r>
            <a:r>
              <a:rPr sz="2000" spc="3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Cable</a:t>
            </a:r>
          </a:p>
          <a:p>
            <a:pPr marL="457149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Mantelfarbe</a:t>
            </a:r>
            <a:r>
              <a:rPr sz="2000" spc="-4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gelb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2745083"/>
            <a:ext cx="5503267" cy="6885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Kennzeichnungen</a:t>
            </a:r>
            <a:r>
              <a:rPr sz="2000" spc="-6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im</a:t>
            </a:r>
            <a:r>
              <a:rPr sz="2000" spc="-1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Abstand</a:t>
            </a:r>
            <a:r>
              <a:rPr sz="20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von 2,5</a:t>
            </a:r>
            <a:r>
              <a:rPr sz="20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Metern</a:t>
            </a:r>
          </a:p>
          <a:p>
            <a:pPr marL="0" marR="0">
              <a:lnSpc>
                <a:spcPts val="2241"/>
              </a:lnSpc>
              <a:spcBef>
                <a:spcPts val="69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Durchmesser</a:t>
            </a:r>
            <a:r>
              <a:rPr sz="2000" spc="-6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ca.</a:t>
            </a:r>
            <a:r>
              <a:rPr sz="20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1 cm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4" y="3476857"/>
            <a:ext cx="3541991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Relativ</a:t>
            </a:r>
            <a:r>
              <a:rPr sz="2000" spc="-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starr</a:t>
            </a:r>
            <a:r>
              <a:rPr sz="2000" spc="-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unbiegsam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4" y="3842617"/>
            <a:ext cx="5939457" cy="688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Geeignet</a:t>
            </a:r>
            <a:r>
              <a:rPr sz="2000" spc="-4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für</a:t>
            </a:r>
            <a:r>
              <a:rPr sz="20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Kabellängen</a:t>
            </a:r>
            <a:r>
              <a:rPr sz="20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bis ungefähr</a:t>
            </a:r>
            <a:r>
              <a:rPr sz="2000" spc="-3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500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Meter</a:t>
            </a:r>
          </a:p>
          <a:p>
            <a:pPr marL="0" marR="0">
              <a:lnSpc>
                <a:spcPts val="2241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Anbindung</a:t>
            </a:r>
            <a:r>
              <a:rPr sz="20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einer</a:t>
            </a:r>
            <a:r>
              <a:rPr sz="20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Station über</a:t>
            </a:r>
            <a:r>
              <a:rPr sz="2000" spc="-5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Transceiver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4" y="4574518"/>
            <a:ext cx="6925419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ATFDDV+Arial"/>
                <a:cs typeface="ATFDDV+Arial"/>
              </a:rPr>
              <a:t>Verbindung</a:t>
            </a:r>
            <a:r>
              <a:rPr sz="20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vom</a:t>
            </a:r>
            <a:r>
              <a:rPr sz="2000" spc="-5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Transceiver</a:t>
            </a:r>
            <a:r>
              <a:rPr sz="20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zur</a:t>
            </a:r>
            <a:r>
              <a:rPr sz="20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Netzwerkkarte</a:t>
            </a:r>
            <a:r>
              <a:rPr sz="2000" spc="-7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über</a:t>
            </a:r>
            <a:r>
              <a:rPr sz="2000" spc="-1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AUI</a:t>
            </a:r>
            <a:r>
              <a:rPr sz="2000" spc="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-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91894" y="4879318"/>
            <a:ext cx="6219307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Kabel</a:t>
            </a:r>
            <a:r>
              <a:rPr sz="2000" spc="-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(Attachment</a:t>
            </a:r>
            <a:r>
              <a:rPr sz="2000" spc="-4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Unit</a:t>
            </a:r>
            <a:r>
              <a:rPr sz="20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Interface)</a:t>
            </a:r>
            <a:r>
              <a:rPr sz="2000" spc="-4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über</a:t>
            </a:r>
            <a:r>
              <a:rPr sz="20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DB-15-Stecker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3922"/>
            <a:ext cx="2627824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000000"/>
                </a:solidFill>
                <a:latin typeface="Arial"/>
                <a:cs typeface="Arial"/>
              </a:rPr>
              <a:t>Koaxialvarianten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52449"/>
            <a:ext cx="4579417" cy="7163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Thinnet</a:t>
            </a:r>
            <a:r>
              <a:rPr sz="2200" b="1" spc="2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(10Base2)</a:t>
            </a:r>
            <a:r>
              <a:rPr sz="2200" b="1" spc="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000000"/>
                </a:solidFill>
                <a:latin typeface="Arial"/>
                <a:cs typeface="Arial"/>
              </a:rPr>
              <a:t>Cheapernet</a:t>
            </a:r>
          </a:p>
          <a:p>
            <a:pPr marL="457149" marR="0">
              <a:lnSpc>
                <a:spcPts val="2238"/>
              </a:lnSpc>
              <a:spcBef>
                <a:spcPts val="648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Mantelfarbe</a:t>
            </a:r>
            <a:r>
              <a:rPr sz="2000" b="1" spc="-6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grau oder</a:t>
            </a:r>
            <a:r>
              <a:rPr sz="2000" b="1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schwarz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2812139"/>
            <a:ext cx="3682009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Durchmesser</a:t>
            </a:r>
            <a:r>
              <a:rPr sz="2000" b="1" spc="-5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knapp 0,5</a:t>
            </a:r>
            <a:r>
              <a:rPr sz="2000" b="1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cm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4" y="3178153"/>
            <a:ext cx="6003296" cy="68819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Für</a:t>
            </a:r>
            <a:r>
              <a:rPr sz="2000" b="1" spc="-1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Kabellängen</a:t>
            </a:r>
            <a:r>
              <a:rPr sz="2000" b="1" spc="-2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bis zu</a:t>
            </a:r>
            <a:r>
              <a:rPr sz="20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185</a:t>
            </a:r>
            <a:r>
              <a:rPr sz="2000" b="1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Meter</a:t>
            </a:r>
            <a:r>
              <a:rPr sz="2000" b="1" spc="-4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geignet</a:t>
            </a:r>
          </a:p>
          <a:p>
            <a:pPr marL="0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Kabel</a:t>
            </a:r>
            <a:r>
              <a:rPr sz="2000" b="1" spc="-3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ist</a:t>
            </a:r>
            <a:r>
              <a:rPr sz="20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biegsam,</a:t>
            </a:r>
            <a:r>
              <a:rPr sz="2000" b="1" spc="-3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leicht</a:t>
            </a:r>
            <a:r>
              <a:rPr sz="20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zu</a:t>
            </a:r>
            <a:r>
              <a:rPr sz="2000" b="1" spc="-1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verlegen und billig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4" y="3909673"/>
            <a:ext cx="6753583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Verbindungselemente</a:t>
            </a:r>
            <a:r>
              <a:rPr sz="2000" b="1" spc="-4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werden</a:t>
            </a:r>
            <a:r>
              <a:rPr sz="2000" b="1" spc="-6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mit BNC (British</a:t>
            </a:r>
            <a:r>
              <a:rPr sz="2000" b="1" spc="-4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Naval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91894" y="4214579"/>
            <a:ext cx="2892658" cy="322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Connector)</a:t>
            </a:r>
            <a:r>
              <a:rPr sz="2000" b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bezeichnet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4411064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Kupferkabeltypen (Koax)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48665" y="2282888"/>
            <a:ext cx="6543983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b="1" dirty="0">
                <a:solidFill>
                  <a:srgbClr val="000000"/>
                </a:solidFill>
                <a:latin typeface="Arial"/>
                <a:cs typeface="Arial"/>
              </a:rPr>
              <a:t>Kabeltyp</a:t>
            </a:r>
            <a:r>
              <a:rPr sz="2600" b="1" spc="348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0000"/>
                </a:solidFill>
                <a:latin typeface="Arial"/>
                <a:cs typeface="Arial"/>
              </a:rPr>
              <a:t>Impedanz</a:t>
            </a:r>
            <a:r>
              <a:rPr sz="2600" b="1" spc="412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0000"/>
                </a:solidFill>
                <a:latin typeface="Arial"/>
                <a:cs typeface="Arial"/>
              </a:rPr>
              <a:t>Einsatzgebiete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448666" y="2907209"/>
            <a:ext cx="1195955" cy="21757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RG-58/U</a:t>
            </a:r>
          </a:p>
          <a:p>
            <a:pPr marL="0" marR="0">
              <a:lnSpc>
                <a:spcPts val="1903"/>
              </a:lnSpc>
              <a:spcBef>
                <a:spcPts val="3072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RG-58</a:t>
            </a:r>
            <a:r>
              <a:rPr sz="1700" spc="-1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A/U</a:t>
            </a:r>
          </a:p>
          <a:p>
            <a:pPr marL="0" marR="0">
              <a:lnSpc>
                <a:spcPts val="1903"/>
              </a:lnSpc>
              <a:spcBef>
                <a:spcPts val="3073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RG-8</a:t>
            </a:r>
            <a:r>
              <a:rPr sz="1700" spc="-1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A/U</a:t>
            </a:r>
          </a:p>
          <a:p>
            <a:pPr marL="0" marR="0">
              <a:lnSpc>
                <a:spcPts val="1903"/>
              </a:lnSpc>
              <a:spcBef>
                <a:spcPts val="3021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RG-59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377694" y="2907209"/>
            <a:ext cx="855630" cy="9118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53,5</a:t>
            </a:r>
            <a:r>
              <a:rPr sz="1700" spc="47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rial"/>
                <a:cs typeface="Arial"/>
              </a:rPr>
              <a:t>Ω</a:t>
            </a:r>
          </a:p>
          <a:p>
            <a:pPr marL="0" marR="0">
              <a:lnSpc>
                <a:spcPts val="1903"/>
              </a:lnSpc>
              <a:spcBef>
                <a:spcPts val="3072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50 </a:t>
            </a:r>
            <a:r>
              <a:rPr sz="1700" dirty="0">
                <a:solidFill>
                  <a:srgbClr val="000000"/>
                </a:solidFill>
                <a:latin typeface="Arial"/>
                <a:cs typeface="Arial"/>
              </a:rPr>
              <a:t>Ω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521454" y="2907209"/>
            <a:ext cx="4173008" cy="538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Massiver</a:t>
            </a:r>
            <a:r>
              <a:rPr sz="1700" spc="-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Innenleiter,</a:t>
            </a:r>
            <a:r>
              <a:rPr sz="1700" spc="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zum</a:t>
            </a:r>
            <a:r>
              <a:rPr sz="1700" spc="-3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spc="-42" dirty="0">
                <a:solidFill>
                  <a:srgbClr val="000000"/>
                </a:solidFill>
                <a:latin typeface="ATFDDV+Arial"/>
                <a:cs typeface="ATFDDV+Arial"/>
              </a:rPr>
              <a:t>Teil</a:t>
            </a:r>
            <a:r>
              <a:rPr sz="1700" spc="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bei</a:t>
            </a:r>
            <a:r>
              <a:rPr sz="17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Thinnet,</a:t>
            </a:r>
          </a:p>
          <a:p>
            <a:pPr marL="0" marR="0">
              <a:lnSpc>
                <a:spcPts val="1903"/>
              </a:lnSpc>
              <a:spcBef>
                <a:spcPts val="136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10Base2, da Kabel und Verbinder billig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4521454" y="3539161"/>
            <a:ext cx="3481799" cy="539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Litzenförmiger Innenleiter,</a:t>
            </a:r>
            <a:r>
              <a:rPr sz="17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Thinnet,</a:t>
            </a:r>
          </a:p>
          <a:p>
            <a:pPr marL="0" marR="0">
              <a:lnSpc>
                <a:spcPts val="1903"/>
              </a:lnSpc>
              <a:spcBef>
                <a:spcPts val="138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10Base2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377694" y="4171240"/>
            <a:ext cx="614405" cy="279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50 </a:t>
            </a:r>
            <a:r>
              <a:rPr sz="1700" dirty="0">
                <a:solidFill>
                  <a:srgbClr val="000000"/>
                </a:solidFill>
                <a:latin typeface="Arial"/>
                <a:cs typeface="Arial"/>
              </a:rPr>
              <a:t>Ω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521454" y="4171240"/>
            <a:ext cx="1944074" cy="279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Thicknet,</a:t>
            </a:r>
            <a:r>
              <a:rPr sz="1700" spc="-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10Base5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377694" y="4803065"/>
            <a:ext cx="614405" cy="279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75 </a:t>
            </a:r>
            <a:r>
              <a:rPr sz="1700" dirty="0">
                <a:solidFill>
                  <a:srgbClr val="000000"/>
                </a:solidFill>
                <a:latin typeface="Arial"/>
                <a:cs typeface="Arial"/>
              </a:rPr>
              <a:t>Ω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521454" y="4803065"/>
            <a:ext cx="3882439" cy="9120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Breitbandübertragung,</a:t>
            </a:r>
            <a:r>
              <a:rPr sz="1700" spc="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Kabelfernsehen</a:t>
            </a:r>
          </a:p>
          <a:p>
            <a:pPr marL="0" marR="0">
              <a:lnSpc>
                <a:spcPts val="1903"/>
              </a:lnSpc>
              <a:spcBef>
                <a:spcPts val="3074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SNA</a:t>
            </a:r>
            <a:r>
              <a:rPr sz="1700" spc="-1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(IBM</a:t>
            </a:r>
            <a:r>
              <a:rPr sz="1700" spc="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spc="-11" dirty="0">
                <a:solidFill>
                  <a:srgbClr val="000000"/>
                </a:solidFill>
                <a:latin typeface="ATFDDV+Arial"/>
                <a:cs typeface="ATFDDV+Arial"/>
              </a:rPr>
              <a:t>3270-Terminal),</a:t>
            </a:r>
            <a:r>
              <a:rPr sz="1700" spc="-10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ArcNnet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48666" y="5435271"/>
            <a:ext cx="789789" cy="279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RG-62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377694" y="5435271"/>
            <a:ext cx="614405" cy="2798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903"/>
              </a:lnSpc>
              <a:spcBef>
                <a:spcPts val="0"/>
              </a:spcBef>
              <a:spcAft>
                <a:spcPts val="0"/>
              </a:spcAft>
            </a:pPr>
            <a:r>
              <a:rPr sz="1700" dirty="0">
                <a:solidFill>
                  <a:srgbClr val="000000"/>
                </a:solidFill>
                <a:latin typeface="ATFDDV+Arial"/>
                <a:cs typeface="ATFDDV+Arial"/>
              </a:rPr>
              <a:t>93 </a:t>
            </a:r>
            <a:r>
              <a:rPr sz="1700" dirty="0">
                <a:solidFill>
                  <a:srgbClr val="000000"/>
                </a:solidFill>
                <a:latin typeface="Arial"/>
                <a:cs typeface="Arial"/>
              </a:rPr>
              <a:t>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3480337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Twisted-Pair-Kabel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67679"/>
            <a:ext cx="771072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Zwei isolierte</a:t>
            </a:r>
            <a:r>
              <a:rPr sz="2400" spc="-9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Adern,</a:t>
            </a:r>
            <a:r>
              <a:rPr sz="24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die umeinander</a:t>
            </a:r>
            <a:r>
              <a:rPr sz="2400" spc="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gedreht</a:t>
            </a:r>
            <a:r>
              <a:rPr sz="2400" spc="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(twisted,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2606" y="2533439"/>
            <a:ext cx="3778957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geschlungen,</a:t>
            </a:r>
            <a:r>
              <a:rPr sz="24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verdrillt)</a:t>
            </a:r>
            <a:r>
              <a:rPr sz="2400" spc="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sind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2972329"/>
            <a:ext cx="7300105" cy="12567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Unterdrückt Störstrahlen von Innen und von</a:t>
            </a:r>
            <a:r>
              <a:rPr sz="2400" spc="-1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Außen</a:t>
            </a:r>
          </a:p>
          <a:p>
            <a:pPr marL="0" marR="0">
              <a:lnSpc>
                <a:spcPts val="2681"/>
              </a:lnSpc>
              <a:spcBef>
                <a:spcPts val="724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Eng verbunden</a:t>
            </a:r>
            <a:r>
              <a:rPr sz="2400" spc="3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mit</a:t>
            </a:r>
            <a:r>
              <a:rPr sz="24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physikalischer</a:t>
            </a:r>
            <a:r>
              <a:rPr sz="2400" spc="4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spc="-18" dirty="0">
                <a:solidFill>
                  <a:srgbClr val="000000"/>
                </a:solidFill>
                <a:latin typeface="ATFDDV+Arial"/>
                <a:cs typeface="ATFDDV+Arial"/>
              </a:rPr>
              <a:t>Stern-Topologie</a:t>
            </a:r>
          </a:p>
          <a:p>
            <a:pPr marL="0" marR="0">
              <a:lnSpc>
                <a:spcPts val="2681"/>
              </a:lnSpc>
              <a:spcBef>
                <a:spcPts val="774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Standardmedium</a:t>
            </a:r>
            <a:r>
              <a:rPr sz="2400" spc="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in LAN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4289446"/>
            <a:ext cx="7216810" cy="378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Entfernungen bis</a:t>
            </a:r>
            <a:r>
              <a:rPr sz="2400" spc="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zu</a:t>
            </a:r>
            <a:r>
              <a:rPr sz="24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100</a:t>
            </a:r>
            <a:r>
              <a:rPr sz="2400" spc="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Meter und 100 Mbps und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292606" y="4655482"/>
            <a:ext cx="2300937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mehr</a:t>
            </a:r>
            <a:r>
              <a:rPr sz="24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erreichbar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34300"/>
            <a:ext cx="3626854" cy="2934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800" spc="16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rgbClr val="000000"/>
                </a:solidFill>
                <a:latin typeface="Arial"/>
                <a:cs typeface="Arial"/>
              </a:rPr>
              <a:t>Twisted-Pair-Kabel</a:t>
            </a:r>
            <a:r>
              <a:rPr sz="1800" b="1" spc="-2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800" b="1" spc="-13" dirty="0">
                <a:solidFill>
                  <a:srgbClr val="000000"/>
                </a:solidFill>
                <a:latin typeface="Arial"/>
                <a:cs typeface="Arial"/>
              </a:rPr>
              <a:t>Varianten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1939112"/>
            <a:ext cx="3753364" cy="30710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1900" spc="72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Unshielded</a:t>
            </a:r>
            <a:r>
              <a:rPr sz="19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spc="-11" dirty="0">
                <a:solidFill>
                  <a:srgbClr val="000000"/>
                </a:solidFill>
                <a:latin typeface="ATFDDV+Arial"/>
                <a:cs typeface="ATFDDV+Arial"/>
              </a:rPr>
              <a:t>Twisted-Pair</a:t>
            </a:r>
            <a:r>
              <a:rPr sz="1900" spc="5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(UTP)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2257628"/>
            <a:ext cx="7423606" cy="22189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57149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spc="-13" dirty="0">
                <a:solidFill>
                  <a:srgbClr val="000000"/>
                </a:solidFill>
                <a:latin typeface="ATFDDV+Arial"/>
                <a:cs typeface="ATFDDV+Arial"/>
              </a:rPr>
              <a:t>Verdrillte</a:t>
            </a:r>
            <a:r>
              <a:rPr sz="1900" spc="-6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Adernpaare</a:t>
            </a:r>
            <a:r>
              <a:rPr sz="1900" spc="4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besitzen</a:t>
            </a:r>
            <a:r>
              <a:rPr sz="1900" spc="3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keine</a:t>
            </a:r>
            <a:r>
              <a:rPr sz="1900" spc="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extra</a:t>
            </a:r>
            <a:r>
              <a:rPr sz="19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Einzelabschirmung</a:t>
            </a:r>
          </a:p>
          <a:p>
            <a:pPr marL="457149" marR="0">
              <a:lnSpc>
                <a:spcPts val="2118"/>
              </a:lnSpc>
              <a:spcBef>
                <a:spcPts val="389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Anfällig</a:t>
            </a:r>
            <a:r>
              <a:rPr sz="1900" spc="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gegenüber</a:t>
            </a:r>
            <a:r>
              <a:rPr sz="1900" spc="5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elektromagnetischen</a:t>
            </a:r>
            <a:r>
              <a:rPr sz="1900" spc="4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Störfeldern</a:t>
            </a:r>
          </a:p>
          <a:p>
            <a:pPr marL="0" marR="0">
              <a:lnSpc>
                <a:spcPts val="2120"/>
              </a:lnSpc>
              <a:spcBef>
                <a:spcPts val="389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1900" spc="72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Shielded </a:t>
            </a:r>
            <a:r>
              <a:rPr sz="1900" spc="-12" dirty="0">
                <a:solidFill>
                  <a:srgbClr val="000000"/>
                </a:solidFill>
                <a:latin typeface="ATFDDV+Arial"/>
                <a:cs typeface="ATFDDV+Arial"/>
              </a:rPr>
              <a:t>Twisted-Pair</a:t>
            </a:r>
            <a:r>
              <a:rPr sz="1900" spc="6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(STP/FTP)</a:t>
            </a:r>
          </a:p>
          <a:p>
            <a:pPr marL="457149" marR="0">
              <a:lnSpc>
                <a:spcPts val="2118"/>
              </a:lnSpc>
              <a:spcBef>
                <a:spcPts val="389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Jedes</a:t>
            </a:r>
            <a:r>
              <a:rPr sz="1900" spc="-9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Adernpaar</a:t>
            </a:r>
            <a:r>
              <a:rPr sz="1900" spc="4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wird</a:t>
            </a:r>
            <a:r>
              <a:rPr sz="1900" spc="4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einzeln</a:t>
            </a:r>
            <a:r>
              <a:rPr sz="1900" spc="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abgeschirmt</a:t>
            </a:r>
          </a:p>
          <a:p>
            <a:pPr marL="457149" marR="0">
              <a:lnSpc>
                <a:spcPts val="2118"/>
              </a:lnSpc>
              <a:spcBef>
                <a:spcPts val="439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Weniger</a:t>
            </a:r>
            <a:r>
              <a:rPr sz="1900" spc="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anfällig</a:t>
            </a:r>
            <a:r>
              <a:rPr sz="1900" spc="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gegenüber</a:t>
            </a:r>
            <a:r>
              <a:rPr sz="1900" spc="4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elektromagentischen</a:t>
            </a:r>
            <a:r>
              <a:rPr sz="1900" spc="4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Störfeldern</a:t>
            </a:r>
          </a:p>
          <a:p>
            <a:pPr marL="457149" marR="0">
              <a:lnSpc>
                <a:spcPts val="2118"/>
              </a:lnSpc>
              <a:spcBef>
                <a:spcPts val="389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Höhere</a:t>
            </a:r>
            <a:r>
              <a:rPr sz="1900" spc="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Übertragungsraten</a:t>
            </a:r>
            <a:r>
              <a:rPr sz="1900" spc="3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  <a:r>
              <a:rPr sz="1900" spc="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weitere</a:t>
            </a:r>
            <a:r>
              <a:rPr sz="1900" spc="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Strecken</a:t>
            </a:r>
            <a:r>
              <a:rPr sz="19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möglich</a:t>
            </a:r>
          </a:p>
          <a:p>
            <a:pPr marL="0" marR="0">
              <a:lnSpc>
                <a:spcPts val="2120"/>
              </a:lnSpc>
              <a:spcBef>
                <a:spcPts val="39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1900" spc="724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Screened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4" y="4487875"/>
            <a:ext cx="7207937" cy="886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18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Alle</a:t>
            </a:r>
            <a:r>
              <a:rPr sz="1900" spc="-9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Adernpaare</a:t>
            </a:r>
            <a:r>
              <a:rPr sz="1900" spc="5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sind</a:t>
            </a:r>
            <a:r>
              <a:rPr sz="19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durch</a:t>
            </a:r>
            <a:r>
              <a:rPr sz="1900" spc="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einen</a:t>
            </a:r>
            <a:r>
              <a:rPr sz="19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Gesamtmetallschirm</a:t>
            </a:r>
            <a:r>
              <a:rPr sz="1900" spc="5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(Screen)</a:t>
            </a:r>
          </a:p>
          <a:p>
            <a:pPr marL="228600" marR="0">
              <a:lnSpc>
                <a:spcPts val="2051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vor Störstrahlungen</a:t>
            </a:r>
            <a:r>
              <a:rPr sz="1900" spc="5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von</a:t>
            </a:r>
            <a:r>
              <a:rPr sz="1900" spc="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  <a:r>
              <a:rPr sz="1900" spc="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nach</a:t>
            </a:r>
            <a:r>
              <a:rPr sz="19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außen</a:t>
            </a:r>
            <a:r>
              <a:rPr sz="1900" spc="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abgesichert</a:t>
            </a:r>
          </a:p>
          <a:p>
            <a:pPr marL="0" marR="0">
              <a:lnSpc>
                <a:spcPts val="2118"/>
              </a:lnSpc>
              <a:spcBef>
                <a:spcPts val="389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6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Als </a:t>
            </a:r>
            <a:r>
              <a:rPr sz="1900" spc="-16" dirty="0">
                <a:solidFill>
                  <a:srgbClr val="000000"/>
                </a:solidFill>
                <a:latin typeface="ATFDDV+Arial"/>
                <a:cs typeface="ATFDDV+Arial"/>
              </a:rPr>
              <a:t>S-Version</a:t>
            </a:r>
            <a:r>
              <a:rPr sz="1900" spc="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(S/UTP</a:t>
            </a:r>
            <a:r>
              <a:rPr sz="19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spc="-32" dirty="0">
                <a:solidFill>
                  <a:srgbClr val="000000"/>
                </a:solidFill>
                <a:latin typeface="ATFDDV+Arial"/>
                <a:cs typeface="ATFDDV+Arial"/>
              </a:rPr>
              <a:t>bzw.</a:t>
            </a:r>
            <a:r>
              <a:rPr sz="1900" spc="5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S/STP</a:t>
            </a:r>
            <a:r>
              <a:rPr sz="1900" spc="-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spc="-31" dirty="0">
                <a:solidFill>
                  <a:srgbClr val="000000"/>
                </a:solidFill>
                <a:latin typeface="ATFDDV+Arial"/>
                <a:cs typeface="ATFDDV+Arial"/>
              </a:rPr>
              <a:t>bzw.</a:t>
            </a:r>
            <a:r>
              <a:rPr sz="1900" spc="5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) für </a:t>
            </a:r>
            <a:r>
              <a:rPr sz="1900" spc="-62" dirty="0">
                <a:solidFill>
                  <a:srgbClr val="000000"/>
                </a:solidFill>
                <a:latin typeface="ATFDDV+Arial"/>
                <a:cs typeface="ATFDDV+Arial"/>
              </a:rPr>
              <a:t>UTP,</a:t>
            </a:r>
            <a:r>
              <a:rPr sz="1900" spc="6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STP</a:t>
            </a:r>
            <a:r>
              <a:rPr sz="1900" spc="-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  <a:r>
              <a:rPr sz="1900" spc="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FTP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91894" y="5327323"/>
            <a:ext cx="1170939" cy="30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000000"/>
                </a:solidFill>
                <a:latin typeface="ATFDDV+Arial"/>
                <a:cs typeface="ATFDDV+Arial"/>
              </a:rPr>
              <a:t>verfügbar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5626462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b="1" spc="-12" dirty="0">
                <a:solidFill>
                  <a:srgbClr val="000000"/>
                </a:solidFill>
                <a:latin typeface="Arial"/>
                <a:cs typeface="Arial"/>
              </a:rPr>
              <a:t>Twisted-Pair-Kabel</a:t>
            </a:r>
            <a:r>
              <a:rPr sz="2800" b="1" spc="2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000000"/>
                </a:solidFill>
                <a:latin typeface="Arial"/>
                <a:cs typeface="Arial"/>
              </a:rPr>
              <a:t>Kategorien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90138"/>
            <a:ext cx="6090615" cy="9209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Das</a:t>
            </a:r>
            <a:r>
              <a:rPr sz="3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Gremium EIA/TIA</a:t>
            </a:r>
            <a:r>
              <a:rPr sz="3000" spc="-14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(Electronic</a:t>
            </a:r>
          </a:p>
          <a:p>
            <a:pPr marL="286461" marR="0">
              <a:lnSpc>
                <a:spcPts val="3351"/>
              </a:lnSpc>
              <a:spcBef>
                <a:spcPts val="248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Industries</a:t>
            </a:r>
            <a:r>
              <a:rPr sz="3000" spc="-17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Alliance</a:t>
            </a:r>
            <a:r>
              <a:rPr sz="3000" spc="-3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(EIA),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2606" y="3104792"/>
            <a:ext cx="7109522" cy="22929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spc="-19" dirty="0">
                <a:solidFill>
                  <a:srgbClr val="000000"/>
                </a:solidFill>
                <a:latin typeface="ATFDDV+Arial"/>
                <a:cs typeface="ATFDDV+Arial"/>
              </a:rPr>
              <a:t>Telecommunications</a:t>
            </a:r>
            <a:r>
              <a:rPr sz="30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Industry</a:t>
            </a:r>
            <a:r>
              <a:rPr sz="3000" spc="-16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Association</a:t>
            </a:r>
          </a:p>
          <a:p>
            <a:pPr marL="0" marR="0">
              <a:lnSpc>
                <a:spcPts val="3351"/>
              </a:lnSpc>
              <a:spcBef>
                <a:spcPts val="248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(TIA) und</a:t>
            </a:r>
            <a:r>
              <a:rPr sz="30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International</a:t>
            </a:r>
          </a:p>
          <a:p>
            <a:pPr marL="0" marR="0">
              <a:lnSpc>
                <a:spcPts val="3351"/>
              </a:lnSpc>
              <a:spcBef>
                <a:spcPts val="248"/>
              </a:spcBef>
              <a:spcAft>
                <a:spcPts val="0"/>
              </a:spcAft>
            </a:pPr>
            <a:r>
              <a:rPr sz="3000" spc="-19" dirty="0">
                <a:solidFill>
                  <a:srgbClr val="000000"/>
                </a:solidFill>
                <a:latin typeface="ATFDDV+Arial"/>
                <a:cs typeface="ATFDDV+Arial"/>
              </a:rPr>
              <a:t>Telecommunications</a:t>
            </a:r>
            <a:r>
              <a:rPr sz="3000" spc="-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Union</a:t>
            </a:r>
            <a:r>
              <a:rPr sz="3000" spc="-4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(ITU))</a:t>
            </a:r>
            <a:r>
              <a:rPr sz="30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hat </a:t>
            </a:r>
            <a:r>
              <a:rPr lang="de-DE" sz="3000" dirty="0">
                <a:solidFill>
                  <a:srgbClr val="000000"/>
                </a:solidFill>
                <a:latin typeface="ATFDDV+Arial"/>
                <a:cs typeface="ATFDDV+Arial"/>
              </a:rPr>
              <a:t>8</a:t>
            </a:r>
            <a:endParaRPr sz="3000" dirty="0">
              <a:solidFill>
                <a:srgbClr val="000000"/>
              </a:solidFill>
              <a:latin typeface="ATFDDV+Arial"/>
              <a:cs typeface="ATFDDV+Arial"/>
            </a:endParaRPr>
          </a:p>
          <a:p>
            <a:pPr marL="0" marR="0">
              <a:lnSpc>
                <a:spcPts val="3351"/>
              </a:lnSpc>
              <a:spcBef>
                <a:spcPts val="201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Kategorien</a:t>
            </a:r>
            <a:r>
              <a:rPr sz="3000" spc="-4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über Eigenschaften</a:t>
            </a:r>
            <a:r>
              <a:rPr sz="3000" spc="-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der Kabel</a:t>
            </a:r>
          </a:p>
          <a:p>
            <a:pPr marL="0" marR="0">
              <a:lnSpc>
                <a:spcPts val="3351"/>
              </a:lnSpc>
              <a:spcBef>
                <a:spcPts val="248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definiert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5482591"/>
            <a:ext cx="6939965" cy="4360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4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3000" spc="-16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In</a:t>
            </a:r>
            <a:r>
              <a:rPr sz="30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heutigen</a:t>
            </a:r>
            <a:r>
              <a:rPr sz="30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Netzwerken</a:t>
            </a:r>
            <a:r>
              <a:rPr sz="30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sind</a:t>
            </a:r>
            <a:r>
              <a:rPr sz="30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3000" spc="-73" dirty="0">
                <a:solidFill>
                  <a:srgbClr val="000000"/>
                </a:solidFill>
                <a:latin typeface="ATFDDV+Arial"/>
                <a:cs typeface="ATFDDV+Arial"/>
              </a:rPr>
              <a:t>CAT</a:t>
            </a:r>
            <a:r>
              <a:rPr sz="3000" spc="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lang="de-DE" sz="3000" spc="31" dirty="0">
                <a:solidFill>
                  <a:srgbClr val="000000"/>
                </a:solidFill>
                <a:latin typeface="ATFDDV+Arial"/>
                <a:cs typeface="ATFDDV+Arial"/>
              </a:rPr>
              <a:t>6</a:t>
            </a: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 - </a:t>
            </a:r>
            <a:r>
              <a:rPr lang="de-DE" sz="3000" dirty="0">
                <a:solidFill>
                  <a:srgbClr val="000000"/>
                </a:solidFill>
                <a:latin typeface="ATFDDV+Arial"/>
                <a:cs typeface="ATFDDV+Arial"/>
              </a:rPr>
              <a:t>8</a:t>
            </a:r>
            <a:endParaRPr sz="3000" dirty="0">
              <a:solidFill>
                <a:srgbClr val="000000"/>
              </a:solidFill>
              <a:latin typeface="ATFDDV+Arial"/>
              <a:cs typeface="ATFDDV+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2605" y="5940067"/>
            <a:ext cx="1507852" cy="463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351"/>
              </a:lnSpc>
              <a:spcBef>
                <a:spcPts val="0"/>
              </a:spcBef>
              <a:spcAft>
                <a:spcPts val="0"/>
              </a:spcAft>
            </a:pPr>
            <a:r>
              <a:rPr sz="3000" dirty="0">
                <a:solidFill>
                  <a:srgbClr val="000000"/>
                </a:solidFill>
                <a:latin typeface="ATFDDV+Arial"/>
                <a:cs typeface="ATFDDV+Arial"/>
              </a:rPr>
              <a:t>relevant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2992"/>
            <a:ext cx="3929760" cy="307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120"/>
              </a:lnSpc>
              <a:spcBef>
                <a:spcPts val="0"/>
              </a:spcBef>
              <a:spcAft>
                <a:spcPts val="0"/>
              </a:spcAft>
            </a:pPr>
            <a:r>
              <a:rPr sz="19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900" spc="156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Twisted-Pair-Kabel</a:t>
            </a:r>
            <a:r>
              <a:rPr sz="1900" b="1" spc="-7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900" b="1" dirty="0">
                <a:solidFill>
                  <a:srgbClr val="000000"/>
                </a:solidFill>
                <a:latin typeface="Arial"/>
                <a:cs typeface="Arial"/>
              </a:rPr>
              <a:t>Anschluss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13563"/>
            <a:ext cx="5405367" cy="1053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64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RJ-45-Stecker</a:t>
            </a:r>
            <a:r>
              <a:rPr sz="2000" b="1" spc="-6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mit 8 Kabelanschlüssen</a:t>
            </a:r>
          </a:p>
          <a:p>
            <a:pPr marL="0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64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Anschluss</a:t>
            </a:r>
            <a:r>
              <a:rPr sz="2000" b="1" spc="-2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über</a:t>
            </a:r>
            <a:r>
              <a:rPr sz="2000" b="1" spc="-1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spc="-12" dirty="0">
                <a:solidFill>
                  <a:srgbClr val="000000"/>
                </a:solidFill>
                <a:latin typeface="Arial"/>
                <a:cs typeface="Arial"/>
              </a:rPr>
              <a:t>Wand-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 oder</a:t>
            </a:r>
            <a:r>
              <a:rPr sz="2000" b="1" spc="-8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Aufputzdose</a:t>
            </a:r>
          </a:p>
          <a:p>
            <a:pPr marL="0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643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Verteilerschränke/Patch-Panels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3" y="3110821"/>
            <a:ext cx="6888044" cy="688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Vereinfachen</a:t>
            </a:r>
            <a:r>
              <a:rPr sz="2000" b="1" spc="-2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Umgang</a:t>
            </a:r>
            <a:r>
              <a:rPr sz="2000" b="1" spc="-1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mit</a:t>
            </a:r>
            <a:r>
              <a:rPr sz="2000" b="1" spc="-1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großen</a:t>
            </a:r>
            <a:r>
              <a:rPr sz="2000" b="1" spc="-1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Kabelmengen</a:t>
            </a:r>
          </a:p>
          <a:p>
            <a:pPr marL="0" marR="0">
              <a:lnSpc>
                <a:spcPts val="2238"/>
              </a:lnSpc>
              <a:spcBef>
                <a:spcPts val="69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Verteilerschränke</a:t>
            </a:r>
            <a:r>
              <a:rPr sz="2000" b="1" spc="-3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und -einschübe</a:t>
            </a:r>
            <a:r>
              <a:rPr sz="2000" b="1" spc="-2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2000" b="1" spc="-1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19-Zoll-Bauweise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4" y="3842617"/>
            <a:ext cx="7202028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Zur</a:t>
            </a:r>
            <a:r>
              <a:rPr sz="2000" b="1" spc="-10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Aufnahme,</a:t>
            </a:r>
            <a:r>
              <a:rPr sz="2000" b="1" spc="-27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Verschaltung,</a:t>
            </a:r>
            <a:r>
              <a:rPr sz="2000" b="1" spc="-3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000000"/>
                </a:solidFill>
                <a:latin typeface="Arial"/>
                <a:cs typeface="Arial"/>
              </a:rPr>
              <a:t>Verbindung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 und </a:t>
            </a:r>
            <a:r>
              <a:rPr sz="2000" b="1" spc="-11" dirty="0">
                <a:solidFill>
                  <a:srgbClr val="000000"/>
                </a:solidFill>
                <a:latin typeface="Arial"/>
                <a:cs typeface="Arial"/>
              </a:rPr>
              <a:t>Verteilung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91894" y="4147522"/>
            <a:ext cx="2115690" cy="322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über</a:t>
            </a:r>
            <a:r>
              <a:rPr sz="2000" b="1" spc="-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Patchkabel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4" y="4513558"/>
            <a:ext cx="7153416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Patchkabel</a:t>
            </a:r>
            <a:r>
              <a:rPr sz="2000" b="1" spc="-4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verbinden 1:1</a:t>
            </a:r>
            <a:r>
              <a:rPr sz="2000" b="1" spc="-3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(Verbindung zwischen</a:t>
            </a:r>
            <a:r>
              <a:rPr sz="2000" b="1" spc="-49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PC und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91894" y="4818358"/>
            <a:ext cx="1538664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Hub/Switch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63294" y="5184118"/>
            <a:ext cx="7264724" cy="93228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Crossover</a:t>
            </a:r>
            <a:r>
              <a:rPr sz="2000" b="1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für</a:t>
            </a:r>
            <a:r>
              <a:rPr sz="2000" b="1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automatische</a:t>
            </a:r>
            <a:r>
              <a:rPr sz="2000" b="1" spc="-12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Anpassung</a:t>
            </a:r>
            <a:r>
              <a:rPr sz="20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der Sende-</a:t>
            </a:r>
            <a:r>
              <a:rPr sz="2000" b="1" spc="-1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und</a:t>
            </a:r>
          </a:p>
          <a:p>
            <a:pPr marL="228599" marR="0">
              <a:lnSpc>
                <a:spcPts val="2241"/>
              </a:lnSpc>
              <a:spcBef>
                <a:spcPts val="16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Empfangsleitung</a:t>
            </a:r>
            <a:r>
              <a:rPr sz="2000" b="1" spc="-46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eines</a:t>
            </a:r>
            <a:r>
              <a:rPr sz="2000" b="1" spc="-1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Ports</a:t>
            </a:r>
            <a:r>
              <a:rPr sz="2000" b="1" spc="-1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(Verbindung zwischen</a:t>
            </a:r>
            <a:r>
              <a:rPr sz="2000" b="1" spc="-5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PCs,</a:t>
            </a:r>
          </a:p>
          <a:p>
            <a:pPr marL="228599" marR="0">
              <a:lnSpc>
                <a:spcPts val="2238"/>
              </a:lnSpc>
              <a:spcBef>
                <a:spcPts val="160"/>
              </a:spcBef>
              <a:spcAft>
                <a:spcPts val="0"/>
              </a:spcAft>
            </a:pP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Switchs</a:t>
            </a:r>
            <a:r>
              <a:rPr sz="2000" b="1" spc="-58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und Hubs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B1F5E-B67F-8926-F2CA-93612F93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553998"/>
          </a:xfrm>
        </p:spPr>
        <p:txBody>
          <a:bodyPr/>
          <a:lstStyle/>
          <a:p>
            <a:r>
              <a:rPr lang="de-DE" sz="36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</a:rPr>
              <a:t>Übertragungsmedien</a:t>
            </a:r>
            <a:endParaRPr lang="de-DE" sz="36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93B1883-BD78-0726-D7C8-E626AFE1C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268760"/>
            <a:ext cx="3170595" cy="52292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C8DFAF6-C297-B2DC-8AEB-FCD5B7E69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5936" y="1252768"/>
            <a:ext cx="4093028" cy="271054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4DCA165B-6F88-1F2E-63FB-EADD66C6E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3963311"/>
            <a:ext cx="3068637" cy="261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7054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95736" y="4797152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E0E82C-7A9C-9ECA-81A9-FA74483C2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958596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ts val="4021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de-DE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TFDDV+Arial"/>
                <a:ea typeface="+mn-ea"/>
                <a:cs typeface="ATFDDV+Arial"/>
              </a:rPr>
              <a:t>Übertragungsmedien</a:t>
            </a:r>
            <a:br>
              <a:rPr kumimoji="0" lang="de-DE" sz="3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TFDDV+Arial"/>
                <a:ea typeface="+mn-ea"/>
                <a:cs typeface="ATFDDV+Arial"/>
              </a:rPr>
            </a:br>
            <a:endParaRPr lang="de-DE" dirty="0"/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B0F49E0-5CDB-C0EE-72CC-ABDC4DB606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552865"/>
              </p:ext>
            </p:extLst>
          </p:nvPr>
        </p:nvGraphicFramePr>
        <p:xfrm>
          <a:off x="391703" y="1386314"/>
          <a:ext cx="8068728" cy="4274935"/>
        </p:xfrm>
        <a:graphic>
          <a:graphicData uri="http://schemas.openxmlformats.org/drawingml/2006/table">
            <a:tbl>
              <a:tblPr/>
              <a:tblGrid>
                <a:gridCol w="922882">
                  <a:extLst>
                    <a:ext uri="{9D8B030D-6E8A-4147-A177-3AD203B41FA5}">
                      <a16:colId xmlns:a16="http://schemas.microsoft.com/office/drawing/2014/main" val="3669986301"/>
                    </a:ext>
                  </a:extLst>
                </a:gridCol>
                <a:gridCol w="889524">
                  <a:extLst>
                    <a:ext uri="{9D8B030D-6E8A-4147-A177-3AD203B41FA5}">
                      <a16:colId xmlns:a16="http://schemas.microsoft.com/office/drawing/2014/main" val="3117657037"/>
                    </a:ext>
                  </a:extLst>
                </a:gridCol>
                <a:gridCol w="889524">
                  <a:extLst>
                    <a:ext uri="{9D8B030D-6E8A-4147-A177-3AD203B41FA5}">
                      <a16:colId xmlns:a16="http://schemas.microsoft.com/office/drawing/2014/main" val="983426898"/>
                    </a:ext>
                  </a:extLst>
                </a:gridCol>
                <a:gridCol w="1304636">
                  <a:extLst>
                    <a:ext uri="{9D8B030D-6E8A-4147-A177-3AD203B41FA5}">
                      <a16:colId xmlns:a16="http://schemas.microsoft.com/office/drawing/2014/main" val="1532547510"/>
                    </a:ext>
                  </a:extLst>
                </a:gridCol>
                <a:gridCol w="4062162">
                  <a:extLst>
                    <a:ext uri="{9D8B030D-6E8A-4147-A177-3AD203B41FA5}">
                      <a16:colId xmlns:a16="http://schemas.microsoft.com/office/drawing/2014/main" val="3253562695"/>
                    </a:ext>
                  </a:extLst>
                </a:gridCol>
              </a:tblGrid>
              <a:tr h="564348"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EIA/TIA 568</a:t>
                      </a:r>
                    </a:p>
                  </a:txBody>
                  <a:tcPr marL="9372" marR="9372" marT="9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ISO/IEC 11801</a:t>
                      </a:r>
                    </a:p>
                  </a:txBody>
                  <a:tcPr marL="9372" marR="9372" marT="9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EN 50173</a:t>
                      </a:r>
                    </a:p>
                  </a:txBody>
                  <a:tcPr marL="9372" marR="9372" marT="9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Bandbreite</a:t>
                      </a:r>
                    </a:p>
                  </a:txBody>
                  <a:tcPr marL="9372" marR="9372" marT="9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Anwendung</a:t>
                      </a:r>
                    </a:p>
                  </a:txBody>
                  <a:tcPr marL="9372" marR="9372" marT="9372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72690"/>
                  </a:ext>
                </a:extLst>
              </a:tr>
              <a:tr h="296283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1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 kHz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Telefon- und Modemleitungen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389748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A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kHz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Telefon- und Modemleitungen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0759895"/>
                  </a:ext>
                </a:extLst>
              </a:tr>
              <a:tr h="310391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2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B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Terminal-Systeme, ISDN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3217633"/>
                  </a:ext>
                </a:extLst>
              </a:tr>
              <a:tr h="324500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3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C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12,5 - 16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10Base-T, 100Base-T4, ISDN, analoges Telefon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4915882"/>
                  </a:ext>
                </a:extLst>
              </a:tr>
              <a:tr h="310391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4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Token Ring (16 MBit)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7038015"/>
                  </a:ext>
                </a:extLst>
              </a:tr>
              <a:tr h="282174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5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5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D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100Base-TX, SONET, SOH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8975721"/>
                  </a:ext>
                </a:extLst>
              </a:tr>
              <a:tr h="282174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5e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5e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D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1000Base-T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273901"/>
                  </a:ext>
                </a:extLst>
              </a:tr>
              <a:tr h="310391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6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6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E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10GBase-T (bis 55 Meter), 155-MBit-ATM, 622-MBit-ATM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434907"/>
                  </a:ext>
                </a:extLst>
              </a:tr>
              <a:tr h="338609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6A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6</a:t>
                      </a:r>
                      <a:r>
                        <a:rPr lang="de-DE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EA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10GBase-T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9876436"/>
                  </a:ext>
                </a:extLst>
              </a:tr>
              <a:tr h="282174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7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F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10GBase-T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7964600"/>
                  </a:ext>
                </a:extLst>
              </a:tr>
              <a:tr h="338609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7</a:t>
                      </a:r>
                      <a:r>
                        <a:rPr lang="de-DE" sz="1100" b="1" i="0" u="none" strike="noStrike" baseline="-25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</a:t>
                      </a:r>
                      <a:endParaRPr lang="de-DE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FA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1.000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10GBase-T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1270924"/>
                  </a:ext>
                </a:extLst>
              </a:tr>
              <a:tr h="310391"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8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Cat. 8.1/8.2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 G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1.600 - 2.000 MHz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40GBase-T und 100GBase-T (bis 30 Meter)</a:t>
                      </a:r>
                    </a:p>
                  </a:txBody>
                  <a:tcPr marL="9372" marR="9372" marT="9372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4861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12374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6542734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Glasfaserkabel/Lichtwellenleiter </a:t>
            </a:r>
            <a:r>
              <a:rPr sz="2800" spc="-39" dirty="0">
                <a:solidFill>
                  <a:srgbClr val="000000"/>
                </a:solidFill>
                <a:latin typeface="ATFDDV+Arial"/>
                <a:cs typeface="ATFDDV+Arial"/>
              </a:rPr>
              <a:t>(LWL)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67679"/>
            <a:ext cx="7372497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übertragen unidirektional</a:t>
            </a:r>
            <a:r>
              <a:rPr sz="2400" spc="3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Signale</a:t>
            </a:r>
            <a:r>
              <a:rPr sz="2400" spc="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über</a:t>
            </a:r>
            <a:r>
              <a:rPr sz="2400" spc="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Lichtimpulse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2606" y="2533439"/>
            <a:ext cx="713480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(Fasern)</a:t>
            </a:r>
            <a:r>
              <a:rPr sz="24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als Reflexionen</a:t>
            </a:r>
            <a:r>
              <a:rPr sz="2400" spc="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zwischen</a:t>
            </a:r>
            <a:r>
              <a:rPr sz="2400" spc="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Kern und Mantel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2972329"/>
            <a:ext cx="7227411" cy="111041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Impulse</a:t>
            </a:r>
            <a:r>
              <a:rPr sz="24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werden</a:t>
            </a:r>
            <a:r>
              <a:rPr sz="2400" spc="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mittels</a:t>
            </a:r>
            <a:r>
              <a:rPr sz="24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Laserlichtquelle</a:t>
            </a:r>
            <a:r>
              <a:rPr sz="2400" spc="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oder</a:t>
            </a:r>
          </a:p>
          <a:p>
            <a:pPr marL="286461" marR="0">
              <a:lnSpc>
                <a:spcPts val="2681"/>
              </a:lnSpc>
              <a:spcBef>
                <a:spcPts val="19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Lumineszens-Diode</a:t>
            </a:r>
            <a:r>
              <a:rPr sz="2400" spc="3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(LED =</a:t>
            </a:r>
            <a:r>
              <a:rPr sz="24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light</a:t>
            </a:r>
            <a:r>
              <a:rPr sz="2400" spc="1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emitting</a:t>
            </a:r>
            <a:r>
              <a:rPr sz="24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diode)</a:t>
            </a:r>
            <a:r>
              <a:rPr sz="2400" spc="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in</a:t>
            </a:r>
          </a:p>
          <a:p>
            <a:pPr marL="286461" marR="0">
              <a:lnSpc>
                <a:spcPts val="2681"/>
              </a:lnSpc>
              <a:spcBef>
                <a:spcPts val="148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den Kern übertragen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A2569B-73CA-E052-9C2E-DC5A05DAB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66" y="427735"/>
            <a:ext cx="7002646" cy="492443"/>
          </a:xfrm>
        </p:spPr>
        <p:txBody>
          <a:bodyPr/>
          <a:lstStyle/>
          <a:p>
            <a:pPr algn="ctr"/>
            <a:r>
              <a:rPr lang="de-DE" sz="3200" b="0" i="0" u="none" strike="noStrike" baseline="0" dirty="0">
                <a:solidFill>
                  <a:srgbClr val="C00000"/>
                </a:solidFill>
                <a:latin typeface="Arial" panose="020B0604020202020204" pitchFamily="34" charset="0"/>
              </a:rPr>
              <a:t>Übertragungsmedien</a:t>
            </a:r>
            <a:endParaRPr lang="de-DE" sz="32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0F34740-F2F4-1068-9C08-4D7613E89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268760"/>
            <a:ext cx="3215306" cy="4866805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188223D-4000-0168-75D7-34CB21A53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888" y="836712"/>
            <a:ext cx="3215307" cy="3156847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587A311-2742-E92C-4EAE-27166B5F5F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025" y="3705434"/>
            <a:ext cx="4104456" cy="2426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741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3455098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Dispersion im </a:t>
            </a:r>
            <a:r>
              <a:rPr sz="2800" spc="-66" dirty="0">
                <a:solidFill>
                  <a:srgbClr val="000000"/>
                </a:solidFill>
                <a:latin typeface="ATFDDV+Arial"/>
                <a:cs typeface="ATFDDV+Arial"/>
              </a:rPr>
              <a:t>LWL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67679"/>
            <a:ext cx="7412121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2" dirty="0">
                <a:solidFill>
                  <a:srgbClr val="000000"/>
                </a:solidFill>
                <a:latin typeface="ATFDDV+Arial"/>
                <a:cs typeface="ATFDDV+Arial"/>
              </a:rPr>
              <a:t>Wellen</a:t>
            </a:r>
            <a:r>
              <a:rPr sz="2400" spc="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des Lichts durchqueren</a:t>
            </a:r>
            <a:r>
              <a:rPr sz="2400" spc="4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spc="-61" dirty="0">
                <a:solidFill>
                  <a:srgbClr val="000000"/>
                </a:solidFill>
                <a:latin typeface="ATFDDV+Arial"/>
                <a:cs typeface="ATFDDV+Arial"/>
              </a:rPr>
              <a:t>LWL</a:t>
            </a:r>
            <a:r>
              <a:rPr sz="24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unterschiedlich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2606" y="2533439"/>
            <a:ext cx="110117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schnell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2972329"/>
            <a:ext cx="7474015" cy="378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ATFDDV+Arial"/>
                <a:cs typeface="ATFDDV+Arial"/>
              </a:rPr>
              <a:t>Veränderung</a:t>
            </a:r>
            <a:r>
              <a:rPr sz="2400" spc="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des</a:t>
            </a:r>
            <a:r>
              <a:rPr sz="2400" spc="-1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Ausgangssignal</a:t>
            </a:r>
            <a:r>
              <a:rPr sz="2400" spc="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durch</a:t>
            </a:r>
            <a:r>
              <a:rPr sz="2400" spc="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Streuung in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2606" y="3338365"/>
            <a:ext cx="4592163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Abhängigkeit</a:t>
            </a:r>
            <a:r>
              <a:rPr sz="2400" spc="4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von der Entfernung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3777277"/>
            <a:ext cx="6937851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Hohe Dispersion</a:t>
            </a:r>
            <a:r>
              <a:rPr sz="2400" spc="3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= weniger</a:t>
            </a:r>
            <a:r>
              <a:rPr sz="2400" spc="4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nutzbare Bandbreite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3922"/>
            <a:ext cx="4183172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000000"/>
                </a:solidFill>
                <a:latin typeface="Arial"/>
                <a:cs typeface="Arial"/>
              </a:rPr>
              <a:t>Bandbreiten-Längen-Produkt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52449"/>
            <a:ext cx="7412836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Bandbreite ist</a:t>
            </a:r>
            <a:r>
              <a:rPr sz="22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der</a:t>
            </a:r>
            <a:r>
              <a:rPr sz="22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Frequenzbereich</a:t>
            </a:r>
            <a:r>
              <a:rPr sz="2200" spc="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die auf dem Medium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292606" y="2387729"/>
            <a:ext cx="3182882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übertragen</a:t>
            </a:r>
            <a:r>
              <a:rPr sz="2200" spc="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werden</a:t>
            </a:r>
            <a:r>
              <a:rPr sz="22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kann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2790065"/>
            <a:ext cx="6541340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Durchmesser</a:t>
            </a:r>
            <a:r>
              <a:rPr sz="22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des Kerns beeinflusst</a:t>
            </a:r>
            <a:r>
              <a:rPr sz="2200" spc="60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realisierbare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2606" y="3125599"/>
            <a:ext cx="3179815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Datenübertragungsraten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3527935"/>
            <a:ext cx="5687651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Mit unterschiedlichen Kabellängen können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92606" y="3863215"/>
            <a:ext cx="6706125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unterschiedliche</a:t>
            </a:r>
            <a:r>
              <a:rPr sz="22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Übertragungsraten</a:t>
            </a:r>
            <a:r>
              <a:rPr sz="2200" spc="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realisiert werden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006144" y="4265656"/>
            <a:ext cx="919870" cy="3500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6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z.B.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463294" y="4659862"/>
            <a:ext cx="6049911" cy="10539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Bei</a:t>
            </a:r>
            <a:r>
              <a:rPr sz="20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0,5 km</a:t>
            </a:r>
            <a:r>
              <a:rPr sz="20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Länge</a:t>
            </a:r>
            <a:r>
              <a:rPr sz="20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mit</a:t>
            </a:r>
            <a:r>
              <a:rPr sz="20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einer Bandbreite</a:t>
            </a:r>
            <a:r>
              <a:rPr sz="20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von 2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Ghz</a:t>
            </a:r>
          </a:p>
          <a:p>
            <a:pPr marL="0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Bei</a:t>
            </a:r>
            <a:r>
              <a:rPr sz="20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1 km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Länge</a:t>
            </a:r>
            <a:r>
              <a:rPr sz="2000" spc="-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mit einer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Bandbreite</a:t>
            </a:r>
            <a:r>
              <a:rPr sz="20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von</a:t>
            </a:r>
            <a:r>
              <a:rPr sz="20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1 Ghz</a:t>
            </a:r>
          </a:p>
          <a:p>
            <a:pPr marL="0" marR="0">
              <a:lnSpc>
                <a:spcPts val="2238"/>
              </a:lnSpc>
              <a:spcBef>
                <a:spcPts val="69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Bei</a:t>
            </a:r>
            <a:r>
              <a:rPr sz="20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2 km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Länge</a:t>
            </a:r>
            <a:r>
              <a:rPr sz="2000" spc="-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mit einer</a:t>
            </a:r>
            <a:r>
              <a:rPr sz="20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Bandbreite</a:t>
            </a:r>
            <a:r>
              <a:rPr sz="20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von</a:t>
            </a:r>
            <a:r>
              <a:rPr sz="20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500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MHz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3100412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ATFDDV+Arial"/>
                <a:cs typeface="ATFDDV+Arial"/>
              </a:rPr>
              <a:t>Monomode-LWL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67679"/>
            <a:ext cx="4687166" cy="817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Kerndurchmesser 3µm bis</a:t>
            </a:r>
            <a:r>
              <a:rPr sz="2400" spc="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9µm</a:t>
            </a:r>
          </a:p>
          <a:p>
            <a:pPr marL="0" marR="0">
              <a:lnSpc>
                <a:spcPts val="2681"/>
              </a:lnSpc>
              <a:spcBef>
                <a:spcPts val="724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4" dirty="0">
                <a:solidFill>
                  <a:srgbClr val="000000"/>
                </a:solidFill>
                <a:latin typeface="ATFDDV+Arial"/>
                <a:cs typeface="ATFDDV+Arial"/>
              </a:rPr>
              <a:t>Wenig</a:t>
            </a:r>
            <a:r>
              <a:rPr sz="2400" spc="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Dispersion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3045481"/>
            <a:ext cx="6320979" cy="8178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Bandbreiten-Längen-Produkt</a:t>
            </a:r>
            <a:r>
              <a:rPr sz="24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100</a:t>
            </a:r>
            <a:r>
              <a:rPr sz="2400" spc="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Ghz x</a:t>
            </a:r>
            <a:r>
              <a:rPr sz="24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km</a:t>
            </a:r>
          </a:p>
          <a:p>
            <a:pPr marL="0" marR="0">
              <a:lnSpc>
                <a:spcPts val="2681"/>
              </a:lnSpc>
              <a:spcBef>
                <a:spcPts val="724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Bis zu 144</a:t>
            </a:r>
            <a:r>
              <a:rPr sz="24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Fasern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923581"/>
            <a:ext cx="4416853" cy="8179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Einsatz </a:t>
            </a:r>
            <a:r>
              <a:rPr sz="2400" spc="-12" dirty="0">
                <a:solidFill>
                  <a:srgbClr val="000000"/>
                </a:solidFill>
                <a:latin typeface="ATFDDV+Arial"/>
                <a:cs typeface="ATFDDV+Arial"/>
              </a:rPr>
              <a:t>im</a:t>
            </a:r>
            <a:r>
              <a:rPr sz="2400" spc="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Backbone-Bereich</a:t>
            </a:r>
          </a:p>
          <a:p>
            <a:pPr marL="0" marR="0">
              <a:lnSpc>
                <a:spcPts val="2683"/>
              </a:lnSpc>
              <a:spcBef>
                <a:spcPts val="725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Laserdiode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70771"/>
            <a:ext cx="2961097" cy="4351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6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800" spc="102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rgbClr val="000000"/>
                </a:solidFill>
                <a:latin typeface="ATFDDV+Arial"/>
                <a:cs typeface="ATFDDV+Arial"/>
              </a:rPr>
              <a:t>Multimode-LWL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67679"/>
            <a:ext cx="4016908" cy="817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Kern 62,5 </a:t>
            </a:r>
            <a:r>
              <a:rPr sz="2400" spc="-34" dirty="0">
                <a:solidFill>
                  <a:srgbClr val="000000"/>
                </a:solidFill>
                <a:latin typeface="ATFDDV+Arial"/>
                <a:cs typeface="ATFDDV+Arial"/>
              </a:rPr>
              <a:t>bzw.</a:t>
            </a:r>
            <a:r>
              <a:rPr sz="2400" spc="4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50 µm dick</a:t>
            </a:r>
          </a:p>
          <a:p>
            <a:pPr marL="0" marR="0">
              <a:lnSpc>
                <a:spcPts val="2681"/>
              </a:lnSpc>
              <a:spcBef>
                <a:spcPts val="724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Größere</a:t>
            </a:r>
            <a:r>
              <a:rPr sz="24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Dispersation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3045481"/>
            <a:ext cx="4184678" cy="378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LED als Lichtquelle</a:t>
            </a:r>
            <a:r>
              <a:rPr sz="2400" spc="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möglich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06144" y="3484669"/>
            <a:ext cx="7097219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Bandbreiten-Längen-Produkt</a:t>
            </a:r>
            <a:r>
              <a:rPr sz="2400" spc="3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von ca. 1 GHz x</a:t>
            </a:r>
            <a:r>
              <a:rPr sz="24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km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292606" y="3850429"/>
            <a:ext cx="1202680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möglich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3922"/>
            <a:ext cx="4552744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000000"/>
                </a:solidFill>
                <a:latin typeface="Arial"/>
                <a:cs typeface="Arial"/>
              </a:rPr>
              <a:t>Glasfaser Verbindungselemente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52449"/>
            <a:ext cx="6985567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Feste </a:t>
            </a:r>
            <a:r>
              <a:rPr sz="2200" spc="-13" dirty="0">
                <a:solidFill>
                  <a:srgbClr val="000000"/>
                </a:solidFill>
                <a:latin typeface="ATFDDV+Arial"/>
                <a:cs typeface="ATFDDV+Arial"/>
              </a:rPr>
              <a:t>Verbindungen</a:t>
            </a:r>
            <a:r>
              <a:rPr sz="2200" spc="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durch </a:t>
            </a:r>
            <a:r>
              <a:rPr sz="2200" spc="-11" dirty="0">
                <a:solidFill>
                  <a:srgbClr val="000000"/>
                </a:solidFill>
                <a:latin typeface="ATFDDV+Arial"/>
                <a:cs typeface="ATFDDV+Arial"/>
              </a:rPr>
              <a:t>Verschweißen</a:t>
            </a:r>
            <a:r>
              <a:rPr sz="2200" spc="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(Spleißen=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2454785"/>
            <a:ext cx="4895278" cy="10823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Keine einheitlichen Standardstecker</a:t>
            </a:r>
          </a:p>
          <a:p>
            <a:pPr marL="457149" marR="0">
              <a:lnSpc>
                <a:spcPts val="2238"/>
              </a:lnSpc>
              <a:spcBef>
                <a:spcPts val="648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SC-Duplex-Stecker</a:t>
            </a:r>
          </a:p>
          <a:p>
            <a:pPr marL="457149" marR="0">
              <a:lnSpc>
                <a:spcPts val="2238"/>
              </a:lnSpc>
              <a:spcBef>
                <a:spcPts val="693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00"/>
                </a:solidFill>
                <a:latin typeface="ATFDDV+Arial"/>
                <a:cs typeface="ATFDDV+Arial"/>
              </a:rPr>
              <a:t>ST-Stecker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4" y="3580489"/>
            <a:ext cx="2077972" cy="6881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MT-RJ-Stecker</a:t>
            </a:r>
          </a:p>
          <a:p>
            <a:pPr marL="0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LSA-Stecker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4" y="4312115"/>
            <a:ext cx="2092833" cy="6884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FC/PC-Stecker</a:t>
            </a:r>
          </a:p>
          <a:p>
            <a:pPr marL="0" marR="0">
              <a:lnSpc>
                <a:spcPts val="2238"/>
              </a:lnSpc>
              <a:spcBef>
                <a:spcPts val="69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LC-Stecker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3" y="5043910"/>
            <a:ext cx="1116821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E2000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AA209C4-AD40-AE6B-D7B6-42337832B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316" y="-33487"/>
            <a:ext cx="9162316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Warum gibt es verschiedene Arten Glasfaser-Stecker?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Jeder Glasfaser-Stecker ist für bestimmte Anwendungen konzipiert und erfüllt verschiedene technische Anforderungen.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 ist wichtig, den richtigen LWL Stecker zu wählen, da dies die Leistung und Zuverlässigkeit der Glasfaserverbindung beeinflusst.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altLang="de-DE" sz="1200" b="1" dirty="0">
                <a:latin typeface="Arial" panose="020B0604020202020204" pitchFamily="34" charset="0"/>
              </a:rPr>
              <a:t>LC-Stecker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LC ist die Abkürzung für Lucent Connector. Dieser Glasfaser Stecker ist klein und wird in Rechenzentren und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Telekommunikationsnetzwerken eingesetzt. Er hat einen Push-Pull-Mechanismus, der eine schnelle und einfache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Verbindung ermöglicht. Aufgrund seiner kompakten Größe ist ein LC-Stecker auch für dicht gepackte Installationen geeignet.</a:t>
            </a:r>
            <a:endParaRPr kumimoji="0" lang="de-DE" altLang="de-DE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2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SC-Stecker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SC-Stecker bedeutet Subscriber Connector. Dieser Glasfaser Stecker ist etwas größer als der LC-Stecker.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 bietet aber immer noch eine gute Leistung und einfache Installation. Der Stecker ist aufgrund seines einfachen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Schnappverschlusssystems beliebt. SC-Stecker werden häufig in lokalen Netzwerken und Glasfaserkabelsystemen verwendet.</a:t>
            </a:r>
            <a:endParaRPr kumimoji="0" lang="de-DE" altLang="de-DE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SC/APC-Stecker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2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SC/APC-Stecker ähneln SC-Steckern. Sie haben jedoch einen abgewinkelten APC (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Angled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de-DE" altLang="de-DE" sz="1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Physical</a:t>
            </a: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Contact) Anschluss.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Dieser Schrägschliff minimiert Reflektionen und erhöht die Übertragungseffizienz des Signals. SC/APC Glasfaser-Stecker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verwenden Sie, wenn geringe Reflektionen erforderlich sind, wie zum Beispiel für Video-, CATV- und Telekommunikationsnetzwerke.</a:t>
            </a:r>
            <a:endParaRPr kumimoji="0" lang="de-DE" altLang="de-DE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>
            <a:hlinkClick r:id="rId2"/>
            <a:extLst>
              <a:ext uri="{FF2B5EF4-FFF2-40B4-BE49-F238E27FC236}">
                <a16:creationId xmlns:a16="http://schemas.microsoft.com/office/drawing/2014/main" id="{38844C5C-6E25-EDE3-116F-EABA8F5D7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966900"/>
            <a:ext cx="1275209" cy="1069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hlinkClick r:id="rId4"/>
            <a:extLst>
              <a:ext uri="{FF2B5EF4-FFF2-40B4-BE49-F238E27FC236}">
                <a16:creationId xmlns:a16="http://schemas.microsoft.com/office/drawing/2014/main" id="{75ACFBD2-3248-0E8A-6DF7-0ED3296F5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6091" y="3037093"/>
            <a:ext cx="14287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hlinkClick r:id="rId6"/>
            <a:extLst>
              <a:ext uri="{FF2B5EF4-FFF2-40B4-BE49-F238E27FC236}">
                <a16:creationId xmlns:a16="http://schemas.microsoft.com/office/drawing/2014/main" id="{34548CBB-C8BA-52FF-2B4F-EB60D3BA1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7821" y="4849911"/>
            <a:ext cx="17335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22979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9E8EEE32-CB5C-79C7-374F-1E89BD1C23F0}"/>
              </a:ext>
            </a:extLst>
          </p:cNvPr>
          <p:cNvSpPr txBox="1"/>
          <p:nvPr/>
        </p:nvSpPr>
        <p:spPr>
          <a:xfrm>
            <a:off x="323528" y="1700808"/>
            <a:ext cx="8496944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ST-Stecker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altLang="de-DE" sz="12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ST-Stecker (Straight </a:t>
            </a:r>
            <a:r>
              <a:rPr kumimoji="0" lang="de-DE" altLang="de-DE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Tip</a:t>
            </a:r>
            <a:r>
              <a:rPr kumimoji="0" lang="de-DE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) wurden früher häufig verwendet. Sie werden jedoch allmählich von kleineren Modellen wie LC und SC ersetzt. ST-Stecker haben einen Bajonettverschluss und werden in industriellen Umgebungen verwendet.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 Glasfaser Stecker werden hauptsächlich für Single-Mode-Glasfaserverbindungen über längere Entfernungen benutzt.</a:t>
            </a:r>
            <a:endParaRPr kumimoji="0" lang="de-DE" altLang="de-DE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E2000-Stecker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           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altLang="de-DE" sz="1200" dirty="0">
              <a:solidFill>
                <a:prstClr val="black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altLang="de-DE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E2000-Stecker sind eine der neuesten Glasfaserstecker-Familie. Dieser Glasfaser-Stecker kombiniert die Vorteile von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SC- und LC-Steckern mit kompakter Größe und einem Push-Pull-Mechanismus. E2000-Stecker bieten zudem Schutz vor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Staub und Schmutz. Hierdurch sind sie für anspruchsvolle Umgebungen wie Reinräume besonders geeignet.</a:t>
            </a:r>
          </a:p>
        </p:txBody>
      </p:sp>
      <p:pic>
        <p:nvPicPr>
          <p:cNvPr id="8" name="Picture 6">
            <a:hlinkClick r:id="rId2"/>
            <a:extLst>
              <a:ext uri="{FF2B5EF4-FFF2-40B4-BE49-F238E27FC236}">
                <a16:creationId xmlns:a16="http://schemas.microsoft.com/office/drawing/2014/main" id="{3DA8D2CF-CC5C-E279-3FEE-F14091F47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3933056"/>
            <a:ext cx="1714500" cy="752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5">
            <a:hlinkClick r:id="rId4"/>
            <a:extLst>
              <a:ext uri="{FF2B5EF4-FFF2-40B4-BE49-F238E27FC236}">
                <a16:creationId xmlns:a16="http://schemas.microsoft.com/office/drawing/2014/main" id="{86323F3A-4FDD-6B83-D998-7F4551D0A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752" y="1734319"/>
            <a:ext cx="933450" cy="119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52838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8461"/>
            <a:ext cx="3283140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1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00"/>
                </a:solidFill>
                <a:latin typeface="Arial"/>
                <a:cs typeface="Arial"/>
              </a:rPr>
              <a:t>Glasfaser</a:t>
            </a:r>
            <a:r>
              <a:rPr sz="26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1" spc="-22" dirty="0">
                <a:solidFill>
                  <a:srgbClr val="000000"/>
                </a:solidFill>
                <a:latin typeface="Arial"/>
                <a:cs typeface="Arial"/>
              </a:rPr>
              <a:t>Vorteile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37199"/>
            <a:ext cx="1454806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20" dirty="0">
                <a:solidFill>
                  <a:srgbClr val="000000"/>
                </a:solidFill>
                <a:latin typeface="ATFDDV+Arial"/>
                <a:cs typeface="ATFDDV+Arial"/>
              </a:rPr>
              <a:t>Vorteile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2583137"/>
            <a:ext cx="7253492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Hohe</a:t>
            </a:r>
            <a:r>
              <a:rPr sz="26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Übertragungsraten</a:t>
            </a:r>
            <a:r>
              <a:rPr sz="26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(Gigabit-Bereich)</a:t>
            </a:r>
            <a:r>
              <a:rPr sz="2600" spc="-3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91894" y="2979356"/>
            <a:ext cx="6730620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Reichweiten</a:t>
            </a:r>
            <a:r>
              <a:rPr sz="2600" spc="-3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(technisch</a:t>
            </a:r>
            <a:r>
              <a:rPr sz="26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bis 100 km</a:t>
            </a:r>
            <a:r>
              <a:rPr sz="26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machbar)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4" y="3455119"/>
            <a:ext cx="6630719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Gute Sicherheit</a:t>
            </a:r>
            <a:r>
              <a:rPr sz="26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sowohl</a:t>
            </a:r>
            <a:r>
              <a:rPr sz="26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gegen</a:t>
            </a:r>
            <a:r>
              <a:rPr sz="2600" spc="-15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Abhören als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91894" y="3851360"/>
            <a:ext cx="3939388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auch</a:t>
            </a:r>
            <a:r>
              <a:rPr sz="26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gegen Störstrahlung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63294" y="4326953"/>
            <a:ext cx="5628986" cy="37189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 err="1">
                <a:solidFill>
                  <a:srgbClr val="000000"/>
                </a:solidFill>
                <a:latin typeface="ATFDDV+Arial"/>
                <a:cs typeface="ATFDDV+Arial"/>
              </a:rPr>
              <a:t>Akzepta</a:t>
            </a:r>
            <a:r>
              <a:rPr lang="de-DE" sz="2600" dirty="0">
                <a:solidFill>
                  <a:srgbClr val="000000"/>
                </a:solidFill>
                <a:latin typeface="ATFDDV+Arial"/>
                <a:cs typeface="ATFDDV+Arial"/>
              </a:rPr>
              <a:t>b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le</a:t>
            </a:r>
            <a:r>
              <a:rPr lang="de-DE" sz="260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 err="1">
                <a:solidFill>
                  <a:srgbClr val="000000"/>
                </a:solidFill>
                <a:latin typeface="ATFDDV+Arial"/>
                <a:cs typeface="ATFDDV+Arial"/>
              </a:rPr>
              <a:t>Kabelkosten</a:t>
            </a:r>
            <a:endParaRPr sz="2600" dirty="0">
              <a:solidFill>
                <a:srgbClr val="000000"/>
              </a:solidFill>
              <a:latin typeface="ATFDDV+Arial"/>
              <a:cs typeface="ATFDDV+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3294" y="4802716"/>
            <a:ext cx="5746787" cy="883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Galvanische</a:t>
            </a:r>
            <a:r>
              <a:rPr sz="2600" spc="-9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Trennung der Stationen</a:t>
            </a:r>
          </a:p>
          <a:p>
            <a:pPr marL="0" marR="0">
              <a:lnSpc>
                <a:spcPts val="2909"/>
              </a:lnSpc>
              <a:spcBef>
                <a:spcPts val="886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Zukunftstechnologie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8461"/>
            <a:ext cx="3566487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11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000000"/>
                </a:solidFill>
                <a:latin typeface="Arial"/>
                <a:cs typeface="Arial"/>
              </a:rPr>
              <a:t>Glasfaser</a:t>
            </a:r>
            <a:r>
              <a:rPr sz="2600" b="1" spc="-1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000000"/>
                </a:solidFill>
                <a:latin typeface="Arial"/>
                <a:cs typeface="Arial"/>
              </a:rPr>
              <a:t>Nachteile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137199"/>
            <a:ext cx="1707180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321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Nachteile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294" y="2583137"/>
            <a:ext cx="3358363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spc="-54" dirty="0">
                <a:solidFill>
                  <a:srgbClr val="000000"/>
                </a:solidFill>
                <a:latin typeface="ATFDDV+Arial"/>
                <a:cs typeface="ATFDDV+Arial"/>
              </a:rPr>
              <a:t>Teure</a:t>
            </a:r>
            <a:r>
              <a:rPr sz="2600" spc="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Gerätetechnik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3294" y="3058603"/>
            <a:ext cx="4353866" cy="4079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11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Hoher</a:t>
            </a:r>
            <a:r>
              <a:rPr sz="2600" spc="-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Konfektionsaufwand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63294" y="3534367"/>
            <a:ext cx="5400866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Schwachstelle</a:t>
            </a:r>
            <a:r>
              <a:rPr sz="26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Steckertechnologie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463294" y="4009855"/>
            <a:ext cx="5783447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600" spc="2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Empfindlichkeit</a:t>
            </a:r>
            <a:r>
              <a:rPr sz="2600" spc="-4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der Kabel</a:t>
            </a:r>
            <a:r>
              <a:rPr sz="26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gegenüber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91894" y="4406476"/>
            <a:ext cx="4139797" cy="40756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909"/>
              </a:lnSpc>
              <a:spcBef>
                <a:spcPts val="0"/>
              </a:spcBef>
              <a:spcAft>
                <a:spcPts val="0"/>
              </a:spcAft>
            </a:pP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mechanischer</a:t>
            </a:r>
            <a:r>
              <a:rPr sz="2600" spc="-5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600" dirty="0">
                <a:solidFill>
                  <a:srgbClr val="000000"/>
                </a:solidFill>
                <a:latin typeface="ATFDDV+Arial"/>
                <a:cs typeface="ATFDDV+Arial"/>
              </a:rPr>
              <a:t>Belastungen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463BE30B-1AF6-DD65-56F5-C81955A4CEB3}"/>
              </a:ext>
            </a:extLst>
          </p:cNvPr>
          <p:cNvSpPr txBox="1"/>
          <p:nvPr/>
        </p:nvSpPr>
        <p:spPr>
          <a:xfrm>
            <a:off x="1043608" y="645693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2800" b="1" dirty="0"/>
              <a:t>SFP und SFP+</a:t>
            </a:r>
          </a:p>
          <a:p>
            <a:endParaRPr lang="de-DE" b="1" dirty="0"/>
          </a:p>
          <a:p>
            <a:r>
              <a:rPr lang="de-DE" b="1" dirty="0"/>
              <a:t>Small Form-</a:t>
            </a:r>
            <a:r>
              <a:rPr lang="de-DE" b="1" dirty="0" err="1"/>
              <a:t>factor</a:t>
            </a:r>
            <a:r>
              <a:rPr lang="de-DE" b="1" dirty="0"/>
              <a:t> </a:t>
            </a:r>
            <a:r>
              <a:rPr lang="de-DE" b="1" dirty="0" err="1"/>
              <a:t>Pluggable</a:t>
            </a:r>
            <a:endParaRPr lang="de-DE" b="1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827CB85-FD4A-DC05-B557-C0B64ACE28D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134188"/>
            <a:ext cx="5508104" cy="3921392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CBB2870-40A7-9078-C415-27D4C45EC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709968"/>
            <a:ext cx="4689934" cy="205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9229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39" y="1663922"/>
            <a:ext cx="3395730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000000"/>
                </a:solidFill>
                <a:latin typeface="Arial"/>
                <a:cs typeface="Arial"/>
              </a:rPr>
              <a:t>Drahtlose</a:t>
            </a:r>
            <a:r>
              <a:rPr sz="2100" b="1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000000"/>
                </a:solidFill>
                <a:latin typeface="Arial"/>
                <a:cs typeface="Arial"/>
              </a:rPr>
              <a:t>Übertragung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06144" y="2052449"/>
            <a:ext cx="3137741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Kein Kabel notwendig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06144" y="2454785"/>
            <a:ext cx="7316340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WLAN (Wireless Local</a:t>
            </a:r>
            <a:r>
              <a:rPr sz="2200" spc="-1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Area</a:t>
            </a:r>
            <a:r>
              <a:rPr sz="2200" spc="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Network)</a:t>
            </a:r>
            <a:r>
              <a:rPr sz="22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als</a:t>
            </a:r>
            <a:r>
              <a:rPr sz="2200" spc="-1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Abkürzung für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292606" y="2790065"/>
            <a:ext cx="3551300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spc="-14" dirty="0">
                <a:solidFill>
                  <a:srgbClr val="000000"/>
                </a:solidFill>
                <a:latin typeface="ATFDDV+Arial"/>
                <a:cs typeface="ATFDDV+Arial"/>
              </a:rPr>
              <a:t>Verwendung</a:t>
            </a:r>
            <a:r>
              <a:rPr sz="2200" spc="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in Netzwerken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06144" y="3192655"/>
            <a:ext cx="4210360" cy="3496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Spezielle</a:t>
            </a:r>
            <a:r>
              <a:rPr sz="22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Hardware</a:t>
            </a:r>
            <a:r>
              <a:rPr sz="22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notwendig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006144" y="3594991"/>
            <a:ext cx="6402531" cy="7520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453"/>
              </a:lnSpc>
              <a:spcBef>
                <a:spcPts val="0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Punkt-zu-Punkt</a:t>
            </a:r>
            <a:r>
              <a:rPr sz="22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oder Mehrpunkt-Kommunikation</a:t>
            </a:r>
          </a:p>
          <a:p>
            <a:pPr marL="0" marR="0">
              <a:lnSpc>
                <a:spcPts val="2453"/>
              </a:lnSpc>
              <a:spcBef>
                <a:spcPts val="664"/>
              </a:spcBef>
              <a:spcAft>
                <a:spcPts val="0"/>
              </a:spcAft>
            </a:pPr>
            <a:r>
              <a:rPr sz="22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200" spc="482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000000"/>
                </a:solidFill>
                <a:latin typeface="ATFDDV+Arial"/>
                <a:cs typeface="ATFDDV+Arial"/>
              </a:rPr>
              <a:t>Mehrpunktkommunikation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463294" y="4391638"/>
            <a:ext cx="5473452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Access</a:t>
            </a:r>
            <a:r>
              <a:rPr sz="2000" spc="-4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Points fungieren</a:t>
            </a:r>
            <a:r>
              <a:rPr sz="2000" spc="-3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als zentrale</a:t>
            </a:r>
            <a:r>
              <a:rPr sz="2000" spc="-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spc="-12" dirty="0">
                <a:solidFill>
                  <a:srgbClr val="000000"/>
                </a:solidFill>
                <a:latin typeface="ATFDDV+Arial"/>
                <a:cs typeface="ATFDDV+Arial"/>
              </a:rPr>
              <a:t>Verteiler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920494" y="4774354"/>
            <a:ext cx="5986623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spc="-16" dirty="0">
                <a:solidFill>
                  <a:srgbClr val="000000"/>
                </a:solidFill>
                <a:latin typeface="ATFDDV+Arial"/>
                <a:cs typeface="ATFDDV+Arial"/>
              </a:rPr>
              <a:t>Verwaltung</a:t>
            </a:r>
            <a:r>
              <a:rPr sz="24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der Sender</a:t>
            </a:r>
            <a:r>
              <a:rPr sz="2400" spc="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über</a:t>
            </a:r>
            <a:r>
              <a:rPr sz="24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Zugangsliste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149094" y="5140114"/>
            <a:ext cx="3210766" cy="37861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1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(Access Control</a:t>
            </a:r>
            <a:r>
              <a:rPr sz="2400" spc="-3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400" spc="-46" dirty="0">
                <a:solidFill>
                  <a:srgbClr val="000000"/>
                </a:solidFill>
                <a:latin typeface="ATFDDV+Arial"/>
                <a:cs typeface="ATFDDV+Arial"/>
              </a:rPr>
              <a:t>Table)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920494" y="5579004"/>
            <a:ext cx="4038291" cy="3789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683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400" spc="-13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00000"/>
                </a:solidFill>
                <a:latin typeface="ATFDDV+Arial"/>
                <a:cs typeface="ATFDDV+Arial"/>
              </a:rPr>
              <a:t>Schnittstelle zu festes Netz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436241" y="603251"/>
            <a:ext cx="44259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Übertragungsmedien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1560" y="1429889"/>
            <a:ext cx="3395730" cy="3363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348"/>
              </a:lnSpc>
              <a:spcBef>
                <a:spcPts val="0"/>
              </a:spcBef>
              <a:spcAft>
                <a:spcPts val="0"/>
              </a:spcAft>
            </a:pPr>
            <a:r>
              <a:rPr sz="21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100" spc="144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100" b="1" dirty="0">
                <a:solidFill>
                  <a:srgbClr val="000000"/>
                </a:solidFill>
                <a:latin typeface="Arial"/>
                <a:cs typeface="Arial"/>
              </a:rPr>
              <a:t>Drahtlose</a:t>
            </a:r>
            <a:r>
              <a:rPr sz="2100" b="1" spc="-1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100" b="1" dirty="0">
                <a:solidFill>
                  <a:srgbClr val="000000"/>
                </a:solidFill>
                <a:latin typeface="Arial"/>
                <a:cs typeface="Arial"/>
              </a:rPr>
              <a:t>Übertragung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75656" y="1790140"/>
            <a:ext cx="6606879" cy="10539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6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IEEE </a:t>
            </a:r>
            <a:r>
              <a:rPr sz="2000" spc="-23" dirty="0">
                <a:solidFill>
                  <a:srgbClr val="000000"/>
                </a:solidFill>
                <a:latin typeface="ATFDDV+Arial"/>
                <a:cs typeface="ATFDDV+Arial"/>
              </a:rPr>
              <a:t>802.11</a:t>
            </a:r>
          </a:p>
          <a:p>
            <a:pPr marL="457200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18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Institute</a:t>
            </a:r>
            <a:r>
              <a:rPr sz="2000" spc="-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of</a:t>
            </a:r>
            <a:r>
              <a:rPr sz="20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Electrical</a:t>
            </a:r>
            <a:r>
              <a:rPr sz="20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and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Electronics</a:t>
            </a:r>
            <a:r>
              <a:rPr sz="20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Engineers,</a:t>
            </a:r>
            <a:r>
              <a:rPr sz="2000" spc="-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Inc</a:t>
            </a:r>
          </a:p>
          <a:p>
            <a:pPr marL="457200" marR="0">
              <a:lnSpc>
                <a:spcPts val="2238"/>
              </a:lnSpc>
              <a:spcBef>
                <a:spcPts val="691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–</a:t>
            </a:r>
            <a:r>
              <a:rPr sz="2000" spc="18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Normung</a:t>
            </a:r>
            <a:r>
              <a:rPr sz="2000" spc="-5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der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drahtlosen</a:t>
            </a:r>
            <a:r>
              <a:rPr sz="2000" spc="-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Übertragung.</a:t>
            </a:r>
          </a:p>
        </p:txBody>
      </p:sp>
      <p:graphicFrame>
        <p:nvGraphicFramePr>
          <p:cNvPr id="6" name="Tabelle 5">
            <a:extLst>
              <a:ext uri="{FF2B5EF4-FFF2-40B4-BE49-F238E27FC236}">
                <a16:creationId xmlns:a16="http://schemas.microsoft.com/office/drawing/2014/main" id="{2D6A066C-5C11-4027-5D26-6D100A6F7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636614"/>
              </p:ext>
            </p:extLst>
          </p:nvPr>
        </p:nvGraphicFramePr>
        <p:xfrm>
          <a:off x="971600" y="3212976"/>
          <a:ext cx="6667500" cy="3238500"/>
        </p:xfrm>
        <a:graphic>
          <a:graphicData uri="http://schemas.openxmlformats.org/drawingml/2006/table">
            <a:tbl>
              <a:tblPr/>
              <a:tblGrid>
                <a:gridCol w="2346148">
                  <a:extLst>
                    <a:ext uri="{9D8B030D-6E8A-4147-A177-3AD203B41FA5}">
                      <a16:colId xmlns:a16="http://schemas.microsoft.com/office/drawing/2014/main" val="1897737673"/>
                    </a:ext>
                  </a:extLst>
                </a:gridCol>
                <a:gridCol w="1055767">
                  <a:extLst>
                    <a:ext uri="{9D8B030D-6E8A-4147-A177-3AD203B41FA5}">
                      <a16:colId xmlns:a16="http://schemas.microsoft.com/office/drawing/2014/main" val="2917086364"/>
                    </a:ext>
                  </a:extLst>
                </a:gridCol>
                <a:gridCol w="1077960">
                  <a:extLst>
                    <a:ext uri="{9D8B030D-6E8A-4147-A177-3AD203B41FA5}">
                      <a16:colId xmlns:a16="http://schemas.microsoft.com/office/drawing/2014/main" val="3786061597"/>
                    </a:ext>
                  </a:extLst>
                </a:gridCol>
                <a:gridCol w="1169904">
                  <a:extLst>
                    <a:ext uri="{9D8B030D-6E8A-4147-A177-3AD203B41FA5}">
                      <a16:colId xmlns:a16="http://schemas.microsoft.com/office/drawing/2014/main" val="3029639101"/>
                    </a:ext>
                  </a:extLst>
                </a:gridCol>
                <a:gridCol w="1017721">
                  <a:extLst>
                    <a:ext uri="{9D8B030D-6E8A-4147-A177-3AD203B41FA5}">
                      <a16:colId xmlns:a16="http://schemas.microsoft.com/office/drawing/2014/main" val="38909394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WLAN-Generation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Wi-Fi 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Wi-Fi 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Wi-Fi 6 / 6E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Wi-Fi 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999546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IEEE-Standard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802.11n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802.11ac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802.11ax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CCCCCC"/>
                          </a:highlight>
                          <a:latin typeface="Calibri" panose="020F0502020204030204" pitchFamily="34" charset="0"/>
                        </a:rPr>
                        <a:t>802.11be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0120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Maximale Übertragungsrate *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 MBit/s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6.936 MBit/s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9.608 MBit/s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23.050 MBit/s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440654"/>
                  </a:ext>
                </a:extLst>
              </a:tr>
              <a:tr h="190500">
                <a:tc rowSpan="2">
                  <a:txBody>
                    <a:bodyPr/>
                    <a:lstStyle/>
                    <a:p>
                      <a:pPr algn="l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Typische Übertragungsrate **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bis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 bis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 bis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 bis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598986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 MBit/s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1.100 MBit/s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1600 MBit/s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8.000 MBit/s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79980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Maximale Reichweite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 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9271249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algn="l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Frequenzbereich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 GHz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nur 5 GHz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 GHz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2,4 GHz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0894713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GHz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GHz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 GHz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565540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(6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 GHz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27015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Maximale Sende/Empfangseinheiten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0038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Antennentechnik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MIMO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(MU-MIMO)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MU-MIMO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MU-MIMO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941861"/>
                  </a:ext>
                </a:extLst>
              </a:tr>
              <a:tr h="190500">
                <a:tc rowSpan="3">
                  <a:txBody>
                    <a:bodyPr/>
                    <a:lstStyle/>
                    <a:p>
                      <a:pPr algn="l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Maximale Kanalbreite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MHz (2,4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 MHz (5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MHz (2,4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 MHz (2,4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48760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 MHz (5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 MHz (5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 MHz (5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3340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 MHz (6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 MHz (6 GHz)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0703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Modulationsverfahren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64QAM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256QAM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1024QAM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de-DE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4096QAM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8495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4476" y="404664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83510" y="603251"/>
            <a:ext cx="4480778" cy="512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Aufbau</a:t>
            </a:r>
            <a:r>
              <a:rPr sz="3600" spc="-25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</a:t>
            </a:r>
            <a:r>
              <a:rPr lang="de-DE" sz="3600" dirty="0">
                <a:solidFill>
                  <a:srgbClr val="C00000"/>
                </a:solidFill>
                <a:latin typeface="ATFDDV+Arial"/>
                <a:cs typeface="ATFDDV+Arial"/>
              </a:rPr>
              <a:t>v4</a:t>
            </a:r>
            <a:r>
              <a:rPr sz="3600" spc="-263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Adresse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83510" y="603251"/>
            <a:ext cx="3928027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Aufbau</a:t>
            </a:r>
            <a:r>
              <a:rPr sz="3600" spc="-25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</a:t>
            </a:r>
            <a:r>
              <a:rPr sz="3600" spc="-263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Adresse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76349" y="603251"/>
            <a:ext cx="5742653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Dezimal</a:t>
            </a:r>
            <a:r>
              <a:rPr sz="3600" spc="-28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Binär</a:t>
            </a:r>
            <a:r>
              <a:rPr sz="3600" spc="-12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Umrechnung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7590" y="628967"/>
            <a:ext cx="7622072" cy="492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Reservierte</a:t>
            </a:r>
            <a:r>
              <a:rPr sz="32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IP-Adressen</a:t>
            </a:r>
            <a:r>
              <a:rPr sz="3200" b="1" spc="-2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und</a:t>
            </a:r>
            <a:r>
              <a:rPr sz="3200" b="1" spc="-2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Subnetze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01426"/>
            <a:ext cx="5843350" cy="3227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41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15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Erste</a:t>
            </a:r>
            <a:r>
              <a:rPr sz="2000" b="1" spc="-3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und letzte</a:t>
            </a:r>
            <a:r>
              <a:rPr sz="2000" b="1" spc="-5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IP-Adresse</a:t>
            </a:r>
            <a:r>
              <a:rPr sz="2000" b="1" spc="-24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eines</a:t>
            </a:r>
            <a:r>
              <a:rPr sz="2000" b="1" spc="-12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Subnetzes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1540" y="1845924"/>
            <a:ext cx="7812365" cy="129785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</a:t>
            </a:r>
            <a:r>
              <a:rPr sz="20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erste</a:t>
            </a:r>
            <a:r>
              <a:rPr sz="2000" spc="-3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 letzte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IP-Adresse</a:t>
            </a:r>
            <a:r>
              <a:rPr sz="2000" spc="-3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eines definierten</a:t>
            </a:r>
            <a:r>
              <a:rPr sz="20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Subnetzes</a:t>
            </a:r>
            <a:r>
              <a:rPr sz="20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sind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jeweils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 Subnetz-Adresse</a:t>
            </a:r>
            <a:r>
              <a:rPr sz="2000" spc="-5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beziehungsweise</a:t>
            </a:r>
            <a:r>
              <a:rPr sz="2000" spc="-5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</a:t>
            </a:r>
            <a:r>
              <a:rPr sz="20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Broadcast-</a:t>
            </a:r>
          </a:p>
          <a:p>
            <a:pPr marL="0" marR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Adresse.</a:t>
            </a:r>
            <a:r>
              <a:rPr sz="2000" spc="-5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 Subnetz-Adresse</a:t>
            </a:r>
            <a:r>
              <a:rPr sz="2000" spc="-5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definiert</a:t>
            </a:r>
            <a:r>
              <a:rPr sz="20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das</a:t>
            </a:r>
            <a:r>
              <a:rPr sz="20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Subnetz,</a:t>
            </a:r>
            <a:r>
              <a:rPr sz="2000" spc="-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während</a:t>
            </a:r>
            <a:r>
              <a:rPr sz="2000" spc="-2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</a:t>
            </a:r>
          </a:p>
          <a:p>
            <a:pPr marL="0" marR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Broadcast-Adresse</a:t>
            </a:r>
            <a:r>
              <a:rPr sz="2000" spc="-5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dazu</a:t>
            </a:r>
            <a:r>
              <a:rPr sz="2000" spc="-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dient,</a:t>
            </a:r>
            <a:r>
              <a:rPr sz="20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alle</a:t>
            </a:r>
            <a:r>
              <a:rPr sz="2000" spc="-1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Adressen</a:t>
            </a:r>
            <a:r>
              <a:rPr sz="2000" spc="-4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im Subnetz</a:t>
            </a:r>
          </a:p>
          <a:p>
            <a:pPr marL="0" marR="0">
              <a:lnSpc>
                <a:spcPts val="192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gleichzeitig</a:t>
            </a:r>
            <a:r>
              <a:rPr sz="20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ansprechen</a:t>
            </a:r>
            <a:r>
              <a:rPr sz="2000" spc="-5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zu</a:t>
            </a:r>
            <a:r>
              <a:rPr sz="2000" spc="-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können.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3431138"/>
            <a:ext cx="4584408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15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0.0.0.0/8</a:t>
            </a:r>
            <a:r>
              <a:rPr sz="2000" b="1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(0.0.0.0</a:t>
            </a:r>
            <a:r>
              <a:rPr sz="2000" spc="-4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bis</a:t>
            </a:r>
            <a:r>
              <a:rPr sz="20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0.255.255.255)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1540" y="3674978"/>
            <a:ext cx="7611348" cy="5662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IP-Adressen</a:t>
            </a:r>
            <a:r>
              <a:rPr sz="2000" spc="-6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in diesem</a:t>
            </a:r>
            <a:r>
              <a:rPr sz="20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Bereich</a:t>
            </a:r>
            <a:r>
              <a:rPr sz="20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dienen</a:t>
            </a:r>
            <a:r>
              <a:rPr sz="20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als so</a:t>
            </a:r>
            <a:r>
              <a:rPr sz="2000" spc="-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genannte</a:t>
            </a:r>
            <a:r>
              <a:rPr sz="2000" spc="-2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"Standard-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Routen",</a:t>
            </a:r>
            <a:r>
              <a:rPr sz="2000" spc="-3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stehen</a:t>
            </a:r>
            <a:r>
              <a:rPr sz="2000" spc="-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also</a:t>
            </a:r>
            <a:r>
              <a:rPr sz="20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für</a:t>
            </a:r>
            <a:r>
              <a:rPr sz="20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das</a:t>
            </a:r>
            <a:r>
              <a:rPr sz="20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Subnetz</a:t>
            </a:r>
            <a:r>
              <a:rPr sz="20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selbst.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4528799"/>
            <a:ext cx="5009410" cy="3224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2000" spc="15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000000"/>
                </a:solidFill>
                <a:latin typeface="Arial"/>
                <a:cs typeface="Arial"/>
              </a:rPr>
              <a:t>10.0.0.0/8</a:t>
            </a:r>
            <a:r>
              <a:rPr sz="2000" b="1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(10.0.0.0</a:t>
            </a:r>
            <a:r>
              <a:rPr sz="2000" spc="-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bis</a:t>
            </a:r>
            <a:r>
              <a:rPr sz="2000" spc="-1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10.255.255.255)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1540" y="4772639"/>
            <a:ext cx="7749248" cy="10542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238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Dieser</a:t>
            </a:r>
            <a:r>
              <a:rPr sz="2000" spc="-3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komplette</a:t>
            </a:r>
            <a:r>
              <a:rPr sz="20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/8-Bereich</a:t>
            </a:r>
            <a:r>
              <a:rPr sz="2000" spc="-4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ist reserviert</a:t>
            </a:r>
            <a:r>
              <a:rPr sz="2000" spc="-5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für</a:t>
            </a:r>
            <a:r>
              <a:rPr sz="20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private</a:t>
            </a:r>
            <a:r>
              <a:rPr sz="20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Netzwerke.</a:t>
            </a:r>
            <a:r>
              <a:rPr sz="2000" spc="-16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Alle</a:t>
            </a:r>
          </a:p>
          <a:p>
            <a:pPr marL="0" marR="0">
              <a:lnSpc>
                <a:spcPts val="1920"/>
              </a:lnSpc>
              <a:spcBef>
                <a:spcPts val="5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IP-Adressen</a:t>
            </a:r>
            <a:r>
              <a:rPr sz="2000" spc="-6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aus diesem</a:t>
            </a:r>
            <a:r>
              <a:rPr sz="20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Bereich</a:t>
            </a:r>
            <a:r>
              <a:rPr sz="20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werden</a:t>
            </a:r>
            <a:r>
              <a:rPr sz="20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nicht</a:t>
            </a:r>
            <a:r>
              <a:rPr sz="20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im</a:t>
            </a:r>
            <a:r>
              <a:rPr sz="20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Internet</a:t>
            </a:r>
            <a:r>
              <a:rPr sz="2000" spc="-2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geroutet</a:t>
            </a:r>
          </a:p>
          <a:p>
            <a:pPr marL="0" marR="0">
              <a:lnSpc>
                <a:spcPts val="1919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  <a:r>
              <a:rPr sz="2000" spc="-2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dienen</a:t>
            </a:r>
            <a:r>
              <a:rPr sz="20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dazu,</a:t>
            </a:r>
            <a:r>
              <a:rPr sz="2000" spc="-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interne</a:t>
            </a:r>
            <a:r>
              <a:rPr sz="2000" spc="-2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Netzwerke</a:t>
            </a:r>
            <a:r>
              <a:rPr sz="2000" spc="-4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aufzubauen,</a:t>
            </a:r>
            <a:r>
              <a:rPr sz="2000" spc="-5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ohne</a:t>
            </a:r>
            <a:r>
              <a:rPr sz="2000" spc="-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dafür</a:t>
            </a:r>
          </a:p>
          <a:p>
            <a:pPr marL="0" marR="0">
              <a:lnSpc>
                <a:spcPts val="1922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öffentliche</a:t>
            </a:r>
            <a:r>
              <a:rPr sz="2000" spc="-3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IP-Adressen</a:t>
            </a:r>
            <a:r>
              <a:rPr sz="2000" spc="-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zu</a:t>
            </a:r>
            <a:r>
              <a:rPr sz="2000" spc="-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000" dirty="0">
                <a:solidFill>
                  <a:srgbClr val="000000"/>
                </a:solidFill>
                <a:latin typeface="ATFDDV+Arial"/>
                <a:cs typeface="ATFDDV+Arial"/>
              </a:rPr>
              <a:t>benötigen.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37590" y="628967"/>
            <a:ext cx="7622072" cy="4926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579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Reservierte</a:t>
            </a:r>
            <a:r>
              <a:rPr sz="3200" b="1" spc="-25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IP-Adressen</a:t>
            </a:r>
            <a:r>
              <a:rPr sz="3200" b="1" spc="-21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und</a:t>
            </a:r>
            <a:r>
              <a:rPr sz="3200" b="1" spc="-24" dirty="0">
                <a:solidFill>
                  <a:srgbClr val="C00000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C00000"/>
                </a:solidFill>
                <a:latin typeface="Arial"/>
                <a:cs typeface="Arial"/>
              </a:rPr>
              <a:t>Subnetze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640" y="1613927"/>
            <a:ext cx="4208210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500" spc="1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127.0.0.0/8</a:t>
            </a:r>
            <a:r>
              <a:rPr sz="1500" b="1" spc="-43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(127.0.0.0</a:t>
            </a:r>
            <a:r>
              <a:rPr sz="1500" spc="-4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bis 127.255.255.255)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891540" y="1797188"/>
            <a:ext cx="7626381" cy="7995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IP-Adressen</a:t>
            </a:r>
            <a:r>
              <a:rPr sz="1500" spc="-4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aus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diesem</a:t>
            </a:r>
            <a:r>
              <a:rPr sz="15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Bereich</a:t>
            </a:r>
            <a:r>
              <a:rPr sz="15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sind reserviert</a:t>
            </a:r>
            <a:r>
              <a:rPr sz="15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für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den so genannten</a:t>
            </a:r>
            <a:r>
              <a:rPr sz="1500" spc="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i="1" dirty="0">
                <a:solidFill>
                  <a:srgbClr val="000000"/>
                </a:solidFill>
                <a:latin typeface="Arial"/>
                <a:cs typeface="Arial"/>
              </a:rPr>
              <a:t>Local</a:t>
            </a:r>
            <a:r>
              <a:rPr sz="1500" i="1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i="1" dirty="0">
                <a:solidFill>
                  <a:srgbClr val="000000"/>
                </a:solidFill>
                <a:latin typeface="Arial"/>
                <a:cs typeface="Arial"/>
              </a:rPr>
              <a:t>Loop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.</a:t>
            </a:r>
            <a:r>
              <a:rPr sz="1500" spc="-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Damit</a:t>
            </a:r>
          </a:p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ist</a:t>
            </a:r>
            <a:r>
              <a:rPr sz="1500" spc="-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für gewöhnlich der eigene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Rechner gemeint.</a:t>
            </a:r>
            <a:r>
              <a:rPr sz="15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Wenn</a:t>
            </a:r>
            <a:r>
              <a:rPr sz="1500" spc="-58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Sie</a:t>
            </a:r>
            <a:r>
              <a:rPr sz="1500" spc="1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also beispielsweise</a:t>
            </a:r>
            <a:r>
              <a:rPr sz="15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von</a:t>
            </a:r>
            <a:r>
              <a:rPr sz="15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Ihrem</a:t>
            </a:r>
          </a:p>
          <a:p>
            <a:pPr marL="0" marR="0">
              <a:lnSpc>
                <a:spcPts val="1439"/>
              </a:lnSpc>
              <a:spcBef>
                <a:spcPts val="5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eigenen</a:t>
            </a:r>
            <a:r>
              <a:rPr sz="1500" spc="-3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Rechner eine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IP-Adresse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aus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diesem</a:t>
            </a:r>
            <a:r>
              <a:rPr sz="15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Bereich anpingen,</a:t>
            </a:r>
            <a:r>
              <a:rPr sz="1500" spc="-3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bekommen Sie die</a:t>
            </a:r>
          </a:p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Antwort</a:t>
            </a:r>
            <a:r>
              <a:rPr sz="1500" spc="-1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von</a:t>
            </a:r>
            <a:r>
              <a:rPr sz="1500" spc="2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Ihrem</a:t>
            </a:r>
            <a:r>
              <a:rPr sz="1500" spc="-2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eigenen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Rechner.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48640" y="2803028"/>
            <a:ext cx="4739705" cy="25092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500" spc="1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169.254.0.0/16</a:t>
            </a:r>
            <a:r>
              <a:rPr sz="150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(169.254.0.0</a:t>
            </a:r>
            <a:r>
              <a:rPr sz="1500" spc="-5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bis 169.254.255.255)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91540" y="2985886"/>
            <a:ext cx="7851338" cy="98271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8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IP-Adressen</a:t>
            </a:r>
            <a:r>
              <a:rPr sz="1500" spc="-4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aus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diesem</a:t>
            </a:r>
            <a:r>
              <a:rPr sz="15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Bereich</a:t>
            </a:r>
            <a:r>
              <a:rPr sz="15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sind reserviert</a:t>
            </a:r>
            <a:r>
              <a:rPr sz="1500" spc="-1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für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den so genannten</a:t>
            </a:r>
            <a:r>
              <a:rPr sz="1500" spc="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i="1" dirty="0">
                <a:solidFill>
                  <a:srgbClr val="000000"/>
                </a:solidFill>
                <a:latin typeface="Arial"/>
                <a:cs typeface="Arial"/>
              </a:rPr>
              <a:t>Local</a:t>
            </a:r>
            <a:r>
              <a:rPr sz="1500" i="1" spc="18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1500" i="1" dirty="0">
                <a:solidFill>
                  <a:srgbClr val="000000"/>
                </a:solidFill>
                <a:latin typeface="Arial"/>
                <a:cs typeface="Arial"/>
              </a:rPr>
              <a:t>Link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.</a:t>
            </a:r>
            <a:r>
              <a:rPr sz="1500" spc="-10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Adressen</a:t>
            </a:r>
          </a:p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aus</a:t>
            </a:r>
            <a:r>
              <a:rPr sz="1500" spc="-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diesem</a:t>
            </a:r>
            <a:r>
              <a:rPr sz="15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Bereich</a:t>
            </a:r>
            <a:r>
              <a:rPr sz="15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werden genutzt,</a:t>
            </a:r>
            <a:r>
              <a:rPr sz="1500" spc="-4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wenn</a:t>
            </a:r>
            <a:r>
              <a:rPr sz="1500" spc="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Rechner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in einem</a:t>
            </a:r>
            <a:r>
              <a:rPr sz="1500" spc="-1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gemeinsamen</a:t>
            </a:r>
            <a:r>
              <a:rPr sz="15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Netz</a:t>
            </a:r>
          </a:p>
          <a:p>
            <a:pPr marL="0" marR="0">
              <a:lnSpc>
                <a:spcPts val="1439"/>
              </a:lnSpc>
              <a:spcBef>
                <a:spcPts val="5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miteinander</a:t>
            </a:r>
            <a:r>
              <a:rPr sz="1500" spc="-3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kommunizieren</a:t>
            </a:r>
            <a:r>
              <a:rPr sz="1500" spc="-3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sollen.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Diesen</a:t>
            </a:r>
            <a:r>
              <a:rPr sz="1500" spc="-9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Adressbereich</a:t>
            </a:r>
            <a:r>
              <a:rPr sz="1500" spc="-4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nutzen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beispielsweise Rechner,</a:t>
            </a:r>
          </a:p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wenn sie eine IP-Adresse</a:t>
            </a:r>
            <a:r>
              <a:rPr sz="1500" spc="-3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automatisch</a:t>
            </a:r>
            <a:r>
              <a:rPr sz="1500" spc="-3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von</a:t>
            </a:r>
            <a:r>
              <a:rPr sz="1500" spc="1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einem</a:t>
            </a:r>
            <a:r>
              <a:rPr sz="1500" spc="-1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DHCP-Server</a:t>
            </a:r>
            <a:r>
              <a:rPr sz="1500" spc="2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beziehen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sollen,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diesen</a:t>
            </a:r>
          </a:p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aber</a:t>
            </a:r>
            <a:r>
              <a:rPr sz="1500" spc="-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nicht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finden.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48640" y="4174987"/>
            <a:ext cx="4420752" cy="2512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8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500" spc="1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172.16.0.0/12</a:t>
            </a:r>
            <a:r>
              <a:rPr sz="1500" b="1" spc="-41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(172.16.0.0</a:t>
            </a:r>
            <a:r>
              <a:rPr sz="1500" spc="-4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bis 172.31.255.255)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91540" y="4358143"/>
            <a:ext cx="7681943" cy="4338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Ebenfalls</a:t>
            </a:r>
            <a:r>
              <a:rPr sz="15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ein</a:t>
            </a:r>
            <a:r>
              <a:rPr sz="1500" spc="-8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Adressbereich,</a:t>
            </a:r>
            <a:r>
              <a:rPr sz="1500" spc="-4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der für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die Nutzung</a:t>
            </a:r>
            <a:r>
              <a:rPr sz="15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in privaten Netzwerken reserviert ist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</a:p>
          <a:p>
            <a:pPr marL="0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nicht</a:t>
            </a:r>
            <a:r>
              <a:rPr sz="1500" spc="-33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im Internet</a:t>
            </a:r>
            <a:r>
              <a:rPr sz="1500" spc="-4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geroutet</a:t>
            </a:r>
            <a:r>
              <a:rPr sz="1500" spc="-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wird.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48640" y="4998223"/>
            <a:ext cx="8024843" cy="61674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1675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C00000"/>
                </a:solidFill>
                <a:latin typeface="Arial"/>
                <a:cs typeface="Arial"/>
              </a:rPr>
              <a:t>•</a:t>
            </a:r>
            <a:r>
              <a:rPr sz="1500" spc="1800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1500" b="1" dirty="0">
                <a:solidFill>
                  <a:srgbClr val="000000"/>
                </a:solidFill>
                <a:latin typeface="Arial"/>
                <a:cs typeface="Arial"/>
              </a:rPr>
              <a:t>192.168.0.0/16</a:t>
            </a:r>
            <a:r>
              <a:rPr sz="1500" b="1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(192.168.0.0</a:t>
            </a:r>
            <a:r>
              <a:rPr sz="1500" spc="-52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bis 192.168.255.255)</a:t>
            </a:r>
          </a:p>
          <a:p>
            <a:pPr marL="342899" marR="0">
              <a:lnSpc>
                <a:spcPts val="1439"/>
              </a:lnSpc>
              <a:spcBef>
                <a:spcPts val="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Ebenfalls</a:t>
            </a:r>
            <a:r>
              <a:rPr sz="1500" spc="-3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ein</a:t>
            </a:r>
            <a:r>
              <a:rPr sz="1500" spc="-8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Adressbereich,</a:t>
            </a:r>
            <a:r>
              <a:rPr sz="1500" spc="-45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der für</a:t>
            </a:r>
            <a:r>
              <a:rPr sz="1500" spc="-20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die Nutzung</a:t>
            </a:r>
            <a:r>
              <a:rPr sz="1500" spc="-19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in privaten Netzwerken reserviert ist</a:t>
            </a:r>
            <a:r>
              <a:rPr sz="1500" spc="-21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und</a:t>
            </a:r>
          </a:p>
          <a:p>
            <a:pPr marL="342899" marR="0">
              <a:lnSpc>
                <a:spcPts val="1439"/>
              </a:lnSpc>
              <a:spcBef>
                <a:spcPts val="50"/>
              </a:spcBef>
              <a:spcAft>
                <a:spcPts val="0"/>
              </a:spcAft>
            </a:pP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nicht</a:t>
            </a:r>
            <a:r>
              <a:rPr sz="1500" spc="-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im Internet</a:t>
            </a:r>
            <a:r>
              <a:rPr sz="1500" spc="-46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geroutet</a:t>
            </a:r>
            <a:r>
              <a:rPr sz="1500" spc="-34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1500" dirty="0">
                <a:solidFill>
                  <a:srgbClr val="000000"/>
                </a:solidFill>
                <a:latin typeface="ATFDDV+Arial"/>
                <a:cs typeface="ATFDDV+Arial"/>
              </a:rPr>
              <a:t>wird.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14482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23728" y="260648"/>
            <a:ext cx="391248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Berechnung</a:t>
            </a:r>
            <a:r>
              <a:rPr sz="3600" spc="-34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NetID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51907" y="476672"/>
            <a:ext cx="704018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Benutzerdefinierte</a:t>
            </a:r>
            <a:r>
              <a:rPr sz="3600" spc="-41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Subnetmasken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14374" y="603251"/>
            <a:ext cx="7268787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Benutzerdefinierte</a:t>
            </a:r>
            <a:r>
              <a:rPr sz="3600" spc="-41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Subnetzmasken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067944" y="260648"/>
            <a:ext cx="2339257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Subnetting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5472" y="-4213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35896" y="332656"/>
            <a:ext cx="2339257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Subnetting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91880" y="260648"/>
            <a:ext cx="2339257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Subnetting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923928" y="260648"/>
            <a:ext cx="2339257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Subnetting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635896" y="332656"/>
            <a:ext cx="2339257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Subnetting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15548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9792" y="188640"/>
            <a:ext cx="4374254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Berechnungsformeln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059832" y="404664"/>
            <a:ext cx="3510604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Hostberechnung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83768" y="332656"/>
            <a:ext cx="4476667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Netzwerkberechnung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114546" y="603251"/>
            <a:ext cx="1067326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IPv6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74566" y="2694727"/>
            <a:ext cx="747918" cy="43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2</a:t>
            </a:r>
            <a:r>
              <a:rPr sz="2800" spc="15" baseline="29999" dirty="0">
                <a:solidFill>
                  <a:srgbClr val="000000"/>
                </a:solidFill>
                <a:latin typeface="ATFDDV+Arial"/>
                <a:cs typeface="ATFDDV+Arial"/>
              </a:rPr>
              <a:t>128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07641" y="3207045"/>
            <a:ext cx="4880114" cy="4352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3123"/>
              </a:lnSpc>
              <a:spcBef>
                <a:spcPts val="0"/>
              </a:spcBef>
              <a:spcAft>
                <a:spcPts val="0"/>
              </a:spcAft>
            </a:pPr>
            <a:r>
              <a:rPr sz="2800" dirty="0">
                <a:solidFill>
                  <a:srgbClr val="000000"/>
                </a:solidFill>
                <a:latin typeface="Arial"/>
                <a:cs typeface="Arial"/>
              </a:rPr>
              <a:t>(≈</a:t>
            </a:r>
            <a:r>
              <a:rPr sz="28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340 Sextillionen =</a:t>
            </a:r>
            <a:r>
              <a:rPr sz="2800" spc="17" dirty="0">
                <a:solidFill>
                  <a:srgbClr val="000000"/>
                </a:solidFill>
                <a:latin typeface="ATFDDV+Arial"/>
                <a:cs typeface="ATFDDV+Arial"/>
              </a:rPr>
              <a:t> 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3,4·10</a:t>
            </a:r>
            <a:r>
              <a:rPr sz="2800" spc="15" baseline="29999" dirty="0">
                <a:solidFill>
                  <a:srgbClr val="000000"/>
                </a:solidFill>
                <a:latin typeface="ATFDDV+Arial"/>
                <a:cs typeface="ATFDDV+Arial"/>
              </a:rPr>
              <a:t>38</a:t>
            </a:r>
            <a:r>
              <a:rPr sz="2800" dirty="0">
                <a:solidFill>
                  <a:srgbClr val="000000"/>
                </a:solidFill>
                <a:latin typeface="ATFDDV+Arial"/>
                <a:cs typeface="ATFDDV+Arial"/>
              </a:rPr>
              <a:t>)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71800" y="332656"/>
            <a:ext cx="4090332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IPv6</a:t>
            </a:r>
            <a:r>
              <a:rPr sz="3600" spc="-213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Adressbereich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9792" y="332656"/>
            <a:ext cx="4090332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IPv6</a:t>
            </a:r>
            <a:r>
              <a:rPr sz="3600" spc="-213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Adressbereich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99792" y="260648"/>
            <a:ext cx="4473473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Binär</a:t>
            </a:r>
            <a:r>
              <a:rPr sz="3600" spc="-22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in Hexadezimal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27784" y="332656"/>
            <a:ext cx="436876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Darstellung</a:t>
            </a:r>
            <a:r>
              <a:rPr sz="3600" spc="-30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von IPv6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03881" y="603251"/>
            <a:ext cx="4089418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Aufteilung</a:t>
            </a:r>
            <a:r>
              <a:rPr sz="3600" spc="-19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von IPv6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131840" y="260648"/>
            <a:ext cx="375794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Globale</a:t>
            </a:r>
            <a:r>
              <a:rPr sz="3600" spc="-231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Adressen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771800" y="260648"/>
            <a:ext cx="4265441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Link-Local</a:t>
            </a:r>
            <a:r>
              <a:rPr sz="3600" spc="-238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Adressen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411760" y="260648"/>
            <a:ext cx="4850199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Unique</a:t>
            </a:r>
            <a:r>
              <a:rPr sz="3600" spc="-33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Local</a:t>
            </a:r>
            <a:r>
              <a:rPr sz="3600" spc="-201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Adressen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727581" y="603251"/>
            <a:ext cx="5843621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Autokonfiguration</a:t>
            </a:r>
            <a:r>
              <a:rPr sz="3600" spc="-30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vs. DHCP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491880" y="260648"/>
            <a:ext cx="2615405" cy="5488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4021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IPv6</a:t>
            </a:r>
            <a:r>
              <a:rPr sz="3600" spc="-15" dirty="0">
                <a:solidFill>
                  <a:srgbClr val="C00000"/>
                </a:solidFill>
                <a:latin typeface="ATFDDV+Arial"/>
                <a:cs typeface="ATFDDV+Arial"/>
              </a:rPr>
              <a:t> </a:t>
            </a:r>
            <a:r>
              <a:rPr sz="3600" dirty="0">
                <a:solidFill>
                  <a:srgbClr val="C00000"/>
                </a:solidFill>
                <a:latin typeface="ATFDDV+Arial"/>
                <a:cs typeface="ATFDDV+Arial"/>
              </a:rPr>
              <a:t>Präfixe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7A68677-8D6F-4E2D-8F98-4E96F10EA45F}"/>
</file>

<file path=customXml/itemProps2.xml><?xml version="1.0" encoding="utf-8"?>
<ds:datastoreItem xmlns:ds="http://schemas.openxmlformats.org/officeDocument/2006/customXml" ds:itemID="{27FCDD8B-8E5B-4D3A-ACF3-E812B790B545}"/>
</file>

<file path=customXml/itemProps3.xml><?xml version="1.0" encoding="utf-8"?>
<ds:datastoreItem xmlns:ds="http://schemas.openxmlformats.org/officeDocument/2006/customXml" ds:itemID="{08C2422E-1E66-47F4-BD50-B6BE378607A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2750</Words>
  <Application>Microsoft Office PowerPoint</Application>
  <PresentationFormat>Bildschirmpräsentation (4:3)</PresentationFormat>
  <Paragraphs>677</Paragraphs>
  <Slides>94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94</vt:i4>
      </vt:variant>
    </vt:vector>
  </HeadingPairs>
  <TitlesOfParts>
    <vt:vector size="99" baseType="lpstr">
      <vt:lpstr>Arial</vt:lpstr>
      <vt:lpstr>Calibri</vt:lpstr>
      <vt:lpstr>ATFDDV+Arial</vt:lpstr>
      <vt:lpstr>Times New Roman</vt:lpstr>
      <vt:lpstr>Theme 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Übertragungsmedien</vt:lpstr>
      <vt:lpstr>PowerPoint-Präsentation</vt:lpstr>
      <vt:lpstr>Übertragungsmedien </vt:lpstr>
      <vt:lpstr>PowerPoint-Präsentation</vt:lpstr>
      <vt:lpstr>Übertragungsmedien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doc2pdf</dc:creator>
  <cp:lastModifiedBy>Specht, Sven</cp:lastModifiedBy>
  <cp:revision>11</cp:revision>
  <dcterms:modified xsi:type="dcterms:W3CDTF">2025-07-21T16:51:39Z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