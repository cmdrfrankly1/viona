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18600" cy="6832600"/>
  <p:notesSz cx="9118600" cy="68326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1509" autoAdjust="0"/>
  </p:normalViewPr>
  <p:slideViewPr>
    <p:cSldViewPr>
      <p:cViewPr varScale="1">
        <p:scale>
          <a:sx n="68" d="100"/>
          <a:sy n="68" d="100"/>
        </p:scale>
        <p:origin x="285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65725" y="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F8358-67D6-4FBB-8781-A9C433F685C1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019425" y="854075"/>
            <a:ext cx="3079750" cy="2306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1225" y="3287713"/>
            <a:ext cx="7296150" cy="269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48970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65725" y="648970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DBC6-75AC-42B9-8D55-D8C0A47AA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4834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e.wikipedia.org/wiki/Digital_Object_Identifier#cite_note-TIBVertragDZ-1" TargetMode="External"/><Relationship Id="rId13" Type="http://schemas.openxmlformats.org/officeDocument/2006/relationships/hyperlink" Target="https://de.wikipedia.org/wiki/Internationale_Standardbuchnummer" TargetMode="External"/><Relationship Id="rId3" Type="http://schemas.openxmlformats.org/officeDocument/2006/relationships/hyperlink" Target="https://de.wikipedia.org/wiki/ISO" TargetMode="External"/><Relationship Id="rId7" Type="http://schemas.openxmlformats.org/officeDocument/2006/relationships/hyperlink" Target="https://de.wikipedia.org/wiki/Integrit%C3%A4t_(Informationssicherheit)" TargetMode="External"/><Relationship Id="rId12" Type="http://schemas.openxmlformats.org/officeDocument/2006/relationships/hyperlink" Target="https://de.wikipedia.org/wiki/Digital_Object_Identifier#cite_note-4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e.wikipedia.org/wiki/Identifikator" TargetMode="External"/><Relationship Id="rId11" Type="http://schemas.openxmlformats.org/officeDocument/2006/relationships/hyperlink" Target="https://de.wikipedia.org/wiki/Digital_Object_Identifier#cite_note-3" TargetMode="External"/><Relationship Id="rId5" Type="http://schemas.openxmlformats.org/officeDocument/2006/relationships/hyperlink" Target="https://de.wikipedia.org/wiki/Digitale_Daten" TargetMode="External"/><Relationship Id="rId10" Type="http://schemas.openxmlformats.org/officeDocument/2006/relationships/hyperlink" Target="https://de.wikipedia.org/wiki/Digital_Object_Identifier#cite_note-2" TargetMode="External"/><Relationship Id="rId4" Type="http://schemas.openxmlformats.org/officeDocument/2006/relationships/hyperlink" Target="https://de.wikipedia.org/wiki/Liste_von_ISO-Normen#ISO_20000&#8211;29999" TargetMode="External"/><Relationship Id="rId9" Type="http://schemas.openxmlformats.org/officeDocument/2006/relationships/hyperlink" Target="https://de.wikipedia.org/wiki/Handle-System" TargetMode="External"/><Relationship Id="rId14" Type="http://schemas.openxmlformats.org/officeDocument/2006/relationships/hyperlink" Target="https://de.wikipedia.org/wiki/Internationale_Standardseriennummer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 </a:t>
            </a:r>
            <a:r>
              <a:rPr lang="de-DE" b="1" dirty="0"/>
              <a:t>Digital </a:t>
            </a:r>
            <a:r>
              <a:rPr lang="de-DE" b="1" dirty="0" err="1"/>
              <a:t>Object</a:t>
            </a:r>
            <a:r>
              <a:rPr lang="de-DE" b="1" dirty="0"/>
              <a:t> Identifier</a:t>
            </a:r>
            <a:r>
              <a:rPr lang="de-DE" dirty="0"/>
              <a:t> (</a:t>
            </a:r>
            <a:r>
              <a:rPr lang="de-DE" b="1" dirty="0"/>
              <a:t>DOI</a:t>
            </a:r>
            <a:r>
              <a:rPr lang="de-DE" dirty="0"/>
              <a:t>; deutsch </a:t>
            </a:r>
            <a:r>
              <a:rPr lang="de-DE" i="1" dirty="0"/>
              <a:t>Digitaler Objektbezeichner</a:t>
            </a:r>
            <a:r>
              <a:rPr lang="de-DE" dirty="0"/>
              <a:t>) nach </a:t>
            </a:r>
            <a:r>
              <a:rPr lang="de-DE" b="1" dirty="0">
                <a:hlinkClick r:id="rId3" tooltip="ISO"/>
              </a:rPr>
              <a:t>ISO</a:t>
            </a:r>
            <a:r>
              <a:rPr lang="de-DE" b="1" dirty="0"/>
              <a:t> </a:t>
            </a:r>
            <a:r>
              <a:rPr lang="de-DE" b="1" dirty="0">
                <a:hlinkClick r:id="rId4" tooltip="Liste von ISO-Normen"/>
              </a:rPr>
              <a:t>26324</a:t>
            </a:r>
            <a:r>
              <a:rPr lang="de-DE" dirty="0"/>
              <a:t> soll ein eindeutiger und dauerhafter </a:t>
            </a:r>
            <a:r>
              <a:rPr lang="de-DE" dirty="0">
                <a:hlinkClick r:id="rId5" tooltip="Digitale Daten"/>
              </a:rPr>
              <a:t>digitaler</a:t>
            </a:r>
            <a:r>
              <a:rPr lang="de-DE" dirty="0"/>
              <a:t> </a:t>
            </a:r>
            <a:r>
              <a:rPr lang="de-DE" dirty="0" err="1">
                <a:hlinkClick r:id="rId6" tooltip="Identifikator"/>
              </a:rPr>
              <a:t>Identifikator</a:t>
            </a:r>
            <a:r>
              <a:rPr lang="de-DE" dirty="0"/>
              <a:t> für physische, digitale oder abstrakte Objekte sein. Er wird vor allem für Online-Artikel wissenschaftlicher Fachzeitschriften verwendet. Verantwortlich für </a:t>
            </a:r>
            <a:r>
              <a:rPr lang="de-DE" dirty="0">
                <a:hlinkClick r:id="rId7" tooltip="Integrität (Informationssicherheit)"/>
              </a:rPr>
              <a:t>Integrität</a:t>
            </a:r>
            <a:r>
              <a:rPr lang="de-DE" dirty="0"/>
              <a:t> und Dauerhaftigkeit eines DOI ist die Organisation, die auch die Verantwortung für das jeweilige Objekt trägt.</a:t>
            </a:r>
            <a:r>
              <a:rPr lang="de-DE" baseline="30000" dirty="0">
                <a:hlinkClick r:id="rId8"/>
              </a:rPr>
              <a:t>[1]</a:t>
            </a:r>
            <a:r>
              <a:rPr lang="de-DE" dirty="0"/>
              <a:t> Das DOI-System baut auf dem </a:t>
            </a:r>
            <a:r>
              <a:rPr lang="de-DE" dirty="0">
                <a:hlinkClick r:id="rId9" tooltip="Handle-System"/>
              </a:rPr>
              <a:t>Handle-System</a:t>
            </a:r>
            <a:r>
              <a:rPr lang="de-DE" dirty="0"/>
              <a:t> auf</a:t>
            </a:r>
            <a:r>
              <a:rPr lang="de-DE" baseline="30000" dirty="0">
                <a:hlinkClick r:id="rId10"/>
              </a:rPr>
              <a:t>[2]</a:t>
            </a:r>
            <a:r>
              <a:rPr lang="de-DE" baseline="30000" dirty="0">
                <a:hlinkClick r:id="rId11"/>
              </a:rPr>
              <a:t>[3]</a:t>
            </a:r>
            <a:r>
              <a:rPr lang="de-DE" baseline="30000" dirty="0">
                <a:hlinkClick r:id="rId12"/>
              </a:rPr>
              <a:t>[4]</a:t>
            </a:r>
            <a:r>
              <a:rPr lang="de-DE" dirty="0"/>
              <a:t> und ist vereinfacht ausgedrückt mit </a:t>
            </a:r>
            <a:r>
              <a:rPr lang="de-DE" dirty="0">
                <a:hlinkClick r:id="rId13" tooltip="Internationale Standardbuchnummer"/>
              </a:rPr>
              <a:t>ISBN</a:t>
            </a:r>
            <a:r>
              <a:rPr lang="de-DE" dirty="0"/>
              <a:t> und </a:t>
            </a:r>
            <a:r>
              <a:rPr lang="de-DE" dirty="0">
                <a:hlinkClick r:id="rId14" tooltip="Internationale Standardseriennummer"/>
              </a:rPr>
              <a:t>ISSN</a:t>
            </a:r>
            <a:r>
              <a:rPr lang="de-DE" dirty="0"/>
              <a:t> vergleichbar, soll jedoch durch eine integrierte Lokalisierungsfunktion darüber hinausgehen.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DDBC6-75AC-42B9-8D55-D8C0A47AA0E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638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3895" y="2118106"/>
            <a:ext cx="7750810" cy="14348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67790" y="3826256"/>
            <a:ext cx="6383020" cy="170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5930" y="1571498"/>
            <a:ext cx="3966591" cy="4509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96079" y="1571498"/>
            <a:ext cx="3966591" cy="4509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24229" y="836422"/>
            <a:ext cx="6470141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2647" y="1900936"/>
            <a:ext cx="7893304" cy="4041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0324" y="6354318"/>
            <a:ext cx="2917952" cy="34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5930" y="6354318"/>
            <a:ext cx="2097278" cy="34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65392" y="6354318"/>
            <a:ext cx="2097278" cy="34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0884" y="2024380"/>
            <a:ext cx="14255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IPsec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3015" y="836422"/>
            <a:ext cx="25139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Gliederung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1777798"/>
            <a:ext cx="7691755" cy="4515485"/>
          </a:xfrm>
          <a:prstGeom prst="rect">
            <a:avLst/>
          </a:prstGeom>
        </p:spPr>
        <p:txBody>
          <a:bodyPr vert="horz" wrap="square" lIns="0" tIns="227329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78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IPsec? - Motivation, Grundbegriffe,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Einführung</a:t>
            </a:r>
            <a:endParaRPr sz="28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168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Funktion und Aufbau von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Ipsec</a:t>
            </a:r>
            <a:endParaRPr sz="2800">
              <a:latin typeface="Arial"/>
              <a:cs typeface="Arial"/>
            </a:endParaRPr>
          </a:p>
          <a:p>
            <a:pPr marL="1711325" lvl="1" indent="-327660">
              <a:lnSpc>
                <a:spcPct val="100000"/>
              </a:lnSpc>
              <a:spcBef>
                <a:spcPts val="1690"/>
              </a:spcBef>
              <a:buChar char="–"/>
              <a:tabLst>
                <a:tab pos="1711960" algn="l"/>
              </a:tabLst>
            </a:pPr>
            <a:r>
              <a:rPr sz="2800" spc="-5" dirty="0">
                <a:latin typeface="Arial"/>
                <a:cs typeface="Arial"/>
              </a:rPr>
              <a:t>ESP v.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AH</a:t>
            </a:r>
            <a:endParaRPr sz="2800">
              <a:latin typeface="Arial"/>
              <a:cs typeface="Arial"/>
            </a:endParaRPr>
          </a:p>
          <a:p>
            <a:pPr marL="1711325" lvl="1" indent="-327660">
              <a:lnSpc>
                <a:spcPct val="100000"/>
              </a:lnSpc>
              <a:spcBef>
                <a:spcPts val="1689"/>
              </a:spcBef>
              <a:buChar char="–"/>
              <a:tabLst>
                <a:tab pos="1711960" algn="l"/>
              </a:tabLst>
            </a:pPr>
            <a:r>
              <a:rPr sz="2800" spc="-5" dirty="0">
                <a:latin typeface="Arial"/>
                <a:cs typeface="Arial"/>
              </a:rPr>
              <a:t>Security </a:t>
            </a:r>
            <a:r>
              <a:rPr sz="2800" dirty="0">
                <a:latin typeface="Arial"/>
                <a:cs typeface="Arial"/>
              </a:rPr>
              <a:t>Association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(SA)</a:t>
            </a:r>
            <a:endParaRPr sz="2800">
              <a:latin typeface="Arial"/>
              <a:cs typeface="Arial"/>
            </a:endParaRPr>
          </a:p>
          <a:p>
            <a:pPr marL="1710689" lvl="1" indent="-327025">
              <a:lnSpc>
                <a:spcPct val="100000"/>
              </a:lnSpc>
              <a:spcBef>
                <a:spcPts val="1689"/>
              </a:spcBef>
              <a:buChar char="–"/>
              <a:tabLst>
                <a:tab pos="1711325" algn="l"/>
              </a:tabLst>
            </a:pPr>
            <a:r>
              <a:rPr sz="2800" spc="-5" dirty="0">
                <a:latin typeface="Arial"/>
                <a:cs typeface="Arial"/>
              </a:rPr>
              <a:t>Internet Key Exchange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(IKE)</a:t>
            </a:r>
            <a:endParaRPr sz="28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1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IPsec </a:t>
            </a:r>
            <a:r>
              <a:rPr sz="2800" spc="-5" dirty="0">
                <a:latin typeface="Arial"/>
                <a:cs typeface="Arial"/>
              </a:rPr>
              <a:t>und </a:t>
            </a:r>
            <a:r>
              <a:rPr sz="2800" dirty="0">
                <a:latin typeface="Arial"/>
                <a:cs typeface="Arial"/>
              </a:rPr>
              <a:t>Virtual Private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Networks</a:t>
            </a:r>
            <a:endParaRPr sz="28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168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Probleme, Performance,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Zukunft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8359" y="836422"/>
            <a:ext cx="23418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138675" y="1968498"/>
            <a:ext cx="4954274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1357" y="834898"/>
            <a:ext cx="31356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Grundbegriffe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601" y="1992375"/>
            <a:ext cx="7230109" cy="3590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Sicherheit hat mehrere</a:t>
            </a:r>
            <a:r>
              <a:rPr sz="2800" spc="-5" dirty="0">
                <a:latin typeface="Arial"/>
                <a:cs typeface="Arial"/>
              </a:rPr>
              <a:t> Aspekte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 dirty="0">
              <a:latin typeface="Arial"/>
              <a:cs typeface="Arial"/>
            </a:endParaRPr>
          </a:p>
          <a:p>
            <a:pPr marL="927100" marR="316230" indent="-17145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Vertraulichkeit </a:t>
            </a:r>
            <a:r>
              <a:rPr sz="2400" dirty="0">
                <a:latin typeface="Arial"/>
                <a:cs typeface="Arial"/>
              </a:rPr>
              <a:t>– </a:t>
            </a:r>
            <a:r>
              <a:rPr sz="2400" i="1" dirty="0">
                <a:latin typeface="Arial"/>
                <a:cs typeface="Arial"/>
              </a:rPr>
              <a:t>Sind die Daten nur für </a:t>
            </a:r>
            <a:r>
              <a:rPr sz="2400" i="1" spc="-5" dirty="0">
                <a:latin typeface="Arial"/>
                <a:cs typeface="Arial"/>
              </a:rPr>
              <a:t>mich  </a:t>
            </a:r>
            <a:r>
              <a:rPr sz="2400" i="1" dirty="0">
                <a:latin typeface="Arial"/>
                <a:cs typeface="Arial"/>
              </a:rPr>
              <a:t>lesbar oder haben auch Unbefugte </a:t>
            </a:r>
            <a:r>
              <a:rPr sz="2400" i="1" spc="-5" dirty="0">
                <a:latin typeface="Arial"/>
                <a:cs typeface="Arial"/>
              </a:rPr>
              <a:t>Zugriff</a:t>
            </a:r>
            <a:r>
              <a:rPr sz="2400" i="1" spc="-9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?</a:t>
            </a:r>
            <a:endParaRPr sz="2400" dirty="0">
              <a:latin typeface="Arial"/>
              <a:cs typeface="Arial"/>
            </a:endParaRPr>
          </a:p>
          <a:p>
            <a:pPr marL="927100" marR="45085" indent="-171450">
              <a:lnSpc>
                <a:spcPts val="2870"/>
              </a:lnSpc>
              <a:spcBef>
                <a:spcPts val="95"/>
              </a:spcBef>
            </a:pPr>
            <a:r>
              <a:rPr sz="2400" b="1" spc="-5" dirty="0">
                <a:latin typeface="Arial"/>
                <a:cs typeface="Arial"/>
              </a:rPr>
              <a:t>Authentizität </a:t>
            </a:r>
            <a:r>
              <a:rPr sz="2400" dirty="0">
                <a:latin typeface="Arial"/>
                <a:cs typeface="Arial"/>
              </a:rPr>
              <a:t>– </a:t>
            </a:r>
            <a:r>
              <a:rPr sz="2400" i="1" dirty="0">
                <a:latin typeface="Arial"/>
                <a:cs typeface="Arial"/>
              </a:rPr>
              <a:t>War der vermeintliche auch</a:t>
            </a:r>
            <a:r>
              <a:rPr sz="2400" i="1" spc="-10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der  wirkliche Absender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?</a:t>
            </a:r>
            <a:endParaRPr sz="2400" dirty="0">
              <a:latin typeface="Arial"/>
              <a:cs typeface="Arial"/>
            </a:endParaRPr>
          </a:p>
          <a:p>
            <a:pPr marL="927100" marR="5080" indent="-171450">
              <a:lnSpc>
                <a:spcPts val="2870"/>
              </a:lnSpc>
              <a:spcBef>
                <a:spcPts val="15"/>
              </a:spcBef>
            </a:pPr>
            <a:r>
              <a:rPr sz="2400" b="1" spc="-5" dirty="0">
                <a:latin typeface="Arial"/>
                <a:cs typeface="Arial"/>
              </a:rPr>
              <a:t>Integrität </a:t>
            </a:r>
            <a:r>
              <a:rPr sz="2400" dirty="0">
                <a:latin typeface="Arial"/>
                <a:cs typeface="Arial"/>
              </a:rPr>
              <a:t>– </a:t>
            </a:r>
            <a:r>
              <a:rPr sz="2400" i="1" dirty="0">
                <a:latin typeface="Arial"/>
                <a:cs typeface="Arial"/>
              </a:rPr>
              <a:t>Sind die Daten böswillig manipuliert  worden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?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1357" y="836422"/>
            <a:ext cx="31356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Grundbegriffe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01" y="1992376"/>
            <a:ext cx="8133715" cy="3677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Sicherheit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Kryptographie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Arial"/>
              <a:cs typeface="Arial"/>
            </a:endParaRPr>
          </a:p>
          <a:p>
            <a:pPr marL="354965" indent="-342900">
              <a:lnSpc>
                <a:spcPts val="2875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Vertraulichkeit gesichert durch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Verschlüsselung,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75"/>
              </a:lnSpc>
            </a:pPr>
            <a:r>
              <a:rPr sz="2400" dirty="0">
                <a:latin typeface="Arial"/>
                <a:cs typeface="Arial"/>
              </a:rPr>
              <a:t>Authentizität </a:t>
            </a:r>
            <a:r>
              <a:rPr sz="2400" spc="-5" dirty="0">
                <a:latin typeface="Arial"/>
                <a:cs typeface="Arial"/>
              </a:rPr>
              <a:t>und </a:t>
            </a:r>
            <a:r>
              <a:rPr sz="2400" dirty="0">
                <a:latin typeface="Arial"/>
                <a:cs typeface="Arial"/>
              </a:rPr>
              <a:t>Integrität </a:t>
            </a:r>
            <a:r>
              <a:rPr sz="2400" spc="-5" dirty="0">
                <a:latin typeface="Arial"/>
                <a:cs typeface="Arial"/>
              </a:rPr>
              <a:t>durch </a:t>
            </a:r>
            <a:r>
              <a:rPr sz="2400" b="1" spc="-5" dirty="0">
                <a:latin typeface="Arial"/>
                <a:cs typeface="Arial"/>
              </a:rPr>
              <a:t>digitale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Signaturen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asymmetrische </a:t>
            </a:r>
            <a:r>
              <a:rPr sz="2400" dirty="0">
                <a:latin typeface="Arial"/>
                <a:cs typeface="Arial"/>
              </a:rPr>
              <a:t>und </a:t>
            </a:r>
            <a:r>
              <a:rPr sz="2400" b="1" dirty="0">
                <a:latin typeface="Arial"/>
                <a:cs typeface="Arial"/>
              </a:rPr>
              <a:t>symmetrische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Verschlüsselung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Public Key Kryptographie </a:t>
            </a:r>
            <a:r>
              <a:rPr sz="2400" dirty="0">
                <a:latin typeface="Arial"/>
                <a:cs typeface="Arial"/>
              </a:rPr>
              <a:t>und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Schlüsseltausch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Perfect Forward </a:t>
            </a:r>
            <a:r>
              <a:rPr sz="2400" b="1" spc="-5" dirty="0">
                <a:latin typeface="Arial"/>
                <a:cs typeface="Arial"/>
              </a:rPr>
              <a:t>Security</a:t>
            </a:r>
            <a:r>
              <a:rPr sz="2400" spc="-5" dirty="0">
                <a:latin typeface="Arial"/>
                <a:cs typeface="Arial"/>
              </a:rPr>
              <a:t>, ist die </a:t>
            </a:r>
            <a:r>
              <a:rPr sz="2400" dirty="0">
                <a:latin typeface="Arial"/>
                <a:cs typeface="Arial"/>
              </a:rPr>
              <a:t>Eigenschaft, </a:t>
            </a:r>
            <a:r>
              <a:rPr sz="2400" spc="-5" dirty="0">
                <a:latin typeface="Arial"/>
                <a:cs typeface="Arial"/>
              </a:rPr>
              <a:t>daß das  </a:t>
            </a:r>
            <a:r>
              <a:rPr sz="2400" dirty="0">
                <a:latin typeface="Arial"/>
                <a:cs typeface="Arial"/>
              </a:rPr>
              <a:t>Brechen eines Schlüssels nur Zugang zu einer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Nachricht,  nicht aber zu weiteren Nachrichten/Schlüsseln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ermöglicht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5480" y="785876"/>
            <a:ext cx="7310017" cy="51069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1357" y="836422"/>
            <a:ext cx="31356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Grundbegriffe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601" y="1992375"/>
            <a:ext cx="7221855" cy="393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"/>
                <a:cs typeface="Arial"/>
              </a:rPr>
              <a:t>Die </a:t>
            </a:r>
            <a:r>
              <a:rPr sz="2800" dirty="0">
                <a:latin typeface="Arial"/>
                <a:cs typeface="Arial"/>
              </a:rPr>
              <a:t>Verkehrssprache im Internet ist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IP/TCP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0">
              <a:latin typeface="Arial"/>
              <a:cs typeface="Arial"/>
            </a:endParaRPr>
          </a:p>
          <a:p>
            <a:pPr marL="355600" marR="36449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eine Entwicklung des DoD, heute die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Grundlage  jeglicher Kommunikation im Internet, Intranet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...</a:t>
            </a:r>
            <a:endParaRPr sz="24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56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einige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Stichworte: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550">
              <a:latin typeface="Arial"/>
              <a:cs typeface="Arial"/>
            </a:endParaRPr>
          </a:p>
          <a:p>
            <a:pPr marL="1697355" lvl="1" indent="-313690">
              <a:lnSpc>
                <a:spcPct val="100000"/>
              </a:lnSpc>
              <a:buChar char="–"/>
              <a:tabLst>
                <a:tab pos="1697355" algn="l"/>
                <a:tab pos="1697989" algn="l"/>
              </a:tabLst>
            </a:pPr>
            <a:r>
              <a:rPr sz="2400" dirty="0">
                <a:latin typeface="Arial"/>
                <a:cs typeface="Arial"/>
              </a:rPr>
              <a:t>Adresschemata,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Routing</a:t>
            </a:r>
            <a:endParaRPr sz="2400">
              <a:latin typeface="Arial"/>
              <a:cs typeface="Arial"/>
            </a:endParaRPr>
          </a:p>
          <a:p>
            <a:pPr marL="1697355" lvl="1" indent="-313690">
              <a:lnSpc>
                <a:spcPct val="100000"/>
              </a:lnSpc>
              <a:spcBef>
                <a:spcPts val="720"/>
              </a:spcBef>
              <a:buChar char="–"/>
              <a:tabLst>
                <a:tab pos="1697355" algn="l"/>
                <a:tab pos="1697989" algn="l"/>
              </a:tabLst>
            </a:pPr>
            <a:r>
              <a:rPr sz="2400" dirty="0">
                <a:latin typeface="Arial"/>
                <a:cs typeface="Arial"/>
              </a:rPr>
              <a:t>Protokoll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Topologie</a:t>
            </a:r>
            <a:endParaRPr sz="2400">
              <a:latin typeface="Arial"/>
              <a:cs typeface="Arial"/>
            </a:endParaRPr>
          </a:p>
          <a:p>
            <a:pPr marL="1697355" lvl="1" indent="-313690">
              <a:lnSpc>
                <a:spcPct val="100000"/>
              </a:lnSpc>
              <a:spcBef>
                <a:spcPts val="720"/>
              </a:spcBef>
              <a:buChar char="–"/>
              <a:tabLst>
                <a:tab pos="1697355" algn="l"/>
                <a:tab pos="1697989" algn="l"/>
              </a:tabLst>
            </a:pPr>
            <a:r>
              <a:rPr sz="2400" spc="-5" dirty="0">
                <a:latin typeface="Arial"/>
                <a:cs typeface="Arial"/>
              </a:rPr>
              <a:t>Fragmentierung,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Uni-/Broad-/Multicast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4804" y="1206498"/>
            <a:ext cx="7500693" cy="42656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013" y="836422"/>
            <a:ext cx="63538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Einordnung </a:t>
            </a:r>
            <a:r>
              <a:rPr spc="-5" dirty="0"/>
              <a:t>in die</a:t>
            </a:r>
            <a:r>
              <a:rPr spc="-80" dirty="0"/>
              <a:t> </a:t>
            </a:r>
            <a:r>
              <a:rPr dirty="0"/>
              <a:t>Topologie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601" y="1992376"/>
            <a:ext cx="3871595" cy="393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8735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es </a:t>
            </a:r>
            <a:r>
              <a:rPr sz="2400" dirty="0">
                <a:latin typeface="Arial"/>
                <a:cs typeface="Arial"/>
              </a:rPr>
              <a:t>gibt keine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einfachen  Antworten</a:t>
            </a:r>
          </a:p>
          <a:p>
            <a:pPr marL="355600" marR="5080" indent="-342900">
              <a:lnSpc>
                <a:spcPct val="100000"/>
              </a:lnSpc>
              <a:spcBef>
                <a:spcPts val="56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verschiedene Lösungen  </a:t>
            </a:r>
            <a:r>
              <a:rPr sz="2400" spc="-5" dirty="0">
                <a:latin typeface="Arial"/>
                <a:cs typeface="Arial"/>
              </a:rPr>
              <a:t>existieren: </a:t>
            </a:r>
            <a:r>
              <a:rPr sz="2400" dirty="0">
                <a:latin typeface="Arial"/>
                <a:cs typeface="Arial"/>
              </a:rPr>
              <a:t>TL</a:t>
            </a:r>
            <a:r>
              <a:rPr lang="de-DE" sz="2400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PGP,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etc.</a:t>
            </a:r>
            <a:endParaRPr sz="2400" dirty="0">
              <a:latin typeface="Arial"/>
              <a:cs typeface="Arial"/>
            </a:endParaRPr>
          </a:p>
          <a:p>
            <a:pPr marL="355600" marR="339090" indent="-342900" algn="just">
              <a:lnSpc>
                <a:spcPct val="100000"/>
              </a:lnSpc>
              <a:spcBef>
                <a:spcPts val="56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diese Ansätze </a:t>
            </a:r>
            <a:r>
              <a:rPr sz="2400" spc="-5" dirty="0">
                <a:latin typeface="Arial"/>
                <a:cs typeface="Arial"/>
              </a:rPr>
              <a:t>arbeiten  </a:t>
            </a:r>
            <a:r>
              <a:rPr sz="2400" dirty="0">
                <a:latin typeface="Arial"/>
                <a:cs typeface="Arial"/>
              </a:rPr>
              <a:t>meist </a:t>
            </a:r>
            <a:r>
              <a:rPr sz="2400" spc="-5" dirty="0">
                <a:latin typeface="Arial"/>
                <a:cs typeface="Arial"/>
              </a:rPr>
              <a:t>ab der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Transport-  schicht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aufwärts</a:t>
            </a:r>
            <a:endParaRPr sz="2400" dirty="0">
              <a:latin typeface="Arial"/>
              <a:cs typeface="Arial"/>
            </a:endParaRPr>
          </a:p>
          <a:p>
            <a:pPr marL="355600" marR="48260" indent="-342900">
              <a:lnSpc>
                <a:spcPct val="100000"/>
              </a:lnSpc>
              <a:spcBef>
                <a:spcPts val="56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vorteilhaft wäre eine  Lösung für </a:t>
            </a:r>
            <a:r>
              <a:rPr sz="2400" spc="-5" dirty="0">
                <a:latin typeface="Arial"/>
                <a:cs typeface="Arial"/>
              </a:rPr>
              <a:t>die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Netzwerk-  </a:t>
            </a:r>
            <a:r>
              <a:rPr sz="2400" b="1" spc="-5" dirty="0">
                <a:latin typeface="Arial"/>
                <a:cs typeface="Arial"/>
              </a:rPr>
              <a:t>schicht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97656" y="2497327"/>
            <a:ext cx="3547844" cy="3057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8122" y="836422"/>
            <a:ext cx="31026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Was </a:t>
            </a:r>
            <a:r>
              <a:rPr spc="-5" dirty="0"/>
              <a:t>ist</a:t>
            </a:r>
            <a:r>
              <a:rPr spc="-95" dirty="0"/>
              <a:t> </a:t>
            </a:r>
            <a:r>
              <a:rPr spc="-5" dirty="0"/>
              <a:t>IPsec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6401" y="1992376"/>
            <a:ext cx="7520305" cy="331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IPsec </a:t>
            </a:r>
            <a:r>
              <a:rPr sz="2400" dirty="0">
                <a:latin typeface="Arial"/>
                <a:cs typeface="Arial"/>
              </a:rPr>
              <a:t>ist ein Bündel von Standards definiert als RFC  Dokumente durch gleichnamige IETF Arbeitsgruppe 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RFC </a:t>
            </a:r>
            <a:r>
              <a:rPr sz="2400" i="1" dirty="0">
                <a:latin typeface="Arial"/>
                <a:cs typeface="Arial"/>
              </a:rPr>
              <a:t>2401 bis RFC </a:t>
            </a:r>
            <a:r>
              <a:rPr sz="2400" i="1" spc="-5" dirty="0">
                <a:latin typeface="Arial"/>
                <a:cs typeface="Arial"/>
              </a:rPr>
              <a:t>2411</a:t>
            </a:r>
            <a:r>
              <a:rPr sz="2400" spc="-5" dirty="0">
                <a:latin typeface="Arial"/>
                <a:cs typeface="Arial"/>
              </a:rPr>
              <a:t>), </a:t>
            </a:r>
            <a:r>
              <a:rPr sz="2400" dirty="0">
                <a:latin typeface="Arial"/>
                <a:cs typeface="Arial"/>
              </a:rPr>
              <a:t>diese Standards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beinhalten: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buFont typeface="Arial"/>
              <a:buChar char="-"/>
              <a:tabLst>
                <a:tab pos="755015" algn="l"/>
                <a:tab pos="755650" algn="l"/>
              </a:tabLst>
            </a:pPr>
            <a:r>
              <a:rPr sz="2400" b="1" dirty="0">
                <a:latin typeface="Arial"/>
                <a:cs typeface="Arial"/>
              </a:rPr>
              <a:t>IPsec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Protokoll-Schema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-"/>
            </a:pPr>
            <a:endParaRPr sz="250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buFont typeface="Arial"/>
              <a:buChar char="-"/>
              <a:tabLst>
                <a:tab pos="755015" algn="l"/>
                <a:tab pos="755650" algn="l"/>
              </a:tabLst>
            </a:pPr>
            <a:r>
              <a:rPr sz="2400" b="1" dirty="0">
                <a:latin typeface="Arial"/>
                <a:cs typeface="Arial"/>
              </a:rPr>
              <a:t>Internet </a:t>
            </a:r>
            <a:r>
              <a:rPr sz="2400" b="1" spc="-5" dirty="0">
                <a:latin typeface="Arial"/>
                <a:cs typeface="Arial"/>
              </a:rPr>
              <a:t>Key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Exchange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-"/>
            </a:pPr>
            <a:endParaRPr sz="245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buFont typeface="Arial"/>
              <a:buChar char="-"/>
              <a:tabLst>
                <a:tab pos="755015" algn="l"/>
                <a:tab pos="755650" algn="l"/>
                <a:tab pos="3479800" algn="l"/>
              </a:tabLst>
            </a:pPr>
            <a:r>
              <a:rPr sz="2400" b="1" spc="-5" dirty="0">
                <a:latin typeface="Arial"/>
                <a:cs typeface="Arial"/>
              </a:rPr>
              <a:t>kryptographische	Algorithmen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9648" y="673100"/>
            <a:ext cx="7491279" cy="5486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9163" y="836422"/>
            <a:ext cx="62395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Authentication </a:t>
            </a:r>
            <a:r>
              <a:rPr spc="-5" dirty="0"/>
              <a:t>Header</a:t>
            </a:r>
            <a:r>
              <a:rPr spc="-80" dirty="0"/>
              <a:t> </a:t>
            </a:r>
            <a:r>
              <a:rPr dirty="0"/>
              <a:t>(AH)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6402" y="1992376"/>
            <a:ext cx="4097654" cy="4261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4544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IPsec </a:t>
            </a:r>
            <a:r>
              <a:rPr sz="2400" dirty="0">
                <a:latin typeface="Arial"/>
                <a:cs typeface="Arial"/>
              </a:rPr>
              <a:t>Protokolle mit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IPv4  </a:t>
            </a:r>
            <a:r>
              <a:rPr sz="2400" dirty="0">
                <a:latin typeface="Arial"/>
                <a:cs typeface="Arial"/>
              </a:rPr>
              <a:t>und IPv6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möglich</a:t>
            </a:r>
            <a:endParaRPr sz="2400">
              <a:latin typeface="Arial"/>
              <a:cs typeface="Arial"/>
            </a:endParaRPr>
          </a:p>
          <a:p>
            <a:pPr marL="355600" marR="23495" indent="-342900">
              <a:lnSpc>
                <a:spcPct val="100000"/>
              </a:lnSpc>
              <a:spcBef>
                <a:spcPts val="56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AH definiert </a:t>
            </a:r>
            <a:r>
              <a:rPr sz="2400" spc="-5" dirty="0">
                <a:latin typeface="Arial"/>
                <a:cs typeface="Arial"/>
              </a:rPr>
              <a:t>als </a:t>
            </a:r>
            <a:r>
              <a:rPr sz="2400" dirty="0">
                <a:latin typeface="Arial"/>
                <a:cs typeface="Arial"/>
              </a:rPr>
              <a:t>IP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Protokoll  nach RFC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2402</a:t>
            </a:r>
            <a:endParaRPr sz="2400">
              <a:latin typeface="Arial"/>
              <a:cs typeface="Arial"/>
            </a:endParaRPr>
          </a:p>
          <a:p>
            <a:pPr marL="355600" marR="209550" indent="-342900">
              <a:lnSpc>
                <a:spcPct val="100000"/>
              </a:lnSpc>
              <a:spcBef>
                <a:spcPts val="56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AH </a:t>
            </a:r>
            <a:r>
              <a:rPr sz="2400" spc="-5" dirty="0">
                <a:latin typeface="Arial"/>
                <a:cs typeface="Arial"/>
              </a:rPr>
              <a:t>unterstützt Daten-  integrität, </a:t>
            </a:r>
            <a:r>
              <a:rPr sz="2400" dirty="0">
                <a:latin typeface="Arial"/>
                <a:cs typeface="Arial"/>
              </a:rPr>
              <a:t>-authenzität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und  </a:t>
            </a:r>
            <a:r>
              <a:rPr sz="2400" dirty="0">
                <a:latin typeface="Arial"/>
                <a:cs typeface="Arial"/>
              </a:rPr>
              <a:t>Schutz vor Wieder-  einspielung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hauptsächlich verwendet  werden HMAC SHA-96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und  HMAC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MD-5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0250" y="2681731"/>
            <a:ext cx="3600450" cy="25793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4344" y="531622"/>
            <a:ext cx="717105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7030" marR="5080" indent="-289496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Encapsulating Security Payload  (ESP)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6402" y="1992376"/>
            <a:ext cx="4148454" cy="418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5938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ESP unterstützt </a:t>
            </a:r>
            <a:r>
              <a:rPr sz="2400" dirty="0">
                <a:latin typeface="Arial"/>
                <a:cs typeface="Arial"/>
              </a:rPr>
              <a:t>im  Gegensatz zu AH </a:t>
            </a:r>
            <a:r>
              <a:rPr sz="2400" spc="-5" dirty="0">
                <a:latin typeface="Arial"/>
                <a:cs typeface="Arial"/>
              </a:rPr>
              <a:t>auch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die  </a:t>
            </a:r>
            <a:r>
              <a:rPr sz="2400" dirty="0">
                <a:latin typeface="Arial"/>
                <a:cs typeface="Arial"/>
              </a:rPr>
              <a:t>Vertraulichkeit</a:t>
            </a:r>
            <a:endParaRPr sz="2400">
              <a:latin typeface="Arial"/>
              <a:cs typeface="Arial"/>
            </a:endParaRPr>
          </a:p>
          <a:p>
            <a:pPr marL="355600" marR="7620" indent="-342900">
              <a:lnSpc>
                <a:spcPct val="100000"/>
              </a:lnSpc>
              <a:spcBef>
                <a:spcPts val="5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ESP </a:t>
            </a:r>
            <a:r>
              <a:rPr sz="2400" spc="-5" dirty="0">
                <a:latin typeface="Arial"/>
                <a:cs typeface="Arial"/>
              </a:rPr>
              <a:t>durch </a:t>
            </a:r>
            <a:r>
              <a:rPr sz="2400" dirty="0">
                <a:latin typeface="Arial"/>
                <a:cs typeface="Arial"/>
              </a:rPr>
              <a:t>RFC </a:t>
            </a:r>
            <a:r>
              <a:rPr sz="2400" spc="-5" dirty="0">
                <a:latin typeface="Arial"/>
                <a:cs typeface="Arial"/>
              </a:rPr>
              <a:t>2406 als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IP  </a:t>
            </a:r>
            <a:r>
              <a:rPr sz="2400" dirty="0">
                <a:latin typeface="Arial"/>
                <a:cs typeface="Arial"/>
              </a:rPr>
              <a:t>Protokoll </a:t>
            </a:r>
            <a:r>
              <a:rPr sz="2400" spc="-5" dirty="0">
                <a:latin typeface="Arial"/>
                <a:cs typeface="Arial"/>
              </a:rPr>
              <a:t>definiert, </a:t>
            </a:r>
            <a:r>
              <a:rPr sz="2400" dirty="0">
                <a:latin typeface="Arial"/>
                <a:cs typeface="Arial"/>
              </a:rPr>
              <a:t>mit </a:t>
            </a:r>
            <a:r>
              <a:rPr sz="2400" spc="-5" dirty="0">
                <a:latin typeface="Arial"/>
                <a:cs typeface="Arial"/>
              </a:rPr>
              <a:t>IP  </a:t>
            </a:r>
            <a:r>
              <a:rPr sz="2400" dirty="0">
                <a:latin typeface="Arial"/>
                <a:cs typeface="Arial"/>
              </a:rPr>
              <a:t>Header und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Trailer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6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IPsec </a:t>
            </a:r>
            <a:r>
              <a:rPr sz="2400" dirty="0">
                <a:latin typeface="Arial"/>
                <a:cs typeface="Arial"/>
              </a:rPr>
              <a:t>früh </a:t>
            </a:r>
            <a:r>
              <a:rPr sz="2400" spc="-5" dirty="0">
                <a:latin typeface="Arial"/>
                <a:cs typeface="Arial"/>
              </a:rPr>
              <a:t>definert, deshalb  </a:t>
            </a:r>
            <a:r>
              <a:rPr sz="2400" dirty="0">
                <a:latin typeface="Arial"/>
                <a:cs typeface="Arial"/>
              </a:rPr>
              <a:t>CBC-DES standardisiert als  Verschlüsselungs-  verfahren, aber auch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3DES,  </a:t>
            </a:r>
            <a:r>
              <a:rPr sz="2400" dirty="0">
                <a:latin typeface="Arial"/>
                <a:cs typeface="Arial"/>
              </a:rPr>
              <a:t>Blowfish, </a:t>
            </a:r>
            <a:r>
              <a:rPr sz="2400" spc="-5" dirty="0">
                <a:latin typeface="Arial"/>
                <a:cs typeface="Arial"/>
              </a:rPr>
              <a:t>CAST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möglich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628" y="2568194"/>
            <a:ext cx="3341671" cy="26799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5417" y="836422"/>
            <a:ext cx="67494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Schutz vor</a:t>
            </a:r>
            <a:r>
              <a:rPr spc="-60" dirty="0"/>
              <a:t> </a:t>
            </a:r>
            <a:r>
              <a:rPr dirty="0"/>
              <a:t>Wiedereinspielung</a:t>
            </a:r>
          </a:p>
        </p:txBody>
      </p:sp>
      <p:sp>
        <p:nvSpPr>
          <p:cNvPr id="3" name="object 3"/>
          <p:cNvSpPr/>
          <p:nvPr/>
        </p:nvSpPr>
        <p:spPr>
          <a:xfrm>
            <a:off x="2031359" y="1968500"/>
            <a:ext cx="5194940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3201" y="4278376"/>
            <a:ext cx="8128634" cy="1997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indent="-342900">
              <a:lnSpc>
                <a:spcPts val="2875"/>
              </a:lnSpc>
              <a:spcBef>
                <a:spcPts val="100"/>
              </a:spcBef>
              <a:buChar char="•"/>
              <a:tabLst>
                <a:tab pos="405765" algn="l"/>
                <a:tab pos="406400" algn="l"/>
              </a:tabLst>
            </a:pPr>
            <a:r>
              <a:rPr sz="2400" dirty="0">
                <a:latin typeface="Arial"/>
                <a:cs typeface="Arial"/>
              </a:rPr>
              <a:t>Schutz implementiert durch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Sequenznummerierung</a:t>
            </a:r>
            <a:endParaRPr sz="2400">
              <a:latin typeface="Arial"/>
              <a:cs typeface="Arial"/>
            </a:endParaRPr>
          </a:p>
          <a:p>
            <a:pPr marL="406400">
              <a:lnSpc>
                <a:spcPts val="2875"/>
              </a:lnSpc>
            </a:pPr>
            <a:r>
              <a:rPr sz="2400" dirty="0">
                <a:latin typeface="Arial"/>
                <a:cs typeface="Arial"/>
              </a:rPr>
              <a:t>und </a:t>
            </a:r>
            <a:r>
              <a:rPr sz="2400" b="1" spc="-5" dirty="0">
                <a:latin typeface="Arial"/>
                <a:cs typeface="Arial"/>
              </a:rPr>
              <a:t>sliding-receive-window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Verfahren</a:t>
            </a:r>
            <a:endParaRPr sz="2400">
              <a:latin typeface="Arial"/>
              <a:cs typeface="Arial"/>
            </a:endParaRPr>
          </a:p>
          <a:p>
            <a:pPr marL="406400" marR="459740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405765" algn="l"/>
                <a:tab pos="406400" algn="l"/>
              </a:tabLst>
            </a:pPr>
            <a:r>
              <a:rPr sz="2400" spc="-5" dirty="0">
                <a:latin typeface="Arial"/>
                <a:cs typeface="Arial"/>
              </a:rPr>
              <a:t>falls </a:t>
            </a:r>
            <a:r>
              <a:rPr sz="2400" dirty="0">
                <a:latin typeface="Arial"/>
                <a:cs typeface="Arial"/>
              </a:rPr>
              <a:t>SA vereinbart wird, wird die Sequenznummer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auf  </a:t>
            </a:r>
            <a:r>
              <a:rPr sz="2400" spc="-5" dirty="0">
                <a:latin typeface="Arial"/>
                <a:cs typeface="Arial"/>
              </a:rPr>
              <a:t>Null gesetzt, nach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baseline="24305" dirty="0">
                <a:latin typeface="Arial"/>
                <a:cs typeface="Arial"/>
              </a:rPr>
              <a:t>32 </a:t>
            </a:r>
            <a:r>
              <a:rPr sz="2400" dirty="0">
                <a:latin typeface="Arial"/>
                <a:cs typeface="Arial"/>
              </a:rPr>
              <a:t>Paketen neue SA</a:t>
            </a:r>
            <a:r>
              <a:rPr sz="2400" spc="-2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nötig</a:t>
            </a:r>
            <a:endParaRPr sz="2400">
              <a:latin typeface="Arial"/>
              <a:cs typeface="Arial"/>
            </a:endParaRPr>
          </a:p>
          <a:p>
            <a:pPr marL="405765" indent="-343535">
              <a:lnSpc>
                <a:spcPct val="100000"/>
              </a:lnSpc>
              <a:spcBef>
                <a:spcPts val="565"/>
              </a:spcBef>
              <a:buChar char="•"/>
              <a:tabLst>
                <a:tab pos="405765" algn="l"/>
                <a:tab pos="406400" algn="l"/>
              </a:tabLst>
            </a:pPr>
            <a:r>
              <a:rPr sz="2400" dirty="0">
                <a:latin typeface="Arial"/>
                <a:cs typeface="Arial"/>
              </a:rPr>
              <a:t>bei jeder Bewegung des Fensters Authentifizierung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nötig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5672" y="836422"/>
            <a:ext cx="42062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Übertragungsmodi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602" y="1839976"/>
            <a:ext cx="7639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110" indent="-360045">
              <a:lnSpc>
                <a:spcPct val="100000"/>
              </a:lnSpc>
              <a:spcBef>
                <a:spcPts val="100"/>
              </a:spcBef>
              <a:buChar char="•"/>
              <a:tabLst>
                <a:tab pos="372110" algn="l"/>
                <a:tab pos="372745" algn="l"/>
              </a:tabLst>
            </a:pPr>
            <a:r>
              <a:rPr sz="2400" dirty="0">
                <a:latin typeface="Arial"/>
                <a:cs typeface="Arial"/>
              </a:rPr>
              <a:t>zwei Übertragungsarten sind möglich </a:t>
            </a:r>
            <a:r>
              <a:rPr sz="2400" spc="-5" dirty="0">
                <a:latin typeface="Arial"/>
                <a:cs typeface="Arial"/>
              </a:rPr>
              <a:t>für </a:t>
            </a:r>
            <a:r>
              <a:rPr sz="2400" dirty="0">
                <a:latin typeface="Arial"/>
                <a:cs typeface="Arial"/>
              </a:rPr>
              <a:t>ESP und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48972" y="2501900"/>
            <a:ext cx="6739326" cy="295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1602" y="5497574"/>
            <a:ext cx="821372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im </a:t>
            </a:r>
            <a:r>
              <a:rPr sz="2400" spc="-5" dirty="0">
                <a:latin typeface="Arial"/>
                <a:cs typeface="Arial"/>
              </a:rPr>
              <a:t>Transportmodus </a:t>
            </a:r>
            <a:r>
              <a:rPr sz="2400" dirty="0">
                <a:latin typeface="Arial"/>
                <a:cs typeface="Arial"/>
              </a:rPr>
              <a:t>Schutz </a:t>
            </a:r>
            <a:r>
              <a:rPr sz="2400" spc="-5" dirty="0">
                <a:latin typeface="Arial"/>
                <a:cs typeface="Arial"/>
              </a:rPr>
              <a:t>der </a:t>
            </a:r>
            <a:r>
              <a:rPr sz="2400" dirty="0">
                <a:latin typeface="Arial"/>
                <a:cs typeface="Arial"/>
              </a:rPr>
              <a:t>Pakete höherer Schichten,  im Tunnelmodus Schutz </a:t>
            </a:r>
            <a:r>
              <a:rPr sz="2400" spc="-5" dirty="0">
                <a:latin typeface="Arial"/>
                <a:cs typeface="Arial"/>
              </a:rPr>
              <a:t>des </a:t>
            </a:r>
            <a:r>
              <a:rPr sz="2400" dirty="0">
                <a:latin typeface="Arial"/>
                <a:cs typeface="Arial"/>
              </a:rPr>
              <a:t>gesamten </a:t>
            </a:r>
            <a:r>
              <a:rPr sz="2400" spc="-5" dirty="0">
                <a:latin typeface="Arial"/>
                <a:cs typeface="Arial"/>
              </a:rPr>
              <a:t>IP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Pakets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7224" y="836422"/>
            <a:ext cx="68027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Sicherheitsassoziationen</a:t>
            </a:r>
            <a:r>
              <a:rPr spc="-75" dirty="0"/>
              <a:t> </a:t>
            </a:r>
            <a:r>
              <a:rPr spc="-5" dirty="0"/>
              <a:t>(SA)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0201" y="1763776"/>
            <a:ext cx="7947025" cy="4480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751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Eine IPsec Verbindung bietet verschiedene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Sicherheits-  optionen, diese </a:t>
            </a:r>
            <a:r>
              <a:rPr sz="2400" spc="-5" dirty="0">
                <a:latin typeface="Arial"/>
                <a:cs typeface="Arial"/>
              </a:rPr>
              <a:t>und </a:t>
            </a:r>
            <a:r>
              <a:rPr sz="2400" dirty="0">
                <a:latin typeface="Arial"/>
                <a:cs typeface="Arial"/>
              </a:rPr>
              <a:t>verwendete Algorithmen, benötigte  Schlüssel </a:t>
            </a:r>
            <a:r>
              <a:rPr sz="2400" spc="-5" dirty="0">
                <a:latin typeface="Arial"/>
                <a:cs typeface="Arial"/>
              </a:rPr>
              <a:t>etc. </a:t>
            </a:r>
            <a:r>
              <a:rPr sz="2400" dirty="0">
                <a:latin typeface="Arial"/>
                <a:cs typeface="Arial"/>
              </a:rPr>
              <a:t>müssen vereinbart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werden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5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SA </a:t>
            </a:r>
            <a:r>
              <a:rPr sz="2400" spc="-5" dirty="0">
                <a:latin typeface="Arial"/>
                <a:cs typeface="Arial"/>
              </a:rPr>
              <a:t>bestimmen die </a:t>
            </a:r>
            <a:r>
              <a:rPr sz="2400" dirty="0">
                <a:latin typeface="Arial"/>
                <a:cs typeface="Arial"/>
              </a:rPr>
              <a:t>Art </a:t>
            </a:r>
            <a:r>
              <a:rPr sz="2400" spc="-5" dirty="0">
                <a:latin typeface="Arial"/>
                <a:cs typeface="Arial"/>
              </a:rPr>
              <a:t>der </a:t>
            </a:r>
            <a:r>
              <a:rPr sz="2400" dirty="0">
                <a:latin typeface="Arial"/>
                <a:cs typeface="Arial"/>
              </a:rPr>
              <a:t>IPsec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Kommunikation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SA </a:t>
            </a:r>
            <a:r>
              <a:rPr sz="2400" dirty="0">
                <a:latin typeface="Arial"/>
                <a:cs typeface="Arial"/>
              </a:rPr>
              <a:t>werden in einer indizierten </a:t>
            </a:r>
            <a:r>
              <a:rPr sz="2400" b="1" dirty="0">
                <a:latin typeface="Arial"/>
                <a:cs typeface="Arial"/>
              </a:rPr>
              <a:t>SADB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gespeichert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SA </a:t>
            </a:r>
            <a:r>
              <a:rPr sz="2400" dirty="0">
                <a:latin typeface="Arial"/>
                <a:cs typeface="Arial"/>
              </a:rPr>
              <a:t>sind unidirektional </a:t>
            </a:r>
            <a:r>
              <a:rPr sz="2400" spc="-5" dirty="0">
                <a:latin typeface="Arial"/>
                <a:cs typeface="Arial"/>
              </a:rPr>
              <a:t>und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protokollspezifisch</a:t>
            </a:r>
            <a:endParaRPr sz="2400">
              <a:latin typeface="Arial"/>
              <a:cs typeface="Arial"/>
            </a:endParaRPr>
          </a:p>
          <a:p>
            <a:pPr marL="355600" marR="1327150" indent="-34290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SA </a:t>
            </a:r>
            <a:r>
              <a:rPr sz="2400" dirty="0">
                <a:latin typeface="Arial"/>
                <a:cs typeface="Arial"/>
              </a:rPr>
              <a:t>werden durch einen 32 bit großen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Security  Parameter Index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b="1" spc="-5" dirty="0">
                <a:latin typeface="Arial"/>
                <a:cs typeface="Arial"/>
              </a:rPr>
              <a:t>SPI</a:t>
            </a:r>
            <a:r>
              <a:rPr sz="2400" spc="-5" dirty="0">
                <a:latin typeface="Arial"/>
                <a:cs typeface="Arial"/>
              </a:rPr>
              <a:t>) </a:t>
            </a:r>
            <a:r>
              <a:rPr sz="2400" dirty="0">
                <a:latin typeface="Arial"/>
                <a:cs typeface="Arial"/>
              </a:rPr>
              <a:t>eindeutig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identifiziert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45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Regeln </a:t>
            </a:r>
            <a:r>
              <a:rPr sz="2400" spc="-5" dirty="0">
                <a:latin typeface="Arial"/>
                <a:cs typeface="Arial"/>
              </a:rPr>
              <a:t>für </a:t>
            </a:r>
            <a:r>
              <a:rPr sz="2400" dirty="0">
                <a:latin typeface="Arial"/>
                <a:cs typeface="Arial"/>
              </a:rPr>
              <a:t>die Behandlung der </a:t>
            </a:r>
            <a:r>
              <a:rPr sz="2400" spc="-5" dirty="0">
                <a:latin typeface="Arial"/>
                <a:cs typeface="Arial"/>
              </a:rPr>
              <a:t>IPsec </a:t>
            </a:r>
            <a:r>
              <a:rPr sz="2400" dirty="0">
                <a:latin typeface="Arial"/>
                <a:cs typeface="Arial"/>
              </a:rPr>
              <a:t>Pakete in der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SPD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7659" y="973327"/>
            <a:ext cx="7657840" cy="4732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7224" y="836422"/>
            <a:ext cx="68027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Sicherheitsassoziationen</a:t>
            </a:r>
            <a:r>
              <a:rPr spc="-75" dirty="0"/>
              <a:t> </a:t>
            </a:r>
            <a:r>
              <a:rPr spc="-5" dirty="0"/>
              <a:t>(SA)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002" y="1992376"/>
            <a:ext cx="32975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zwei wichtige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Aufgaben: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62621" y="2696149"/>
            <a:ext cx="3930650" cy="2280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spc="-5" dirty="0">
                <a:latin typeface="Arial"/>
                <a:cs typeface="Arial"/>
              </a:rPr>
              <a:t>Löschen einer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SA</a:t>
            </a:r>
            <a:endParaRPr sz="2000">
              <a:latin typeface="Arial"/>
              <a:cs typeface="Arial"/>
            </a:endParaRPr>
          </a:p>
          <a:p>
            <a:pPr marL="355600" marR="421005" indent="-343535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eine </a:t>
            </a:r>
            <a:r>
              <a:rPr sz="2000" dirty="0">
                <a:latin typeface="Arial"/>
                <a:cs typeface="Arial"/>
              </a:rPr>
              <a:t>SA </a:t>
            </a:r>
            <a:r>
              <a:rPr sz="2000" spc="-5" dirty="0">
                <a:latin typeface="Arial"/>
                <a:cs typeface="Arial"/>
              </a:rPr>
              <a:t>kann aus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mehreren  Gründen </a:t>
            </a:r>
            <a:r>
              <a:rPr sz="2000" spc="-10" dirty="0">
                <a:latin typeface="Arial"/>
                <a:cs typeface="Arial"/>
              </a:rPr>
              <a:t>gelöscht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werden:</a:t>
            </a:r>
            <a:endParaRPr sz="200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Ende eines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Lebenszyklus</a:t>
            </a:r>
            <a:endParaRPr sz="200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verworfene Schlüssel</a:t>
            </a:r>
            <a:endParaRPr sz="20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Anzahl übertragener Pakete  </a:t>
            </a:r>
            <a:r>
              <a:rPr sz="2000" spc="-10" dirty="0">
                <a:latin typeface="Arial"/>
                <a:cs typeface="Arial"/>
              </a:rPr>
              <a:t>überschreitet </a:t>
            </a:r>
            <a:r>
              <a:rPr sz="2000" spc="-5" dirty="0">
                <a:latin typeface="Arial"/>
                <a:cs typeface="Arial"/>
              </a:rPr>
              <a:t>eine Grenze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7801" y="2757424"/>
            <a:ext cx="21983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Arial"/>
                <a:cs typeface="Arial"/>
              </a:rPr>
              <a:t>Erstellen einer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SA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7801" y="3123175"/>
            <a:ext cx="3670935" cy="1914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zwei Prozesse, Vereinbarung  der </a:t>
            </a:r>
            <a:r>
              <a:rPr sz="2000" spc="-10" dirty="0">
                <a:latin typeface="Arial"/>
                <a:cs typeface="Arial"/>
              </a:rPr>
              <a:t>Parameter und  </a:t>
            </a:r>
            <a:r>
              <a:rPr sz="2000" spc="-5" dirty="0">
                <a:latin typeface="Arial"/>
                <a:cs typeface="Arial"/>
              </a:rPr>
              <a:t>Aktualisierung der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SADB</a:t>
            </a:r>
            <a:endParaRPr sz="2000">
              <a:latin typeface="Arial"/>
              <a:cs typeface="Arial"/>
            </a:endParaRPr>
          </a:p>
          <a:p>
            <a:pPr marL="355600" marR="396875" indent="-343535">
              <a:lnSpc>
                <a:spcPct val="100000"/>
              </a:lnSpc>
              <a:spcBef>
                <a:spcPts val="47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sowohl manuelle als auch  dynamische Verfahren  denkbar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1202" y="5649974"/>
            <a:ext cx="6885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benutzt wird Internet </a:t>
            </a:r>
            <a:r>
              <a:rPr sz="2400" dirty="0">
                <a:latin typeface="Arial"/>
                <a:cs typeface="Arial"/>
              </a:rPr>
              <a:t>Key Exchange (IKE)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Protokoll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7001" y="596900"/>
            <a:ext cx="5943601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Internet Key Exchange</a:t>
            </a:r>
            <a:r>
              <a:rPr spc="-75" dirty="0"/>
              <a:t> </a:t>
            </a:r>
            <a:r>
              <a:rPr dirty="0"/>
              <a:t>(IKE</a:t>
            </a:r>
            <a:r>
              <a:rPr lang="de-DE" dirty="0"/>
              <a:t>/IKEv2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8802" y="1992376"/>
            <a:ext cx="3521710" cy="4261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795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IKE </a:t>
            </a:r>
            <a:r>
              <a:rPr sz="2400" dirty="0">
                <a:latin typeface="Arial"/>
                <a:cs typeface="Arial"/>
              </a:rPr>
              <a:t>(RFC 2409) ist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ein  </a:t>
            </a:r>
            <a:r>
              <a:rPr sz="2400" dirty="0">
                <a:latin typeface="Arial"/>
                <a:cs typeface="Arial"/>
              </a:rPr>
              <a:t>hybrides Protokoll  basierend auf dem  ISAKMP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Rahmenwerk</a:t>
            </a:r>
            <a:endParaRPr sz="2400">
              <a:latin typeface="Arial"/>
              <a:cs typeface="Arial"/>
            </a:endParaRPr>
          </a:p>
          <a:p>
            <a:pPr marL="355600" marR="176530" indent="-342900">
              <a:lnSpc>
                <a:spcPct val="100000"/>
              </a:lnSpc>
              <a:spcBef>
                <a:spcPts val="55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Einsatzgebiet von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IKE  </a:t>
            </a:r>
            <a:r>
              <a:rPr sz="2400" spc="-5" dirty="0">
                <a:latin typeface="Arial"/>
                <a:cs typeface="Arial"/>
              </a:rPr>
              <a:t>ist nicht nur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IPsec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6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IKE </a:t>
            </a:r>
            <a:r>
              <a:rPr sz="2400" dirty="0">
                <a:latin typeface="Arial"/>
                <a:cs typeface="Arial"/>
              </a:rPr>
              <a:t>implementiert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Teile  </a:t>
            </a:r>
            <a:r>
              <a:rPr sz="2400" dirty="0">
                <a:latin typeface="Arial"/>
                <a:cs typeface="Arial"/>
              </a:rPr>
              <a:t>von SKEME </a:t>
            </a:r>
            <a:r>
              <a:rPr sz="2400" spc="-5" dirty="0">
                <a:latin typeface="Arial"/>
                <a:cs typeface="Arial"/>
              </a:rPr>
              <a:t>als auch  von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Oakley</a:t>
            </a:r>
            <a:endParaRPr sz="2400">
              <a:latin typeface="Arial"/>
              <a:cs typeface="Arial"/>
            </a:endParaRPr>
          </a:p>
          <a:p>
            <a:pPr marL="355600" marR="121285" indent="-342900">
              <a:lnSpc>
                <a:spcPct val="100000"/>
              </a:lnSpc>
              <a:spcBef>
                <a:spcPts val="56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andere Protokolle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sind  SKIP </a:t>
            </a:r>
            <a:r>
              <a:rPr sz="2400" spc="-5" dirty="0">
                <a:latin typeface="Arial"/>
                <a:cs typeface="Arial"/>
              </a:rPr>
              <a:t>und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Photuris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4100" y="2033270"/>
            <a:ext cx="3429000" cy="3984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0582" y="636434"/>
            <a:ext cx="6470141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Internet Key Exchange</a:t>
            </a:r>
            <a:r>
              <a:rPr spc="-75" dirty="0"/>
              <a:t> </a:t>
            </a:r>
            <a:r>
              <a:rPr dirty="0"/>
              <a:t>(IKE</a:t>
            </a:r>
            <a:r>
              <a:rPr lang="de-DE" dirty="0"/>
              <a:t>/IKEv2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601" y="1992376"/>
            <a:ext cx="7553325" cy="1997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IKE arbeitet in </a:t>
            </a:r>
            <a:r>
              <a:rPr sz="2400" dirty="0">
                <a:latin typeface="Arial"/>
                <a:cs typeface="Arial"/>
              </a:rPr>
              <a:t>zwei Phasen, </a:t>
            </a:r>
            <a:r>
              <a:rPr sz="2400" spc="-5" dirty="0">
                <a:latin typeface="Arial"/>
                <a:cs typeface="Arial"/>
              </a:rPr>
              <a:t>in der ersten </a:t>
            </a:r>
            <a:r>
              <a:rPr sz="2400" dirty="0">
                <a:latin typeface="Arial"/>
                <a:cs typeface="Arial"/>
              </a:rPr>
              <a:t>Phase </a:t>
            </a:r>
            <a:r>
              <a:rPr sz="2400" spc="-5" dirty="0">
                <a:latin typeface="Arial"/>
                <a:cs typeface="Arial"/>
              </a:rPr>
              <a:t>wird  ein </a:t>
            </a:r>
            <a:r>
              <a:rPr sz="2400" dirty="0">
                <a:latin typeface="Arial"/>
                <a:cs typeface="Arial"/>
              </a:rPr>
              <a:t>sicherer Tunnel </a:t>
            </a:r>
            <a:r>
              <a:rPr sz="2400" spc="-5" dirty="0">
                <a:latin typeface="Arial"/>
                <a:cs typeface="Arial"/>
              </a:rPr>
              <a:t>geschaffen über den in der  </a:t>
            </a:r>
            <a:r>
              <a:rPr sz="2400" dirty="0">
                <a:latin typeface="Arial"/>
                <a:cs typeface="Arial"/>
              </a:rPr>
              <a:t>zweiten Phase die SA vereinbart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werden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in der ersten Phase Main oder Aggressive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in der zweiten Phase Quick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96326" y="4102098"/>
            <a:ext cx="5874397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44324" y="596900"/>
            <a:ext cx="3357919" cy="274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81924" y="673100"/>
            <a:ext cx="3357919" cy="2590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2684" y="3568700"/>
            <a:ext cx="3640415" cy="2590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05084" y="3644900"/>
            <a:ext cx="3640415" cy="2438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7389" y="836422"/>
            <a:ext cx="26231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ein</a:t>
            </a:r>
            <a:r>
              <a:rPr spc="-85" dirty="0"/>
              <a:t> </a:t>
            </a:r>
            <a:r>
              <a:rPr spc="-5" dirty="0"/>
              <a:t>Beispiel</a:t>
            </a:r>
          </a:p>
        </p:txBody>
      </p:sp>
      <p:sp>
        <p:nvSpPr>
          <p:cNvPr id="3" name="object 3"/>
          <p:cNvSpPr/>
          <p:nvPr/>
        </p:nvSpPr>
        <p:spPr>
          <a:xfrm>
            <a:off x="1946804" y="1968498"/>
            <a:ext cx="5347313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3954" y="836422"/>
            <a:ext cx="57912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IPsec</a:t>
            </a:r>
            <a:r>
              <a:rPr spc="-80" dirty="0"/>
              <a:t> </a:t>
            </a:r>
            <a:r>
              <a:rPr dirty="0"/>
              <a:t>Implementierungen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601" y="2358136"/>
            <a:ext cx="7383145" cy="287337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900" algn="just">
              <a:lnSpc>
                <a:spcPct val="100000"/>
              </a:lnSpc>
              <a:spcBef>
                <a:spcPts val="670"/>
              </a:spcBef>
              <a:buChar char="•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beide </a:t>
            </a:r>
            <a:r>
              <a:rPr sz="2400" dirty="0">
                <a:latin typeface="Arial"/>
                <a:cs typeface="Arial"/>
              </a:rPr>
              <a:t>Protokollstandards, IPv4 </a:t>
            </a:r>
            <a:r>
              <a:rPr sz="2400" spc="-5" dirty="0">
                <a:latin typeface="Arial"/>
                <a:cs typeface="Arial"/>
              </a:rPr>
              <a:t>und </a:t>
            </a:r>
            <a:r>
              <a:rPr sz="2400" dirty="0">
                <a:latin typeface="Arial"/>
                <a:cs typeface="Arial"/>
              </a:rPr>
              <a:t>IPv6,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unterstützt</a:t>
            </a:r>
            <a:endParaRPr sz="2400">
              <a:latin typeface="Arial"/>
              <a:cs typeface="Arial"/>
            </a:endParaRPr>
          </a:p>
          <a:p>
            <a:pPr marL="355600" marR="17780" indent="-342900" algn="just">
              <a:lnSpc>
                <a:spcPct val="100000"/>
              </a:lnSpc>
              <a:spcBef>
                <a:spcPts val="570"/>
              </a:spcBef>
              <a:buChar char="•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IPsec </a:t>
            </a:r>
            <a:r>
              <a:rPr sz="2400" dirty="0">
                <a:latin typeface="Arial"/>
                <a:cs typeface="Arial"/>
              </a:rPr>
              <a:t>kann sowohl </a:t>
            </a:r>
            <a:r>
              <a:rPr sz="2400" spc="-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Endrechnern </a:t>
            </a:r>
            <a:r>
              <a:rPr sz="2400" spc="-5" dirty="0">
                <a:latin typeface="Arial"/>
                <a:cs typeface="Arial"/>
              </a:rPr>
              <a:t>wie in </a:t>
            </a:r>
            <a:r>
              <a:rPr sz="2400" dirty="0">
                <a:latin typeface="Arial"/>
                <a:cs typeface="Arial"/>
              </a:rPr>
              <a:t>Gateways  oder Routern implementiert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werden</a:t>
            </a:r>
            <a:endParaRPr sz="2400">
              <a:latin typeface="Arial"/>
              <a:cs typeface="Arial"/>
            </a:endParaRPr>
          </a:p>
          <a:p>
            <a:pPr marL="355600" marR="208279" indent="-342900" algn="just">
              <a:lnSpc>
                <a:spcPct val="100000"/>
              </a:lnSpc>
              <a:spcBef>
                <a:spcPts val="560"/>
              </a:spcBef>
              <a:buChar char="•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Implementierungen </a:t>
            </a:r>
            <a:r>
              <a:rPr sz="2400" dirty="0">
                <a:latin typeface="Arial"/>
                <a:cs typeface="Arial"/>
              </a:rPr>
              <a:t>in Endrechnern sind durch die  Integration </a:t>
            </a:r>
            <a:r>
              <a:rPr sz="2400" spc="-5" dirty="0">
                <a:latin typeface="Arial"/>
                <a:cs typeface="Arial"/>
              </a:rPr>
              <a:t>in das </a:t>
            </a:r>
            <a:r>
              <a:rPr sz="2400" dirty="0">
                <a:latin typeface="Arial"/>
                <a:cs typeface="Arial"/>
              </a:rPr>
              <a:t>Betriebssystem </a:t>
            </a:r>
            <a:r>
              <a:rPr sz="2400" spc="-5" dirty="0">
                <a:latin typeface="Arial"/>
                <a:cs typeface="Arial"/>
              </a:rPr>
              <a:t>oder durch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BITS  (Bump </a:t>
            </a:r>
            <a:r>
              <a:rPr sz="2400" spc="-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the stack)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möglich</a:t>
            </a:r>
            <a:endParaRPr sz="2400">
              <a:latin typeface="Arial"/>
              <a:cs typeface="Arial"/>
            </a:endParaRPr>
          </a:p>
          <a:p>
            <a:pPr marL="354965" indent="-342900" algn="just">
              <a:lnSpc>
                <a:spcPct val="100000"/>
              </a:lnSpc>
              <a:spcBef>
                <a:spcPts val="56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analog existieren zwei Möglichkeiten für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Router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2591" y="836422"/>
            <a:ext cx="78486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IPsec </a:t>
            </a:r>
            <a:r>
              <a:rPr spc="-5" dirty="0"/>
              <a:t>und </a:t>
            </a:r>
            <a:r>
              <a:rPr dirty="0"/>
              <a:t>Virtual </a:t>
            </a:r>
            <a:r>
              <a:rPr spc="-5" dirty="0"/>
              <a:t>Private</a:t>
            </a:r>
            <a:r>
              <a:rPr spc="-70" dirty="0"/>
              <a:t> </a:t>
            </a:r>
            <a:r>
              <a:rPr spc="-5" dirty="0"/>
              <a:t>Networks</a:t>
            </a:r>
          </a:p>
        </p:txBody>
      </p:sp>
      <p:sp>
        <p:nvSpPr>
          <p:cNvPr id="3" name="object 3"/>
          <p:cNvSpPr/>
          <p:nvPr/>
        </p:nvSpPr>
        <p:spPr>
          <a:xfrm>
            <a:off x="1036249" y="1968498"/>
            <a:ext cx="3249492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457065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4457065" algn="l"/>
                <a:tab pos="4457700" algn="l"/>
              </a:tabLst>
            </a:pPr>
            <a:r>
              <a:rPr spc="-5" dirty="0"/>
              <a:t>IPsec </a:t>
            </a:r>
            <a:r>
              <a:rPr dirty="0"/>
              <a:t>für </a:t>
            </a:r>
            <a:r>
              <a:rPr spc="-5" dirty="0"/>
              <a:t>viele</a:t>
            </a:r>
            <a:r>
              <a:rPr spc="-85" dirty="0"/>
              <a:t> </a:t>
            </a:r>
            <a:r>
              <a:rPr spc="-5" dirty="0"/>
              <a:t>Strukturen</a:t>
            </a:r>
          </a:p>
          <a:p>
            <a:pPr marL="4457065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4457065" algn="l"/>
                <a:tab pos="4457700" algn="l"/>
              </a:tabLst>
            </a:pPr>
            <a:r>
              <a:rPr spc="-5" dirty="0"/>
              <a:t>Einsatz </a:t>
            </a:r>
            <a:r>
              <a:rPr dirty="0"/>
              <a:t>für VPN</a:t>
            </a:r>
            <a:r>
              <a:rPr spc="-80" dirty="0"/>
              <a:t> </a:t>
            </a:r>
            <a:r>
              <a:rPr spc="-5" dirty="0"/>
              <a:t>denkbar</a:t>
            </a:r>
          </a:p>
          <a:p>
            <a:pPr marL="4457700" marR="5080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4457065" algn="l"/>
                <a:tab pos="4457700" algn="l"/>
              </a:tabLst>
            </a:pPr>
            <a:r>
              <a:rPr spc="-5" dirty="0"/>
              <a:t>ein </a:t>
            </a:r>
            <a:r>
              <a:rPr dirty="0"/>
              <a:t>Virtual Privat</a:t>
            </a:r>
            <a:r>
              <a:rPr spc="-85" dirty="0"/>
              <a:t> </a:t>
            </a:r>
            <a:r>
              <a:rPr spc="-5" dirty="0"/>
              <a:t>Network  ist ein </a:t>
            </a:r>
            <a:r>
              <a:rPr b="1" spc="-5" dirty="0">
                <a:latin typeface="Arial"/>
                <a:cs typeface="Arial"/>
              </a:rPr>
              <a:t>virtuelles,  </a:t>
            </a:r>
            <a:r>
              <a:rPr b="1" dirty="0">
                <a:latin typeface="Arial"/>
                <a:cs typeface="Arial"/>
              </a:rPr>
              <a:t>privates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Netzwerk</a:t>
            </a:r>
          </a:p>
          <a:p>
            <a:pPr marL="4457700" marR="511175" indent="-342900">
              <a:lnSpc>
                <a:spcPct val="100000"/>
              </a:lnSpc>
              <a:spcBef>
                <a:spcPts val="555"/>
              </a:spcBef>
              <a:buChar char="•"/>
              <a:tabLst>
                <a:tab pos="4457065" algn="l"/>
                <a:tab pos="4457700" algn="l"/>
              </a:tabLst>
            </a:pPr>
            <a:r>
              <a:rPr dirty="0"/>
              <a:t>implementiert</a:t>
            </a:r>
            <a:r>
              <a:rPr spc="-100" dirty="0"/>
              <a:t> </a:t>
            </a:r>
            <a:r>
              <a:rPr dirty="0"/>
              <a:t>werden  kann </a:t>
            </a:r>
            <a:r>
              <a:rPr spc="-5" dirty="0"/>
              <a:t>ein </a:t>
            </a:r>
            <a:r>
              <a:rPr dirty="0"/>
              <a:t>VPN </a:t>
            </a:r>
            <a:r>
              <a:rPr spc="-5" dirty="0"/>
              <a:t>durch  Router und</a:t>
            </a:r>
            <a:r>
              <a:rPr spc="-20" dirty="0"/>
              <a:t> </a:t>
            </a:r>
            <a:r>
              <a:rPr dirty="0"/>
              <a:t>IPsec</a:t>
            </a:r>
          </a:p>
          <a:p>
            <a:pPr marL="4457700" marR="156210" indent="-342900">
              <a:lnSpc>
                <a:spcPct val="100000"/>
              </a:lnSpc>
              <a:spcBef>
                <a:spcPts val="560"/>
              </a:spcBef>
              <a:buChar char="•"/>
              <a:tabLst>
                <a:tab pos="4457065" algn="l"/>
                <a:tab pos="4457700" algn="l"/>
              </a:tabLst>
            </a:pPr>
            <a:r>
              <a:rPr dirty="0"/>
              <a:t>daneben auch nested  tunnels, road </a:t>
            </a:r>
            <a:r>
              <a:rPr spc="-5" dirty="0"/>
              <a:t>warriors</a:t>
            </a:r>
            <a:r>
              <a:rPr spc="-100" dirty="0"/>
              <a:t> </a:t>
            </a:r>
            <a:r>
              <a:rPr dirty="0"/>
              <a:t>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8464" y="836422"/>
            <a:ext cx="22015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601" y="1992375"/>
            <a:ext cx="7355205" cy="378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480059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dirty="0">
                <a:latin typeface="Arial"/>
                <a:cs typeface="Arial"/>
              </a:rPr>
              <a:t>Geburtstagsparadoxon, </a:t>
            </a:r>
            <a:r>
              <a:rPr sz="2800" dirty="0">
                <a:latin typeface="Arial"/>
                <a:cs typeface="Arial"/>
              </a:rPr>
              <a:t>Angriffe auf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die  Hash Signaturen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denkbar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4100">
              <a:latin typeface="Arial"/>
              <a:cs typeface="Arial"/>
            </a:endParaRPr>
          </a:p>
          <a:p>
            <a:pPr marL="354965" marR="483234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dirty="0">
                <a:latin typeface="Arial"/>
                <a:cs typeface="Arial"/>
              </a:rPr>
              <a:t>Denial-of-Service, </a:t>
            </a:r>
            <a:r>
              <a:rPr sz="2800" dirty="0">
                <a:latin typeface="Arial"/>
                <a:cs typeface="Arial"/>
              </a:rPr>
              <a:t>IKE </a:t>
            </a:r>
            <a:r>
              <a:rPr sz="2800" spc="-5" dirty="0">
                <a:latin typeface="Arial"/>
                <a:cs typeface="Arial"/>
              </a:rPr>
              <a:t>erlaubt Denial-of-  </a:t>
            </a:r>
            <a:r>
              <a:rPr sz="2800" dirty="0">
                <a:latin typeface="Arial"/>
                <a:cs typeface="Arial"/>
              </a:rPr>
              <a:t>Service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Attacken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4100">
              <a:latin typeface="Arial"/>
              <a:cs typeface="Arial"/>
            </a:endParaRPr>
          </a:p>
          <a:p>
            <a:pPr marL="354965" marR="508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Arial"/>
                <a:cs typeface="Arial"/>
              </a:rPr>
              <a:t>Kompression, </a:t>
            </a:r>
            <a:r>
              <a:rPr sz="2800" dirty="0">
                <a:latin typeface="Arial"/>
                <a:cs typeface="Arial"/>
              </a:rPr>
              <a:t>keine sinnvolle Kompression  von IPsec Pakten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möglich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4672" y="834898"/>
            <a:ext cx="49701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80" dirty="0"/>
              <a:t> </a:t>
            </a:r>
            <a:r>
              <a:rPr dirty="0"/>
              <a:t>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2716276"/>
            <a:ext cx="7926705" cy="1924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716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die Sicherheit und die mit ihr verbundenen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Algorithmen  von IPsec </a:t>
            </a:r>
            <a:r>
              <a:rPr sz="2400" spc="-5" dirty="0">
                <a:latin typeface="Arial"/>
                <a:cs typeface="Arial"/>
              </a:rPr>
              <a:t>wirken </a:t>
            </a:r>
            <a:r>
              <a:rPr sz="2400" dirty="0">
                <a:latin typeface="Arial"/>
                <a:cs typeface="Arial"/>
              </a:rPr>
              <a:t>sich </a:t>
            </a:r>
            <a:r>
              <a:rPr sz="2400" spc="-5" dirty="0">
                <a:latin typeface="Arial"/>
                <a:cs typeface="Arial"/>
              </a:rPr>
              <a:t>auf die </a:t>
            </a:r>
            <a:r>
              <a:rPr sz="2400" dirty="0">
                <a:latin typeface="Arial"/>
                <a:cs typeface="Arial"/>
              </a:rPr>
              <a:t>Geschwindigkeit </a:t>
            </a:r>
            <a:r>
              <a:rPr sz="2400" spc="-5" dirty="0">
                <a:latin typeface="Arial"/>
                <a:cs typeface="Arial"/>
              </a:rPr>
              <a:t>der  </a:t>
            </a:r>
            <a:r>
              <a:rPr sz="2400" dirty="0">
                <a:latin typeface="Arial"/>
                <a:cs typeface="Arial"/>
              </a:rPr>
              <a:t>Kommunikation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aus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je mehr Pakete </a:t>
            </a:r>
            <a:r>
              <a:rPr sz="2400" spc="-5" dirty="0">
                <a:latin typeface="Arial"/>
                <a:cs typeface="Arial"/>
              </a:rPr>
              <a:t>desto </a:t>
            </a:r>
            <a:r>
              <a:rPr sz="2400" dirty="0">
                <a:latin typeface="Arial"/>
                <a:cs typeface="Arial"/>
              </a:rPr>
              <a:t>mehr Auswirkungen, Ansatz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sollte  die Verbesserung der Algorithmen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sein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3100" y="1482343"/>
            <a:ext cx="7772398" cy="3714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0076" y="836422"/>
            <a:ext cx="38385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Voice over</a:t>
            </a:r>
            <a:r>
              <a:rPr spc="-70" dirty="0"/>
              <a:t> </a:t>
            </a:r>
            <a:r>
              <a:rPr dirty="0"/>
              <a:t>IPsec</a:t>
            </a:r>
          </a:p>
        </p:txBody>
      </p:sp>
      <p:sp>
        <p:nvSpPr>
          <p:cNvPr id="3" name="object 3"/>
          <p:cNvSpPr/>
          <p:nvPr/>
        </p:nvSpPr>
        <p:spPr>
          <a:xfrm>
            <a:off x="2249677" y="1968500"/>
            <a:ext cx="4617720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2601" y="4430776"/>
            <a:ext cx="7626984" cy="155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die Verringerung der Performance durch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Verwendung  von IPsec kann die Existenz einzelner Anwendungen  in Frage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stellen</a:t>
            </a:r>
            <a:endParaRPr sz="2400">
              <a:latin typeface="Arial"/>
              <a:cs typeface="Arial"/>
            </a:endParaRPr>
          </a:p>
          <a:p>
            <a:pPr marL="354965" indent="-342900" algn="just">
              <a:lnSpc>
                <a:spcPct val="100000"/>
              </a:lnSpc>
              <a:spcBef>
                <a:spcPts val="55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ein Beispiel dafür ist die Internet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Telephonie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3805" y="836422"/>
            <a:ext cx="51104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82545" algn="l"/>
                <a:tab pos="3401695" algn="l"/>
              </a:tabLst>
            </a:pPr>
            <a:r>
              <a:rPr dirty="0"/>
              <a:t>Was </a:t>
            </a:r>
            <a:r>
              <a:rPr spc="-5" dirty="0"/>
              <a:t>bring</a:t>
            </a:r>
            <a:r>
              <a:rPr dirty="0"/>
              <a:t>t	</a:t>
            </a:r>
            <a:r>
              <a:rPr spc="-5" dirty="0"/>
              <a:t>di</a:t>
            </a:r>
            <a:r>
              <a:rPr dirty="0"/>
              <a:t>e	Zukunft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601" y="1919986"/>
            <a:ext cx="6167755" cy="357918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„short-term </a:t>
            </a:r>
            <a:r>
              <a:rPr sz="2400" b="1" dirty="0">
                <a:latin typeface="Arial"/>
                <a:cs typeface="Arial"/>
              </a:rPr>
              <a:t>work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items“</a:t>
            </a:r>
            <a:endParaRPr sz="2400" dirty="0">
              <a:latin typeface="Arial"/>
              <a:cs typeface="Arial"/>
            </a:endParaRPr>
          </a:p>
          <a:p>
            <a:pPr marL="1612265" lvl="1" indent="-228600">
              <a:lnSpc>
                <a:spcPct val="100000"/>
              </a:lnSpc>
              <a:spcBef>
                <a:spcPts val="570"/>
              </a:spcBef>
              <a:buChar char="–"/>
              <a:tabLst>
                <a:tab pos="1612900" algn="l"/>
              </a:tabLst>
            </a:pPr>
            <a:r>
              <a:rPr sz="2400" dirty="0">
                <a:latin typeface="Arial"/>
                <a:cs typeface="Arial"/>
              </a:rPr>
              <a:t>support for NAT/Firewall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traversal</a:t>
            </a:r>
          </a:p>
          <a:p>
            <a:pPr marL="1612265" lvl="1" indent="-228600">
              <a:lnSpc>
                <a:spcPct val="100000"/>
              </a:lnSpc>
              <a:spcBef>
                <a:spcPts val="570"/>
              </a:spcBef>
              <a:buChar char="–"/>
              <a:tabLst>
                <a:tab pos="1612900" algn="l"/>
              </a:tabLst>
            </a:pPr>
            <a:r>
              <a:rPr sz="2400" spc="-5" dirty="0">
                <a:latin typeface="Arial"/>
                <a:cs typeface="Arial"/>
              </a:rPr>
              <a:t>support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SCTP</a:t>
            </a:r>
            <a:endParaRPr sz="2400" dirty="0">
              <a:latin typeface="Arial"/>
              <a:cs typeface="Arial"/>
            </a:endParaRPr>
          </a:p>
          <a:p>
            <a:pPr marL="1612265" lvl="1" indent="-228600">
              <a:lnSpc>
                <a:spcPct val="100000"/>
              </a:lnSpc>
              <a:spcBef>
                <a:spcPts val="570"/>
              </a:spcBef>
              <a:buChar char="–"/>
              <a:tabLst>
                <a:tab pos="1612900" algn="l"/>
              </a:tabLst>
            </a:pPr>
            <a:r>
              <a:rPr sz="2400" dirty="0">
                <a:latin typeface="Arial"/>
                <a:cs typeface="Arial"/>
              </a:rPr>
              <a:t>new cipher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documents</a:t>
            </a:r>
          </a:p>
          <a:p>
            <a:pPr marL="1612265" lvl="1" indent="-228600">
              <a:lnSpc>
                <a:spcPct val="100000"/>
              </a:lnSpc>
              <a:spcBef>
                <a:spcPts val="570"/>
              </a:spcBef>
              <a:buChar char="–"/>
              <a:tabLst>
                <a:tab pos="1612900" algn="l"/>
              </a:tabLst>
            </a:pPr>
            <a:r>
              <a:rPr sz="2400" dirty="0">
                <a:latin typeface="Arial"/>
                <a:cs typeface="Arial"/>
              </a:rPr>
              <a:t>sequence number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extension</a:t>
            </a: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other</a:t>
            </a:r>
            <a:r>
              <a:rPr sz="2400" b="1" spc="-5" dirty="0">
                <a:latin typeface="Arial"/>
                <a:cs typeface="Arial"/>
              </a:rPr>
              <a:t> subjects</a:t>
            </a:r>
            <a:endParaRPr sz="2400" dirty="0">
              <a:latin typeface="Arial"/>
              <a:cs typeface="Arial"/>
            </a:endParaRPr>
          </a:p>
          <a:p>
            <a:pPr marL="1612265" lvl="1" indent="-228600">
              <a:lnSpc>
                <a:spcPct val="100000"/>
              </a:lnSpc>
              <a:spcBef>
                <a:spcPts val="570"/>
              </a:spcBef>
              <a:buChar char="–"/>
              <a:tabLst>
                <a:tab pos="1612900" algn="l"/>
              </a:tabLst>
            </a:pPr>
            <a:r>
              <a:rPr sz="2400" dirty="0">
                <a:latin typeface="Arial"/>
                <a:cs typeface="Arial"/>
              </a:rPr>
              <a:t>Compression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(PCP)</a:t>
            </a:r>
          </a:p>
          <a:p>
            <a:pPr marL="1612265" lvl="1" indent="-228600">
              <a:lnSpc>
                <a:spcPct val="100000"/>
              </a:lnSpc>
              <a:spcBef>
                <a:spcPts val="570"/>
              </a:spcBef>
              <a:buChar char="–"/>
              <a:tabLst>
                <a:tab pos="1612900" algn="l"/>
              </a:tabLst>
            </a:pPr>
            <a:r>
              <a:rPr sz="2400" spc="-5" dirty="0">
                <a:latin typeface="Arial"/>
                <a:cs typeface="Arial"/>
              </a:rPr>
              <a:t>Multicast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(MKMP)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64E32E9-BC4D-4E89-A5B6-B8A230647D78}"/>
</file>

<file path=customXml/itemProps2.xml><?xml version="1.0" encoding="utf-8"?>
<ds:datastoreItem xmlns:ds="http://schemas.openxmlformats.org/officeDocument/2006/customXml" ds:itemID="{2C2D2937-1D3E-4CB6-8EC2-530C65FB3D16}"/>
</file>

<file path=customXml/itemProps3.xml><?xml version="1.0" encoding="utf-8"?>
<ds:datastoreItem xmlns:ds="http://schemas.openxmlformats.org/officeDocument/2006/customXml" ds:itemID="{BB817E96-E6F6-4772-9B8D-552CF0545DE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917</Words>
  <Application>Microsoft Office PowerPoint</Application>
  <PresentationFormat>Benutzerdefiniert</PresentationFormat>
  <Paragraphs>127</Paragraphs>
  <Slides>29</Slides>
  <Notes>1</Notes>
  <HiddenSlides>6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IPsec</vt:lpstr>
      <vt:lpstr>Gliederung</vt:lpstr>
      <vt:lpstr>Motivation</vt:lpstr>
      <vt:lpstr>Grundbegriffe</vt:lpstr>
      <vt:lpstr>Grundbegriffe</vt:lpstr>
      <vt:lpstr>PowerPoint-Präsentation</vt:lpstr>
      <vt:lpstr>Grundbegriffe</vt:lpstr>
      <vt:lpstr>PowerPoint-Präsentation</vt:lpstr>
      <vt:lpstr>Einordnung in die Topologie</vt:lpstr>
      <vt:lpstr>Was ist IPsec</vt:lpstr>
      <vt:lpstr>PowerPoint-Präsentation</vt:lpstr>
      <vt:lpstr>Authentication Header (AH)</vt:lpstr>
      <vt:lpstr>Encapsulating Security Payload  (ESP)</vt:lpstr>
      <vt:lpstr>Schutz vor Wiedereinspielung</vt:lpstr>
      <vt:lpstr>Übertragungsmodi</vt:lpstr>
      <vt:lpstr>Sicherheitsassoziationen (SA)</vt:lpstr>
      <vt:lpstr>PowerPoint-Präsentation</vt:lpstr>
      <vt:lpstr>Sicherheitsassoziationen (SA)</vt:lpstr>
      <vt:lpstr>Internet Key Exchange (IKE/IKEv2)</vt:lpstr>
      <vt:lpstr>Internet Key Exchange (IKE/IKEv2)</vt:lpstr>
      <vt:lpstr>PowerPoint-Präsentation</vt:lpstr>
      <vt:lpstr>ein Beispiel</vt:lpstr>
      <vt:lpstr>IPsec Implementierungen</vt:lpstr>
      <vt:lpstr>IPsec und Virtual Private Networks</vt:lpstr>
      <vt:lpstr>Probleme</vt:lpstr>
      <vt:lpstr>Problem Performance</vt:lpstr>
      <vt:lpstr>PowerPoint-Präsentation</vt:lpstr>
      <vt:lpstr>Voice over IPsec</vt:lpstr>
      <vt:lpstr>Was bringt die Zukunft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</dc:title>
  <dc:creator>Name</dc:creator>
  <cp:lastModifiedBy>Specht, Sven</cp:lastModifiedBy>
  <cp:revision>12</cp:revision>
  <dcterms:created xsi:type="dcterms:W3CDTF">2021-10-21T09:14:53Z</dcterms:created>
  <dcterms:modified xsi:type="dcterms:W3CDTF">2025-11-10T19:50:17Z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2003-11-19T00:00:00Z</vt:filetime>
  </property>
  <property fmtid="{D5CDD505-2E9C-101B-9397-08002B2CF9AE}" pid="3" name="Creator">
    <vt:lpwstr>Acrobat PDFMaker 5.0 for PowerPoint</vt:lpwstr>
  </property>
  <property fmtid="{D5CDD505-2E9C-101B-9397-08002B2CF9AE}" pid="4" name="LastSaved">
    <vt:filetime>2021-10-21T00:00:00Z</vt:filetime>
  </property>
  <property fmtid="{D5CDD505-2E9C-101B-9397-08002B2CF9AE}" pid="5" name="ContentTypeId">
    <vt:lpwstr>0x010100A955DCE652C8AD4696A873B53CCA776C</vt:lpwstr>
  </property>
</Properties>
</file>